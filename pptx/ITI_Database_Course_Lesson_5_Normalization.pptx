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Normalization plays a limited role when the top-down (ERD) approach is used, and a major role in the bottom-up approach, where it is essential to build appropriate 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EMP_DEPT combines employee and department facts in one table. Department data (Dname, Dmgr_ssn) is repeated for every employee: that redundancy is what causes all three anomalies.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four informal measures of quality from Elmasri &amp; Navathe: semantics, redundant information, NULL values, spurious tuples.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FDs are constraints derived from the meaning and interrelationships of the attributes. FDs and keys are used to define normal forms. A set of attributes A functionally determines B if the value of A determines a unique value for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Redrawn from the original figure (Elmasri &amp; Navathe). The key of EMP_PROJ is {Ssn, Pnumber}. FD2 and FD3 are partial: they violate 2NF.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Transitive dependencies violate 3NF. This is the EMP_DEPT table from the anomalies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table in 3NF is also in 2NF and 1NF. Database designers need not normalize to the highest possible normal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1NF disallows composite attributes, multivalued attributes and nested relations: attribute domains must contain only atomic (simple, indivisible)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Solution path (original notes): 1NF (Stud_ID, Name, Loc, Level, Level_Mgr), (Stud_ID, Tel), (Stud_ID, Subject, Subj_desc, Grade); 2NF moves Subj_desc to (Subject, Subj_desc); 3NF moves Level_Mgr to (Level, Level_Mgr).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quote summarizes 1NF (the key), 2NF (the whole key) and 3NF (nothing but the key). It is attributed to Bill Kent.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slide: BCNF is the practical target in many textbooks. Trade-off: this decomposition is lossless but does not preserve the FD {Student, Course} → Instructor, which can no longer be checked inside one table. Example from Elmasri &amp; Navathe.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overview slide: the original stopped at 3NF but its notes mentioned BCNF and 4NF as typical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slide: explains why normalization splits tables in a specific way (Guideline 4: no spurious tuples).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worked example for the decomposition properties. Test: a binary decomposition of R into R1 and R2 is lossless if the common attributes functionally determine R1 or R2 (they are a key of one side). Example of the lossy case: if Noha manages both Primary and Preparatory, joining R1 and R2 on Level_Mgr pairs every Noha student with both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1NF: phone numbers and the department rows were repeating; Address split into Street, City. 2NF: Dept_Desc depends only on Dept_Name. 3NF: Faculty depends on F_code, a non-key 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0NF: STUDENT(App_No, Stud_Fname, Parent1, Parent2, City, Postal_Code, Birthdate, Prev_Teacher, Curr_Teacher, Student_Phone, Course, Course_Desc, Enrolled, Att_Days)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Clarified: the original 3NF table was written City (City, Postal_Code). The dependency is Postal_Code → City, so the new table's key is Postal_Code and STUDENT keeps Postal_Code as a FK.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Fixed: the original showed the SUPPLIER / SUPPLIER_PARTS split as the 1NF step and said 2NF was 'same as first'. Since the relation has no multi-valued or repeating attributes it is already in 1NF; removing the partial dependency is by definition the 2NF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Recreated from the original slide's image. Expected 3NF: CUSTOMER(Cust_no, Name, Address...), CLERK(Clerk_no, Clerk_name), ORDER(Order_no, Order_date, Cust_no*, Clerk_no*), ITEM(Item_no, Description, Unit_price), ORDER_LINE(Order_no*, Item_no*, Qty). Line total and order total are derived and should not be stored. Discuss: should the unit price at order time be copied into ORDER_LINE? (Yes, if prices change: that is a historical fact, not redundancy.)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n.wikipedia.org/wiki/Database_normalization" TargetMode="External"/><Relationship Id="rId3" Type="http://schemas.openxmlformats.org/officeDocument/2006/relationships/hyperlink" Target="https://www.bkent.net/Doc/simple5.htm" TargetMode="External"/><Relationship Id="rId4" Type="http://schemas.openxmlformats.org/officeDocument/2006/relationships/hyperlink" Target="https://15445.courses.cs.cmu.edu/" TargetMode="External"/><Relationship Id="rId5" Type="http://schemas.openxmlformats.org/officeDocument/2006/relationships/hyperlink" Target="https://www.db-fiddle.com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38200"/>
            <a:ext cx="133350" cy="4953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8250" y="952500"/>
            <a:ext cx="1333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64748B"/>
                </a:solidFill>
                <a:latin typeface="Arial"/>
              </a:rPr>
              <a:t>ITI · DATABASE FUNDAMENTALS · 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43250"/>
            <a:ext cx="16459200" cy="285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95000"/>
              </a:lnSpc>
            </a:pPr>
            <a:r>
              <a:rPr sz="9000" b="1" i="0" u="none">
                <a:solidFill>
                  <a:srgbClr val="C8102E"/>
                </a:solidFill>
                <a:latin typeface="Arial"/>
              </a:rPr>
              <a:t>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91250"/>
            <a:ext cx="14287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50" b="0" i="0" u="none">
                <a:solidFill>
                  <a:srgbClr val="334155"/>
                </a:solidFill>
                <a:latin typeface="Calibri"/>
              </a:rPr>
              <a:t>Test a table design against normal forms to remove redundancy and update anomalies.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877300"/>
            <a:ext cx="8572500" cy="3590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50" b="1" i="0" u="none">
                <a:solidFill>
                  <a:srgbClr val="0F172A"/>
                </a:solidFill>
                <a:latin typeface="Arial"/>
              </a:rPr>
              <a:t>Lecturer: Rana 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277350"/>
            <a:ext cx="8572500" cy="3590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50" b="0" i="0" u="none">
                <a:solidFill>
                  <a:srgbClr val="334155"/>
                </a:solidFill>
                <a:latin typeface="Calibri"/>
              </a:rPr>
              <a:t>rsalah@mcit.gov.eg · Room 3005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1100" y="8934450"/>
            <a:ext cx="85725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Based on original slides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9296400"/>
            <a:ext cx="85725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334155"/>
                </a:solidFill>
                <a:latin typeface="Calibri"/>
              </a:rPr>
              <a:t>Shahinaz S. Azab · edited by Mona Saleh · Rana Salah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88537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02 · 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75978" y="981075"/>
            <a:ext cx="1364989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What this lesson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5750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2857500"/>
            <a:ext cx="149352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Why normalize?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314700"/>
            <a:ext cx="149352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Redundancy causes anomalies; normal forms are tests that catch them.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114800"/>
            <a:ext cx="15697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914400" y="428625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286250"/>
            <a:ext cx="149352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Functional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743450"/>
            <a:ext cx="149352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The formal tool behind every normal form.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5543550"/>
            <a:ext cx="15697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914400" y="571500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5715000"/>
            <a:ext cx="149352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Normal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6172200"/>
            <a:ext cx="149352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1NF, 2NF and 3NF step by step, then BCNF and beyond.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972300"/>
            <a:ext cx="15697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14400" y="7143750"/>
            <a:ext cx="66675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7143750"/>
            <a:ext cx="14935200" cy="44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Worked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7600950"/>
            <a:ext cx="149352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64748B"/>
                </a:solidFill>
                <a:latin typeface="Calibri"/>
              </a:rPr>
              <a:t>An ITI student sheet, real school data, and a suppliers table.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8401050"/>
            <a:ext cx="15697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52704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LESSON 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17648" y="981075"/>
            <a:ext cx="1400822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By the end of this lesson you 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273040" cy="239917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346902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Spot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insert, update and delete anomalies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07480" y="2482024"/>
            <a:ext cx="5273040" cy="239917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7530" y="288207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7530" y="346902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Identify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functional dependencies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and their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0560" y="2482024"/>
            <a:ext cx="5273040" cy="239917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00610" y="288207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00610" y="346902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Normalize a table step by step to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3NF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01244"/>
            <a:ext cx="5273040" cy="239917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560129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618824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Recognize when a table is not in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BCNF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7480" y="5201244"/>
            <a:ext cx="5273040" cy="239917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7530" y="560129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7530" y="618824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Check a decomposition is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lossless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00560" y="5201244"/>
            <a:ext cx="5273040" cy="239917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00610" y="5601294"/>
            <a:ext cx="44729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00610" y="6188247"/>
            <a:ext cx="4472940" cy="10121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898" b="0" i="0" u="none">
                <a:solidFill>
                  <a:srgbClr val="334155"/>
                </a:solidFill>
                <a:latin typeface="Calibri"/>
              </a:rPr>
              <a:t>Decide when </a:t>
            </a:r>
            <a:r>
              <a:rPr sz="2898" b="1" i="0" u="none">
                <a:solidFill>
                  <a:srgbClr val="334155"/>
                </a:solidFill>
                <a:latin typeface="Calibri"/>
              </a:rPr>
              <a:t>denormalizing</a:t>
            </a:r>
            <a:r>
              <a:rPr sz="2898" b="0" i="0" u="none">
                <a:solidFill>
                  <a:srgbClr val="334155"/>
                </a:solidFill>
                <a:latin typeface="Calibri"/>
              </a:rPr>
              <a:t> is justified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Why normalize?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Redundancy causes anomalies; normal forms are tests that catch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WHY NORMALIZE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What is normalization?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54552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482024"/>
            <a:ext cx="47625" cy="154552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120" y="2748724"/>
            <a:ext cx="15605760" cy="10121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898" b="1" i="0" u="none">
                <a:solidFill>
                  <a:srgbClr val="B45309"/>
                </a:solidFill>
                <a:latin typeface="Arial"/>
              </a:rPr>
              <a:t>Definition: 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Normalization takes a table through a series of tests (</a:t>
            </a:r>
            <a:r>
              <a:rPr sz="2898" b="1" i="0" u="none">
                <a:solidFill>
                  <a:srgbClr val="0F172A"/>
                </a:solidFill>
                <a:latin typeface="Calibri"/>
              </a:rPr>
              <a:t>normal forms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) to certify the goodness of a design and </a:t>
            </a:r>
            <a:r>
              <a:rPr sz="2898" b="1" i="0" u="none">
                <a:solidFill>
                  <a:srgbClr val="0F172A"/>
                </a:solidFill>
                <a:latin typeface="Calibri"/>
              </a:rPr>
              <a:t>minimize redundancy and anomalies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940"/>
            <a:ext cx="16459200" cy="4625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1" i="0" u="none">
                <a:solidFill>
                  <a:srgbClr val="C8102E"/>
                </a:solidFill>
                <a:latin typeface="Arial"/>
              </a:rPr>
              <a:t>Top-down design: normalization checks the result (most common)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03472"/>
            <a:ext cx="3417570" cy="16760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5503522"/>
            <a:ext cx="2617470" cy="4637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04" b="1" i="0" u="none">
                <a:solidFill>
                  <a:srgbClr val="0F172A"/>
                </a:solidFill>
                <a:latin typeface="Arial"/>
              </a:rPr>
              <a:t>Requirements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68190" y="5750996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61610" y="5103472"/>
            <a:ext cx="3417570" cy="16760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1660" y="5503522"/>
            <a:ext cx="2617470" cy="4637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04" b="1" i="0" u="none">
                <a:solidFill>
                  <a:srgbClr val="0F172A"/>
                </a:solidFill>
                <a:latin typeface="Arial"/>
              </a:rPr>
              <a:t>ERD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15400" y="5750996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8820" y="5103472"/>
            <a:ext cx="3417570" cy="16760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8870" y="5503522"/>
            <a:ext cx="2617470" cy="4637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04" b="1" i="0" u="none">
                <a:solidFill>
                  <a:srgbClr val="0F172A"/>
                </a:solidFill>
                <a:latin typeface="Arial"/>
              </a:rPr>
              <a:t>Map to tables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3262610" y="5750996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956030" y="5103472"/>
            <a:ext cx="3417570" cy="1676049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56080" y="5503522"/>
            <a:ext cx="2617470" cy="875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04" b="1" i="0" u="none">
                <a:solidFill>
                  <a:srgbClr val="0E8A8A"/>
                </a:solidFill>
                <a:latin typeface="Arial"/>
              </a:rPr>
              <a:t>Check with normal 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232911"/>
            <a:ext cx="16459200" cy="4625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1" i="0" u="none">
                <a:solidFill>
                  <a:srgbClr val="C8102E"/>
                </a:solidFill>
                <a:latin typeface="Arial"/>
              </a:rPr>
              <a:t>Bottom-up design: normalization builds the tables (legacy forms, files, spreadsheets)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7855442"/>
            <a:ext cx="3417570" cy="16760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4450" y="8255492"/>
            <a:ext cx="2617470" cy="875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04" b="1" i="0" u="none">
                <a:solidFill>
                  <a:srgbClr val="0F172A"/>
                </a:solidFill>
                <a:latin typeface="Arial"/>
              </a:rPr>
              <a:t>Existing forms &amp; files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568190" y="8502967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61610" y="7855442"/>
            <a:ext cx="3417570" cy="16760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1660" y="8255492"/>
            <a:ext cx="2617470" cy="875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04" b="1" i="0" u="none">
                <a:solidFill>
                  <a:srgbClr val="0F172A"/>
                </a:solidFill>
                <a:latin typeface="Arial"/>
              </a:rPr>
              <a:t>Attributes + FDs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15400" y="8502967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8820" y="7855442"/>
            <a:ext cx="3417570" cy="16760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8870" y="8255492"/>
            <a:ext cx="2617470" cy="875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04" b="1" i="0" u="none">
                <a:solidFill>
                  <a:srgbClr val="0F172A"/>
                </a:solidFill>
                <a:latin typeface="Arial"/>
              </a:rPr>
              <a:t>Normalize step by step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3262610" y="8502967"/>
            <a:ext cx="457200" cy="3810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956030" y="7855442"/>
            <a:ext cx="3417570" cy="1676049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356080" y="8255492"/>
            <a:ext cx="2617470" cy="4637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2704" b="1" i="0" u="none">
                <a:solidFill>
                  <a:srgbClr val="0E8A8A"/>
                </a:solidFill>
                <a:latin typeface="Arial"/>
              </a:rPr>
              <a:t>Tables in 3NF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WHY NORMALIZE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Redundancy causes anomalies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82024"/>
          <a:ext cx="16459200" cy="2900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62656"/>
                <a:gridCol w="3621024"/>
                <a:gridCol w="2633472"/>
                <a:gridCol w="3950208"/>
                <a:gridCol w="3291840"/>
              </a:tblGrid>
              <a:tr h="580040"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Ename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Ssn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Dnumber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Dname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Dmgr_ssn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Smith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123456789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334155"/>
                          </a:solidFill>
                          <a:latin typeface="Calibri"/>
                        </a:rPr>
                        <a:t>Research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334155"/>
                          </a:solidFill>
                          <a:latin typeface="Calibri"/>
                        </a:rPr>
                        <a:t>333445555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Wong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333445555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334155"/>
                          </a:solidFill>
                          <a:latin typeface="Calibri"/>
                        </a:rPr>
                        <a:t>Research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334155"/>
                          </a:solidFill>
                          <a:latin typeface="Calibri"/>
                        </a:rPr>
                        <a:t>333445555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453453453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334155"/>
                          </a:solidFill>
                          <a:latin typeface="Calibri"/>
                        </a:rPr>
                        <a:t>Research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334155"/>
                          </a:solidFill>
                          <a:latin typeface="Calibri"/>
                        </a:rPr>
                        <a:t>333445555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Zelaya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999887777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Administration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987654321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5699599"/>
            <a:ext cx="5273040" cy="3229737"/>
          </a:xfrm>
          <a:prstGeom prst="rect">
            <a:avLst/>
          </a:prstGeom>
          <a:solidFill>
            <a:srgbClr val="FDECEF"/>
          </a:solidFill>
          <a:ln w="14287">
            <a:solidFill>
              <a:srgbClr val="F5C2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6099649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C8102E"/>
                </a:solidFill>
                <a:latin typeface="Arial"/>
              </a:rPr>
              <a:t>Insert anomaly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6822780"/>
            <a:ext cx="4472940" cy="1291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Can't add a new department until it has an employee (Ssn is the key).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07480" y="5699599"/>
            <a:ext cx="5273040" cy="3229737"/>
          </a:xfrm>
          <a:prstGeom prst="rect">
            <a:avLst/>
          </a:prstGeom>
          <a:solidFill>
            <a:srgbClr val="FDECEF"/>
          </a:solidFill>
          <a:ln w="14287">
            <a:solidFill>
              <a:srgbClr val="F5C2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7530" y="6099649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C8102E"/>
                </a:solidFill>
                <a:latin typeface="Arial"/>
              </a:rPr>
              <a:t>Update anomaly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7530" y="6822780"/>
            <a:ext cx="4472940" cy="17065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Research's manager changes → update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every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Research row, or the data becomes inconsistent.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00560" y="5699599"/>
            <a:ext cx="5273040" cy="3229737"/>
          </a:xfrm>
          <a:prstGeom prst="rect">
            <a:avLst/>
          </a:prstGeom>
          <a:solidFill>
            <a:srgbClr val="FDECEF"/>
          </a:solidFill>
          <a:ln w="14287">
            <a:solidFill>
              <a:srgbClr val="F5C2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00610" y="6099649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C8102E"/>
                </a:solidFill>
                <a:latin typeface="Arial"/>
              </a:rPr>
              <a:t>Delete anomaly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00610" y="6822780"/>
            <a:ext cx="4472940" cy="1291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Delete Zelaya, the last employee of dept 4 → Administration is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lost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WHY NORMALIZE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Four informal design guidelines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8069580" cy="298736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72694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3469027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Clear semantics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4192158"/>
            <a:ext cx="72694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Don't combine attributes from different entities or relationships in one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04020" y="2482024"/>
            <a:ext cx="8069580" cy="298736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04070" y="2882074"/>
            <a:ext cx="72694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4070" y="3469027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No anomalies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4070" y="4192158"/>
            <a:ext cx="72694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Design tables so insert, update and delete anomalies cannot occur.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89424"/>
            <a:ext cx="8069580" cy="298736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50" y="6189474"/>
            <a:ext cx="72694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4450" y="6776427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Few NULLs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7499558"/>
            <a:ext cx="72694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Attributes that are often NULL belong in a separate table (with the PK).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4020" y="5789424"/>
            <a:ext cx="8069580" cy="298736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4070" y="6189474"/>
            <a:ext cx="72694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4070" y="6776427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No spurious tuples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4070" y="7499558"/>
            <a:ext cx="72694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Join only on (FK, PK) pairs; joining on other matching columns invents 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1242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WHY NORMALIZE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14865" y="981075"/>
            <a:ext cx="1341101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Normalization avoids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3054096" cy="307878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5875" y="2853499"/>
            <a:ext cx="2311146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Duplicated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5875" y="3989767"/>
            <a:ext cx="2311146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The same fact stored in many rows.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2482024"/>
            <a:ext cx="3054096" cy="307878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7151" y="2853499"/>
            <a:ext cx="2311146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Insert anomaly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7151" y="3989767"/>
            <a:ext cx="2311146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Can't record one fact without another.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6951" y="2482024"/>
            <a:ext cx="3054096" cy="307878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8426" y="2853499"/>
            <a:ext cx="2311146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Update anomaly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8426" y="3989767"/>
            <a:ext cx="2311146" cy="11995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One change must be made in many places.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68228" y="2482024"/>
            <a:ext cx="3054096" cy="307878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9703" y="2853499"/>
            <a:ext cx="2311146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Delete anomaly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9703" y="3989767"/>
            <a:ext cx="2311146" cy="81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Deleting one fact loses another.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19503" y="2482024"/>
            <a:ext cx="3054096" cy="307878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90978" y="2853499"/>
            <a:ext cx="2311146" cy="987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Frequent NULLs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90978" y="3989767"/>
            <a:ext cx="2311146" cy="81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32" b="0" i="0" u="none">
                <a:solidFill>
                  <a:srgbClr val="334155"/>
                </a:solidFill>
                <a:latin typeface="Calibri"/>
              </a:rPr>
              <a:t>Wasted space, unclear meaning.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981814"/>
            <a:ext cx="8081010" cy="2786012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5875" y="6353289"/>
            <a:ext cx="7338060" cy="5228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E8A8A"/>
                </a:solidFill>
                <a:latin typeface="Arial"/>
              </a:rPr>
              <a:t>When to use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875" y="7024767"/>
            <a:ext cx="7338060" cy="1371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To certify the quality of a relational design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When taking over designs from legacy systems, files or spreadsheets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2590" y="5981814"/>
            <a:ext cx="8081010" cy="2786012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4065" y="6353289"/>
            <a:ext cx="7338060" cy="5228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049" b="1" i="0" u="none">
                <a:solidFill>
                  <a:srgbClr val="0F172A"/>
                </a:solidFill>
                <a:latin typeface="Arial"/>
              </a:rPr>
              <a:t>How far to 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4065" y="7024767"/>
            <a:ext cx="7338060" cy="9569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Usually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3NF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or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BCNF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in practice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Higher forms (4NF, 5NF) for special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09/39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Functional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The formal tool behind every normal 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33187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FUNCTIONAL DEPENDENCIES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09300" y="981075"/>
            <a:ext cx="122165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Functional dependency (FD)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613001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482024"/>
            <a:ext cx="47625" cy="1613001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120" y="2748724"/>
            <a:ext cx="15605760" cy="107960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3091" b="1" i="0" u="none">
                <a:solidFill>
                  <a:srgbClr val="0F172A"/>
                </a:solidFill>
                <a:latin typeface="Calibri"/>
              </a:rPr>
              <a:t>A → B</a:t>
            </a:r>
            <a:r>
              <a:rPr sz="3091" b="0" i="0" u="none">
                <a:solidFill>
                  <a:srgbClr val="0F172A"/>
                </a:solidFill>
                <a:latin typeface="Calibri"/>
              </a:rPr>
              <a:t> (A </a:t>
            </a:r>
            <a:r>
              <a:rPr sz="3091" b="0" i="1" u="none">
                <a:solidFill>
                  <a:srgbClr val="0F172A"/>
                </a:solidFill>
                <a:latin typeface="Calibri"/>
              </a:rPr>
              <a:t>determines</a:t>
            </a:r>
            <a:r>
              <a:rPr sz="3091" b="0" i="0" u="none">
                <a:solidFill>
                  <a:srgbClr val="0F172A"/>
                </a:solidFill>
                <a:latin typeface="Calibri"/>
              </a:rPr>
              <a:t> B) if every value of A is associated with </a:t>
            </a:r>
            <a:r>
              <a:rPr sz="3091" b="1" i="0" u="none">
                <a:solidFill>
                  <a:srgbClr val="0F172A"/>
                </a:solidFill>
                <a:latin typeface="Calibri"/>
              </a:rPr>
              <a:t>exactly one</a:t>
            </a:r>
            <a:r>
              <a:rPr sz="3091" b="0" i="0" u="none">
                <a:solidFill>
                  <a:srgbClr val="0F172A"/>
                </a:solidFill>
                <a:latin typeface="Calibri"/>
              </a:rPr>
              <a:t> value of B.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4548416"/>
          <a:ext cx="16459199" cy="312593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54496"/>
                <a:gridCol w="10204703"/>
              </a:tblGrid>
              <a:tr h="676713">
                <a:tc>
                  <a:txBody>
                    <a:bodyPr/>
                    <a:lstStyle/>
                    <a:p>
                      <a:r>
                        <a:rPr sz="2704" b="1" i="0" u="none">
                          <a:solidFill>
                            <a:srgbClr val="FFFFFF"/>
                          </a:solidFill>
                          <a:latin typeface="Arial"/>
                        </a:rPr>
                        <a:t>FD</a:t>
                      </a:r>
                    </a:p>
                  </a:txBody>
                  <a:tcPr marL="171754" marR="171754" marT="103052" marB="103052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704" b="1" i="0" u="none">
                          <a:solidFill>
                            <a:srgbClr val="FFFFFF"/>
                          </a:solidFill>
                          <a:latin typeface="Arial"/>
                        </a:rPr>
                        <a:t>Read as</a:t>
                      </a:r>
                    </a:p>
                  </a:txBody>
                  <a:tcPr marL="171754" marR="171754" marT="103052" marB="103052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76713">
                <a:tc>
                  <a:txBody>
                    <a:bodyPr/>
                    <a:lstStyle/>
                    <a:p>
                      <a:r>
                        <a:rPr sz="2704" b="0" i="0" u="none">
                          <a:solidFill>
                            <a:srgbClr val="334155"/>
                          </a:solidFill>
                          <a:latin typeface="Calibri"/>
                        </a:rPr>
                        <a:t>Ssn → Ename</a:t>
                      </a:r>
                    </a:p>
                  </a:txBody>
                  <a:tcPr marL="171754" marR="171754" marT="103052" marB="103052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704" b="0" i="0" u="none">
                          <a:solidFill>
                            <a:srgbClr val="334155"/>
                          </a:solidFill>
                          <a:latin typeface="Calibri"/>
                        </a:rPr>
                        <a:t>A social security number determines one employee name</a:t>
                      </a:r>
                    </a:p>
                  </a:txBody>
                  <a:tcPr marL="171754" marR="171754" marT="103052" marB="103052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676713">
                <a:tc>
                  <a:txBody>
                    <a:bodyPr/>
                    <a:lstStyle/>
                    <a:p>
                      <a:r>
                        <a:rPr sz="2704" b="0" i="0" u="none">
                          <a:solidFill>
                            <a:srgbClr val="334155"/>
                          </a:solidFill>
                          <a:latin typeface="Calibri"/>
                        </a:rPr>
                        <a:t>Pnumber → {Pname, Plocation}</a:t>
                      </a:r>
                    </a:p>
                  </a:txBody>
                  <a:tcPr marL="171754" marR="171754" marT="103052" marB="103052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704" b="0" i="0" u="none">
                          <a:solidFill>
                            <a:srgbClr val="334155"/>
                          </a:solidFill>
                          <a:latin typeface="Calibri"/>
                        </a:rPr>
                        <a:t>A project number determines the project's name and location</a:t>
                      </a:r>
                    </a:p>
                  </a:txBody>
                  <a:tcPr marL="171754" marR="171754" marT="103052" marB="103052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1095795">
                <a:tc>
                  <a:txBody>
                    <a:bodyPr/>
                    <a:lstStyle/>
                    <a:p>
                      <a:r>
                        <a:rPr sz="2704" b="0" i="0" u="none">
                          <a:solidFill>
                            <a:srgbClr val="334155"/>
                          </a:solidFill>
                          <a:latin typeface="Calibri"/>
                        </a:rPr>
                        <a:t>{Ssn, Pnumber} → Hours</a:t>
                      </a:r>
                    </a:p>
                  </a:txBody>
                  <a:tcPr marL="171754" marR="171754" marT="103052" marB="103052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704" b="0" i="0" u="none">
                          <a:solidFill>
                            <a:srgbClr val="334155"/>
                          </a:solidFill>
                          <a:latin typeface="Calibri"/>
                        </a:rPr>
                        <a:t>An employee and a project together determine the weekly hours</a:t>
                      </a:r>
                    </a:p>
                  </a:txBody>
                  <a:tcPr marL="171754" marR="171754" marT="103052" marB="103052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8127743"/>
            <a:ext cx="16459200" cy="4980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FDs come from the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meaning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of the data (business rules), not from looking at a few 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33187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FUNCTIONAL DEPENDENCIES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09300" y="981075"/>
            <a:ext cx="122165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Full and partial dependencies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4250" y="3905250"/>
            <a:ext cx="0" cy="142875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619750" y="3905250"/>
            <a:ext cx="0" cy="219075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524250" y="4572000"/>
            <a:ext cx="4191000" cy="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7715250" y="3943350"/>
            <a:ext cx="0" cy="628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cxnSp>
        <p:nvCxnSpPr>
          <p:cNvPr id="10" name="Connector 9"/>
          <p:cNvCxnSpPr/>
          <p:nvPr/>
        </p:nvCxnSpPr>
        <p:spPr>
          <a:xfrm>
            <a:off x="3524250" y="5334000"/>
            <a:ext cx="6286500" cy="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9810750" y="3943350"/>
            <a:ext cx="0" cy="1390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cxnSp>
        <p:nvCxnSpPr>
          <p:cNvPr id="12" name="Connector 11"/>
          <p:cNvCxnSpPr/>
          <p:nvPr/>
        </p:nvCxnSpPr>
        <p:spPr>
          <a:xfrm>
            <a:off x="5619750" y="6096000"/>
            <a:ext cx="8382000" cy="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11906250" y="3943350"/>
            <a:ext cx="0" cy="2152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4001750" y="3943350"/>
            <a:ext cx="0" cy="2152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sp>
        <p:nvSpPr>
          <p:cNvPr id="15" name="TextBox 14"/>
          <p:cNvSpPr txBox="1"/>
          <p:nvPr/>
        </p:nvSpPr>
        <p:spPr>
          <a:xfrm>
            <a:off x="2476500" y="2781300"/>
            <a:ext cx="5715000" cy="3557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32" b="1" i="0" u="none">
                <a:solidFill>
                  <a:srgbClr val="0F172A"/>
                </a:solidFill>
                <a:latin typeface="Arial"/>
              </a:rPr>
              <a:t>EMP_PROJ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6500" y="3238500"/>
            <a:ext cx="20955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1" i="0" u="sng">
                <a:solidFill>
                  <a:srgbClr val="0F172A"/>
                </a:solidFill>
                <a:latin typeface="Courier New"/>
              </a:rPr>
              <a:t>Ssn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238500"/>
            <a:ext cx="20955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1" i="0" u="sng">
                <a:solidFill>
                  <a:srgbClr val="0F172A"/>
                </a:solidFill>
                <a:latin typeface="Courier New"/>
              </a:rPr>
              <a:t>Pnumber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0" y="3238500"/>
            <a:ext cx="20955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63000" y="3238500"/>
            <a:ext cx="20955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Ename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58500" y="3238500"/>
            <a:ext cx="20955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Pname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54000" y="3238500"/>
            <a:ext cx="20955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Plocation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50" y="4400550"/>
            <a:ext cx="85725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1" i="0" u="none">
                <a:solidFill>
                  <a:srgbClr val="C8102E"/>
                </a:solidFill>
                <a:latin typeface="Courier New"/>
              </a:rPr>
              <a:t>FD1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50" y="5162550"/>
            <a:ext cx="85725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1" i="0" u="none">
                <a:solidFill>
                  <a:srgbClr val="C8102E"/>
                </a:solidFill>
                <a:latin typeface="Courier New"/>
              </a:rPr>
              <a:t>FD2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50" y="5924550"/>
            <a:ext cx="85725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1" i="0" u="none">
                <a:solidFill>
                  <a:srgbClr val="C8102E"/>
                </a:solidFill>
                <a:latin typeface="Courier New"/>
              </a:rPr>
              <a:t>FD3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219200" y="6667500"/>
          <a:ext cx="15849600" cy="16572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01952"/>
                <a:gridCol w="7290816"/>
                <a:gridCol w="6656832"/>
              </a:tblGrid>
              <a:tr h="414314">
                <a:tc>
                  <a:txBody>
                    <a:bodyPr/>
                    <a:lstStyle/>
                    <a:p>
                      <a:r>
                        <a:rPr sz="1656" b="1" i="0" u="none">
                          <a:solidFill>
                            <a:srgbClr val="FFFFFF"/>
                          </a:solidFill>
                          <a:latin typeface="Arial"/>
                        </a:rPr>
                        <a:t>FD</a:t>
                      </a:r>
                    </a:p>
                  </a:txBody>
                  <a:tcPr marL="105156" marR="105156" marT="63093" marB="63093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6" b="1" i="0" u="none">
                          <a:solidFill>
                            <a:srgbClr val="FFFFFF"/>
                          </a:solidFill>
                          <a:latin typeface="Arial"/>
                        </a:rPr>
                        <a:t>Dependency</a:t>
                      </a:r>
                    </a:p>
                  </a:txBody>
                  <a:tcPr marL="105156" marR="105156" marT="63093" marB="63093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6" b="1" i="0" u="none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105156" marR="105156" marT="63093" marB="63093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414314">
                <a:tc>
                  <a:txBody>
                    <a:bodyPr/>
                    <a:lstStyle/>
                    <a:p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FD1</a:t>
                      </a:r>
                    </a:p>
                  </a:txBody>
                  <a:tcPr marL="105156" marR="105156" marT="63093" marB="63093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{Ssn, Pnumber} → Hours</a:t>
                      </a:r>
                    </a:p>
                  </a:txBody>
                  <a:tcPr marL="105156" marR="105156" marT="63093" marB="63093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6" b="1" i="0" u="none">
                          <a:solidFill>
                            <a:srgbClr val="334155"/>
                          </a:solidFill>
                          <a:latin typeface="Calibri"/>
                        </a:rPr>
                        <a:t>Full</a:t>
                      </a:r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: needs the whole key</a:t>
                      </a:r>
                    </a:p>
                  </a:txBody>
                  <a:tcPr marL="105156" marR="105156" marT="63093" marB="63093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414314">
                <a:tc>
                  <a:txBody>
                    <a:bodyPr/>
                    <a:lstStyle/>
                    <a:p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FD2</a:t>
                      </a:r>
                    </a:p>
                  </a:txBody>
                  <a:tcPr marL="105156" marR="105156" marT="63093" marB="63093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Ssn → Ename</a:t>
                      </a:r>
                    </a:p>
                  </a:txBody>
                  <a:tcPr marL="105156" marR="105156" marT="63093" marB="63093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6" b="1" i="0" u="none">
                          <a:solidFill>
                            <a:srgbClr val="334155"/>
                          </a:solidFill>
                          <a:latin typeface="Calibri"/>
                        </a:rPr>
                        <a:t>Partial</a:t>
                      </a:r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: depends on part of the key</a:t>
                      </a:r>
                    </a:p>
                  </a:txBody>
                  <a:tcPr marL="105156" marR="105156" marT="63093" marB="63093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414314">
                <a:tc>
                  <a:txBody>
                    <a:bodyPr/>
                    <a:lstStyle/>
                    <a:p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FD3</a:t>
                      </a:r>
                    </a:p>
                  </a:txBody>
                  <a:tcPr marL="105156" marR="105156" marT="63093" marB="63093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Pnumber → {Pname, Plocation}</a:t>
                      </a:r>
                    </a:p>
                  </a:txBody>
                  <a:tcPr marL="105156" marR="105156" marT="63093" marB="63093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6" b="1" i="0" u="none">
                          <a:solidFill>
                            <a:srgbClr val="334155"/>
                          </a:solidFill>
                          <a:latin typeface="Calibri"/>
                        </a:rPr>
                        <a:t>Partial</a:t>
                      </a:r>
                      <a:r>
                        <a:rPr sz="1656" b="0" i="0" u="none">
                          <a:solidFill>
                            <a:srgbClr val="334155"/>
                          </a:solidFill>
                          <a:latin typeface="Calibri"/>
                        </a:rPr>
                        <a:t>: depends on part of the key</a:t>
                      </a:r>
                    </a:p>
                  </a:txBody>
                  <a:tcPr marL="105156" marR="105156" marT="63093" marB="63093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33187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FUNCTIONAL DEPENDENCIES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09300" y="981075"/>
            <a:ext cx="122165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Transitive dependencies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34000" y="3905250"/>
            <a:ext cx="0" cy="66675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429000" y="4572000"/>
            <a:ext cx="7429500" cy="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3429000" y="3943350"/>
            <a:ext cx="0" cy="628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cxnSp>
        <p:nvCxnSpPr>
          <p:cNvPr id="9" name="Connector 8"/>
          <p:cNvCxnSpPr/>
          <p:nvPr/>
        </p:nvCxnSpPr>
        <p:spPr>
          <a:xfrm flipV="1">
            <a:off x="7239000" y="3943350"/>
            <a:ext cx="0" cy="628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cxnSp>
        <p:nvCxnSpPr>
          <p:cNvPr id="10" name="Connector 9"/>
          <p:cNvCxnSpPr/>
          <p:nvPr/>
        </p:nvCxnSpPr>
        <p:spPr>
          <a:xfrm flipV="1">
            <a:off x="9144000" y="3943350"/>
            <a:ext cx="0" cy="628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cxnSp>
        <p:nvCxnSpPr>
          <p:cNvPr id="11" name="Connector 10"/>
          <p:cNvCxnSpPr/>
          <p:nvPr/>
        </p:nvCxnSpPr>
        <p:spPr>
          <a:xfrm flipV="1">
            <a:off x="10858500" y="3943350"/>
            <a:ext cx="0" cy="628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cxnSp>
        <p:nvCxnSpPr>
          <p:cNvPr id="12" name="Connector 11"/>
          <p:cNvCxnSpPr/>
          <p:nvPr/>
        </p:nvCxnSpPr>
        <p:spPr>
          <a:xfrm>
            <a:off x="11334750" y="3905250"/>
            <a:ext cx="0" cy="142875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334750" y="5334000"/>
            <a:ext cx="3524250" cy="0"/>
          </a:xfrm>
          <a:prstGeom prst="line">
            <a:avLst/>
          </a:prstGeom>
          <a:ln w="28575">
            <a:solidFill>
              <a:srgbClr val="0F172A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2954000" y="3943350"/>
            <a:ext cx="0" cy="1390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4859000" y="3943350"/>
            <a:ext cx="0" cy="1390650"/>
          </a:xfrm>
          <a:prstGeom prst="line">
            <a:avLst/>
          </a:prstGeom>
          <a:ln w="28575">
            <a:solidFill>
              <a:srgbClr val="0F172A"/>
            </a:solidFill>
            <a:tailEnd type="triangle"/>
          </a:ln>
        </p:spPr>
      </p:cxnSp>
      <p:sp>
        <p:nvSpPr>
          <p:cNvPr id="16" name="TextBox 15"/>
          <p:cNvSpPr txBox="1"/>
          <p:nvPr/>
        </p:nvSpPr>
        <p:spPr>
          <a:xfrm>
            <a:off x="2476500" y="2781300"/>
            <a:ext cx="5715000" cy="3557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32" b="1" i="0" u="none">
                <a:solidFill>
                  <a:srgbClr val="0F172A"/>
                </a:solidFill>
                <a:latin typeface="Arial"/>
              </a:rPr>
              <a:t>EMP_DEPT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6500" y="3238500"/>
            <a:ext cx="19050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Ename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1500" y="3238500"/>
            <a:ext cx="19050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1" i="0" u="sng">
                <a:solidFill>
                  <a:srgbClr val="0F172A"/>
                </a:solidFill>
                <a:latin typeface="Courier New"/>
              </a:rPr>
              <a:t>Ssn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6500" y="3238500"/>
            <a:ext cx="19050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Bdate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1500" y="3238500"/>
            <a:ext cx="19050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Address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96500" y="3238500"/>
            <a:ext cx="19050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Dnumber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3238500"/>
            <a:ext cx="19050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Dname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906500" y="3238500"/>
            <a:ext cx="190500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656" b="0" i="0" u="none">
                <a:solidFill>
                  <a:srgbClr val="0F172A"/>
                </a:solidFill>
                <a:latin typeface="Courier New"/>
              </a:rPr>
              <a:t>Dmgr_ssn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50" y="4400550"/>
            <a:ext cx="85725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1" i="0" u="none">
                <a:solidFill>
                  <a:srgbClr val="C8102E"/>
                </a:solidFill>
                <a:latin typeface="Courier New"/>
              </a:rPr>
              <a:t>FD1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5162550"/>
            <a:ext cx="857250" cy="3303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794" b="1" i="0" u="none">
                <a:solidFill>
                  <a:srgbClr val="C8102E"/>
                </a:solidFill>
                <a:latin typeface="Courier New"/>
              </a:rPr>
              <a:t>FD2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9200" y="6096000"/>
            <a:ext cx="15849600" cy="1055751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19200" y="6096000"/>
            <a:ext cx="47625" cy="1055751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0" y="6286500"/>
            <a:ext cx="15240000" cy="67475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1932" b="0" i="0" u="none">
                <a:solidFill>
                  <a:srgbClr val="0F172A"/>
                </a:solidFill>
                <a:latin typeface="Calibri"/>
              </a:rPr>
              <a:t>Ssn → Dnumber and Dnumber → {Dname, Dmgr_ssn}, so Ssn → Dname </a:t>
            </a:r>
            <a:r>
              <a:rPr sz="1932" b="1" i="0" u="none">
                <a:solidFill>
                  <a:srgbClr val="0F172A"/>
                </a:solidFill>
                <a:latin typeface="Calibri"/>
              </a:rPr>
              <a:t>through</a:t>
            </a:r>
            <a:r>
              <a:rPr sz="1932" b="0" i="0" u="none">
                <a:solidFill>
                  <a:srgbClr val="0F172A"/>
                </a:solidFill>
                <a:latin typeface="Calibri"/>
              </a:rPr>
              <a:t> Dnumber: a </a:t>
            </a:r>
            <a:r>
              <a:rPr sz="1932" b="1" i="0" u="none">
                <a:solidFill>
                  <a:srgbClr val="0F172A"/>
                </a:solidFill>
                <a:latin typeface="Calibri"/>
              </a:rPr>
              <a:t>transitive</a:t>
            </a:r>
            <a:r>
              <a:rPr sz="1932" b="0" i="0" u="none">
                <a:solidFill>
                  <a:srgbClr val="0F172A"/>
                </a:solidFill>
                <a:latin typeface="Calibri"/>
              </a:rPr>
              <a:t> dependency. Dnumber is not a key of EMP_DEPT.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33187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FUNCTIONAL DEPENDENCIES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09300" y="981075"/>
            <a:ext cx="122165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Three types of functional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273040" cy="4266933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E8A8A"/>
                </a:solidFill>
                <a:latin typeface="Arial"/>
              </a:rPr>
              <a:t>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3605204"/>
            <a:ext cx="4472940" cy="1291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X → Y is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full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if removing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any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attribute from X breaks the dependency.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5057066"/>
            <a:ext cx="4472940" cy="4625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{Ssn, Pnumber} → Hours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07480" y="2482024"/>
            <a:ext cx="5273040" cy="4266933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7530" y="2882074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7530" y="3605204"/>
            <a:ext cx="4472940" cy="17065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X → Y is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partial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if some attribute can be removed from X and the dependency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still holds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7530" y="5471731"/>
            <a:ext cx="447294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{Ssn, Pnumber} → Ename (Ssn alone is enough)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00560" y="2482024"/>
            <a:ext cx="5273040" cy="4266933"/>
          </a:xfrm>
          <a:prstGeom prst="rect">
            <a:avLst/>
          </a:prstGeom>
          <a:solidFill>
            <a:srgbClr val="FDECEF"/>
          </a:solidFill>
          <a:ln w="14287">
            <a:solidFill>
              <a:srgbClr val="F5C2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00610" y="2882074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C8102E"/>
                </a:solidFill>
                <a:latin typeface="Arial"/>
              </a:rPr>
              <a:t>Transitive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00610" y="3605204"/>
            <a:ext cx="4472940" cy="1291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X → Y is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transitive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if X → Z and Z → Y, where Z is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not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a key (nor part of one).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00610" y="5057066"/>
            <a:ext cx="4472940" cy="4625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Ssn → Dnumber → Dname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Normal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1NF, 2NF and 3NF step by step, then BCNF and beyond.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Each normal form includes the previous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5905500"/>
            <a:ext cx="2514600" cy="2095500"/>
          </a:xfrm>
          <a:prstGeom prst="roundRect">
            <a:avLst>
              <a:gd name="adj" fmla="val 7272"/>
            </a:avLst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5900" y="6572250"/>
            <a:ext cx="1981200" cy="6099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312" b="1" i="0" u="none">
                <a:solidFill>
                  <a:srgbClr val="FFFFFF"/>
                </a:solidFill>
                <a:latin typeface="Arial"/>
              </a:rP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7200900"/>
            <a:ext cx="19812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6" b="0" i="0" u="none">
                <a:solidFill>
                  <a:srgbClr val="FFFFFF"/>
                </a:solidFill>
                <a:latin typeface="Calibri"/>
              </a:rPr>
              <a:t>Atomic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5238750"/>
            <a:ext cx="2514600" cy="2762250"/>
          </a:xfrm>
          <a:prstGeom prst="roundRect">
            <a:avLst>
              <a:gd name="adj" fmla="val 6060"/>
            </a:avLst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52900" y="6572250"/>
            <a:ext cx="1981200" cy="6099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312" b="1" i="0" u="none">
                <a:solidFill>
                  <a:srgbClr val="FFFFFF"/>
                </a:solidFill>
                <a:latin typeface="Arial"/>
              </a:rPr>
              <a:t>2NF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2900" y="7200900"/>
            <a:ext cx="19812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6" b="0" i="0" u="none">
                <a:solidFill>
                  <a:srgbClr val="FFFFFF"/>
                </a:solidFill>
                <a:latin typeface="Calibri"/>
              </a:rPr>
              <a:t>No partial deps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3200" y="4572000"/>
            <a:ext cx="2514600" cy="3429000"/>
          </a:xfrm>
          <a:prstGeom prst="roundRect">
            <a:avLst>
              <a:gd name="adj" fmla="val 6060"/>
            </a:avLst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9900" y="6572250"/>
            <a:ext cx="1981200" cy="6099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312" b="1" i="0" u="none">
                <a:solidFill>
                  <a:srgbClr val="FFFFFF"/>
                </a:solidFill>
                <a:latin typeface="Arial"/>
              </a:rP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7200900"/>
            <a:ext cx="19812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6" b="0" i="0" u="none">
                <a:solidFill>
                  <a:srgbClr val="FFFFFF"/>
                </a:solidFill>
                <a:latin typeface="Calibri"/>
              </a:rPr>
              <a:t>No transitive deps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0200" y="3905250"/>
            <a:ext cx="2514600" cy="4095750"/>
          </a:xfrm>
          <a:prstGeom prst="roundRect">
            <a:avLst>
              <a:gd name="adj" fmla="val 6060"/>
            </a:avLst>
          </a:prstGeom>
          <a:solidFill>
            <a:srgbClr val="0F172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6900" y="6572250"/>
            <a:ext cx="1981200" cy="6099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312" b="1" i="0" u="none">
                <a:solidFill>
                  <a:srgbClr val="FFFFFF"/>
                </a:solidFill>
                <a:latin typeface="Arial"/>
              </a:rPr>
              <a:t>BCNF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6900" y="7200900"/>
            <a:ext cx="1981200" cy="5783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6" b="0" i="0" u="none">
                <a:solidFill>
                  <a:srgbClr val="FFFFFF"/>
                </a:solidFill>
                <a:latin typeface="Calibri"/>
              </a:rPr>
              <a:t>Every determinant is a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0" y="3238500"/>
            <a:ext cx="2514600" cy="4762500"/>
          </a:xfrm>
          <a:prstGeom prst="roundRect">
            <a:avLst>
              <a:gd name="adj" fmla="val 6060"/>
            </a:avLst>
          </a:prstGeom>
          <a:solidFill>
            <a:srgbClr val="64748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53900" y="6572250"/>
            <a:ext cx="1981200" cy="6099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312" b="1" i="0" u="none">
                <a:solidFill>
                  <a:srgbClr val="FFFFFF"/>
                </a:solidFill>
                <a:latin typeface="Arial"/>
              </a:rPr>
              <a:t>4NF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53900" y="7200900"/>
            <a:ext cx="1981200" cy="5783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6" b="0" i="0" u="none">
                <a:solidFill>
                  <a:srgbClr val="FFFFFF"/>
                </a:solidFill>
                <a:latin typeface="Calibri"/>
              </a:rPr>
              <a:t>No multi-valued deps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54200" y="2571750"/>
            <a:ext cx="2514600" cy="5429250"/>
          </a:xfrm>
          <a:prstGeom prst="roundRect">
            <a:avLst>
              <a:gd name="adj" fmla="val 6060"/>
            </a:avLst>
          </a:prstGeom>
          <a:solidFill>
            <a:srgbClr val="64748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20900" y="6572250"/>
            <a:ext cx="1981200" cy="6099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3312" b="1" i="0" u="none">
                <a:solidFill>
                  <a:srgbClr val="FFFFFF"/>
                </a:solidFill>
                <a:latin typeface="Arial"/>
              </a:rPr>
              <a:t>5NF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20900" y="7200900"/>
            <a:ext cx="1981200" cy="304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6" b="0" i="0" u="none">
                <a:solidFill>
                  <a:srgbClr val="FFFFFF"/>
                </a:solidFill>
                <a:latin typeface="Calibri"/>
              </a:rPr>
              <a:t>No join deps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8248650"/>
            <a:ext cx="15849600" cy="3557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32" b="0" i="0" u="none">
                <a:solidFill>
                  <a:srgbClr val="334155"/>
                </a:solidFill>
                <a:latin typeface="Calibri"/>
              </a:rPr>
              <a:t>Practical designs usually stop at </a:t>
            </a:r>
            <a:r>
              <a:rPr sz="1932" b="1" i="0" u="none">
                <a:solidFill>
                  <a:srgbClr val="334155"/>
                </a:solidFill>
                <a:latin typeface="Calibri"/>
              </a:rPr>
              <a:t>3NF</a:t>
            </a:r>
            <a:r>
              <a:rPr sz="1932" b="0" i="0" u="none">
                <a:solidFill>
                  <a:srgbClr val="334155"/>
                </a:solidFill>
                <a:latin typeface="Calibri"/>
              </a:rPr>
              <a:t> or </a:t>
            </a:r>
            <a:r>
              <a:rPr sz="1932" b="1" i="0" u="none">
                <a:solidFill>
                  <a:srgbClr val="334155"/>
                </a:solidFill>
                <a:latin typeface="Calibri"/>
              </a:rPr>
              <a:t>BCNF</a:t>
            </a:r>
            <a:r>
              <a:rPr sz="1932" b="0" i="0" u="none">
                <a:solidFill>
                  <a:srgbClr val="334155"/>
                </a:solidFill>
                <a:latin typeface="Calibri"/>
              </a:rPr>
              <a:t>. </a:t>
            </a:r>
            <a:r>
              <a:rPr sz="1932" b="0" i="1" u="none">
                <a:solidFill>
                  <a:srgbClr val="334155"/>
                </a:solidFill>
                <a:latin typeface="Calibri"/>
              </a:rPr>
              <a:t>Denormalization</a:t>
            </a:r>
            <a:r>
              <a:rPr sz="1932" b="0" i="0" u="none">
                <a:solidFill>
                  <a:srgbClr val="334155"/>
                </a:solidFill>
                <a:latin typeface="Calibri"/>
              </a:rPr>
              <a:t> deliberately goes back down for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First normal form (1NF)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54552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482024"/>
            <a:ext cx="47625" cy="154552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120" y="2748724"/>
            <a:ext cx="15605760" cy="10121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898" b="0" i="0" u="none">
                <a:solidFill>
                  <a:srgbClr val="0F172A"/>
                </a:solidFill>
                <a:latin typeface="Calibri"/>
              </a:rPr>
              <a:t>A table is in </a:t>
            </a:r>
            <a:r>
              <a:rPr sz="2898" b="1" i="0" u="none">
                <a:solidFill>
                  <a:srgbClr val="0F172A"/>
                </a:solidFill>
                <a:latin typeface="Calibri"/>
              </a:rPr>
              <a:t>1NF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 if every cell holds a single, </a:t>
            </a:r>
            <a:r>
              <a:rPr sz="2898" b="1" i="0" u="none">
                <a:solidFill>
                  <a:srgbClr val="0F172A"/>
                </a:solidFill>
                <a:latin typeface="Calibri"/>
              </a:rPr>
              <a:t>atomic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 value: no multi-valued attributes, repeating groups or composite attributes.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80940"/>
            <a:ext cx="8069580" cy="442588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4450" y="4880990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To reach 1NF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50" y="5604121"/>
            <a:ext cx="7269480" cy="2902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77860" indent="-377860">
              <a:lnSpc>
                <a:spcPct val="111800"/>
              </a:lnSpc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Move each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repeating group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to a new table, carrying the PK as a FK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Move each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multi-valued attribute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to a new table, carrying the PK as a FK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Split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composite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attributes into one column per 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4020" y="4480940"/>
            <a:ext cx="8069580" cy="4425886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04070" y="4880990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E8A8A"/>
                </a:solidFill>
                <a:latin typeface="Arial"/>
              </a:rPr>
              <a:t>Repeating group?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4070" y="5604121"/>
            <a:ext cx="7269480" cy="13912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A set of multi-valued columns that belong together, e.g. Subject + Description + Grade for one student.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243709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SCHOOL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34309" y="981075"/>
            <a:ext cx="13291566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School example: unnormalized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82024"/>
          <a:ext cx="16459200" cy="2320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81328"/>
                <a:gridCol w="1481328"/>
                <a:gridCol w="1645920"/>
                <a:gridCol w="1645920"/>
                <a:gridCol w="1810512"/>
                <a:gridCol w="1810512"/>
                <a:gridCol w="1645920"/>
                <a:gridCol w="3127248"/>
                <a:gridCol w="1810512"/>
              </a:tblGrid>
              <a:tr h="580040"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Stud_ID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Location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Tel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Level_Mgr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Subject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Subj_Desc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Grade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Ali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Cairo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010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Noha M.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DB, CN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Database, Networks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A, B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Mai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Giza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011, 010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Noha M.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CN, DB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Networks, Database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B, C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Marwa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Giza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010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Moh. A.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SW, DB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Software, Database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A, A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5255576"/>
            <a:ext cx="5273040" cy="995911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255576"/>
            <a:ext cx="47625" cy="995911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120" y="5522276"/>
            <a:ext cx="4419600" cy="4625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511" b="1" i="0" u="none">
                <a:solidFill>
                  <a:srgbClr val="0F172A"/>
                </a:solidFill>
                <a:latin typeface="Calibri"/>
              </a:rPr>
              <a:t>Tel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is multi-valued.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07480" y="5255576"/>
            <a:ext cx="5273040" cy="1410576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07480" y="5255576"/>
            <a:ext cx="47625" cy="1410576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4200" y="5522276"/>
            <a:ext cx="4419600" cy="877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511" b="1" i="0" u="none">
                <a:solidFill>
                  <a:srgbClr val="0F172A"/>
                </a:solidFill>
                <a:latin typeface="Calibri"/>
              </a:rPr>
              <a:t>Subject, Subj_Desc, Grade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form a repeating group.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00560" y="5255576"/>
            <a:ext cx="5273040" cy="1825241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100560" y="5255576"/>
            <a:ext cx="47625" cy="1825241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0" y="5522276"/>
            <a:ext cx="4419600" cy="129184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511" b="1" i="0" u="none">
                <a:solidFill>
                  <a:srgbClr val="0F172A"/>
                </a:solidFill>
                <a:latin typeface="Calibri"/>
              </a:rPr>
              <a:t>Level → Level_Mgr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and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Subject → Subj_Desc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hide more FDs.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243709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SCHOOL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34309" y="981075"/>
            <a:ext cx="13291566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School example: 1NF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2751628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110" y="2828734"/>
            <a:ext cx="157657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110" y="3326770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Stud_ID (PK),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Name,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Location,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Level,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Level_Mgr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110" y="3882387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STUDENT_TEL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Stud_ID (PK, FK),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Tel (PK)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110" y="4438005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STUDENT_SUBJECT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Stud_ID (PK, FK),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Subject (PK),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Subject_Desc,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Grade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87042"/>
            <a:ext cx="16459200" cy="4122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318" b="1" i="0" u="none">
                <a:solidFill>
                  <a:srgbClr val="C8102E"/>
                </a:solidFill>
                <a:latin typeface="Courier New"/>
              </a:rPr>
              <a:t>col (PK)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primary key   ·   </a:t>
            </a:r>
            <a:r>
              <a:rPr sz="2318" b="1" i="0" u="none">
                <a:solidFill>
                  <a:srgbClr val="0E8A8A"/>
                </a:solidFill>
                <a:latin typeface="Courier New"/>
              </a:rPr>
              <a:t>col (FK)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foreign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552644"/>
            <a:ext cx="16459200" cy="1478051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6552644"/>
            <a:ext cx="47625" cy="1478051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120" y="6819344"/>
            <a:ext cx="15605760" cy="94465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704" b="0" i="0" u="none">
                <a:solidFill>
                  <a:srgbClr val="0F172A"/>
                </a:solidFill>
                <a:latin typeface="Calibri"/>
              </a:rPr>
              <a:t>Every cell is now atomic. But STUDENT_SUBJECT still repeats Subject_Desc for every student taking that subject.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19/39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Second normal form (2NF)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54552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482024"/>
            <a:ext cx="47625" cy="154552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120" y="2748724"/>
            <a:ext cx="15605760" cy="10121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898" b="0" i="0" u="none">
                <a:solidFill>
                  <a:srgbClr val="0F172A"/>
                </a:solidFill>
                <a:latin typeface="Calibri"/>
              </a:rPr>
              <a:t>A table is in </a:t>
            </a:r>
            <a:r>
              <a:rPr sz="2898" b="1" i="0" u="none">
                <a:solidFill>
                  <a:srgbClr val="0F172A"/>
                </a:solidFill>
                <a:latin typeface="Calibri"/>
              </a:rPr>
              <a:t>2NF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 if it is in 1NF and </a:t>
            </a:r>
            <a:r>
              <a:rPr sz="2898" b="1" i="0" u="none">
                <a:solidFill>
                  <a:srgbClr val="0F172A"/>
                </a:solidFill>
                <a:latin typeface="Calibri"/>
              </a:rPr>
              <a:t>no non-key attribute is partially dependent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 on the primary key.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80940"/>
            <a:ext cx="8069580" cy="3532761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4450" y="4880990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To reach 2NF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50" y="5604121"/>
            <a:ext cx="7269480" cy="192365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77860" indent="-377860">
              <a:lnSpc>
                <a:spcPct val="111800"/>
              </a:lnSpc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Move attributes that depend on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part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of the key to a new table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Take that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part of the key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with them as the new table's PK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4020" y="4480940"/>
            <a:ext cx="8069580" cy="3532761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04070" y="4880990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E8A8A"/>
                </a:solidFill>
                <a:latin typeface="Arial"/>
              </a:rPr>
              <a:t>Already in 2NF if any is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4070" y="5604121"/>
            <a:ext cx="7269480" cy="20095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77860" indent="-377860">
              <a:lnSpc>
                <a:spcPct val="111800"/>
              </a:lnSpc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The PK is a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single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column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All columns are part of the PK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Every non-key column depends on the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whole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PK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243709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SCHOOL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34309" y="981075"/>
            <a:ext cx="13291566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School example: 2NF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3307245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110" y="2828734"/>
            <a:ext cx="157657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2NF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110" y="3326770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Stud_ID (PK),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Name,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Location,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Level,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Level_Mgr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110" y="3882387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STUDENT_TEL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Stud_ID (PK, FK),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Tel (PK)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110" y="4438005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STUD_SUBJECT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Stud_ID (PK, FK),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Subject (PK, FK),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Grade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110" y="4993622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SUBJECT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Subject (PK),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Subject_Desc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42660"/>
            <a:ext cx="16459200" cy="4122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318" b="1" i="0" u="none">
                <a:solidFill>
                  <a:srgbClr val="C8102E"/>
                </a:solidFill>
                <a:latin typeface="Courier New"/>
              </a:rPr>
              <a:t>col (PK)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primary key   ·   </a:t>
            </a:r>
            <a:r>
              <a:rPr sz="2318" b="1" i="0" u="none">
                <a:solidFill>
                  <a:srgbClr val="0E8A8A"/>
                </a:solidFill>
                <a:latin typeface="Courier New"/>
              </a:rPr>
              <a:t>col (FK)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foreign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7108261"/>
            <a:ext cx="16459200" cy="1478051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7108261"/>
            <a:ext cx="47625" cy="1478051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1120" y="7374961"/>
            <a:ext cx="15605760" cy="94465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704" b="0" i="0" u="none">
                <a:solidFill>
                  <a:srgbClr val="0F172A"/>
                </a:solidFill>
                <a:latin typeface="Calibri"/>
              </a:rPr>
              <a:t>Subject → Subject_Desc was partial (only part of {Stud_ID, Subject}). STUDENT is still not in 3NF: Level → Level_Mgr.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Third normal form (3NF)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154552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482024"/>
            <a:ext cx="47625" cy="154552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120" y="2748724"/>
            <a:ext cx="15605760" cy="10121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898" b="0" i="0" u="none">
                <a:solidFill>
                  <a:srgbClr val="0F172A"/>
                </a:solidFill>
                <a:latin typeface="Calibri"/>
              </a:rPr>
              <a:t>A table is in </a:t>
            </a:r>
            <a:r>
              <a:rPr sz="2898" b="1" i="0" u="none">
                <a:solidFill>
                  <a:srgbClr val="0F172A"/>
                </a:solidFill>
                <a:latin typeface="Calibri"/>
              </a:rPr>
              <a:t>3NF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 if it is in 2NF and </a:t>
            </a:r>
            <a:r>
              <a:rPr sz="2898" b="1" i="0" u="none">
                <a:solidFill>
                  <a:srgbClr val="0F172A"/>
                </a:solidFill>
                <a:latin typeface="Calibri"/>
              </a:rPr>
              <a:t>no non-key attribute depends transitively</a:t>
            </a:r>
            <a:r>
              <a:rPr sz="2898" b="0" i="0" u="none">
                <a:solidFill>
                  <a:srgbClr val="0F172A"/>
                </a:solidFill>
                <a:latin typeface="Calibri"/>
              </a:rPr>
              <a:t> on the primary key (no non-key → non-key dependency).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80940"/>
            <a:ext cx="8069580" cy="442588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4450" y="4880990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To reach 3NF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50" y="5604121"/>
            <a:ext cx="7269480" cy="2902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77860" indent="-377860">
              <a:lnSpc>
                <a:spcPct val="111800"/>
              </a:lnSpc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Move the dependent non-key attributes to a new table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Its PK is the non-key attribute they depend on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1" i="0" u="none">
                <a:solidFill>
                  <a:srgbClr val="334155"/>
                </a:solidFill>
                <a:latin typeface="Calibri"/>
              </a:rPr>
              <a:t>Leave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that attribute in the original table as a FK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4020" y="4480940"/>
            <a:ext cx="8069580" cy="2023986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4020" y="4480940"/>
            <a:ext cx="47625" cy="2023986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0740" y="4747640"/>
            <a:ext cx="7216140" cy="149058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898" b="0" i="1" u="none">
                <a:solidFill>
                  <a:srgbClr val="0F172A"/>
                </a:solidFill>
                <a:latin typeface="Calibri"/>
              </a:rPr>
              <a:t>Every non-key attribute must depend on the key, the whole key, and nothing but the key.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243709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SCHOOL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34309" y="981075"/>
            <a:ext cx="13291566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School example: 3NF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3862862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110" y="2828734"/>
            <a:ext cx="157657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3NF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110" y="3326770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Stud_ID (PK),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Name,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Location,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Level (FK)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110" y="3882387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LEVEL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Level (PK),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Level_Mgr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110" y="4438005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STUDENT_TEL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Stud_ID (PK, FK),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Tel (PK)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110" y="4993622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STUD_SUBJECT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Stud_ID (PK, FK),</a:t>
            </a:r>
            <a:r>
              <a:rPr sz="2488" b="1" i="0" u="none">
                <a:solidFill>
                  <a:srgbClr val="0E8A8A"/>
                </a:solidFill>
                <a:latin typeface="Courier New"/>
              </a:rPr>
              <a:t> Subject (PK, FK),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Grade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110" y="5549240"/>
            <a:ext cx="15765780" cy="44893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488" b="1" i="0" u="none">
                <a:solidFill>
                  <a:srgbClr val="0F172A"/>
                </a:solidFill>
                <a:latin typeface="Courier New"/>
              </a:rPr>
              <a:t>SUBJECT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488" b="1" i="0" u="none">
                <a:solidFill>
                  <a:srgbClr val="C8102E"/>
                </a:solidFill>
                <a:latin typeface="Courier New"/>
              </a:rPr>
              <a:t> Subject (PK),</a:t>
            </a:r>
            <a:r>
              <a:rPr sz="2488" b="0" i="0" u="none">
                <a:solidFill>
                  <a:srgbClr val="0F172A"/>
                </a:solidFill>
                <a:latin typeface="Courier New"/>
              </a:rPr>
              <a:t> Subject_Desc</a:t>
            </a:r>
            <a:r>
              <a:rPr sz="2488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798277"/>
            <a:ext cx="16459200" cy="4122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318" b="1" i="0" u="none">
                <a:solidFill>
                  <a:srgbClr val="C8102E"/>
                </a:solidFill>
                <a:latin typeface="Courier New"/>
              </a:rPr>
              <a:t>col (PK)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primary key   ·   </a:t>
            </a:r>
            <a:r>
              <a:rPr sz="2318" b="1" i="0" u="none">
                <a:solidFill>
                  <a:srgbClr val="0E8A8A"/>
                </a:solidFill>
                <a:latin typeface="Courier New"/>
              </a:rPr>
              <a:t>col (FK)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foreign key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63879"/>
            <a:ext cx="16459200" cy="1031488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7663879"/>
            <a:ext cx="47625" cy="103148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1120" y="7930579"/>
            <a:ext cx="15605760" cy="4980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704" b="0" i="0" u="none">
                <a:solidFill>
                  <a:srgbClr val="0F172A"/>
                </a:solidFill>
                <a:latin typeface="Calibri"/>
              </a:rPr>
              <a:t>Five tables, each about </a:t>
            </a:r>
            <a:r>
              <a:rPr sz="2704" b="1" i="0" u="none">
                <a:solidFill>
                  <a:srgbClr val="0F172A"/>
                </a:solidFill>
                <a:latin typeface="Calibri"/>
              </a:rPr>
              <a:t>one thing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. Changing a level manager now updates exactly one row.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Boyce–Codd normal form (BCNF)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8016240" cy="1478051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482024"/>
            <a:ext cx="47625" cy="1478051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120" y="2748724"/>
            <a:ext cx="7162800" cy="94465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704" b="0" i="0" u="none">
                <a:solidFill>
                  <a:srgbClr val="0F172A"/>
                </a:solidFill>
                <a:latin typeface="Calibri"/>
              </a:rPr>
              <a:t>A table is in </a:t>
            </a:r>
            <a:r>
              <a:rPr sz="2704" b="1" i="0" u="none">
                <a:solidFill>
                  <a:srgbClr val="0F172A"/>
                </a:solidFill>
                <a:latin typeface="Calibri"/>
              </a:rPr>
              <a:t>BCNF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 if for every non-trivial FD </a:t>
            </a:r>
            <a:r>
              <a:rPr sz="2704" b="1" i="0" u="none">
                <a:solidFill>
                  <a:srgbClr val="0F172A"/>
                </a:solidFill>
                <a:latin typeface="Calibri"/>
              </a:rPr>
              <a:t>X → Y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, X is a </a:t>
            </a:r>
            <a:r>
              <a:rPr sz="2704" b="1" i="0" u="none">
                <a:solidFill>
                  <a:srgbClr val="0F172A"/>
                </a:solidFill>
                <a:latin typeface="Calibri"/>
              </a:rPr>
              <a:t>superkey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4226775"/>
          <a:ext cx="8016240" cy="325941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72080"/>
                <a:gridCol w="2672080"/>
                <a:gridCol w="2672080"/>
              </a:tblGrid>
              <a:tr h="580040"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Student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Course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Instructor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Narayan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Mark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Smith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Navathe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939253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Smith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Operating Systems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Ammar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Wong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Omiecinski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7752891"/>
            <a:ext cx="801624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0" i="0" u="none">
                <a:solidFill>
                  <a:srgbClr val="64748B"/>
                </a:solidFill>
                <a:latin typeface="Calibri"/>
              </a:rPr>
              <a:t>TEACH · key {Student, Course} · FD: </a:t>
            </a:r>
            <a:r>
              <a:rPr sz="2318" b="1" i="0" u="none">
                <a:solidFill>
                  <a:srgbClr val="64748B"/>
                </a:solidFill>
                <a:latin typeface="Calibri"/>
              </a:rPr>
              <a:t>Instructor → Course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57360" y="2482024"/>
            <a:ext cx="8016240" cy="330948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7410" y="2882074"/>
            <a:ext cx="72161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Why it is 3NF but not BCNF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7410" y="3605204"/>
            <a:ext cx="7216140" cy="17862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Course is part of the key, so 3NF allows Instructor → Course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But Instructor is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not a superkey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→ BCNF is violated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57360" y="6058204"/>
            <a:ext cx="8016240" cy="2782921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04070" y="6404914"/>
            <a:ext cx="732282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BCNF DECOMPOSITION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4070" y="6902950"/>
            <a:ext cx="732282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INSTRUCTOR_COURSE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Instructor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Course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4070" y="7752023"/>
            <a:ext cx="732282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STUDENT_INSTRUCTOR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Student (PK),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Instructor (PK, FK)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Beyond BCNF: 4NF and 5NF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8069580" cy="525575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4NF: multi-valued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3605204"/>
            <a:ext cx="72694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Two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independent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multi-valued facts about the same key in one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4642401"/>
            <a:ext cx="7269480" cy="26953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EMP(Ename, Pname, Dname): projects and dependents are unrelated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Every project × every dependent → huge redundancy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Fix: EMP_PROJECTS(Ename, Pname) + EMP_DEPENDENTS(Ename, Dname)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04020" y="2482024"/>
            <a:ext cx="8069580" cy="525575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04070" y="2882074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5NF: join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4070" y="3605204"/>
            <a:ext cx="72694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A table that can only be rebuilt by joining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three or more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of its projections.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4070" y="4642401"/>
            <a:ext cx="7269480" cy="1371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Rare in practice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Related to the ternary vs three binaries question (Lesson 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8191164"/>
            <a:ext cx="16459200" cy="1410576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8191164"/>
            <a:ext cx="47625" cy="1410576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1120" y="8457864"/>
            <a:ext cx="15605760" cy="877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A well-designed ERD mapped with the 7 steps rarely produces 4NF/5NF problems: multi-valued attributes already get their own tables.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Good decompositions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8069580" cy="4346676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E8A8A"/>
                </a:solidFill>
                <a:latin typeface="Arial"/>
              </a:rPr>
              <a:t>Lossless join (required)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3605204"/>
            <a:ext cx="72694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Joining the new tables gives back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exactly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the original rows: no spurious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4642401"/>
            <a:ext cx="7269480" cy="17862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Split R into R1, R2 so the common columns are a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key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of R1 or R2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That is why we keep the FK (Level) in STUDENT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04020" y="2482024"/>
            <a:ext cx="8069580" cy="434667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04070" y="2882074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Dependency preservation (desired)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4070" y="3605204"/>
            <a:ext cx="726948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Every FD can still be checked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inside one table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4070" y="4642401"/>
            <a:ext cx="7269480" cy="1371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3NF can always keep both properties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BCNF sometimes must give this up (TEACH example)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Lossless vs lossy: one table, two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2024"/>
            <a:ext cx="16459200" cy="47828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666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666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666" b="1" i="0" u="none">
                <a:solidFill>
                  <a:srgbClr val="C8102E"/>
                </a:solidFill>
                <a:latin typeface="Courier New"/>
              </a:rPr>
              <a:t> Stud_ID (PK),</a:t>
            </a:r>
            <a:r>
              <a:rPr sz="2666" b="0" i="0" u="none">
                <a:solidFill>
                  <a:srgbClr val="0F172A"/>
                </a:solidFill>
                <a:latin typeface="Courier New"/>
              </a:rPr>
              <a:t> Level,</a:t>
            </a:r>
            <a:r>
              <a:rPr sz="2666" b="0" i="0" u="none">
                <a:solidFill>
                  <a:srgbClr val="0F172A"/>
                </a:solidFill>
                <a:latin typeface="Courier New"/>
              </a:rPr>
              <a:t> Level_Mgr</a:t>
            </a:r>
            <a:r>
              <a:rPr sz="2666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13697"/>
            <a:ext cx="16459200" cy="4625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64748B"/>
                </a:solidFill>
                <a:latin typeface="Calibri"/>
              </a:rPr>
              <a:t>FDs: Stud_ID → Level, Level → Level_Mgr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29598"/>
            <a:ext cx="8069580" cy="3535840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110" y="4676308"/>
            <a:ext cx="737616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LOSSLESS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110" y="5174344"/>
            <a:ext cx="7376160" cy="41959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310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310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310" b="1" i="0" u="none">
                <a:solidFill>
                  <a:srgbClr val="C8102E"/>
                </a:solidFill>
                <a:latin typeface="Courier New"/>
              </a:rPr>
              <a:t> Stud_ID (PK),</a:t>
            </a:r>
            <a:r>
              <a:rPr sz="2310" b="1" i="0" u="none">
                <a:solidFill>
                  <a:srgbClr val="0E8A8A"/>
                </a:solidFill>
                <a:latin typeface="Courier New"/>
              </a:rPr>
              <a:t> Level (FK)</a:t>
            </a:r>
            <a:r>
              <a:rPr sz="2310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110" y="5700616"/>
            <a:ext cx="7376160" cy="41959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310" b="1" i="0" u="none">
                <a:solidFill>
                  <a:srgbClr val="0F172A"/>
                </a:solidFill>
                <a:latin typeface="Courier New"/>
              </a:rPr>
              <a:t>LEVEL</a:t>
            </a:r>
            <a:r>
              <a:rPr sz="2310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310" b="1" i="0" u="none">
                <a:solidFill>
                  <a:srgbClr val="C8102E"/>
                </a:solidFill>
                <a:latin typeface="Courier New"/>
              </a:rPr>
              <a:t> Level (PK),</a:t>
            </a:r>
            <a:r>
              <a:rPr sz="2310" b="0" i="0" u="none">
                <a:solidFill>
                  <a:srgbClr val="0F172A"/>
                </a:solidFill>
                <a:latin typeface="Courier New"/>
              </a:rPr>
              <a:t> Level_Mgr</a:t>
            </a:r>
            <a:r>
              <a:rPr sz="2310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110" y="6226888"/>
            <a:ext cx="7376160" cy="877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Common column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Level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is the key of LEVEL: joining gives back exactly the original 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04020" y="4329598"/>
            <a:ext cx="8069580" cy="353584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0730" y="4676308"/>
            <a:ext cx="737616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LOSSY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0730" y="5174344"/>
            <a:ext cx="7376160" cy="41959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310" b="1" i="0" u="none">
                <a:solidFill>
                  <a:srgbClr val="0F172A"/>
                </a:solidFill>
                <a:latin typeface="Courier New"/>
              </a:rPr>
              <a:t>R1</a:t>
            </a:r>
            <a:r>
              <a:rPr sz="2310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310" b="1" i="0" u="none">
                <a:solidFill>
                  <a:srgbClr val="C8102E"/>
                </a:solidFill>
                <a:latin typeface="Courier New"/>
              </a:rPr>
              <a:t> Stud_ID (PK),</a:t>
            </a:r>
            <a:r>
              <a:rPr sz="2310" b="0" i="0" u="none">
                <a:solidFill>
                  <a:srgbClr val="0F172A"/>
                </a:solidFill>
                <a:latin typeface="Courier New"/>
              </a:rPr>
              <a:t> Level_Mgr</a:t>
            </a:r>
            <a:r>
              <a:rPr sz="2310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0730" y="5700616"/>
            <a:ext cx="7376160" cy="41959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310" b="1" i="0" u="none">
                <a:solidFill>
                  <a:srgbClr val="0F172A"/>
                </a:solidFill>
                <a:latin typeface="Courier New"/>
              </a:rPr>
              <a:t>R2</a:t>
            </a:r>
            <a:r>
              <a:rPr sz="2310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310" b="1" i="0" u="none">
                <a:solidFill>
                  <a:srgbClr val="C8102E"/>
                </a:solidFill>
                <a:latin typeface="Courier New"/>
              </a:rPr>
              <a:t> Level (PK),</a:t>
            </a:r>
            <a:r>
              <a:rPr sz="2310" b="0" i="0" u="none">
                <a:solidFill>
                  <a:srgbClr val="0F172A"/>
                </a:solidFill>
                <a:latin typeface="Courier New"/>
              </a:rPr>
              <a:t> Level_Mgr</a:t>
            </a:r>
            <a:r>
              <a:rPr sz="2310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0730" y="6226888"/>
            <a:ext cx="7376160" cy="1291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Common column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Level_Mgr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is not a key of either table: one manager runs two levels, so the join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invents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 rows (spurious tuples).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00482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NORMAL FORMS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95421" y="981075"/>
            <a:ext cx="1353045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Denormalization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273040" cy="442588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3605204"/>
            <a:ext cx="4472940" cy="22843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Deliberately storing the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join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of normalized tables, or a derived value, as a base table (a lower normal form).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07480" y="2482024"/>
            <a:ext cx="5273040" cy="4425886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7530" y="2882074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E8A8A"/>
                </a:solidFill>
                <a:latin typeface="Arial"/>
              </a:rPr>
              <a:t>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7530" y="3605204"/>
            <a:ext cx="4472940" cy="2902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77860" indent="-377860">
              <a:lnSpc>
                <a:spcPct val="111800"/>
              </a:lnSpc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Read-heavy reports and dashboards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Data warehouses (star schemas)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Measured performance problems, not guesses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0560" y="2482024"/>
            <a:ext cx="5273040" cy="4425886"/>
          </a:xfrm>
          <a:prstGeom prst="rect">
            <a:avLst/>
          </a:prstGeom>
          <a:solidFill>
            <a:srgbClr val="FDECEF"/>
          </a:solidFill>
          <a:ln w="14287">
            <a:solidFill>
              <a:srgbClr val="F5C2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00610" y="2882074"/>
            <a:ext cx="447294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C8102E"/>
                </a:solidFill>
                <a:latin typeface="Arial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00610" y="3605204"/>
            <a:ext cx="4472940" cy="20095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77860" indent="-377860">
              <a:lnSpc>
                <a:spcPct val="111800"/>
              </a:lnSpc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Redundancy comes back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Application or triggers must keep copies in sync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More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7361300"/>
            <a:ext cx="16459200" cy="10314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7361300"/>
            <a:ext cx="47625" cy="103148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1120" y="7628000"/>
            <a:ext cx="15605760" cy="4980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704" b="0" i="0" u="none">
                <a:solidFill>
                  <a:srgbClr val="0F172A"/>
                </a:solidFill>
                <a:latin typeface="Calibri"/>
              </a:rPr>
              <a:t>Normalize first; denormalize only with a </a:t>
            </a:r>
            <a:r>
              <a:rPr sz="2704" b="1" i="0" u="none">
                <a:solidFill>
                  <a:srgbClr val="0F172A"/>
                </a:solidFill>
                <a:latin typeface="Calibri"/>
              </a:rPr>
              <a:t>measured</a:t>
            </a:r>
            <a:r>
              <a:rPr sz="2704" b="0" i="0" u="none">
                <a:solidFill>
                  <a:srgbClr val="0F172A"/>
                </a:solidFill>
                <a:latin typeface="Calibri"/>
              </a:rPr>
              <a:t> reason, and document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5715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C8102E"/>
                </a:solidFill>
                <a:latin typeface="Arial"/>
              </a:rPr>
              <a:t>SECTION 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90900" y="981075"/>
            <a:ext cx="13134975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7500"/>
            <a:ext cx="5715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6000"/>
              </a:lnSpc>
            </a:pPr>
            <a:r>
              <a:rPr sz="15000" b="1" i="0" u="none">
                <a:solidFill>
                  <a:srgbClr val="C8102E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34000"/>
            <a:ext cx="15240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300"/>
              </a:lnSpc>
            </a:pPr>
            <a:r>
              <a:rPr sz="6300" b="1" i="0" u="none">
                <a:solidFill>
                  <a:srgbClr val="0F172A"/>
                </a:solidFill>
                <a:latin typeface="Arial"/>
              </a:rPr>
              <a:t>Worked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39000"/>
            <a:ext cx="13335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400" b="0" i="0" u="none">
                <a:solidFill>
                  <a:srgbClr val="334155"/>
                </a:solidFill>
                <a:latin typeface="Calibri"/>
              </a:rPr>
              <a:t>An ITI student sheet, real school data, and a suppliers table.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88537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ITI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75978" y="981075"/>
            <a:ext cx="1364989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29/39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ITI student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324024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15659100" cy="244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Student number: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ITI205-40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Name: Hassan Ali Ahmed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Address (Street, City): 12 Haram St, Giza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Tel / mobile: 33868420 · 01111111253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F-code: ENG · Faculty: Engineering · Major: Computer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6039642"/>
          <a:ext cx="16459200" cy="2320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6254496"/>
                <a:gridCol w="2962656"/>
                <a:gridCol w="3950208"/>
              </a:tblGrid>
              <a:tr h="580040"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Department name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Department description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Admission grade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Comments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ERP-SAP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ERP-SAP Functional Consultant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Average personality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Java-MAD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Java mobile applications developer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Very good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CS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Cyber Security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Above average technical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88537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ITI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75978" y="981075"/>
            <a:ext cx="1364989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ITI sheet: 1NF → 2NF → 3NF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308600" cy="433628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110" y="2828734"/>
            <a:ext cx="46151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110" y="3326770"/>
            <a:ext cx="4615180" cy="109453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Stud_No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Stud_Name,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F_code,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Faculty,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Major,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Street,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City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110" y="4527989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STUDENT_TEL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Stud_No (PK, FK),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Tel_No (PK)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110" y="5377062"/>
            <a:ext cx="4615180" cy="109453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DEPT_STUDENT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Dept_Name (PK),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Stud_No (PK, FK),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Dept_Desc,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Ad_Grade,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Comments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9700" y="2482024"/>
            <a:ext cx="5308600" cy="433628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6410" y="2828734"/>
            <a:ext cx="46151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2NF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6410" y="3326770"/>
            <a:ext cx="4615180" cy="109453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DEPT_STUDENT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Dept_Name (PK, FK),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Stud_No (PK, FK),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Ad_Grade,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Comments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6410" y="4527989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DEPARTMENT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Dept_Name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Dept_Desc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65000" y="2482024"/>
            <a:ext cx="5308600" cy="4336286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11710" y="2828734"/>
            <a:ext cx="46151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3NF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11710" y="3326770"/>
            <a:ext cx="4615180" cy="109453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Stud_No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Stud_Name,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F_code (FK),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Major,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Street,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City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11710" y="4527989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FACULTY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F_code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Faculty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271701"/>
            <a:ext cx="16459200" cy="4122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318" b="1" i="0" u="none">
                <a:solidFill>
                  <a:srgbClr val="C8102E"/>
                </a:solidFill>
                <a:latin typeface="Courier New"/>
              </a:rPr>
              <a:t>col (PK)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primary key   ·   </a:t>
            </a:r>
            <a:r>
              <a:rPr sz="2318" b="1" i="0" u="none">
                <a:solidFill>
                  <a:srgbClr val="0E8A8A"/>
                </a:solidFill>
                <a:latin typeface="Courier New"/>
              </a:rPr>
              <a:t>col (FK)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foreign key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363152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REAL-WORLD DATA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3752" y="981075"/>
            <a:ext cx="13172123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Real-world school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82024"/>
          <a:ext cx="16459198" cy="2320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51314"/>
                <a:gridCol w="2351314"/>
                <a:gridCol w="2351314"/>
                <a:gridCol w="2351314"/>
                <a:gridCol w="2351314"/>
                <a:gridCol w="2351314"/>
                <a:gridCol w="2351314"/>
              </a:tblGrid>
              <a:tr h="580040"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Parent 1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Parent 2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App No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City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Postal code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Birth date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Renee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Ann Jones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Theodore Smith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Annandale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22003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6/25/1983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Lucy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Barbara Mills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Steve Mills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558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Annandale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22003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8/14/1983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Brendan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Jennifer Jones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Stephen Jones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Fairfax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22032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6/13/1984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5074220"/>
          <a:ext cx="16459200" cy="303858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75104"/>
                <a:gridCol w="1975104"/>
                <a:gridCol w="3621024"/>
                <a:gridCol w="1810512"/>
                <a:gridCol w="1975104"/>
                <a:gridCol w="2962656"/>
                <a:gridCol w="2139696"/>
              </a:tblGrid>
              <a:tr h="939253"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Prev. teacher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Curr. teacher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Student phone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Course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Course desc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Enrolled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Attended days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939253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Hamil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Burke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(703) 323-0893, (703) 324-0708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X, Y, Z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X, Y, Z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96/97, 96/97, 97/98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0, 0, 0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Hamil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Burke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(703) 764-5829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96/97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Hamil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Burke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(703) 978-1083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96/97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363152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REAL-WORLD DATA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3752" y="981075"/>
            <a:ext cx="13172123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School data: 1NF → 3NF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16459200" cy="2927701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110" y="2828734"/>
            <a:ext cx="157657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110" y="3326770"/>
            <a:ext cx="157657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App_No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Stud_Fname,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Parent1,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Parent2,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City,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Postal_Code,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Birthdate,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Prev_Teacher,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Curr_Teacher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110" y="4175842"/>
            <a:ext cx="15765780" cy="3902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STUDENT_COURSE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App_No (PK, FK),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Course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Course_Desc,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Enrolled,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Att_Days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110" y="4672769"/>
            <a:ext cx="15765780" cy="3902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STUDENT_PHONE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App_No (PK, FK),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Phone (PK)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636420"/>
            <a:ext cx="8096250" cy="243077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110" y="5983130"/>
            <a:ext cx="740283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2NF (CHANGED)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110" y="6481166"/>
            <a:ext cx="740283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STUDENT_COURSE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App_No (PK, FK),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Course (PK, FK),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Enrolled,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Att_Days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110" y="7330239"/>
            <a:ext cx="7402830" cy="3902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COURSE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Course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Course_Desc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77350" y="5636420"/>
            <a:ext cx="8096250" cy="2430774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4060" y="5983130"/>
            <a:ext cx="740283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3NF (CHANGED)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4060" y="6481166"/>
            <a:ext cx="740283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STUDENT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App_No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…,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Postal_Code (FK),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…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4060" y="7330239"/>
            <a:ext cx="7402830" cy="3902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POSTAL_CODE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Postal_Code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City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293890"/>
            <a:ext cx="16459200" cy="4122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318" b="1" i="0" u="none">
                <a:solidFill>
                  <a:srgbClr val="C8102E"/>
                </a:solidFill>
                <a:latin typeface="Courier New"/>
              </a:rPr>
              <a:t>col (PK)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primary key   ·   </a:t>
            </a:r>
            <a:r>
              <a:rPr sz="2318" b="1" i="0" u="none">
                <a:solidFill>
                  <a:srgbClr val="0E8A8A"/>
                </a:solidFill>
                <a:latin typeface="Courier New"/>
              </a:rPr>
              <a:t>col (FK)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foreign key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64649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SUPPLIERS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637091" y="981075"/>
            <a:ext cx="1388878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Suppliers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8069580" cy="4190870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7269480" cy="31602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77860" indent="-377860">
              <a:lnSpc>
                <a:spcPct val="111800"/>
              </a:lnSpc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Relation (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S#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, Country, Currency,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P#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, Qty)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S#: supplier number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Country: where the supplier is located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Currency: the currency of that country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P#: part number supplied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Qty: quantity supplied to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9304020" y="2482024"/>
            <a:ext cx="8069580" cy="4190870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04070" y="2882074"/>
            <a:ext cx="7269480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E8A8A"/>
                </a:solidFill>
                <a:latin typeface="Arial"/>
              </a:rPr>
              <a:t>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4070" y="3605204"/>
            <a:ext cx="7269480" cy="9446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Qty depends on supplier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and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 part, so the PK is the composite </a:t>
            </a:r>
            <a:r>
              <a:rPr sz="2704" b="1" i="0" u="none">
                <a:solidFill>
                  <a:srgbClr val="334155"/>
                </a:solidFill>
                <a:latin typeface="Calibri"/>
              </a:rPr>
              <a:t>{S#, P#}</a:t>
            </a:r>
            <a:r>
              <a:rPr sz="2704" b="0" i="0" u="none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04070" y="4709876"/>
            <a:ext cx="7269480" cy="1562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77860" indent="-377860">
              <a:lnSpc>
                <a:spcPct val="111800"/>
              </a:lnSpc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S# → Country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Country → Currency</a:t>
            </a:r>
          </a:p>
          <a:p>
            <a:pPr algn="l" marL="377860" indent="-377860">
              <a:lnSpc>
                <a:spcPct val="111800"/>
              </a:lnSpc>
              <a:spcBef>
                <a:spcPts val="676"/>
              </a:spcBef>
              <a:buChar char="•"/>
            </a:pPr>
            <a:r>
              <a:rPr sz="2704" b="0" i="0" u="none">
                <a:solidFill>
                  <a:srgbClr val="334155"/>
                </a:solidFill>
                <a:latin typeface="Calibri"/>
              </a:rPr>
              <a:t>{S#, P#} → Qty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64649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SUPPLIERS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637091" y="981075"/>
            <a:ext cx="13888784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Suppliers: 1NF → 2NF → 3NF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308600" cy="363199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110" y="2828734"/>
            <a:ext cx="46151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110" y="3326770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SUPPLY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S#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Country,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Currency,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P#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Qty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9700" y="2482024"/>
            <a:ext cx="5308600" cy="3631994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6410" y="2828734"/>
            <a:ext cx="46151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2NF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6410" y="3326770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SUPPLIER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S#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Country,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Currency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6410" y="4175842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SUPPLIER_PART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S# (PK, FK),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P#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Qty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65000" y="2482024"/>
            <a:ext cx="5308600" cy="3631994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11710" y="2828734"/>
            <a:ext cx="4615180" cy="391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125" b="1" i="0" u="none" spc="100">
                <a:solidFill>
                  <a:srgbClr val="C8102E"/>
                </a:solidFill>
                <a:latin typeface="Arial"/>
              </a:rPr>
              <a:t>3NF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11710" y="3326770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SUPPLIER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S# (PK),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Country (FK)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11710" y="4175842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COUNTRY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Country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Currency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11710" y="5024915"/>
            <a:ext cx="4615180" cy="7423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0000"/>
              </a:lnSpc>
            </a:pPr>
            <a:r>
              <a:rPr sz="2132" b="1" i="0" u="none">
                <a:solidFill>
                  <a:srgbClr val="0F172A"/>
                </a:solidFill>
                <a:latin typeface="Courier New"/>
              </a:rPr>
              <a:t>SUPPLIER_PART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(</a:t>
            </a:r>
            <a:r>
              <a:rPr sz="2132" b="1" i="0" u="none">
                <a:solidFill>
                  <a:srgbClr val="0E8A8A"/>
                </a:solidFill>
                <a:latin typeface="Courier New"/>
              </a:rPr>
              <a:t> S# (PK, FK),</a:t>
            </a:r>
            <a:r>
              <a:rPr sz="2132" b="1" i="0" u="none">
                <a:solidFill>
                  <a:srgbClr val="C8102E"/>
                </a:solidFill>
                <a:latin typeface="Courier New"/>
              </a:rPr>
              <a:t> P# (PK),</a:t>
            </a:r>
            <a:r>
              <a:rPr sz="2132" b="0" i="0" u="none">
                <a:solidFill>
                  <a:srgbClr val="0F172A"/>
                </a:solidFill>
                <a:latin typeface="Courier New"/>
              </a:rPr>
              <a:t> Qty</a:t>
            </a:r>
            <a:r>
              <a:rPr sz="2132" b="0" i="0" u="none">
                <a:solidFill>
                  <a:srgbClr val="64748B"/>
                </a:solidFill>
                <a:latin typeface="Courier New"/>
              </a:rPr>
              <a:t> 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6567408"/>
            <a:ext cx="16459200" cy="141057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6567408"/>
            <a:ext cx="47625" cy="1410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1120" y="6834108"/>
            <a:ext cx="15605760" cy="877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120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Every value is already atomic, so the original relation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is already in 1NF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. The split into SUPPLIER and SUPPLIER_PART removes the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partial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dependency S# → Country, Currency: that is the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2NF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step.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8431374"/>
            <a:ext cx="16459200" cy="4122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318" b="1" i="0" u="none">
                <a:solidFill>
                  <a:srgbClr val="C8102E"/>
                </a:solidFill>
                <a:latin typeface="Courier New"/>
              </a:rPr>
              <a:t>col (PK)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primary key   ·   </a:t>
            </a:r>
            <a:r>
              <a:rPr sz="2318" b="1" i="0" u="none">
                <a:solidFill>
                  <a:srgbClr val="0E8A8A"/>
                </a:solidFill>
                <a:latin typeface="Courier New"/>
              </a:rPr>
              <a:t>col (FK)</a:t>
            </a:r>
            <a:r>
              <a:rPr sz="2318" b="0" i="0" u="none">
                <a:solidFill>
                  <a:srgbClr val="64748B"/>
                </a:solidFill>
                <a:latin typeface="Calibri"/>
              </a:rPr>
              <a:t> = foreign key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765934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35 · RECAP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56535" y="981075"/>
            <a:ext cx="13769340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What to walk out remembering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289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1650" y="30289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Redundancy causes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insert, update and delete anomalies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8862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14400" y="40576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1650" y="40576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A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functional dependency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A → B: A determines exactly one B.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49149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14400" y="50863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650" y="50863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0F172A"/>
                </a:solidFill>
                <a:latin typeface="Calibri"/>
              </a:rPr>
              <a:t>1NF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atomic values ·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2NF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no partial deps ·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3NF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no transitive deps.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59436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14400" y="61150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1650" y="61150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0F172A"/>
                </a:solidFill>
                <a:latin typeface="Calibri"/>
              </a:rPr>
              <a:t>BCNF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: every determinant is a superkey.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9723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14400" y="71437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650" y="71437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0" i="0" u="none">
                <a:solidFill>
                  <a:srgbClr val="0F172A"/>
                </a:solidFill>
                <a:latin typeface="Calibri"/>
              </a:rPr>
              <a:t>Decompositions must be </a:t>
            </a:r>
            <a:r>
              <a:rPr sz="2250" b="1" i="0" u="none">
                <a:solidFill>
                  <a:srgbClr val="0F172A"/>
                </a:solidFill>
                <a:latin typeface="Calibri"/>
              </a:rPr>
              <a:t>lossless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; keep dependencies when you can.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80010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914400" y="8172450"/>
            <a:ext cx="7620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C8102E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1650" y="8172450"/>
            <a:ext cx="15601950" cy="800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250" b="1" i="0" u="none">
                <a:solidFill>
                  <a:srgbClr val="0F172A"/>
                </a:solidFill>
                <a:latin typeface="Calibri"/>
              </a:rPr>
              <a:t>Denormalize</a:t>
            </a:r>
            <a:r>
              <a:rPr sz="2250" b="0" i="0" u="none">
                <a:solidFill>
                  <a:srgbClr val="0F172A"/>
                </a:solidFill>
                <a:latin typeface="Calibri"/>
              </a:rPr>
              <a:t> only for measured performance needs.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90297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152704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PRACTICE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17648" y="981075"/>
            <a:ext cx="14008227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Normalize this sales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9619488" cy="2745836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2882074"/>
            <a:ext cx="8819388" cy="19457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Customer number: 1001 · Name: ABC Company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Customer address: 100 Points, Manhattan, KS 66502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Sales order number: 405 · Date: 2/1/2000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Clerk number: 210 · Clerk name: Martin Lawrence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5441221"/>
          <a:ext cx="9619485" cy="2900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54338"/>
                <a:gridCol w="3270625"/>
                <a:gridCol w="1154338"/>
                <a:gridCol w="1923897"/>
                <a:gridCol w="2116287"/>
              </a:tblGrid>
              <a:tr h="580040"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Unit price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47218" marR="147218" marT="88331" marB="88331" anchor="ctr">
                    <a:solidFill>
                      <a:srgbClr val="0F172A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widget small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60.00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2,400.00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801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tingimajigger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400.00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805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thingibob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100.00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0" i="0" u="none">
                          <a:solidFill>
                            <a:srgbClr val="334155"/>
                          </a:solidFill>
                          <a:latin typeface="Calibri"/>
                        </a:rPr>
                        <a:t>1,000.00</a:t>
                      </a:r>
                    </a:p>
                  </a:txBody>
                  <a:tcPr marL="147218" marR="147218" marT="88331" marB="88331" anchor="ctr">
                    <a:solidFill>
                      <a:srgbClr val="FFFFFF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  <a:tr h="580040">
                <a:tc>
                  <a:txBody>
                    <a:bodyPr/>
                    <a:lstStyle/>
                    <a:p/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334155"/>
                          </a:solidFill>
                          <a:latin typeface="Calibri"/>
                        </a:rPr>
                        <a:t>Order total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318" b="1" i="0" u="none">
                          <a:solidFill>
                            <a:srgbClr val="334155"/>
                          </a:solidFill>
                          <a:latin typeface="Calibri"/>
                        </a:rPr>
                        <a:t>3,800.00</a:t>
                      </a:r>
                    </a:p>
                  </a:txBody>
                  <a:tcPr marL="147218" marR="147218" marT="88331" marB="88331" anchor="ctr">
                    <a:solidFill>
                      <a:srgbClr val="F8FAFC"/>
                    </a:solidFill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0960608" y="2482024"/>
            <a:ext cx="6412992" cy="3468966"/>
          </a:xfrm>
          <a:prstGeom prst="rect">
            <a:avLst/>
          </a:prstGeom>
          <a:solidFill>
            <a:srgbClr val="E6F4F4"/>
          </a:solidFill>
          <a:ln w="14287">
            <a:solidFill>
              <a:srgbClr val="B7DCDC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60658" y="2882074"/>
            <a:ext cx="5612892" cy="563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3200"/>
              </a:lnSpc>
            </a:pPr>
            <a:r>
              <a:rPr sz="3284" b="1" i="0" u="none">
                <a:solidFill>
                  <a:srgbClr val="0E8A8A"/>
                </a:solidFill>
                <a:latin typeface="Arial"/>
              </a:rPr>
              <a:t>Your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0658" y="3605204"/>
            <a:ext cx="5612892" cy="19457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350870" indent="-350870">
              <a:lnSpc>
                <a:spcPct val="111800"/>
              </a:lnSpc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List the FDs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Write the 0NF relation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Normalize to 1NF, 2NF, 3NF</a:t>
            </a:r>
          </a:p>
          <a:p>
            <a:pPr algn="l" marL="350870" indent="-350870">
              <a:lnSpc>
                <a:spcPct val="111800"/>
              </a:lnSpc>
              <a:spcBef>
                <a:spcPts val="627"/>
              </a:spcBef>
              <a:buChar char="•"/>
            </a:pPr>
            <a:r>
              <a:rPr sz="2511" b="0" i="0" u="none">
                <a:solidFill>
                  <a:srgbClr val="334155"/>
                </a:solidFill>
                <a:latin typeface="Calibri"/>
              </a:rPr>
              <a:t>Which values are </a:t>
            </a:r>
            <a:r>
              <a:rPr sz="2511" b="1" i="0" u="none">
                <a:solidFill>
                  <a:srgbClr val="334155"/>
                </a:solidFill>
                <a:latin typeface="Calibri"/>
              </a:rPr>
              <a:t>derived</a:t>
            </a:r>
            <a:r>
              <a:rPr sz="2511" b="0" i="0" u="none">
                <a:solidFill>
                  <a:srgbClr val="334155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840926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PRACTICE · OPTIONAL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31526" y="981075"/>
            <a:ext cx="12694349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Practice: Lesson 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82024"/>
            <a:ext cx="5273040" cy="30135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7780" y="285540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0E8A8A"/>
                </a:solidFill>
                <a:latin typeface="Arial"/>
              </a:rPr>
              <a:t>Q1 ·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7780" y="3415687"/>
            <a:ext cx="4526280" cy="17065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For COURSE_REG(StudentID, StudentName, CourseID, CourseTitle, Grade): list the FDs and normalize to 3NF.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07480" y="2482024"/>
            <a:ext cx="5273040" cy="30135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0860" y="285540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0E8A8A"/>
                </a:solidFill>
                <a:latin typeface="Arial"/>
              </a:rPr>
              <a:t>Q2 ·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0860" y="3415687"/>
            <a:ext cx="4526280" cy="17065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Show one insert, one update and one delete anomaly in EMP_PROJ (Ssn, Pnumber, Hours, Ename, Pname, Plocation).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0560" y="2482024"/>
            <a:ext cx="5273040" cy="30135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73940" y="285540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0E8A8A"/>
                </a:solidFill>
                <a:latin typeface="Arial"/>
              </a:rPr>
              <a:t>Q3 ·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3940" y="3415687"/>
            <a:ext cx="4526280" cy="1291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Classify each FD as full, partial or transitive in the school example.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815614"/>
            <a:ext cx="5273040" cy="30135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7780" y="618899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Q4 · STRETCH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7780" y="6749277"/>
            <a:ext cx="4526280" cy="17065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Normalize the </a:t>
            </a:r>
            <a:r>
              <a:rPr sz="2511" b="1" i="0" u="none">
                <a:solidFill>
                  <a:srgbClr val="0F172A"/>
                </a:solidFill>
                <a:latin typeface="Calibri"/>
              </a:rPr>
              <a:t>sales order</a:t>
            </a:r>
            <a:r>
              <a:rPr sz="2511" b="0" i="0" u="none">
                <a:solidFill>
                  <a:srgbClr val="0F172A"/>
                </a:solidFill>
                <a:latin typeface="Calibri"/>
              </a:rPr>
              <a:t> on the previous slide and say which values should not be stored.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7480" y="5815614"/>
            <a:ext cx="5273040" cy="30135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0860" y="618899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C8102E"/>
                </a:solidFill>
                <a:latin typeface="Arial"/>
              </a:rPr>
              <a:t>Q5 · STRETCH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0860" y="6749277"/>
            <a:ext cx="4526280" cy="1291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Is BOOK(ISBN, Title, AuthorID, AuthorName, PublisherID, PublisherCity) in 3NF? Fix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00560" y="5815614"/>
            <a:ext cx="5273040" cy="3013549"/>
          </a:xfrm>
          <a:prstGeom prst="rect">
            <a:avLst/>
          </a:prstGeom>
          <a:solidFill>
            <a:srgbClr val="FFFFFF"/>
          </a:solidFill>
          <a:ln w="14287">
            <a:solidFill>
              <a:srgbClr val="E2E8F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73940" y="6188994"/>
            <a:ext cx="4526280" cy="4269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318" b="1" i="0" u="none">
                <a:solidFill>
                  <a:srgbClr val="0F172A"/>
                </a:solidFill>
                <a:latin typeface="Arial"/>
              </a:rPr>
              <a:t>Q6 ·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73940" y="6749277"/>
            <a:ext cx="4526280" cy="17065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2511" b="0" i="0" u="none">
                <a:solidFill>
                  <a:srgbClr val="0F172A"/>
                </a:solidFill>
                <a:latin typeface="Calibri"/>
              </a:rPr>
              <a:t>Find a table that violates BCNF in your own project, decompose it, and check the join is lossless.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2363152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38 · STUDY MORE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53752" y="981075"/>
            <a:ext cx="13172123" cy="0"/>
          </a:xfrm>
          <a:prstGeom prst="line">
            <a:avLst/>
          </a:prstGeom>
          <a:ln w="19050">
            <a:solidFill>
              <a:srgbClr val="E2E8F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6306800" y="838200"/>
            <a:ext cx="10668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ourier New"/>
              </a:rPr>
              <a:t>38/39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6459200" cy="653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320"/>
              </a:lnSpc>
            </a:pPr>
            <a:r>
              <a:rPr sz="4050" b="1" i="0" u="none">
                <a:solidFill>
                  <a:srgbClr val="0F172A"/>
                </a:solidFill>
                <a:latin typeface="Arial"/>
              </a:rPr>
              <a:t>Go deeper: Lesson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70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9900" y="300990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Elmasri &amp; Navathe (7th ed.)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chapters 14–15: FDs, normal forms, decomposition properties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98145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14400" y="41910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413385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Wikipedia: Database normalization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worked example from 1NF to 6NF</a:t>
            </a:r>
          </a:p>
          <a:p>
            <a:r>
              <a:rPr sz="1800" b="0" i="0" u="none">
                <a:solidFill>
                  <a:srgbClr val="0E8A8A"/>
                </a:solidFill>
                <a:latin typeface="Courier New"/>
                <a:hlinkClick r:id="rId2"/>
              </a:rPr>
              <a:t>en.wikipedia.org/wiki/Database_normalization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51054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14400" y="53149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9900" y="525780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William Kent: A Simple Guide to Five Normal Forms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the classic short paper (1983), free online</a:t>
            </a:r>
          </a:p>
          <a:p>
            <a:r>
              <a:rPr sz="1800" b="0" i="0" u="none">
                <a:solidFill>
                  <a:srgbClr val="0E8A8A"/>
                </a:solidFill>
                <a:latin typeface="Courier New"/>
                <a:hlinkClick r:id="rId3"/>
              </a:rPr>
              <a:t>www.bkent.net/Doc/simple5.htm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22935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14400" y="64389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9900" y="638175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CMU 15-445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database design and normal forms lectures</a:t>
            </a:r>
          </a:p>
          <a:p>
            <a:r>
              <a:rPr sz="1800" b="0" i="0" u="none">
                <a:solidFill>
                  <a:srgbClr val="0E8A8A"/>
                </a:solidFill>
                <a:latin typeface="Courier New"/>
                <a:hlinkClick r:id="rId4"/>
              </a:rPr>
              <a:t>15445.courses.cs.cmu.edu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735330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14400" y="75628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650" b="1" i="0" u="none">
                <a:solidFill>
                  <a:srgbClr val="C8102E"/>
                </a:solidFill>
                <a:latin typeface="Arial"/>
              </a:rPr>
              <a:t>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9900" y="7505700"/>
            <a:ext cx="14363700" cy="933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100" b="1" i="0" u="none">
                <a:solidFill>
                  <a:srgbClr val="0F172A"/>
                </a:solidFill>
                <a:latin typeface="Arial"/>
              </a:rPr>
              <a:t>DB Fiddle</a:t>
            </a:r>
            <a:r>
              <a:rPr sz="1950" b="0" i="0" u="none">
                <a:solidFill>
                  <a:srgbClr val="334155"/>
                </a:solidFill>
                <a:latin typeface="Calibri"/>
              </a:rPr>
              <a:t> — create your normalized tables and test joins</a:t>
            </a:r>
          </a:p>
          <a:p>
            <a:r>
              <a:rPr sz="1800" b="0" i="0" u="none">
                <a:solidFill>
                  <a:srgbClr val="0E8A8A"/>
                </a:solidFill>
                <a:latin typeface="Courier New"/>
                <a:hlinkClick r:id="rId5"/>
              </a:rPr>
              <a:t>www.db-fiddle.com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8477250"/>
            <a:ext cx="16459200" cy="0"/>
          </a:xfrm>
          <a:prstGeom prst="line">
            <a:avLst/>
          </a:prstGeom>
          <a:ln w="14287">
            <a:solidFill>
              <a:srgbClr val="E2E8F0"/>
            </a:solidFill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57250"/>
            <a:ext cx="7620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1" i="0" u="none">
                <a:solidFill>
                  <a:srgbClr val="F87171"/>
                </a:solidFill>
                <a:latin typeface="Arial"/>
              </a:rPr>
              <a:t>COURSE COMPLETE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38525" y="962025"/>
            <a:ext cx="13935075" cy="0"/>
          </a:xfrm>
          <a:prstGeom prst="line">
            <a:avLst/>
          </a:prstGeom>
          <a:ln w="19050">
            <a:solidFill>
              <a:srgbClr val="1E293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14400" y="3143250"/>
            <a:ext cx="8572500" cy="3590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950" b="1" i="0" u="none">
                <a:solidFill>
                  <a:srgbClr val="94A3B8"/>
                </a:solidFill>
                <a:latin typeface="Arial"/>
              </a:rPr>
              <a:t>DATABASE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2350"/>
            <a:ext cx="14287500" cy="93611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90000"/>
              </a:lnSpc>
            </a:pPr>
            <a:r>
              <a:rPr sz="6300" b="1" i="0" u="none">
                <a:solidFill>
                  <a:srgbClr val="FFFFFF"/>
                </a:solidFill>
                <a:latin typeface="Arial"/>
              </a:rPr>
              <a:t>From narrative to </a:t>
            </a:r>
            <a:r>
              <a:rPr sz="6300" b="1" i="0" u="none">
                <a:solidFill>
                  <a:srgbClr val="F87171"/>
                </a:solidFill>
                <a:latin typeface="Arial"/>
              </a:rPr>
              <a:t>normalized</a:t>
            </a:r>
            <a:r>
              <a:rPr sz="6300" b="1" i="0" u="none">
                <a:solidFill>
                  <a:srgbClr val="FFFFFF"/>
                </a:solidFill>
                <a:latin typeface="Arial"/>
              </a:rPr>
              <a:t>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69967"/>
            <a:ext cx="12382500" cy="1333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20000"/>
              </a:lnSpc>
            </a:pPr>
            <a:r>
              <a:rPr sz="2400" b="0" i="0" u="none">
                <a:solidFill>
                  <a:srgbClr val="CBD5E1"/>
                </a:solidFill>
                <a:latin typeface="Calibri"/>
              </a:rPr>
              <a:t>ERD → tables → </a:t>
            </a:r>
            <a:r>
              <a:rPr sz="2400" b="0" i="0" u="none">
                <a:solidFill>
                  <a:srgbClr val="5EEAD4"/>
                </a:solidFill>
                <a:latin typeface="Courier New"/>
              </a:rPr>
              <a:t>CREATE TABLE</a:t>
            </a:r>
            <a:r>
              <a:rPr sz="2400" b="0" i="0" u="none">
                <a:solidFill>
                  <a:srgbClr val="CBD5E1"/>
                </a:solidFill>
                <a:latin typeface="Calibri"/>
              </a:rPr>
              <a:t> → queries → normal forms. Keep practising on real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296400"/>
            <a:ext cx="7620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alibri"/>
              </a:rPr>
              <a:t>ITI · Database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0" y="9296400"/>
            <a:ext cx="7620000" cy="331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1800"/>
              </a:lnSpc>
            </a:pPr>
            <a:r>
              <a:rPr sz="1800" b="0" i="0" u="none">
                <a:solidFill>
                  <a:srgbClr val="94A3B8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