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</p:sldIdLst>
  <p:sldSz cy="10287000" cx="18288000"/>
  <p:notesSz cx="10287000" cy="18288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Normalization plays a limited role when the top-down (ERD) approach is used, and a major role in the bottom-up approach, where it is essential to build appropriate relations.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EMP_DEPT combines employee and department facts in one table. Department data (Dname, Dmgr_ssn) is repeated for every employee: that redundancy is what causes all three anomalies.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are the four informal measures of quality from Elmasri &amp; Navathe: semantics, redundant information, NULL values, spurious tuples.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FDs are constraints derived from the meaning and interrelationships of the attributes. FDs and keys are used to define normal forms. A set of attributes A functionally determines B if the value of A determines a unique value for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Redrawn from the original figure (Elmasri &amp; Navathe). The key of EMP_PROJ is {Ssn, Pnumber}. FD2 and FD3 are partial: they violate 2NF.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Transitive dependencies violate 3NF. This is the EMP_DEPT table from the anomalies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table in 3NF is also in 2NF and 1NF. Database designers need not normalize to the highest possible normal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1NF disallows composite attributes, multivalued attributes and nested relations: attribute domains must contain only atomic (simple, indivisible)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Solution path (original notes): 1NF (Stud_ID, Name, Loc, Level, Level_Mgr), (Stud_ID, Tel), (Stud_ID, Subject, Subj_desc, Grade); 2NF moves Subj_desc to (Subject, Subj_desc); 3NF moves Level_Mgr to (Level, Level_Mgr).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quote summarizes 1NF (the key), 2NF (the whole key) and 3NF (nothing but the key). It is attributed to Bill Kent.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New slide: BCNF is the practical target in many textbooks. Trade-off: this decomposition is lossless but does not preserve the FD {Student, Course} → Instructor, which can no longer be checked inside one table. Example from Elmasri &amp; Navathe.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New overview slide: the original stopped at 3NF but its notes mentioned BCNF and 4NF as typical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New slide: explains why normalization splits tables in a specific way (Guideline 4: no spurious tuples).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New worked example for the decomposition properties. Test: a binary decomposition of R into R1 and R2 is lossless if the common attributes functionally determine R1 or R2 (they are a key of one side). Example of the lossy case: if Noha manages both Primary and Preparatory, joining R1 and R2 on Level_Mgr pairs every Noha student with both levels.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0NF: STUDENT(App_No, Stud_Fname, Parent1, Parent2, City, Postal_Code, Birthdate, Prev_Teacher, Curr_Teacher, Student_Phone, Course, Course_Desc, Enrolled, Att_Days)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Clarified: the original 3NF table was written City (City, Postal_Code). The dependency is Postal_Code → City, so the new table's key is Postal_Code and STUDENT keeps Postal_Code as a FK.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Fixed: the original showed the SUPPLIER / SUPPLIER_PARTS split as the 1NF step and said 2NF was 'same as first'. Since the relation has no multi-valued or repeating attributes it is already in 1NF; removing the partial dependency is by definition the 2NF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Recreated from the original slide's image. Expected 3NF: CUSTOMER(Cust_no, Name, Address...), CLERK(Clerk_no, Clerk_name), ORDER(Order_no, Order_date, Cust_no*, Clerk_no*), ITEM(Item_no, Description, Unit_price), ORDER_LINE(Order_no*, Item_no*, Qty). Line total and order total are derived and should not be stored. Discuss: should the unit price at order time be copied into ORDER_LINE? (Yes, if prices change: that is a historical fact, not redundancy.)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en.wikipedia.org/wiki/Database_normalization" TargetMode="External"/><Relationship Id="rId3" Type="http://schemas.openxmlformats.org/officeDocument/2006/relationships/hyperlink" Target="https://www.bkent.net/Doc/simple5.htm" TargetMode="External"/><Relationship Id="rId4" Type="http://schemas.openxmlformats.org/officeDocument/2006/relationships/hyperlink" Target="https://15445.courses.cs.cmu.edu/" TargetMode="External"/><Relationship Id="rId5" Type="http://schemas.openxmlformats.org/officeDocument/2006/relationships/hyperlink" Target="https://www.db-fiddle.com/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838200"/>
            <a:ext cx="133350" cy="4953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8250" y="952500"/>
            <a:ext cx="133350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64748B"/>
                </a:solidFill>
                <a:latin typeface="Arial"/>
              </a:rPr>
              <a:t>ITI · DATABASE FUNDAMENTALS · 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43250"/>
            <a:ext cx="16459200" cy="28575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>
              <a:lnSpc>
                <a:spcPct val="95000"/>
              </a:lnSpc>
            </a:pPr>
            <a:r>
              <a:rPr sz="9000" b="1" i="0" u="none">
                <a:solidFill>
                  <a:srgbClr val="C8102E"/>
                </a:solidFill>
                <a:latin typeface="Arial"/>
              </a:rPr>
              <a:t>Normalization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1912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50" b="0" i="0" u="none">
                <a:solidFill>
                  <a:srgbClr val="334155"/>
                </a:solidFill>
                <a:latin typeface="Calibri"/>
              </a:rPr>
              <a:t>Test a table design against normal forms to remove redundancy and update anomalies.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8877300"/>
            <a:ext cx="8572500" cy="3590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50" b="1" i="0" u="none">
                <a:solidFill>
                  <a:srgbClr val="0F172A"/>
                </a:solidFill>
                <a:latin typeface="Arial"/>
              </a:rPr>
              <a:t>Lecturer: Rana Salah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277350"/>
            <a:ext cx="8572500" cy="3590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50" b="0" i="0" u="none">
                <a:solidFill>
                  <a:srgbClr val="334155"/>
                </a:solidFill>
                <a:latin typeface="Calibri"/>
              </a:rPr>
              <a:t>rsalah@iti.gov.eg · Room 3005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1100" y="8934450"/>
            <a:ext cx="85725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Based on original slides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1100" y="9296400"/>
            <a:ext cx="85725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334155"/>
                </a:solidFill>
                <a:latin typeface="Calibri"/>
              </a:rPr>
              <a:t>Shahinaz S. Azab · edited by Mona Saleh · Rana Salah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88537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02 · AGENDA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75978" y="981075"/>
            <a:ext cx="1364989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02/46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What this lesson covers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57500"/>
            <a:ext cx="66675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76400" y="2857500"/>
            <a:ext cx="14935200" cy="441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1" i="0" u="none">
                <a:solidFill>
                  <a:srgbClr val="0F172A"/>
                </a:solidFill>
                <a:latin typeface="Arial"/>
              </a:rPr>
              <a:t>Why normalize?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6400" y="3314700"/>
            <a:ext cx="14935200" cy="666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Redundancy causes anomalies; normal forms are tests that catch them.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4114800"/>
            <a:ext cx="15697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914400" y="4286250"/>
            <a:ext cx="66675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6400" y="4286250"/>
            <a:ext cx="14935200" cy="441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1" i="0" u="none">
                <a:solidFill>
                  <a:srgbClr val="0F172A"/>
                </a:solidFill>
                <a:latin typeface="Arial"/>
              </a:rPr>
              <a:t>Functional dependencies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743450"/>
            <a:ext cx="14935200" cy="666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The formal tool behind every normal form.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4400" y="5543550"/>
            <a:ext cx="15697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914400" y="5715000"/>
            <a:ext cx="66675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5715000"/>
            <a:ext cx="14935200" cy="441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1" i="0" u="none">
                <a:solidFill>
                  <a:srgbClr val="0F172A"/>
                </a:solidFill>
                <a:latin typeface="Arial"/>
              </a:rPr>
              <a:t>Normal forms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6400" y="6172200"/>
            <a:ext cx="14935200" cy="666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1NF, 2NF and 3NF step by step, then BCNF, 4NF/5NF, good decompositions and denormalization.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6972300"/>
            <a:ext cx="15697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914400" y="7143750"/>
            <a:ext cx="66675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6400" y="7143750"/>
            <a:ext cx="14935200" cy="441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1" i="0" u="none">
                <a:solidFill>
                  <a:srgbClr val="0F172A"/>
                </a:solidFill>
                <a:latin typeface="Arial"/>
              </a:rPr>
              <a:t>Examples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76400" y="7600950"/>
            <a:ext cx="14935200" cy="666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An ITI student sheet, real school data and a suppliers table.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8401050"/>
            <a:ext cx="15697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52704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LESSON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17648" y="981075"/>
            <a:ext cx="1400822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03/46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By the end of this lesson you can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46902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Spot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insert, update and delete anomalies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07480" y="248202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7530" y="288207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7530" y="346902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Identify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functional dependencies</a:t>
            </a:r>
            <a:r>
              <a:rPr sz="2898" b="0" i="0" u="none">
                <a:solidFill>
                  <a:srgbClr val="334155"/>
                </a:solidFill>
                <a:latin typeface="Calibri"/>
              </a:rPr>
              <a:t> and their types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00560" y="248202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00610" y="288207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00610" y="346902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Normalize a table step by step to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3NF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20124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560129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4450" y="618824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Recognize when a table is not in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BCNF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7480" y="520124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7530" y="560129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7530" y="618824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Check a decomposition is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lossless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100560" y="520124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500610" y="560129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00610" y="618824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Decide when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denormalizing</a:t>
            </a:r>
            <a:r>
              <a:rPr sz="2898" b="0" i="0" u="none">
                <a:solidFill>
                  <a:srgbClr val="334155"/>
                </a:solidFill>
                <a:latin typeface="Calibri"/>
              </a:rPr>
              <a:t> is justified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5715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C8102E"/>
                </a:solidFill>
                <a:latin typeface="Arial"/>
              </a:rPr>
              <a:t>SECTION 01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90900" y="981075"/>
            <a:ext cx="131349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04/46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57500"/>
            <a:ext cx="5715000" cy="228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6000"/>
              </a:lnSpc>
            </a:pPr>
            <a:r>
              <a:rPr sz="15000" b="1" i="0" u="none">
                <a:solidFill>
                  <a:srgbClr val="C8102E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34000"/>
            <a:ext cx="15240000" cy="190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300"/>
              </a:lnSpc>
            </a:pPr>
            <a:r>
              <a:rPr sz="6300" b="1" i="0" u="none">
                <a:solidFill>
                  <a:srgbClr val="0F172A"/>
                </a:solidFill>
                <a:latin typeface="Arial"/>
              </a:rPr>
              <a:t>Why normalize?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239000"/>
            <a:ext cx="13335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0" i="0" u="none">
                <a:solidFill>
                  <a:srgbClr val="334155"/>
                </a:solidFill>
                <a:latin typeface="Calibri"/>
              </a:rPr>
              <a:t>Redundancy causes anomalies; normal forms are tests that catch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124265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WHY NORMALIZE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114865" y="981075"/>
            <a:ext cx="1341101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05/46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What is normalization?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43513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43513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0640" y="2729674"/>
            <a:ext cx="15666720" cy="93983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691" b="1" i="0" u="none">
                <a:solidFill>
                  <a:srgbClr val="B45309"/>
                </a:solidFill>
                <a:latin typeface="Arial"/>
              </a:rPr>
              <a:t>Definition: </a:t>
            </a:r>
            <a:r>
              <a:rPr sz="2691" b="0" i="0" u="none">
                <a:solidFill>
                  <a:srgbClr val="0F172A"/>
                </a:solidFill>
                <a:latin typeface="Calibri"/>
              </a:rPr>
              <a:t>Normalization </a:t>
            </a:r>
            <a:r>
              <a:rPr sz="2691" b="1" i="0" u="none">
                <a:solidFill>
                  <a:srgbClr val="0F172A"/>
                </a:solidFill>
                <a:latin typeface="Calibri"/>
              </a:rPr>
              <a:t>splits a big table into smaller tables</a:t>
            </a:r>
            <a:r>
              <a:rPr sz="2691" b="0" i="0" u="none">
                <a:solidFill>
                  <a:srgbClr val="0F172A"/>
                </a:solidFill>
                <a:latin typeface="Calibri"/>
              </a:rPr>
              <a:t> so that each fact is stored only once. The rules we check a table against are called </a:t>
            </a:r>
            <a:r>
              <a:rPr sz="2691" b="1" i="0" u="none">
                <a:solidFill>
                  <a:srgbClr val="0F172A"/>
                </a:solidFill>
                <a:latin typeface="Calibri"/>
              </a:rPr>
              <a:t>normal forms</a:t>
            </a:r>
            <a:r>
              <a:rPr sz="2691" b="0" i="0" u="none">
                <a:solidFill>
                  <a:srgbClr val="0F172A"/>
                </a:solidFill>
                <a:latin typeface="Calibri"/>
              </a:rPr>
              <a:t> (1NF, 2NF, 3NF…).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38161"/>
            <a:ext cx="16459200" cy="4294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1" i="0" u="none">
                <a:solidFill>
                  <a:srgbClr val="C8102E"/>
                </a:solidFill>
                <a:latin typeface="Arial"/>
              </a:rPr>
              <a:t>Case 1 – you start from an ERD (Lessons 2–3): normalization is a final 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916225"/>
            <a:ext cx="3434715" cy="1556331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5875" y="5287700"/>
            <a:ext cx="2691765" cy="43061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511" b="1" i="0" u="none">
                <a:solidFill>
                  <a:srgbClr val="0F172A"/>
                </a:solidFill>
                <a:latin typeface="Arial"/>
              </a:rPr>
              <a:t>Requirements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73905" y="5503891"/>
            <a:ext cx="457200" cy="3810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55895" y="4916225"/>
            <a:ext cx="3434715" cy="1556331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27370" y="5287700"/>
            <a:ext cx="2691765" cy="43061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511" b="1" i="0" u="none">
                <a:solidFill>
                  <a:srgbClr val="0F172A"/>
                </a:solidFill>
                <a:latin typeface="Arial"/>
              </a:rPr>
              <a:t>ERD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915400" y="5503891"/>
            <a:ext cx="457200" cy="3810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97390" y="4916225"/>
            <a:ext cx="3434715" cy="1556331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8865" y="5287700"/>
            <a:ext cx="2691765" cy="43061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511" b="1" i="0" u="none">
                <a:solidFill>
                  <a:srgbClr val="0F172A"/>
                </a:solidFill>
                <a:latin typeface="Arial"/>
              </a:rPr>
              <a:t>Map to tables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3256895" y="5503891"/>
            <a:ext cx="457200" cy="3810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938885" y="4916225"/>
            <a:ext cx="3434715" cy="1556331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10360" y="5287700"/>
            <a:ext cx="2691765" cy="8133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511" b="1" i="0" u="none">
                <a:solidFill>
                  <a:srgbClr val="0E8A8A"/>
                </a:solidFill>
                <a:latin typeface="Arial"/>
              </a:rPr>
              <a:t>Check: is every table in 3NF?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893562"/>
            <a:ext cx="16459200" cy="4294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1" i="0" u="none">
                <a:solidFill>
                  <a:srgbClr val="C8102E"/>
                </a:solidFill>
                <a:latin typeface="Arial"/>
              </a:rPr>
              <a:t>Case 2 – you start from existing data (spreadsheet, old form): normalization designs the tables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7471627"/>
            <a:ext cx="3434715" cy="1556331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85875" y="7843102"/>
            <a:ext cx="2691765" cy="8133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511" b="1" i="0" u="none">
                <a:solidFill>
                  <a:srgbClr val="0F172A"/>
                </a:solidFill>
                <a:latin typeface="Arial"/>
              </a:rPr>
              <a:t>One big table of all the data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573905" y="8059293"/>
            <a:ext cx="457200" cy="3810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55895" y="7471627"/>
            <a:ext cx="3434715" cy="1556331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7370" y="7843102"/>
            <a:ext cx="2691765" cy="8133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511" b="1" i="0" u="none">
                <a:solidFill>
                  <a:srgbClr val="0F172A"/>
                </a:solidFill>
                <a:latin typeface="Arial"/>
              </a:rPr>
              <a:t>Find the dependencies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915400" y="8059293"/>
            <a:ext cx="457200" cy="3810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597390" y="7471627"/>
            <a:ext cx="3434715" cy="1556331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8865" y="7843102"/>
            <a:ext cx="2691765" cy="8133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511" b="1" i="0" u="none">
                <a:solidFill>
                  <a:srgbClr val="0F172A"/>
                </a:solidFill>
                <a:latin typeface="Arial"/>
              </a:rPr>
              <a:t>Split: 1NF → 2NF → 3NF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3256895" y="8059293"/>
            <a:ext cx="457200" cy="3810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938885" y="7471627"/>
            <a:ext cx="3434715" cy="1556331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310360" y="7843102"/>
            <a:ext cx="2691765" cy="8133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511" b="1" i="0" u="none">
                <a:solidFill>
                  <a:srgbClr val="0E8A8A"/>
                </a:solidFill>
                <a:latin typeface="Arial"/>
              </a:rPr>
              <a:t>Clean tables, each fact once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124265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WHY NORMALIZE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114865" y="981075"/>
            <a:ext cx="1341101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06/46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Redundancy causes anomalies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82024"/>
          <a:ext cx="16459200" cy="2900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62656"/>
                <a:gridCol w="3621024"/>
                <a:gridCol w="2633472"/>
                <a:gridCol w="3950208"/>
                <a:gridCol w="3291840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Ename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Ssn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Dnumber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Dname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Dmgr_ssn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Smith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123456789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Research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333445555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Wong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333445555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Research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333445555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English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453453453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Research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333445555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Zelaya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999887777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Administration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987654321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699599"/>
            <a:ext cx="5273040" cy="3644402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6099649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Insert anomaly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6822780"/>
            <a:ext cx="447294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Can't add a new department until it has an employee (Ssn is the key).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07480" y="5699599"/>
            <a:ext cx="5273040" cy="3644402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7530" y="6099649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Update anomaly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7530" y="6822780"/>
            <a:ext cx="4472940" cy="21211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Research's department manager changes (update) → we must update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every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Research row, or the data becomes inconsistent.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100560" y="5699599"/>
            <a:ext cx="5273040" cy="3644402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00610" y="6099649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Delete anomaly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00610" y="6822780"/>
            <a:ext cx="447294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Delete Zelaya, the last employee of dept 4 → the Administration department data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lost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124265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WHY NORMALIZE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114865" y="981075"/>
            <a:ext cx="1341101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07/46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Four informal design guidelines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69580" cy="298736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72694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469027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Clear semantics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4192158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Don't combine attributes from different entities or relationships in one table.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04020" y="2482024"/>
            <a:ext cx="8069580" cy="298736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04070" y="2882074"/>
            <a:ext cx="72694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4070" y="3469027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No anomalies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4070" y="4192158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Design tables so insert, update and delete anomalies cannot occur.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789424"/>
            <a:ext cx="8069580" cy="298736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4450" y="6189474"/>
            <a:ext cx="72694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4450" y="6776427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Few NULLs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4450" y="7499558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Attributes that are often NULL belong in a separate table (with the PK).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04020" y="5789424"/>
            <a:ext cx="8069580" cy="298736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04070" y="6189474"/>
            <a:ext cx="72694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4070" y="6776427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No spurious tuples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04070" y="7499558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Join only on (FK, PK) pairs; joining on other matching columns invents rows.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124265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WHY NORMALIZE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114865" y="981075"/>
            <a:ext cx="1341101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08/46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Normalization avoids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5875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Duplicated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5875" y="3989767"/>
            <a:ext cx="2311146" cy="119956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The same fact stored in many rows.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5676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7151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Insert anomaly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7151" y="3989767"/>
            <a:ext cx="2311146" cy="119956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Can't record one fact without another.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16951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88426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Update anomaly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8426" y="3989767"/>
            <a:ext cx="2311146" cy="119956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One change must be made in many places.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68228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9703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Delete anomaly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9703" y="3989767"/>
            <a:ext cx="2311146" cy="814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Deleting one fact loses another.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319503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90978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Frequent NULLs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90978" y="3989767"/>
            <a:ext cx="2311146" cy="814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Wasted space, unclear meaning.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981814"/>
            <a:ext cx="8081010" cy="2786012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5875" y="6353289"/>
            <a:ext cx="7338060" cy="522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E8A8A"/>
                </a:solidFill>
                <a:latin typeface="Arial"/>
              </a:rPr>
              <a:t>When to use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5875" y="7024767"/>
            <a:ext cx="7338060" cy="1371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To certify the quality of a relational design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When taking over designs from legacy systems, files or spreadsheets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92590" y="5981814"/>
            <a:ext cx="8081010" cy="2786012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64065" y="6353289"/>
            <a:ext cx="7338060" cy="522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How far to go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64065" y="7024767"/>
            <a:ext cx="7338060" cy="9569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Usually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3NF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or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BCNF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in practice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Higher forms (4NF, 5NF) for special cases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5715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C8102E"/>
                </a:solidFill>
                <a:latin typeface="Arial"/>
              </a:rPr>
              <a:t>SECTION 02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90900" y="981075"/>
            <a:ext cx="131349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09/46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57500"/>
            <a:ext cx="5715000" cy="228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6000"/>
              </a:lnSpc>
            </a:pPr>
            <a:r>
              <a:rPr sz="15000" b="1" i="0" u="none">
                <a:solidFill>
                  <a:srgbClr val="C8102E"/>
                </a:solidFill>
                <a:latin typeface="Aria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34000"/>
            <a:ext cx="15240000" cy="190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300"/>
              </a:lnSpc>
            </a:pPr>
            <a:r>
              <a:rPr sz="6300" b="1" i="0" u="none">
                <a:solidFill>
                  <a:srgbClr val="0F172A"/>
                </a:solidFill>
                <a:latin typeface="Arial"/>
              </a:rPr>
              <a:t>Functional dependencies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239000"/>
            <a:ext cx="13335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0" i="0" u="none">
                <a:solidFill>
                  <a:srgbClr val="334155"/>
                </a:solidFill>
                <a:latin typeface="Calibri"/>
              </a:rPr>
              <a:t>The formal tool behind every normal form.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33187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FUNCTIONAL DEPENDENCIES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09300" y="981075"/>
            <a:ext cx="122165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10/46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Functional dependency (FD)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61300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61300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15605760" cy="107960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3091" b="1" i="0" u="none">
                <a:solidFill>
                  <a:srgbClr val="0F172A"/>
                </a:solidFill>
                <a:latin typeface="Calibri"/>
              </a:rPr>
              <a:t>A → B</a:t>
            </a:r>
            <a:r>
              <a:rPr sz="3091" b="0" i="0" u="none">
                <a:solidFill>
                  <a:srgbClr val="0F172A"/>
                </a:solidFill>
                <a:latin typeface="Calibri"/>
              </a:rPr>
              <a:t> (A </a:t>
            </a:r>
            <a:r>
              <a:rPr sz="3091" b="0" i="1" u="none">
                <a:solidFill>
                  <a:srgbClr val="0F172A"/>
                </a:solidFill>
                <a:latin typeface="Calibri"/>
              </a:rPr>
              <a:t>determines</a:t>
            </a:r>
            <a:r>
              <a:rPr sz="3091" b="0" i="0" u="none">
                <a:solidFill>
                  <a:srgbClr val="0F172A"/>
                </a:solidFill>
                <a:latin typeface="Calibri"/>
              </a:rPr>
              <a:t> B) if every value of A is associated with </a:t>
            </a:r>
            <a:r>
              <a:rPr sz="3091" b="1" i="0" u="none">
                <a:solidFill>
                  <a:srgbClr val="0F172A"/>
                </a:solidFill>
                <a:latin typeface="Calibri"/>
              </a:rPr>
              <a:t>exactly one</a:t>
            </a:r>
            <a:r>
              <a:rPr sz="3091" b="0" i="0" u="none">
                <a:solidFill>
                  <a:srgbClr val="0F172A"/>
                </a:solidFill>
                <a:latin typeface="Calibri"/>
              </a:rPr>
              <a:t> value of B.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4548416"/>
          <a:ext cx="16459199" cy="312593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54496"/>
                <a:gridCol w="10204703"/>
              </a:tblGrid>
              <a:tr h="676713">
                <a:tc>
                  <a:txBody>
                    <a:bodyPr/>
                    <a:lstStyle/>
                    <a:p>
                      <a:r>
                        <a:rPr sz="2704" b="1" i="0" u="none">
                          <a:solidFill>
                            <a:srgbClr val="FFFFFF"/>
                          </a:solidFill>
                          <a:latin typeface="Arial"/>
                        </a:rPr>
                        <a:t>FD</a:t>
                      </a:r>
                    </a:p>
                  </a:txBody>
                  <a:tcPr marL="171754" marR="171754" marT="103052" marB="103052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704" b="1" i="0" u="none">
                          <a:solidFill>
                            <a:srgbClr val="FFFFFF"/>
                          </a:solidFill>
                          <a:latin typeface="Arial"/>
                        </a:rPr>
                        <a:t>Read as</a:t>
                      </a:r>
                    </a:p>
                  </a:txBody>
                  <a:tcPr marL="171754" marR="171754" marT="103052" marB="103052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676713">
                <a:tc>
                  <a:txBody>
                    <a:bodyPr/>
                    <a:lstStyle/>
                    <a:p>
                      <a:r>
                        <a:rPr sz="2704" b="0" i="0" u="none">
                          <a:solidFill>
                            <a:srgbClr val="334155"/>
                          </a:solidFill>
                          <a:latin typeface="Calibri"/>
                        </a:rPr>
                        <a:t>Ssn → Ename</a:t>
                      </a:r>
                    </a:p>
                  </a:txBody>
                  <a:tcPr marL="171754" marR="171754" marT="103052" marB="103052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704" b="0" i="0" u="none">
                          <a:solidFill>
                            <a:srgbClr val="334155"/>
                          </a:solidFill>
                          <a:latin typeface="Calibri"/>
                        </a:rPr>
                        <a:t>A social security number determines one employee name</a:t>
                      </a:r>
                    </a:p>
                  </a:txBody>
                  <a:tcPr marL="171754" marR="171754" marT="103052" marB="103052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676713">
                <a:tc>
                  <a:txBody>
                    <a:bodyPr/>
                    <a:lstStyle/>
                    <a:p>
                      <a:r>
                        <a:rPr sz="2704" b="0" i="0" u="none">
                          <a:solidFill>
                            <a:srgbClr val="334155"/>
                          </a:solidFill>
                          <a:latin typeface="Calibri"/>
                        </a:rPr>
                        <a:t>Pnumber → {Pname, Plocation}</a:t>
                      </a:r>
                    </a:p>
                  </a:txBody>
                  <a:tcPr marL="171754" marR="171754" marT="103052" marB="103052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704" b="0" i="0" u="none">
                          <a:solidFill>
                            <a:srgbClr val="334155"/>
                          </a:solidFill>
                          <a:latin typeface="Calibri"/>
                        </a:rPr>
                        <a:t>A project number determines the project's name and location</a:t>
                      </a:r>
                    </a:p>
                  </a:txBody>
                  <a:tcPr marL="171754" marR="171754" marT="103052" marB="103052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1095795">
                <a:tc>
                  <a:txBody>
                    <a:bodyPr/>
                    <a:lstStyle/>
                    <a:p>
                      <a:r>
                        <a:rPr sz="2704" b="0" i="0" u="none">
                          <a:solidFill>
                            <a:srgbClr val="334155"/>
                          </a:solidFill>
                          <a:latin typeface="Calibri"/>
                        </a:rPr>
                        <a:t>{Ssn, Pnumber} → Hours</a:t>
                      </a:r>
                    </a:p>
                  </a:txBody>
                  <a:tcPr marL="171754" marR="171754" marT="103052" marB="103052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704" b="0" i="0" u="none">
                          <a:solidFill>
                            <a:srgbClr val="334155"/>
                          </a:solidFill>
                          <a:latin typeface="Calibri"/>
                        </a:rPr>
                        <a:t>An employee and a project together determine the weekly hours</a:t>
                      </a:r>
                    </a:p>
                  </a:txBody>
                  <a:tcPr marL="171754" marR="171754" marT="103052" marB="103052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14400" y="8127743"/>
            <a:ext cx="16459200" cy="4980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FDs come from the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meaning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of the data (business rules), not from looking at a few rows.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33187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FUNCTIONAL DEPENDENCIES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09300" y="981075"/>
            <a:ext cx="122165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11/46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Full and partial dependencies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24250" y="3905250"/>
            <a:ext cx="0" cy="142875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619750" y="3905250"/>
            <a:ext cx="0" cy="219075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524250" y="4572000"/>
            <a:ext cx="419100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771525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0" name="Connector 9"/>
          <p:cNvCxnSpPr/>
          <p:nvPr/>
        </p:nvCxnSpPr>
        <p:spPr>
          <a:xfrm>
            <a:off x="3524250" y="5334000"/>
            <a:ext cx="628650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9810750" y="3943350"/>
            <a:ext cx="0" cy="1390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2" name="Connector 11"/>
          <p:cNvCxnSpPr/>
          <p:nvPr/>
        </p:nvCxnSpPr>
        <p:spPr>
          <a:xfrm>
            <a:off x="5619750" y="6096000"/>
            <a:ext cx="838200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11906250" y="3943350"/>
            <a:ext cx="0" cy="2152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4001750" y="3943350"/>
            <a:ext cx="0" cy="2152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sp>
        <p:nvSpPr>
          <p:cNvPr id="15" name="TextBox 14"/>
          <p:cNvSpPr txBox="1"/>
          <p:nvPr/>
        </p:nvSpPr>
        <p:spPr>
          <a:xfrm>
            <a:off x="2476500" y="2781300"/>
            <a:ext cx="5715000" cy="3557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32" b="1" i="0" u="none">
                <a:solidFill>
                  <a:srgbClr val="0F172A"/>
                </a:solidFill>
                <a:latin typeface="Arial"/>
              </a:rPr>
              <a:t>EMP_PROJ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765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1" i="0" u="sng">
                <a:solidFill>
                  <a:srgbClr val="0F172A"/>
                </a:solidFill>
                <a:latin typeface="Courier New"/>
              </a:rPr>
              <a:t>Ssn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1" i="0" u="sng">
                <a:solidFill>
                  <a:srgbClr val="0F172A"/>
                </a:solidFill>
                <a:latin typeface="Courier New"/>
              </a:rPr>
              <a:t>Pnumber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675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Hours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630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Ename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585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Pname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9540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Plocation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8750" y="4400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8750" y="5162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8750" y="5924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FD3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219200" y="6667500"/>
          <a:ext cx="15849600" cy="165725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01952"/>
                <a:gridCol w="7290816"/>
                <a:gridCol w="6656832"/>
              </a:tblGrid>
              <a:tr h="414314"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FFFFFF"/>
                          </a:solidFill>
                          <a:latin typeface="Arial"/>
                        </a:rPr>
                        <a:t>FD</a:t>
                      </a:r>
                    </a:p>
                  </a:txBody>
                  <a:tcPr marL="105156" marR="105156" marT="63093" marB="63093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FFFFFF"/>
                          </a:solidFill>
                          <a:latin typeface="Arial"/>
                        </a:rPr>
                        <a:t>Dependency</a:t>
                      </a:r>
                    </a:p>
                  </a:txBody>
                  <a:tcPr marL="105156" marR="105156" marT="63093" marB="63093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105156" marR="105156" marT="63093" marB="63093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414314"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FD1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{Ssn, Pnumber} → Hours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334155"/>
                          </a:solidFill>
                          <a:latin typeface="Calibri"/>
                        </a:rPr>
                        <a:t>Full</a:t>
                      </a:r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: needs the whole key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414314"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FD2</a:t>
                      </a:r>
                    </a:p>
                  </a:txBody>
                  <a:tcPr marL="105156" marR="105156" marT="63093" marB="63093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Ssn → Ename</a:t>
                      </a:r>
                    </a:p>
                  </a:txBody>
                  <a:tcPr marL="105156" marR="105156" marT="63093" marB="63093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334155"/>
                          </a:solidFill>
                          <a:latin typeface="Calibri"/>
                        </a:rPr>
                        <a:t>Partial</a:t>
                      </a:r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: depends on part of the key</a:t>
                      </a:r>
                    </a:p>
                  </a:txBody>
                  <a:tcPr marL="105156" marR="105156" marT="63093" marB="63093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414314"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FD3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Pnumber → {Pname, Plocation}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334155"/>
                          </a:solidFill>
                          <a:latin typeface="Calibri"/>
                        </a:rPr>
                        <a:t>Partial</a:t>
                      </a:r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: depends on part of the key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11353800" y="2781300"/>
            <a:ext cx="5715000" cy="304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656" b="0" i="0" u="none">
                <a:solidFill>
                  <a:srgbClr val="64748B"/>
                </a:solidFill>
                <a:latin typeface="Calibri"/>
              </a:rPr>
              <a:t>FD = functional dependency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33187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FUNCTIONAL DEPENDENCIES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09300" y="981075"/>
            <a:ext cx="122165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12/46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Transitive dependencies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334000" y="3905250"/>
            <a:ext cx="0" cy="66675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429000" y="4572000"/>
            <a:ext cx="742950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342900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9" name="Connector 8"/>
          <p:cNvCxnSpPr/>
          <p:nvPr/>
        </p:nvCxnSpPr>
        <p:spPr>
          <a:xfrm flipV="1">
            <a:off x="723900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914400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1" name="Connector 10"/>
          <p:cNvCxnSpPr/>
          <p:nvPr/>
        </p:nvCxnSpPr>
        <p:spPr>
          <a:xfrm flipV="1">
            <a:off x="1085850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2" name="Connector 11"/>
          <p:cNvCxnSpPr/>
          <p:nvPr/>
        </p:nvCxnSpPr>
        <p:spPr>
          <a:xfrm>
            <a:off x="11334750" y="3905250"/>
            <a:ext cx="0" cy="142875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334750" y="5334000"/>
            <a:ext cx="352425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2954000" y="3943350"/>
            <a:ext cx="0" cy="1390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4859000" y="3943350"/>
            <a:ext cx="0" cy="1390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sp>
        <p:nvSpPr>
          <p:cNvPr id="16" name="TextBox 15"/>
          <p:cNvSpPr txBox="1"/>
          <p:nvPr/>
        </p:nvSpPr>
        <p:spPr>
          <a:xfrm>
            <a:off x="2476500" y="2781300"/>
            <a:ext cx="5715000" cy="3557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32" b="1" i="0" u="none">
                <a:solidFill>
                  <a:srgbClr val="0F172A"/>
                </a:solidFill>
                <a:latin typeface="Arial"/>
              </a:rPr>
              <a:t>EMP_DEPT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76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Ename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1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1" i="0" u="sng">
                <a:solidFill>
                  <a:srgbClr val="0F172A"/>
                </a:solidFill>
                <a:latin typeface="Courier New"/>
              </a:rPr>
              <a:t>Ssn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86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Bdate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91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Address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96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Dnumber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001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Dname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906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Dmgr_ssn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8750" y="4400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8750" y="5162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19200" y="6096000"/>
            <a:ext cx="15849600" cy="105575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19200" y="6096000"/>
            <a:ext cx="47625" cy="105575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24000" y="6286500"/>
            <a:ext cx="15240000" cy="6747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1932" b="0" i="0" u="none">
                <a:solidFill>
                  <a:srgbClr val="0F172A"/>
                </a:solidFill>
                <a:latin typeface="Calibri"/>
              </a:rPr>
              <a:t>Ssn → Dnumber and Dnumber → {Dname, Dmgr_ssn}, so Ssn → Dname </a:t>
            </a:r>
            <a:r>
              <a:rPr sz="1932" b="1" i="0" u="none">
                <a:solidFill>
                  <a:srgbClr val="0F172A"/>
                </a:solidFill>
                <a:latin typeface="Calibri"/>
              </a:rPr>
              <a:t>through</a:t>
            </a:r>
            <a:r>
              <a:rPr sz="1932" b="0" i="0" u="none">
                <a:solidFill>
                  <a:srgbClr val="0F172A"/>
                </a:solidFill>
                <a:latin typeface="Calibri"/>
              </a:rPr>
              <a:t> Dnumber: a </a:t>
            </a:r>
            <a:r>
              <a:rPr sz="1932" b="1" i="0" u="none">
                <a:solidFill>
                  <a:srgbClr val="0F172A"/>
                </a:solidFill>
                <a:latin typeface="Calibri"/>
              </a:rPr>
              <a:t>transitive</a:t>
            </a:r>
            <a:r>
              <a:rPr sz="1932" b="0" i="0" u="none">
                <a:solidFill>
                  <a:srgbClr val="0F172A"/>
                </a:solidFill>
                <a:latin typeface="Calibri"/>
              </a:rPr>
              <a:t> dependency. Dnumber is not a key of EMP_DEPT.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33187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FUNCTIONAL DEPENDENCIES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09300" y="981075"/>
            <a:ext cx="122165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13/46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Three types of functional dependency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273040" cy="4266933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Full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605204"/>
            <a:ext cx="447294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X → Y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full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if removing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any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attribute from X breaks the dependency.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5057066"/>
            <a:ext cx="4472940" cy="46251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{Ssn, Pnumber} → Hours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07480" y="2482024"/>
            <a:ext cx="5273040" cy="4266933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753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Partial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7530" y="3605204"/>
            <a:ext cx="447294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X → Y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partial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if some attribute can be removed from X and the dependency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still holds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7530" y="5471731"/>
            <a:ext cx="447294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{Ssn, Pnumber} → Ename (Ssn alone is enough)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100560" y="2482024"/>
            <a:ext cx="5273040" cy="4266933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0061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Transitive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00610" y="3605204"/>
            <a:ext cx="447294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X → Y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transitive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if X → Z and Z → Y, where Z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not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a key (or part of one).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00610" y="5057066"/>
            <a:ext cx="4472940" cy="46251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Ssn → Dnumber → Dname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5715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C8102E"/>
                </a:solidFill>
                <a:latin typeface="Arial"/>
              </a:rPr>
              <a:t>SECTION 03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90900" y="981075"/>
            <a:ext cx="131349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14/46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57500"/>
            <a:ext cx="5715000" cy="228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6000"/>
              </a:lnSpc>
            </a:pPr>
            <a:r>
              <a:rPr sz="15000" b="1" i="0" u="none">
                <a:solidFill>
                  <a:srgbClr val="C8102E"/>
                </a:solidFill>
                <a:latin typeface="Arial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34000"/>
            <a:ext cx="15240000" cy="190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300"/>
              </a:lnSpc>
            </a:pPr>
            <a:r>
              <a:rPr sz="6300" b="1" i="0" u="none">
                <a:solidFill>
                  <a:srgbClr val="0F172A"/>
                </a:solidFill>
                <a:latin typeface="Arial"/>
              </a:rPr>
              <a:t>Normal 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239000"/>
            <a:ext cx="13335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0" i="0" u="none">
                <a:solidFill>
                  <a:srgbClr val="334155"/>
                </a:solidFill>
                <a:latin typeface="Calibri"/>
              </a:rPr>
              <a:t>1NF, 2NF and 3NF step by step, then BCNF, 4NF/5NF, good decompositions and denormalization.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15/46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Each normal form includes the previous 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19200" y="5905500"/>
            <a:ext cx="2514600" cy="2095500"/>
          </a:xfrm>
          <a:prstGeom prst="roundRect">
            <a:avLst>
              <a:gd name="adj" fmla="val 7272"/>
            </a:avLst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85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" y="7200900"/>
            <a:ext cx="1981200" cy="304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Atomic values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5238750"/>
            <a:ext cx="2514600" cy="2762250"/>
          </a:xfrm>
          <a:prstGeom prst="roundRect">
            <a:avLst>
              <a:gd name="adj" fmla="val 6060"/>
            </a:avLst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52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2NF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2900" y="7200900"/>
            <a:ext cx="1981200" cy="304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No partial deps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53200" y="4572000"/>
            <a:ext cx="2514600" cy="3429000"/>
          </a:xfrm>
          <a:prstGeom prst="roundRect">
            <a:avLst>
              <a:gd name="adj" fmla="val 6060"/>
            </a:avLst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9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3NF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9900" y="7200900"/>
            <a:ext cx="1981200" cy="304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No transitive deps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20200" y="3905250"/>
            <a:ext cx="2514600" cy="4095750"/>
          </a:xfrm>
          <a:prstGeom prst="roundRect">
            <a:avLst>
              <a:gd name="adj" fmla="val 6060"/>
            </a:avLst>
          </a:prstGeom>
          <a:solidFill>
            <a:srgbClr val="0F172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86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BCNF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86900" y="7200900"/>
            <a:ext cx="1981200" cy="5783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Every determinant is a key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0" y="3238500"/>
            <a:ext cx="2514600" cy="4762500"/>
          </a:xfrm>
          <a:prstGeom prst="roundRect">
            <a:avLst>
              <a:gd name="adj" fmla="val 6060"/>
            </a:avLst>
          </a:prstGeom>
          <a:solidFill>
            <a:srgbClr val="64748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53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4NF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53900" y="7200900"/>
            <a:ext cx="1981200" cy="5783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No multi-valued deps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554200" y="2571750"/>
            <a:ext cx="2514600" cy="5429250"/>
          </a:xfrm>
          <a:prstGeom prst="roundRect">
            <a:avLst>
              <a:gd name="adj" fmla="val 6060"/>
            </a:avLst>
          </a:prstGeom>
          <a:solidFill>
            <a:srgbClr val="64748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820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5NF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20900" y="7200900"/>
            <a:ext cx="1981200" cy="304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No join deps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9200" y="8248650"/>
            <a:ext cx="15849600" cy="3557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32" b="0" i="0" u="none">
                <a:solidFill>
                  <a:srgbClr val="334155"/>
                </a:solidFill>
                <a:latin typeface="Calibri"/>
              </a:rPr>
              <a:t>Practical designs usually stop at </a:t>
            </a:r>
            <a:r>
              <a:rPr sz="1932" b="1" i="0" u="none">
                <a:solidFill>
                  <a:srgbClr val="334155"/>
                </a:solidFill>
                <a:latin typeface="Calibri"/>
              </a:rPr>
              <a:t>3NF</a:t>
            </a:r>
            <a:r>
              <a:rPr sz="1932" b="0" i="0" u="none">
                <a:solidFill>
                  <a:srgbClr val="334155"/>
                </a:solidFill>
                <a:latin typeface="Calibri"/>
              </a:rPr>
              <a:t> or </a:t>
            </a:r>
            <a:r>
              <a:rPr sz="1932" b="1" i="0" u="none">
                <a:solidFill>
                  <a:srgbClr val="334155"/>
                </a:solidFill>
                <a:latin typeface="Calibri"/>
              </a:rPr>
              <a:t>BCNF</a:t>
            </a:r>
            <a:r>
              <a:rPr sz="1932" b="0" i="0" u="none">
                <a:solidFill>
                  <a:srgbClr val="334155"/>
                </a:solidFill>
                <a:latin typeface="Calibri"/>
              </a:rPr>
              <a:t>. </a:t>
            </a:r>
            <a:r>
              <a:rPr sz="1932" b="0" i="1" u="none">
                <a:solidFill>
                  <a:srgbClr val="334155"/>
                </a:solidFill>
                <a:latin typeface="Calibri"/>
              </a:rPr>
              <a:t>Denormalization</a:t>
            </a:r>
            <a:r>
              <a:rPr sz="1932" b="0" i="0" u="none">
                <a:solidFill>
                  <a:srgbClr val="334155"/>
                </a:solidFill>
                <a:latin typeface="Calibri"/>
              </a:rPr>
              <a:t> deliberately goes back down for performance.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16/46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First normal form (1NF)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54552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54552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15605760" cy="101212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98" b="0" i="0" u="none">
                <a:solidFill>
                  <a:srgbClr val="0F172A"/>
                </a:solidFill>
                <a:latin typeface="Calibri"/>
              </a:rPr>
              <a:t>A table is in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1NF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if every cell holds a single,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atomic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value: no multi-valued attributes, repeating groups or composite attributes.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80940"/>
            <a:ext cx="8069580" cy="442588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445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To reach 1NF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4450" y="5604121"/>
            <a:ext cx="7269480" cy="2902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Move each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repeating group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to a new table, carrying the PK as a FK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Move each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multi-valued attribute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to a new table, carrying the PK as a FK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Split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composite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attributes into one column per 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04020" y="4480940"/>
            <a:ext cx="8069580" cy="4425886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0407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Repeating group?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4070" y="5604121"/>
            <a:ext cx="7269480" cy="139121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A set of multi-valued columns that belong together, e.g. Subject + Description + Grade for one student.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243709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SCHOOL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234309" y="981075"/>
            <a:ext cx="13291566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17/46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example: unnormalized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82024"/>
          <a:ext cx="16459200" cy="303858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81328"/>
                <a:gridCol w="1481328"/>
                <a:gridCol w="1645920"/>
                <a:gridCol w="1645920"/>
                <a:gridCol w="1810512"/>
                <a:gridCol w="1810512"/>
                <a:gridCol w="1645920"/>
                <a:gridCol w="3127248"/>
                <a:gridCol w="1810512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Stud_ID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Name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Location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Level_Mgr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Subject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Subj_Desc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Grade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Ali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Cairo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010xx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Noha M.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DB, CN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Database, Networks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A, B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939253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Mai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Giza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011xx, 010xx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Noha M.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CN, DB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Networks, Database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B, C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939253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Marwa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Giza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010xx, 012xx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Secondary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Moh. A.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SW, DB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Software, Database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A, A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974002"/>
            <a:ext cx="5273040" cy="2108636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5974002"/>
            <a:ext cx="47625" cy="2108636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120" y="6240702"/>
            <a:ext cx="4419600" cy="157523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318" b="1" i="0" u="none">
                <a:solidFill>
                  <a:srgbClr val="0F172A"/>
                </a:solidFill>
                <a:latin typeface="Calibri"/>
              </a:rPr>
              <a:t>Tel</a:t>
            </a:r>
            <a:r>
              <a:rPr sz="2318" b="0" i="0" u="none">
                <a:solidFill>
                  <a:srgbClr val="0F172A"/>
                </a:solidFill>
                <a:latin typeface="Calibri"/>
              </a:rPr>
              <a:t> is multi-valued: one student can have several phone numbers. It stands alone, so it moves to its own table.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07480" y="5974002"/>
            <a:ext cx="5273040" cy="2108636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07480" y="5974002"/>
            <a:ext cx="47625" cy="2108636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4200" y="6240702"/>
            <a:ext cx="4419600" cy="157523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318" b="1" i="0" u="none">
                <a:solidFill>
                  <a:srgbClr val="0F172A"/>
                </a:solidFill>
                <a:latin typeface="Calibri"/>
              </a:rPr>
              <a:t>Subject</a:t>
            </a:r>
            <a:r>
              <a:rPr sz="2318" b="0" i="0" u="none">
                <a:solidFill>
                  <a:srgbClr val="0F172A"/>
                </a:solidFill>
                <a:latin typeface="Calibri"/>
              </a:rPr>
              <a:t> is multi-valued too, but each subject brings its own Subj_Desc and Grade: the three form a </a:t>
            </a:r>
            <a:r>
              <a:rPr sz="2318" b="1" i="0" u="none">
                <a:solidFill>
                  <a:srgbClr val="0F172A"/>
                </a:solidFill>
                <a:latin typeface="Calibri"/>
              </a:rPr>
              <a:t>repeating group</a:t>
            </a:r>
            <a:r>
              <a:rPr sz="2318" b="0" i="0" u="none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100560" y="5974002"/>
            <a:ext cx="5273040" cy="210863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100560" y="5974002"/>
            <a:ext cx="47625" cy="210863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0" y="6240702"/>
            <a:ext cx="4419600" cy="157523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318" b="1" i="0" u="none">
                <a:solidFill>
                  <a:srgbClr val="0F172A"/>
                </a:solidFill>
                <a:latin typeface="Calibri"/>
              </a:rPr>
              <a:t>Level → Level_Mgr</a:t>
            </a:r>
            <a:r>
              <a:rPr sz="2318" b="0" i="0" u="none">
                <a:solidFill>
                  <a:srgbClr val="0F172A"/>
                </a:solidFill>
                <a:latin typeface="Calibri"/>
              </a:rPr>
              <a:t> and </a:t>
            </a:r>
            <a:r>
              <a:rPr sz="2318" b="1" i="0" u="none">
                <a:solidFill>
                  <a:srgbClr val="0F172A"/>
                </a:solidFill>
                <a:latin typeface="Calibri"/>
              </a:rPr>
              <a:t>Subject → Subj_Desc</a:t>
            </a:r>
            <a:r>
              <a:rPr sz="2318" b="0" i="0" u="none">
                <a:solidFill>
                  <a:srgbClr val="0F172A"/>
                </a:solidFill>
                <a:latin typeface="Calibri"/>
              </a:rPr>
              <a:t> are FDs hidden inside the table: they drive the 2NF and 3NF steps.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243709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SCHOOL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234309" y="981075"/>
            <a:ext cx="13291566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18/46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example: 1NF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2751628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Name,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Location,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3882387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STUDENT_TEL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Tel (PK)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438005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STUD_SUBJECT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Subject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Subj_Desc,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Grade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87042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6552644"/>
            <a:ext cx="16459200" cy="147805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6552644"/>
            <a:ext cx="47625" cy="147805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1120" y="6819344"/>
            <a:ext cx="15605760" cy="9446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Every cell is now atomic. But STUD_SUBJECT still repeats Subj_Desc for every student taking that subject: Subj_Desc depends on Subject alone, only part of the key {Stud_ID, Subject}.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19/46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Second normal form (2NF)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54552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54552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15605760" cy="101212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98" b="0" i="0" u="none">
                <a:solidFill>
                  <a:srgbClr val="0F172A"/>
                </a:solidFill>
                <a:latin typeface="Calibri"/>
              </a:rPr>
              <a:t>A table is in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2NF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if it is in 1NF and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no non-key attribute is partially dependent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on the primary key.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80940"/>
            <a:ext cx="8069580" cy="3532761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445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To reach 2NF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4450" y="5604121"/>
            <a:ext cx="7269480" cy="19236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Move attributes that depend on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part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of the key to a new table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Take that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part of the key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with them as the new table's PK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04020" y="4480940"/>
            <a:ext cx="8069580" cy="3532761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0407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Already in 2NF if any is true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4070" y="5604121"/>
            <a:ext cx="7269480" cy="200953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The PK is a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single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column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All columns are part of the PK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Every non-key column depends on the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whole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PK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243709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SCHOOL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234309" y="981075"/>
            <a:ext cx="13291566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20/46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example: 2NF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3307245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2NF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Name,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Location,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3882387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STUDENT_TEL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Tel (PK)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438005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STUD_SUBJECT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Subject (PK, FK),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Grade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110" y="4993622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Subject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Subj_Desc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242660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7108261"/>
            <a:ext cx="16459200" cy="147805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7108261"/>
            <a:ext cx="47625" cy="147805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1120" y="7374961"/>
            <a:ext cx="15605760" cy="9446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Subject → Subj_Desc was partial (only part of {Stud_ID, Subject}). STUDENT is still not in 3NF: Level → Level_Mgr.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21/46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Third normal form (3NF)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54552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54552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15605760" cy="101212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98" b="0" i="0" u="none">
                <a:solidFill>
                  <a:srgbClr val="0F172A"/>
                </a:solidFill>
                <a:latin typeface="Calibri"/>
              </a:rPr>
              <a:t>A table is in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3NF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if it is in 2NF and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no non-key attribute depends transitively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on the primary key (no non-key → non-key dependency).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80940"/>
            <a:ext cx="8069580" cy="442588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445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To reach 3NF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4450" y="5604121"/>
            <a:ext cx="7269480" cy="2902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Move the dependent non-key attributes to a new table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Its PK is the non-key attribute they depend on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1" i="0" u="none">
                <a:solidFill>
                  <a:srgbClr val="334155"/>
                </a:solidFill>
                <a:latin typeface="Calibri"/>
              </a:rPr>
              <a:t>Leave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that attribute in the original table as a FK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04020" y="4480940"/>
            <a:ext cx="8069580" cy="2023986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04020" y="4480940"/>
            <a:ext cx="47625" cy="2023986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30740" y="4747640"/>
            <a:ext cx="7216140" cy="149058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98" b="0" i="1" u="none">
                <a:solidFill>
                  <a:srgbClr val="0F172A"/>
                </a:solidFill>
                <a:latin typeface="Calibri"/>
              </a:rPr>
              <a:t>Every non-key attribute must depend on the key, the whole key, and nothing but the key.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243709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SCHOOL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234309" y="981075"/>
            <a:ext cx="13291566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22/46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example: 3NF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3862862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3NF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Name,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Location,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Level (FK)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3882387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LEVEL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Level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438005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STUDENT_TEL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Tel (PK)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110" y="4993622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STUD_SUBJECT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Subject (PK, FK),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Grade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110" y="554924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Subject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Subj_Desc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798277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7663879"/>
            <a:ext cx="16459200" cy="1031488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7663879"/>
            <a:ext cx="47625" cy="1031488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41120" y="7930579"/>
            <a:ext cx="15605760" cy="49808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Five tables, each about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one thing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. Changing a level manager now updates exactly one row.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23/46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Boyce–Codd normal form (BCNF)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16240" cy="147805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47805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7162800" cy="9446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A table is in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BCNF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 if for every non-trivial FD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X → Y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, X is a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superkey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4226775"/>
          <a:ext cx="8016240" cy="3259413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72080"/>
                <a:gridCol w="2672080"/>
                <a:gridCol w="2672080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Student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Course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Instructor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Narayan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Mark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Smith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Navathe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939253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Smith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Operating Systems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Ammar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Wong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Omiecinski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14400" y="7752891"/>
            <a:ext cx="80162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0" i="0" u="none">
                <a:solidFill>
                  <a:srgbClr val="64748B"/>
                </a:solidFill>
                <a:latin typeface="Calibri"/>
              </a:rPr>
              <a:t>TEACH · key {Student, Course} · FD: </a:t>
            </a:r>
            <a:r>
              <a:rPr sz="2318" b="1" i="0" u="none">
                <a:solidFill>
                  <a:srgbClr val="64748B"/>
                </a:solidFill>
                <a:latin typeface="Calibri"/>
              </a:rPr>
              <a:t>Instructor → Course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57360" y="2482024"/>
            <a:ext cx="8016240" cy="330948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57410" y="2882074"/>
            <a:ext cx="72161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Why it is 3NF but not BCNF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7410" y="3605204"/>
            <a:ext cx="7216140" cy="178624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Course is part of the key, so 3NF allows Instructor → Course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But Instructor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not a superkey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→ BCNF is violated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57360" y="6058204"/>
            <a:ext cx="8016240" cy="2782921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04070" y="6404914"/>
            <a:ext cx="732282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BCNF DECOMPOSITION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4070" y="6902950"/>
            <a:ext cx="732282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INSTRUCTOR_COURSE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Instructor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Course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04070" y="7752023"/>
            <a:ext cx="732282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STUDENT_INSTRUCTOR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Student (PK),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Instructor (PK, FK)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24/46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Beyond BCNF: 4NF and 5NF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69580" cy="525575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4NF: multi-valued dependencies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605204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Two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independent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multi-valued facts about the same key in one 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4642401"/>
            <a:ext cx="7269480" cy="26953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EMP(Ename, Pname, Dname): projects and dependents are unrelated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Every project × every dependent → huge redundancy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Fix: EMP_PROJECTS(Ename, Pname) + EMP_DEPENDENTS(Ename, Dname)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04020" y="2482024"/>
            <a:ext cx="8069580" cy="525575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04070" y="2882074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5NF: join dependencies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4070" y="3605204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A table that can only be rebuilt by joining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three or more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of its projections.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4070" y="4642401"/>
            <a:ext cx="7269480" cy="1371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Rare in practice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Related to the ternary vs three binaries question (Lesson 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8191164"/>
            <a:ext cx="16459200" cy="1410576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8191164"/>
            <a:ext cx="47625" cy="1410576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41120" y="8457864"/>
            <a:ext cx="15605760" cy="87717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A well-designed ERD mapped with the 7 steps rarely produces 4NF/5NF problems: multi-valued attributes already get their own tables.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25/46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Good decompositions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69580" cy="4346676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Lossless join (required)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605204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Joining the new tables gives back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exactly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the original rows: no spurious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4642401"/>
            <a:ext cx="7269480" cy="178624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Split R into R1, R2 so the common columns are a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key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of R1 or R2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That is why we keep the FK (Level) in STUDENT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04020" y="2482024"/>
            <a:ext cx="8069580" cy="434667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04070" y="2882074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Dependency preservation (desired)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4070" y="3605204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Every FD can still be checked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inside one table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4070" y="4642401"/>
            <a:ext cx="7269480" cy="1371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3NF can always keep both properties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BCNF sometimes must give this up (TEACH example)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26/46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Lossless vs lossy: one table, two splits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82024"/>
            <a:ext cx="16459200" cy="478283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666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666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666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666" b="0" i="0" u="none">
                <a:solidFill>
                  <a:srgbClr val="0F172A"/>
                </a:solidFill>
                <a:latin typeface="Courier New"/>
              </a:rPr>
              <a:t> Level,</a:t>
            </a:r>
            <a:r>
              <a:rPr sz="2666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666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13697"/>
            <a:ext cx="16459200" cy="46251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64748B"/>
                </a:solidFill>
                <a:latin typeface="Calibri"/>
              </a:rPr>
              <a:t>FDs: Stud_ID → Level, Level → Level_Mgr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329598"/>
            <a:ext cx="8069580" cy="3535840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110" y="4676308"/>
            <a:ext cx="737616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LOSSLESS SPLIT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5174344"/>
            <a:ext cx="7376160" cy="41959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310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310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310" b="1" i="0" u="none">
                <a:solidFill>
                  <a:srgbClr val="0E8A8A"/>
                </a:solidFill>
                <a:latin typeface="Courier New"/>
              </a:rPr>
              <a:t> Level (FK)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110" y="5700616"/>
            <a:ext cx="7376160" cy="41959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310" b="1" i="0" u="none">
                <a:solidFill>
                  <a:srgbClr val="0F172A"/>
                </a:solidFill>
                <a:latin typeface="Courier New"/>
              </a:rPr>
              <a:t>LEVEL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310" b="1" i="0" u="none">
                <a:solidFill>
                  <a:srgbClr val="C8102E"/>
                </a:solidFill>
                <a:latin typeface="Courier New"/>
              </a:rPr>
              <a:t> Level (PK),</a:t>
            </a:r>
            <a:r>
              <a:rPr sz="2310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110" y="6226888"/>
            <a:ext cx="737616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Common column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Level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is the key of LEVEL: joining gives back exactly the original rows.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04020" y="4329598"/>
            <a:ext cx="8069580" cy="353584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50730" y="4676308"/>
            <a:ext cx="737616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LOSSY SPLIT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0730" y="5174344"/>
            <a:ext cx="7376160" cy="41959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310" b="1" i="0" u="none">
                <a:solidFill>
                  <a:srgbClr val="0F172A"/>
                </a:solidFill>
                <a:latin typeface="Courier New"/>
              </a:rPr>
              <a:t>R1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310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310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0730" y="5700616"/>
            <a:ext cx="7376160" cy="41959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310" b="1" i="0" u="none">
                <a:solidFill>
                  <a:srgbClr val="0F172A"/>
                </a:solidFill>
                <a:latin typeface="Courier New"/>
              </a:rPr>
              <a:t>R2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310" b="1" i="0" u="none">
                <a:solidFill>
                  <a:srgbClr val="C8102E"/>
                </a:solidFill>
                <a:latin typeface="Courier New"/>
              </a:rPr>
              <a:t> Level (PK),</a:t>
            </a:r>
            <a:r>
              <a:rPr sz="2310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0730" y="6226888"/>
            <a:ext cx="737616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Common column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Level_Mgr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is not a key of either table: one manager runs two levels, so the join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invents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rows (spurious tuples).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27/46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Denormalization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273040" cy="442588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605204"/>
            <a:ext cx="4472940" cy="22843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Deliberately storing the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join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of normalized tables, or a derived value, as a base table (a lower normal form).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07480" y="2482024"/>
            <a:ext cx="5273040" cy="4425886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753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When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7530" y="3605204"/>
            <a:ext cx="4472940" cy="2902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Read-heavy reports and dashboards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Data warehouses (star schemas)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Measured performance problems, not guesses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00560" y="2482024"/>
            <a:ext cx="5273040" cy="4425886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0061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00610" y="3605204"/>
            <a:ext cx="4472940" cy="200953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Redundancy comes back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Application or triggers must keep copies in sync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More storage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7361300"/>
            <a:ext cx="16459200" cy="1031488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7361300"/>
            <a:ext cx="47625" cy="1031488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1120" y="7628000"/>
            <a:ext cx="15605760" cy="49808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Normalize first; denormalize only with a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measured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 reason, and document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5715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C8102E"/>
                </a:solidFill>
                <a:latin typeface="Arial"/>
              </a:rPr>
              <a:t>SECTION 04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90900" y="981075"/>
            <a:ext cx="131349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28/46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57500"/>
            <a:ext cx="5715000" cy="228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6000"/>
              </a:lnSpc>
            </a:pPr>
            <a:r>
              <a:rPr sz="15000" b="1" i="0" u="none">
                <a:solidFill>
                  <a:srgbClr val="C8102E"/>
                </a:solidFill>
                <a:latin typeface="Arial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34000"/>
            <a:ext cx="15240000" cy="190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300"/>
              </a:lnSpc>
            </a:pPr>
            <a:r>
              <a:rPr sz="6300" b="1" i="0" u="none">
                <a:solidFill>
                  <a:srgbClr val="0F172A"/>
                </a:solidFill>
                <a:latin typeface="Arial"/>
              </a:rPr>
              <a:t>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239000"/>
            <a:ext cx="13335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0" i="0" u="none">
                <a:solidFill>
                  <a:srgbClr val="334155"/>
                </a:solidFill>
                <a:latin typeface="Calibri"/>
              </a:rPr>
              <a:t>An ITI student sheet, real school data and a suppliers table.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88537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ITI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75978" y="981075"/>
            <a:ext cx="1364989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29/46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ITI student sheet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324024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15659100" cy="24401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Student number: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ITI205-40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Name: Hassan Ali Ahmed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Address (Street, City): 12 Haram St, Giza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Tel / mobile: 33868420 · 01111111253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F-code: ENG · Faculty: Engineering · Major: Computer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6039642"/>
          <a:ext cx="16459200" cy="23201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91840"/>
                <a:gridCol w="6254496"/>
                <a:gridCol w="2962656"/>
                <a:gridCol w="3950208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Department name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Department description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Admission grade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Comments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ERP-SAP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ERP-SAP Functional Consultant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Average personality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Java-MAD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Java mobile applications developer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Very good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CS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Cyber Security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Above average technical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88537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ITI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75978" y="981075"/>
            <a:ext cx="1364989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30/46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ITI sheet: 1NF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3162465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Stud_No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Stud_Name,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F_code,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Faculty,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Major,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Street,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City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3882387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STUDENT_TEL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Stud_No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Tel_No (PK)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438005"/>
            <a:ext cx="15765780" cy="85977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DEPT_STUDENT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Dept_Name (PK),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Stud_No (PK, FK),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Dept_Desc,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Ad_Grade,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Comments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097880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6963481"/>
            <a:ext cx="16459200" cy="1924613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6963481"/>
            <a:ext cx="47625" cy="1924613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1120" y="7230181"/>
            <a:ext cx="15605760" cy="1391213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1" i="0" u="none">
                <a:solidFill>
                  <a:srgbClr val="0F172A"/>
                </a:solidFill>
                <a:latin typeface="Calibri"/>
              </a:rPr>
              <a:t>Address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 is composite, so it becomes Street and City.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Tel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 is multi-valued, so it moves to STUDENT_TEL. The department rows are a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repeating group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, so they move to DEPT_STUDENT with key {Dept_Name, Stud_No}.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88537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ITI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75978" y="981075"/>
            <a:ext cx="1364989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31/46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ITI sheet: 2NF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3307245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2NF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Stud_No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Stud_Name,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F_code,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Faculty,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Major,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Street,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City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3882387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STUDENT_TEL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Stud_No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Tel_No (PK)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438005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DEPT_STUDENT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Dept_Name (PK, FK),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Stud_No (PK, FK),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Ad_Grade,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Comments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110" y="4993622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DEPARTMENT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Dept_Name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Dept_Desc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242660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7108261"/>
            <a:ext cx="16459200" cy="1924613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7108261"/>
            <a:ext cx="47625" cy="1924613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1120" y="7374961"/>
            <a:ext cx="15605760" cy="1391213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1" i="0" u="none">
                <a:solidFill>
                  <a:srgbClr val="0F172A"/>
                </a:solidFill>
                <a:latin typeface="Calibri"/>
              </a:rPr>
              <a:t>Dept_Desc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 depends on Dept_Name alone, only part of the key {Dept_Name, Stud_No}: it moves to DEPARTMENT. Ad_Grade and Comments describe one student in one department, so they need the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whole key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 and stay.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88537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ITI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75978" y="981075"/>
            <a:ext cx="1364989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32/46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ITI sheet: 3NF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3862862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3NF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Stud_No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Stud_Name,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F_code (FK),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Major,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Street,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City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3882387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FACULTY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F_code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Faculty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438005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STUDENT_TEL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Stud_No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Tel_No (PK)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110" y="4993622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DEPT_STUDENT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Dept_Name (PK, FK),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Stud_No (PK, FK),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Ad_Grade,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Comments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110" y="554924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DEPARTMENT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Dept_Name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Dept_Desc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798277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7663879"/>
            <a:ext cx="16459200" cy="147805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7663879"/>
            <a:ext cx="47625" cy="147805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41120" y="7930579"/>
            <a:ext cx="15605760" cy="9446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In STUDENT,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F_code → Faculty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 (a non-key column decides another non-key column): Faculty moves to FACULTY and F_code stays as a FK. Five tables, each about one thing.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363152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REAL-WORLD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53752" y="981075"/>
            <a:ext cx="13172123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33/46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Real-world school data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82024"/>
          <a:ext cx="16459198" cy="23201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51314"/>
                <a:gridCol w="2351314"/>
                <a:gridCol w="2351314"/>
                <a:gridCol w="2351314"/>
                <a:gridCol w="2351314"/>
                <a:gridCol w="2351314"/>
                <a:gridCol w="2351314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First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Parent 1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Parent 2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App No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City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Postal code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Birth date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Renee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Ann Jones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Theodore Smith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Annandale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22003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6/25/1983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Lucy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Barbara Mills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Steve Mills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558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Annandale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22003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8/14/1983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Brendan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Jennifer Jones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Stephen Jones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Fairfax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22032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6/13/1984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5074220"/>
          <a:ext cx="16459200" cy="303858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75104"/>
                <a:gridCol w="1975104"/>
                <a:gridCol w="3621024"/>
                <a:gridCol w="1810512"/>
                <a:gridCol w="1975104"/>
                <a:gridCol w="2962656"/>
                <a:gridCol w="2139696"/>
              </a:tblGrid>
              <a:tr h="939253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Prev. teacher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Curr. teacher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Student phone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Course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Course desc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Enrolled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Attended days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939253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Hamil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Burke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(703) 323-0893, (703) 324-0708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X, Y, Z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X, Y, Z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96/97, 96/97, 97/98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0, 0, 0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Hamil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Burke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(703) 764-5829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96/97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Hamil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Burke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(703) 978-1083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Z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Z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96/97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363152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REAL-WORLD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53752" y="981075"/>
            <a:ext cx="13172123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34/46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data: 1NF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3573302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85977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App_No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Stud_Fname,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Parent1,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Parent2,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City,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Postal_Code,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Birthdate,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Prev_Teacher,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Curr_Teacher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4293225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STUDENT_PHONE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App_No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Phone (PK)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848842"/>
            <a:ext cx="15765780" cy="85977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STUDENT_COURSE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App_No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Course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Course_Desc,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Enrolled,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Att_Days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508717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7374319"/>
            <a:ext cx="16459200" cy="1924613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7374319"/>
            <a:ext cx="47625" cy="1924613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1120" y="7641019"/>
            <a:ext cx="15605760" cy="1391213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1" i="0" u="none">
                <a:solidFill>
                  <a:srgbClr val="0F172A"/>
                </a:solidFill>
                <a:latin typeface="Calibri"/>
              </a:rPr>
              <a:t>Student phone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 is multi-valued, so it moves to STUDENT_PHONE. Course, Course desc, Enrolled and Attended days repeat together for each course: a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repeating group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, so they move to STUDENT_COURSE with key {App_No, Course}.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363152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REAL-WORLD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53752" y="981075"/>
            <a:ext cx="13172123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35/46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data: 2NF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3718082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2NF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85977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App_No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Stud_Fname,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Parent1,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Parent2,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City,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Postal_Code,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Birthdate,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Prev_Teacher,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Curr_Teacher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4293225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STUDENT_PHONE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App_No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Phone (PK)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848842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STUDENT_COURSE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App_No (PK, FK),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Course (PK, FK),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Enrolled,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Att_Days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110" y="540446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COURSE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Course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Course_Desc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653497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7519099"/>
            <a:ext cx="16459200" cy="1924613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7519099"/>
            <a:ext cx="47625" cy="1924613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1120" y="7785799"/>
            <a:ext cx="15605760" cy="1391213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1" i="0" u="none">
                <a:solidFill>
                  <a:srgbClr val="0F172A"/>
                </a:solidFill>
                <a:latin typeface="Calibri"/>
              </a:rPr>
              <a:t>Course_Desc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 depends on Course alone, only part of the key {App_No, Course}: it moves to COURSE. Enrolled and Att_Days describe one student in one course, so they need the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whole key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 and stay.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363152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REAL-WORLD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53752" y="981075"/>
            <a:ext cx="13172123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36/46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data: 3NF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3982043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6345" y="2803969"/>
            <a:ext cx="15815310" cy="36340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73" b="1" i="0" u="none" spc="100">
                <a:solidFill>
                  <a:srgbClr val="C8102E"/>
                </a:solidFill>
                <a:latin typeface="Arial"/>
              </a:rPr>
              <a:t>3NF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6345" y="3266431"/>
            <a:ext cx="15815310" cy="801083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310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310" b="1" i="0" u="none">
                <a:solidFill>
                  <a:srgbClr val="C8102E"/>
                </a:solidFill>
                <a:latin typeface="Courier New"/>
              </a:rPr>
              <a:t> App_No (PK),</a:t>
            </a:r>
            <a:r>
              <a:rPr sz="2310" b="0" i="0" u="none">
                <a:solidFill>
                  <a:srgbClr val="0F172A"/>
                </a:solidFill>
                <a:latin typeface="Courier New"/>
              </a:rPr>
              <a:t> Stud_Fname,</a:t>
            </a:r>
            <a:r>
              <a:rPr sz="2310" b="0" i="0" u="none">
                <a:solidFill>
                  <a:srgbClr val="0F172A"/>
                </a:solidFill>
                <a:latin typeface="Courier New"/>
              </a:rPr>
              <a:t> Parent1,</a:t>
            </a:r>
            <a:r>
              <a:rPr sz="2310" b="0" i="0" u="none">
                <a:solidFill>
                  <a:srgbClr val="0F172A"/>
                </a:solidFill>
                <a:latin typeface="Courier New"/>
              </a:rPr>
              <a:t> Parent2,</a:t>
            </a:r>
            <a:r>
              <a:rPr sz="2310" b="1" i="0" u="none">
                <a:solidFill>
                  <a:srgbClr val="0E8A8A"/>
                </a:solidFill>
                <a:latin typeface="Courier New"/>
              </a:rPr>
              <a:t> Postal_Code (FK),</a:t>
            </a:r>
            <a:r>
              <a:rPr sz="2310" b="0" i="0" u="none">
                <a:solidFill>
                  <a:srgbClr val="0F172A"/>
                </a:solidFill>
                <a:latin typeface="Courier New"/>
              </a:rPr>
              <a:t> Birthdate,</a:t>
            </a:r>
            <a:r>
              <a:rPr sz="2310" b="0" i="0" u="none">
                <a:solidFill>
                  <a:srgbClr val="0F172A"/>
                </a:solidFill>
                <a:latin typeface="Courier New"/>
              </a:rPr>
              <a:t> Prev_Teacher,</a:t>
            </a:r>
            <a:r>
              <a:rPr sz="2310" b="0" i="0" u="none">
                <a:solidFill>
                  <a:srgbClr val="0F172A"/>
                </a:solidFill>
                <a:latin typeface="Courier New"/>
              </a:rPr>
              <a:t> Curr_Teacher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6345" y="4166575"/>
            <a:ext cx="15815310" cy="41959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310" b="1" i="0" u="none">
                <a:solidFill>
                  <a:srgbClr val="0F172A"/>
                </a:solidFill>
                <a:latin typeface="Courier New"/>
              </a:rPr>
              <a:t>POSTAL_CODE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310" b="1" i="0" u="none">
                <a:solidFill>
                  <a:srgbClr val="C8102E"/>
                </a:solidFill>
                <a:latin typeface="Courier New"/>
              </a:rPr>
              <a:t> Postal_Code (PK),</a:t>
            </a:r>
            <a:r>
              <a:rPr sz="2310" b="0" i="0" u="none">
                <a:solidFill>
                  <a:srgbClr val="0F172A"/>
                </a:solidFill>
                <a:latin typeface="Courier New"/>
              </a:rPr>
              <a:t> City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6345" y="4685226"/>
            <a:ext cx="15815310" cy="41959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310" b="1" i="0" u="none">
                <a:solidFill>
                  <a:srgbClr val="0F172A"/>
                </a:solidFill>
                <a:latin typeface="Courier New"/>
              </a:rPr>
              <a:t>STUDENT_PHONE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310" b="1" i="0" u="none">
                <a:solidFill>
                  <a:srgbClr val="0E8A8A"/>
                </a:solidFill>
                <a:latin typeface="Courier New"/>
              </a:rPr>
              <a:t> App_No (PK, FK),</a:t>
            </a:r>
            <a:r>
              <a:rPr sz="2310" b="1" i="0" u="none">
                <a:solidFill>
                  <a:srgbClr val="C8102E"/>
                </a:solidFill>
                <a:latin typeface="Courier New"/>
              </a:rPr>
              <a:t> Phone (PK)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6345" y="5203878"/>
            <a:ext cx="15815310" cy="41959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310" b="1" i="0" u="none">
                <a:solidFill>
                  <a:srgbClr val="0F172A"/>
                </a:solidFill>
                <a:latin typeface="Courier New"/>
              </a:rPr>
              <a:t>STUDENT_COURSE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310" b="1" i="0" u="none">
                <a:solidFill>
                  <a:srgbClr val="0E8A8A"/>
                </a:solidFill>
                <a:latin typeface="Courier New"/>
              </a:rPr>
              <a:t> App_No (PK, FK),</a:t>
            </a:r>
            <a:r>
              <a:rPr sz="2310" b="1" i="0" u="none">
                <a:solidFill>
                  <a:srgbClr val="0E8A8A"/>
                </a:solidFill>
                <a:latin typeface="Courier New"/>
              </a:rPr>
              <a:t> Course (PK, FK),</a:t>
            </a:r>
            <a:r>
              <a:rPr sz="2310" b="0" i="0" u="none">
                <a:solidFill>
                  <a:srgbClr val="0F172A"/>
                </a:solidFill>
                <a:latin typeface="Courier New"/>
              </a:rPr>
              <a:t> Enrolled,</a:t>
            </a:r>
            <a:r>
              <a:rPr sz="2310" b="0" i="0" u="none">
                <a:solidFill>
                  <a:srgbClr val="0F172A"/>
                </a:solidFill>
                <a:latin typeface="Courier New"/>
              </a:rPr>
              <a:t> Att_Days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6345" y="5722530"/>
            <a:ext cx="15815310" cy="41959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310" b="1" i="0" u="none">
                <a:solidFill>
                  <a:srgbClr val="0F172A"/>
                </a:solidFill>
                <a:latin typeface="Courier New"/>
              </a:rPr>
              <a:t>COURSE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310" b="1" i="0" u="none">
                <a:solidFill>
                  <a:srgbClr val="C8102E"/>
                </a:solidFill>
                <a:latin typeface="Courier New"/>
              </a:rPr>
              <a:t> Course (PK),</a:t>
            </a:r>
            <a:r>
              <a:rPr sz="2310" b="0" i="0" u="none">
                <a:solidFill>
                  <a:srgbClr val="0F172A"/>
                </a:solidFill>
                <a:latin typeface="Courier New"/>
              </a:rPr>
              <a:t> Course_Desc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885072"/>
            <a:ext cx="16459200" cy="38276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52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152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152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152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7688845"/>
            <a:ext cx="16459200" cy="137247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7688845"/>
            <a:ext cx="47625" cy="13724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0640" y="7936495"/>
            <a:ext cx="15666720" cy="87717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511" b="1" i="0" u="none">
                <a:solidFill>
                  <a:srgbClr val="0F172A"/>
                </a:solidFill>
                <a:latin typeface="Calibri"/>
              </a:rPr>
              <a:t>Postal_Code → City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(22003 is always Annandale): City moves to POSTAL_CODE, keyed by Postal_Code. Not City(City, Postal_Code): one city can have several postal codes, so City cannot be the key.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64649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SUPPLIERS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637091" y="981075"/>
            <a:ext cx="1388878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37/46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Suppliers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69580" cy="419087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7269480" cy="31602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Relation (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S#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, Country, Currency,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P#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, Qty)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S#: supplier number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Country: where the supplier is located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Currency: the currency of that country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P#: part number supplied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Qty: quantity supplied to date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9304020" y="2482024"/>
            <a:ext cx="8069580" cy="4190870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04070" y="2882074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Key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04070" y="3605204"/>
            <a:ext cx="7269480" cy="94465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Qty depends on supplier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and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part, so the PK is the composite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{S#, P#}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04070" y="4709876"/>
            <a:ext cx="7269480" cy="15629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S# → Country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Country → Currency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{S#, P#} → Qty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64649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SUPPLIERS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637091" y="981075"/>
            <a:ext cx="1388878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38/46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Suppliers: 1NF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640393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SUPPLY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S#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Country,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Currency,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P#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Qty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5807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441409"/>
            <a:ext cx="16459200" cy="1924613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5441409"/>
            <a:ext cx="47625" cy="1924613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1120" y="5708109"/>
            <a:ext cx="15605760" cy="1391213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Every value is atomic: no multi-valued attribute and no repeating group, so the relation is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already in 1NF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. Its composite key is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{S#, P#}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, because Qty belongs to one supplier and one part.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64649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SUPPLIERS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637091" y="981075"/>
            <a:ext cx="1388878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39/46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Suppliers: 2NF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219601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2NF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SUPPLIER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S#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Country,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Currency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3882387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SUPPLIER_PART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S#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P#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Qty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31425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997026"/>
            <a:ext cx="16459200" cy="147805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5997026"/>
            <a:ext cx="47625" cy="147805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1120" y="6263726"/>
            <a:ext cx="15605760" cy="9446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1" i="0" u="none">
                <a:solidFill>
                  <a:srgbClr val="0F172A"/>
                </a:solidFill>
                <a:latin typeface="Calibri"/>
              </a:rPr>
              <a:t>Country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 and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Currency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 depend on S# alone, only part of the key {S#, P#}: they move to SUPPLIER. Qty needs the whole key and stays in SUPPLIER_PART.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64649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SUPPLIERS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637091" y="981075"/>
            <a:ext cx="1388878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40/46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Suppliers: 3NF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2751628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3NF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SUPPLIER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S# (PK),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Country (FK)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3882387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COUNTRY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Country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Currency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438005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SUPPLIER_PART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S#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P#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Qty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87042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6552644"/>
            <a:ext cx="16459200" cy="147805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6552644"/>
            <a:ext cx="47625" cy="147805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1120" y="6819344"/>
            <a:ext cx="15605760" cy="9446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1" i="0" u="none">
                <a:solidFill>
                  <a:srgbClr val="0F172A"/>
                </a:solidFill>
                <a:latin typeface="Calibri"/>
              </a:rPr>
              <a:t>S# → Country → Currency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 is transitive: Currency moves to COUNTRY. A country's currency is now stored once, however many suppliers it has.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765934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41 · RECAP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56535" y="981075"/>
            <a:ext cx="1376934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41/46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What to walk out remembering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289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71650" y="30289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0" i="0" u="none">
                <a:solidFill>
                  <a:srgbClr val="0F172A"/>
                </a:solidFill>
                <a:latin typeface="Calibri"/>
              </a:rPr>
              <a:t>Redundancy causes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insert, update and delete anomalies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8862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14400" y="40576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1650" y="40576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0" i="0" u="none">
                <a:solidFill>
                  <a:srgbClr val="0F172A"/>
                </a:solidFill>
                <a:latin typeface="Calibri"/>
              </a:rPr>
              <a:t>A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functional dependency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A → B: A determines exactly one B.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49149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914400" y="50863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1650" y="50863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0F172A"/>
                </a:solidFill>
                <a:latin typeface="Calibri"/>
              </a:rPr>
              <a:t>1NF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atomic values ·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2NF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no partial deps ·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3NF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no transitive deps.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59436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914400" y="61150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71650" y="61150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0F172A"/>
                </a:solidFill>
                <a:latin typeface="Calibri"/>
              </a:rPr>
              <a:t>BCNF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: every determinant is a superkey.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69723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914400" y="71437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650" y="71437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0" i="0" u="none">
                <a:solidFill>
                  <a:srgbClr val="0F172A"/>
                </a:solidFill>
                <a:latin typeface="Calibri"/>
              </a:rPr>
              <a:t>Decompositions must be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lossless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; keep dependencies when you can.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" y="80010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914400" y="81724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71650" y="81724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0F172A"/>
                </a:solidFill>
                <a:latin typeface="Calibri"/>
              </a:rPr>
              <a:t>Denormalize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only for measured performance needs.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90297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52704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PRACTICE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17648" y="981075"/>
            <a:ext cx="1400822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42/46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Normalize this sales 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9619488" cy="274583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8819388" cy="19457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Customer number: 1001 · Name: ABC Company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Customer address: 100 Points, Manhattan, KS 66502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Sales order number: 405 · Date: 2/1/2000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Clerk number: 210 · Clerk name: Martin Lawrence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5441221"/>
          <a:ext cx="9619485" cy="2900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54338"/>
                <a:gridCol w="3270625"/>
                <a:gridCol w="1154338"/>
                <a:gridCol w="1923897"/>
                <a:gridCol w="2116287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Description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Qty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Unit price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widget small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60.00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2,400.00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801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tingimajigger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20.00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400.00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805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thingibob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100.00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1,000.00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/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Order total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3,800.00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10960608" y="2482024"/>
            <a:ext cx="6412992" cy="3468966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60658" y="2882074"/>
            <a:ext cx="5612892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Your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0658" y="3605204"/>
            <a:ext cx="5612892" cy="19457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List the FDs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Write the 0NF relation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Normalize to 1NF, 2NF, 3NF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Which values are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derived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840926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PRACTICE · OPTIONAL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31526" y="981075"/>
            <a:ext cx="12694349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43/46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Practice: Lesson 5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7780" y="285540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0E8A8A"/>
                </a:solidFill>
                <a:latin typeface="Arial"/>
              </a:rPr>
              <a:t>Q1 ·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7780" y="3415687"/>
            <a:ext cx="452628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For COURSE_REG(StudentID, StudentName, CourseID, CourseTitle, Grade): list the FDs and normalize to 3NF.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07480" y="248202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80860" y="285540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0E8A8A"/>
                </a:solidFill>
                <a:latin typeface="Arial"/>
              </a:rPr>
              <a:t>Q2 · 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0860" y="3415687"/>
            <a:ext cx="452628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Show one insert, one update and one delete anomaly in EMP_PROJ (Ssn, Pnumber, Hours, Ename, Pname, Plocation).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00560" y="248202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73940" y="285540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0E8A8A"/>
                </a:solidFill>
                <a:latin typeface="Arial"/>
              </a:rPr>
              <a:t>Q3 · 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73940" y="3415687"/>
            <a:ext cx="452628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Classify each FD as full, partial or transitive in the school example.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1561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7780" y="618899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Q4 · STRETCH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7780" y="6749277"/>
            <a:ext cx="452628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Normalize the </a:t>
            </a:r>
            <a:r>
              <a:rPr sz="2511" b="1" i="0" u="none">
                <a:solidFill>
                  <a:srgbClr val="0F172A"/>
                </a:solidFill>
                <a:latin typeface="Calibri"/>
              </a:rPr>
              <a:t>sales order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on the previous slide and say which values should not be stored.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7480" y="581561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80860" y="618899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Q5 · STRETCH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80860" y="6749277"/>
            <a:ext cx="452628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Is BOOK(ISBN, Title, AuthorID, AuthorName, PublisherID, PublisherCity) in 3NF? Fix 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100560" y="581561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73940" y="618899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0F172A"/>
                </a:solidFill>
                <a:latin typeface="Arial"/>
              </a:rPr>
              <a:t>Q6 · CHALLENGE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73940" y="6749277"/>
            <a:ext cx="452628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Find a table that violates BCNF in your own project, decompose it, and check the join is lossless.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363152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44 · STUDY MORE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53752" y="981075"/>
            <a:ext cx="13172123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44/46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Go deeper: Lesson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70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9900" y="300990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Elmasri &amp; Navathe (7th ed.)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chapters 14–15: FDs, normal forms, decomposition properties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98145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14400" y="419100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413385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Wikipedia: Database normalization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worked example from 1NF to 6NF</a:t>
            </a:r>
          </a:p>
          <a:p>
            <a:r>
              <a:rPr sz="1800" b="0" i="0" u="none">
                <a:solidFill>
                  <a:srgbClr val="0E8A8A"/>
                </a:solidFill>
                <a:latin typeface="Courier New"/>
                <a:hlinkClick r:id="rId2"/>
              </a:rPr>
              <a:t>en.wikipedia.org/wiki/Database_normalization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51054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914400" y="53149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9900" y="525780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William Kent: A Simple Guide to Five Normal Forms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the classic short paper (1983), free online</a:t>
            </a:r>
          </a:p>
          <a:p>
            <a:r>
              <a:rPr sz="1800" b="0" i="0" u="none">
                <a:solidFill>
                  <a:srgbClr val="0E8A8A"/>
                </a:solidFill>
                <a:latin typeface="Courier New"/>
                <a:hlinkClick r:id="rId3"/>
              </a:rPr>
              <a:t>www.bkent.net/Doc/simple5.htm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622935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914400" y="643890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COURSE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9900" y="638175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CMU 15-445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database design and normal forms lectures</a:t>
            </a:r>
          </a:p>
          <a:p>
            <a:r>
              <a:rPr sz="1800" b="0" i="0" u="none">
                <a:solidFill>
                  <a:srgbClr val="0E8A8A"/>
                </a:solidFill>
                <a:latin typeface="Courier New"/>
                <a:hlinkClick r:id="rId4"/>
              </a:rPr>
              <a:t>15445.courses.cs.cmu.edu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73533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914400" y="75628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PRACTICE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9900" y="750570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DB Fiddle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create your normalized tables and test joins</a:t>
            </a:r>
          </a:p>
          <a:p>
            <a:r>
              <a:rPr sz="1800" b="0" i="0" u="none">
                <a:solidFill>
                  <a:srgbClr val="0E8A8A"/>
                </a:solidFill>
                <a:latin typeface="Courier New"/>
                <a:hlinkClick r:id="rId5"/>
              </a:rPr>
              <a:t>www.db-fiddle.com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" y="847725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7620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F87171"/>
                </a:solidFill>
                <a:latin typeface="Arial"/>
              </a:rPr>
              <a:t>COURSE COMPLETE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438525" y="962025"/>
            <a:ext cx="13935075" cy="0"/>
          </a:xfrm>
          <a:prstGeom prst="line">
            <a:avLst/>
          </a:prstGeom>
          <a:ln w="19050">
            <a:solidFill>
              <a:srgbClr val="1E293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914400" y="3143250"/>
            <a:ext cx="8572500" cy="3590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50" b="1" i="0" u="none">
                <a:solidFill>
                  <a:srgbClr val="94A3B8"/>
                </a:solidFill>
                <a:latin typeface="Arial"/>
              </a:rPr>
              <a:t>DATABASE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2350"/>
            <a:ext cx="14287500" cy="93611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90000"/>
              </a:lnSpc>
            </a:pPr>
            <a:r>
              <a:rPr sz="6300" b="1" i="0" u="none">
                <a:solidFill>
                  <a:srgbClr val="FFFFFF"/>
                </a:solidFill>
                <a:latin typeface="Arial"/>
              </a:rPr>
              <a:t>From narrative to </a:t>
            </a:r>
            <a:r>
              <a:rPr sz="6300" b="1" i="0" u="none">
                <a:solidFill>
                  <a:srgbClr val="F87171"/>
                </a:solidFill>
                <a:latin typeface="Arial"/>
              </a:rPr>
              <a:t>normalized</a:t>
            </a:r>
            <a:r>
              <a:rPr sz="6300" b="1" i="0" u="none">
                <a:solidFill>
                  <a:srgbClr val="FFFFFF"/>
                </a:solidFill>
                <a:latin typeface="Arial"/>
              </a:rPr>
              <a:t>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69967"/>
            <a:ext cx="12382500" cy="1333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20000"/>
              </a:lnSpc>
            </a:pPr>
            <a:r>
              <a:rPr sz="2400" b="0" i="0" u="none">
                <a:solidFill>
                  <a:srgbClr val="CBD5E1"/>
                </a:solidFill>
                <a:latin typeface="Calibri"/>
              </a:rPr>
              <a:t>ERD → tables → </a:t>
            </a:r>
            <a:r>
              <a:rPr sz="2400" b="0" i="0" u="none">
                <a:solidFill>
                  <a:srgbClr val="5EEAD4"/>
                </a:solidFill>
                <a:latin typeface="Courier New"/>
              </a:rPr>
              <a:t>CREATE TABLE</a:t>
            </a:r>
            <a:r>
              <a:rPr sz="2400" b="0" i="0" u="none">
                <a:solidFill>
                  <a:srgbClr val="CBD5E1"/>
                </a:solidFill>
                <a:latin typeface="Calibri"/>
              </a:rPr>
              <a:t> → queries → normal forms. Keep practising on real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296400"/>
            <a:ext cx="7620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alibri"/>
              </a:rPr>
              <a:t>ITI · Database Fundamentals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53600" y="9296400"/>
            <a:ext cx="7620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alibri"/>
              </a:rPr>
              <a:t>Thank you — questions?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810000"/>
            <a:ext cx="16459200" cy="419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1800"/>
              </a:lnSpc>
            </a:pPr>
            <a:r>
              <a:rPr sz="2250" b="1" i="0" u="none">
                <a:solidFill>
                  <a:srgbClr val="F87171"/>
                </a:solidFill>
                <a:latin typeface="Arial"/>
              </a:rPr>
              <a:t>ITI · DATABASE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76750"/>
            <a:ext cx="16459200" cy="1714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86000"/>
              </a:lnSpc>
            </a:pPr>
            <a:r>
              <a:rPr sz="10500" b="1" i="0" u="none">
                <a:solidFill>
                  <a:srgbClr val="FFFFFF"/>
                </a:solidFill>
                <a:latin typeface="Arial"/>
              </a:rPr>
              <a:t>Thank You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