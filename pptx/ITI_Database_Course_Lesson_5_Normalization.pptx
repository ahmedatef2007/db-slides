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Normalization plays a limited role when the top-down (ERD) approach is used, and a major role in the bottom-up approach, where it is essential to build appropriate relations.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EMP_DEPT combines employee and department facts in one table. Department data (Dname, Dmgr_ssn) is repeated for every employee: that redundancy is what causes all three anomalies.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These are the four informal measures of quality from Elmasri &amp; Navathe: semantics, redundant information, NULL values, spurious tuples.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FDs are constraints derived from the meaning and interrelationships of the attributes. FDs and keys are used to define normal forms. A set of attributes A functionally determines B if the value of A determines a unique value for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Redrawn from the original figure (Elmasri &amp; Navathe). The key of EMP_PROJ is {Ssn, Pnumber}. FD2 and FD3 are partial: they violate 2NF.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Transitive dependencies violate 3NF. This is the EMP_DEPT table from the anomalies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table in 3NF is also in 2NF and 1NF. Database designers need not normalize to the highest possible normal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 disallows composite attributes, multivalued attributes and nested relations: attribute domains must contain only atomic (simple, indivisible)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Solution path (original notes): 1NF (Stud_ID, Name, Loc, Level, Level_Mgr), (Stud_ID, Tel), (Stud_ID, Subject, Subj_desc, Grade); 2NF moves Subj_desc to (Subject, Subj_desc); 3NF moves Level_Mgr to (Level, Level_Mgr).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quote summarizes 1NF (the key), 2NF (the whole key) and 3NF (nothing but the key). It is attributed to Bill Kent.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BCNF is the practical target in many textbooks. Trade-off: this decomposition is lossless but does not preserve the FD {Student, Course} → Instructor, which can no longer be checked inside one table. Example from Elmasri &amp; Navathe.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overview slide: the original stopped at 3NF but its notes mentioned BCNF and 4NF as typical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 slide: explains why normalization splits tables in a specific way (Guideline 4: no spurious tuples).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1NF: phone numbers and the department rows were repeating; Address split into Street, City. 2NF: Dept_Desc depends only on Dept_Name. 3NF: Faculty depends on F_code, a non-key attribute.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0NF: STUDENT(App_No, Stud_Fname, Parent1, Parent2, City, Postal_Code, Birthdate, Prev_Teacher, Curr_Teacher, Student_Phone, Course, Course_Desc, Enrolled, Att_Days)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Clarified: the original 3NF table was written City (City, Postal_Code). The dependency is Postal_Code → City, so the new table's key is Postal_Code and STUDENT keeps Postal_Code as a FK.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Fixed: the original showed the SUPPLIER / SUPPLIER_PARTS split as the 1NF step and said 2NF was 'same as first'. Since the relation has no multi-valued or repeating attributes it is already in 1NF; removing the partial dependency is by definition the 2NF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Recreated from the original slide's image. Expected 3NF: CUSTOMER(Cust_no, Name, Address...), CLERK(Clerk_no, Clerk_name), ORDER(Order_no, Order_date, Cust_no*, Clerk_no*), ITEM(Item_no, Description, Unit_price), ORDER_LINE(Order_no*, Item_no*, Qty). Line total and order total are derived and should not be stored. Discuss: should the unit price at order time be copied into ORDER_LINE? (Yes, if prices change: that is a historical fact, not redundancy.)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n.wikipedia.org/wiki/Database_normalization" TargetMode="External"/><Relationship Id="rId3" Type="http://schemas.openxmlformats.org/officeDocument/2006/relationships/hyperlink" Target="https://www.bkent.net/Doc/simple5.htm" TargetMode="External"/><Relationship Id="rId4" Type="http://schemas.openxmlformats.org/officeDocument/2006/relationships/hyperlink" Target="https://15445.courses.cs.cmu.edu/" TargetMode="External"/><Relationship Id="rId5" Type="http://schemas.openxmlformats.org/officeDocument/2006/relationships/hyperlink" Target="https://www.db-fiddle.com/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8250" y="952500"/>
            <a:ext cx="133350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64748B"/>
                </a:solidFill>
                <a:latin typeface="Arial"/>
              </a:rPr>
              <a:t>ITI · DATABASE FUNDAMENTALS · LESSON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43250"/>
            <a:ext cx="16459200" cy="28575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>
              <a:lnSpc>
                <a:spcPct val="95000"/>
              </a:lnSpc>
            </a:pPr>
            <a:r>
              <a:rPr sz="9000" b="1" i="0" u="none">
                <a:solidFill>
                  <a:srgbClr val="C8102E"/>
                </a:solidFill>
                <a:latin typeface="Arial"/>
              </a:rPr>
              <a:t>Normalization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91250"/>
            <a:ext cx="14287500" cy="8905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50" b="0" i="0" u="none">
                <a:solidFill>
                  <a:srgbClr val="334155"/>
                </a:solidFill>
                <a:latin typeface="Calibri"/>
              </a:rPr>
              <a:t>Test a table design against normal forms to remove redundancy and update anomalies.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887730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0F172A"/>
                </a:solidFill>
                <a:latin typeface="Arial"/>
              </a:rPr>
              <a:t>Lecturer: Rana Salah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773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0" i="0" u="none">
                <a:solidFill>
                  <a:srgbClr val="334155"/>
                </a:solidFill>
                <a:latin typeface="Calibri"/>
              </a:rPr>
              <a:t>rsalah@mcit.gov.eg · Room 3005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1100" y="893445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Based on original slides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9296400"/>
            <a:ext cx="85725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334155"/>
                </a:solidFill>
                <a:latin typeface="Calibri"/>
              </a:rPr>
              <a:t>Shahinaz S. Azab · edited by Mona Saleh · Rana Salah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02 · AGENDA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02/38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this lesson covers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575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76400" y="28575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400" y="33147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Redundancy causes anomalies; normal forms are tests that catch them.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1148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14400" y="42862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6400" y="42862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7434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The formal tool behind every normal form.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55435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914400" y="571500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571500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400" y="617220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1NF, 2NF and 3NF step by step, then BCNF and beyond.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66675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143750"/>
            <a:ext cx="14935200" cy="441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7600950"/>
            <a:ext cx="14935200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64748B"/>
                </a:solidFill>
                <a:latin typeface="Calibri"/>
              </a:rPr>
              <a:t>An ITI student sheet, real school data, and a suppliers table.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8401050"/>
            <a:ext cx="15697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LESSON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03/38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By the end of this lesson you 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287763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Spot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insert, update and delete anomalies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287763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469027"/>
            <a:ext cx="4472940" cy="14905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Identify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functional dependencies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and their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287763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46902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Normalize a table step by step to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3NF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7970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607975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666670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Recognize when a table is not in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BCNF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67970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7530" y="607975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7530" y="666670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Check a decomposition is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lossless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679704"/>
            <a:ext cx="5273040" cy="239917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500610" y="6079754"/>
            <a:ext cx="447294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610" y="6666707"/>
            <a:ext cx="4472940" cy="10121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898" b="0" i="0" u="none">
                <a:solidFill>
                  <a:srgbClr val="334155"/>
                </a:solidFill>
                <a:latin typeface="Calibri"/>
              </a:rPr>
              <a:t>Decide when </a:t>
            </a:r>
            <a:r>
              <a:rPr sz="2898" b="1" i="0" u="none">
                <a:solidFill>
                  <a:srgbClr val="334155"/>
                </a:solidFill>
                <a:latin typeface="Calibri"/>
              </a:rPr>
              <a:t>denormalizing</a:t>
            </a:r>
            <a:r>
              <a:rPr sz="2898" b="0" i="0" u="none">
                <a:solidFill>
                  <a:srgbClr val="334155"/>
                </a:solidFill>
                <a:latin typeface="Calibri"/>
              </a:rPr>
              <a:t> is justified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04/38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Why normalize?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Redundancy causes anomalies; normal forms are tests that catch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05/38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is normalization?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1" i="0" u="none">
                <a:solidFill>
                  <a:srgbClr val="B45309"/>
                </a:solidFill>
                <a:latin typeface="Arial"/>
              </a:rPr>
              <a:t>Definition: 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Normalization takes a table through a series of tests (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normal forms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) to certify the goodness of a design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minimize redundancy and anomalies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393201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Top-down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Conceptual model first (ERD), then map to tables (Lessons 2–3).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4450" y="6641317"/>
            <a:ext cx="7269480" cy="9569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Normalization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checks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result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Most common in practice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4020" y="4480940"/>
            <a:ext cx="8069580" cy="393201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Bottom-up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4070" y="5604121"/>
            <a:ext cx="72694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Start from attributes and their relationships (e.g. existing forms, files, spreadsheets).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070" y="7055982"/>
            <a:ext cx="7269480" cy="9569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Normalization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builds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tables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Typical for legacy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06/38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Redundancy causes anomalies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62656"/>
                <a:gridCol w="3621024"/>
                <a:gridCol w="2633472"/>
                <a:gridCol w="3950208"/>
                <a:gridCol w="329184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Dnumber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Dmgr_ssn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123456789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453453453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Research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333445555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Zelaya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999887777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987654321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Insert anomaly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Can't add a new department until it has an employee (Ssn is the key).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Update anomaly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6822780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Research's manager changes → update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every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Research row, or the data becomes inconsistent.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699599"/>
            <a:ext cx="5273040" cy="3229737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500610" y="6099649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Delete anomaly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00610" y="6822780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Delete Zelaya, the last employee of dept 4 → Administration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lost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07/38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Four informal design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Clear semantics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Don't combine attributes from different entities or relationships in one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4690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anomalies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1921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Design tables so insert, update and delete anomalies cannot occur.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445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445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Few NULLs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445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Attributes that are often NULL belong in a separate table (with the PK).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04020" y="5789424"/>
            <a:ext cx="8069580" cy="298736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04070" y="6189474"/>
            <a:ext cx="72694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4070" y="6776427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No spurious tuples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04070" y="7499558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 only on (FK, PK) pairs; joining on other matching columns invents rows.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124265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WHY NORMALIZE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114865" y="981075"/>
            <a:ext cx="1341101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08/38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Normalization avoids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5875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Duplicated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5875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The same fact stored in many rows.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5676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7151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Insert anomaly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7151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Can't record one fact without another.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16951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8426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Update anomaly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8426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One change must be made in many places.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68228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9703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Delete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9703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Deleting one fact loses another.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319503" y="2482024"/>
            <a:ext cx="3054096" cy="307878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90978" y="2853499"/>
            <a:ext cx="2311146" cy="9876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Frequent NULLs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90978" y="3989767"/>
            <a:ext cx="2311146" cy="119956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32" b="0" i="0" u="none">
                <a:solidFill>
                  <a:srgbClr val="334155"/>
                </a:solidFill>
                <a:latin typeface="Calibri"/>
              </a:rPr>
              <a:t>Wasted space, unclear meaning.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981814"/>
            <a:ext cx="8081010" cy="3200678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587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E8A8A"/>
                </a:solidFill>
                <a:latin typeface="Arial"/>
              </a:rPr>
              <a:t>When to use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5875" y="7024767"/>
            <a:ext cx="733806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To certify the quality of a relational design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When taking over designs from legacy systems, files or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92590" y="5981814"/>
            <a:ext cx="8081010" cy="3200678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4065" y="6353289"/>
            <a:ext cx="7338060" cy="52288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049" b="1" i="0" u="none">
                <a:solidFill>
                  <a:srgbClr val="0F172A"/>
                </a:solidFill>
                <a:latin typeface="Arial"/>
              </a:rPr>
              <a:t>How far to 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4065" y="7024767"/>
            <a:ext cx="733806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Usually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Higher forms (4NF, 5NF) for special cases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09/38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Functional dependencies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The formal tool behind every normal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10/38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Functional dependency (FD)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497787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97787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0640" y="2729674"/>
            <a:ext cx="15666720" cy="100248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70" b="1" i="0" u="none">
                <a:solidFill>
                  <a:srgbClr val="0F172A"/>
                </a:solidFill>
                <a:latin typeface="Calibri"/>
              </a:rPr>
              <a:t>A → B</a:t>
            </a:r>
            <a:r>
              <a:rPr sz="2870" b="0" i="0" u="none">
                <a:solidFill>
                  <a:srgbClr val="0F172A"/>
                </a:solidFill>
                <a:latin typeface="Calibri"/>
              </a:rPr>
              <a:t> (A </a:t>
            </a:r>
            <a:r>
              <a:rPr sz="2870" b="0" i="1" u="none">
                <a:solidFill>
                  <a:srgbClr val="0F172A"/>
                </a:solidFill>
                <a:latin typeface="Calibri"/>
              </a:rPr>
              <a:t>determines</a:t>
            </a:r>
            <a:r>
              <a:rPr sz="2870" b="0" i="0" u="none">
                <a:solidFill>
                  <a:srgbClr val="0F172A"/>
                </a:solidFill>
                <a:latin typeface="Calibri"/>
              </a:rPr>
              <a:t> B) if every value of A is associated with </a:t>
            </a:r>
            <a:r>
              <a:rPr sz="2870" b="1" i="0" u="none">
                <a:solidFill>
                  <a:srgbClr val="0F172A"/>
                </a:solidFill>
                <a:latin typeface="Calibri"/>
              </a:rPr>
              <a:t>exactly one</a:t>
            </a:r>
            <a:r>
              <a:rPr sz="2870" b="0" i="0" u="none">
                <a:solidFill>
                  <a:srgbClr val="0F172A"/>
                </a:solidFill>
                <a:latin typeface="Calibri"/>
              </a:rPr>
              <a:t> value of B.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400816"/>
          <a:ext cx="16459199" cy="329180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54496"/>
                <a:gridCol w="10204703"/>
              </a:tblGrid>
              <a:tr h="628377">
                <a:tc>
                  <a:txBody>
                    <a:bodyPr/>
                    <a:lstStyle/>
                    <a:p>
                      <a:r>
                        <a:rPr sz="2511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59486" marR="159486" marT="95691" marB="9569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511" b="1" i="0" u="none">
                          <a:solidFill>
                            <a:srgbClr val="FFFFFF"/>
                          </a:solidFill>
                          <a:latin typeface="Arial"/>
                        </a:rPr>
                        <a:t>Read as</a:t>
                      </a:r>
                    </a:p>
                  </a:txBody>
                  <a:tcPr marL="159486" marR="159486" marT="95691" marB="9569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628377"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59486" marR="159486" marT="95691" marB="9569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A social security number determines one employee name</a:t>
                      </a:r>
                    </a:p>
                  </a:txBody>
                  <a:tcPr marL="159486" marR="159486" marT="95691" marB="9569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1017524"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59486" marR="159486" marT="95691" marB="9569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A project number determines the project's name and location</a:t>
                      </a:r>
                    </a:p>
                  </a:txBody>
                  <a:tcPr marL="159486" marR="159486" marT="95691" marB="9569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1017524"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59486" marR="159486" marT="95691" marB="9569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511" b="0" i="0" u="none">
                          <a:solidFill>
                            <a:srgbClr val="334155"/>
                          </a:solidFill>
                          <a:latin typeface="Calibri"/>
                        </a:rPr>
                        <a:t>An employee and a project together determine the weekly hours</a:t>
                      </a:r>
                    </a:p>
                  </a:txBody>
                  <a:tcPr marL="159486" marR="159486" marT="95691" marB="9569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8113625"/>
            <a:ext cx="1645920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FDs come from the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meaning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the data (business rules), not from looking at a few rows.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11/38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Full and partial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242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619750" y="3905250"/>
            <a:ext cx="0" cy="2190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524250" y="4572000"/>
            <a:ext cx="4191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771525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>
            <a:off x="3524250" y="5334000"/>
            <a:ext cx="6286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981075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5619750" y="6096000"/>
            <a:ext cx="83820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119062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4001750" y="3943350"/>
            <a:ext cx="0" cy="2152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5" name="TextBox 14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EMP_PROJ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76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Pnumber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67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Hours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63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585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Pname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954000" y="3238500"/>
            <a:ext cx="20955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Plocation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5924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FD3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219200" y="6667500"/>
          <a:ext cx="15849600" cy="16572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01952"/>
                <a:gridCol w="7290816"/>
                <a:gridCol w="6656832"/>
              </a:tblGrid>
              <a:tr h="414314"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FD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Dependency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105156" marR="105156" marT="63093" marB="63093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FD1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{Ssn, Pnumber} → Hours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Full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needs the whole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FD2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Ssn → Ename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414314"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FD3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Pnumber → {Pname, Plocation}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56" b="1" i="0" u="none">
                          <a:solidFill>
                            <a:srgbClr val="334155"/>
                          </a:solidFill>
                          <a:latin typeface="Calibri"/>
                        </a:rPr>
                        <a:t>Partial</a:t>
                      </a:r>
                      <a:r>
                        <a:rPr sz="1656" b="0" i="0" u="none">
                          <a:solidFill>
                            <a:srgbClr val="334155"/>
                          </a:solidFill>
                          <a:latin typeface="Calibri"/>
                        </a:rPr>
                        <a:t>: depends on part of the key</a:t>
                      </a:r>
                    </a:p>
                  </a:txBody>
                  <a:tcPr marL="105156" marR="105156" marT="63093" marB="63093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12/38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Transitive dependencies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334000" y="3905250"/>
            <a:ext cx="0" cy="666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429000" y="4572000"/>
            <a:ext cx="742950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342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9" name="Connector 8"/>
          <p:cNvCxnSpPr/>
          <p:nvPr/>
        </p:nvCxnSpPr>
        <p:spPr>
          <a:xfrm flipV="1">
            <a:off x="7239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91440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0858500" y="3943350"/>
            <a:ext cx="0" cy="628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2" name="Connector 11"/>
          <p:cNvCxnSpPr/>
          <p:nvPr/>
        </p:nvCxnSpPr>
        <p:spPr>
          <a:xfrm>
            <a:off x="11334750" y="3905250"/>
            <a:ext cx="0" cy="142875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1334750" y="5334000"/>
            <a:ext cx="3524250" cy="0"/>
          </a:xfrm>
          <a:prstGeom prst="line">
            <a:avLst/>
          </a:prstGeom>
          <a:ln w="28575">
            <a:solidFill>
              <a:srgbClr val="0F172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2954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4859000" y="3943350"/>
            <a:ext cx="0" cy="1390650"/>
          </a:xfrm>
          <a:prstGeom prst="line">
            <a:avLst/>
          </a:prstGeom>
          <a:ln w="28575">
            <a:solidFill>
              <a:srgbClr val="0F172A"/>
            </a:solidFill>
            <a:tailEnd type="triangle"/>
          </a:ln>
        </p:spPr>
      </p:cxnSp>
      <p:sp>
        <p:nvSpPr>
          <p:cNvPr id="16" name="TextBox 15"/>
          <p:cNvSpPr txBox="1"/>
          <p:nvPr/>
        </p:nvSpPr>
        <p:spPr>
          <a:xfrm>
            <a:off x="2476500" y="2781300"/>
            <a:ext cx="57150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1" i="0" u="none">
                <a:solidFill>
                  <a:srgbClr val="0F172A"/>
                </a:solidFill>
                <a:latin typeface="Arial"/>
              </a:rPr>
              <a:t>EMP_DEPT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Ename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1" i="0" u="sng">
                <a:solidFill>
                  <a:srgbClr val="0F172A"/>
                </a:solidFill>
                <a:latin typeface="Courier New"/>
              </a:rPr>
              <a:t>Ssn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Bdate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Address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9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Dnumber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001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Dname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06500" y="3238500"/>
            <a:ext cx="1905000" cy="666750"/>
          </a:xfrm>
          <a:prstGeom prst="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txBody>
          <a:bodyPr rtlCol="0" anchor="ctr" lIns="0" rIns="0" tIns="0" bIns="0"/>
          <a:lstStyle/>
          <a:p>
            <a:pPr algn="ctr"/>
            <a:r>
              <a:rPr sz="1656" b="0" i="0" u="none">
                <a:solidFill>
                  <a:srgbClr val="0F172A"/>
                </a:solidFill>
                <a:latin typeface="Courier New"/>
              </a:rPr>
              <a:t>Dmgr_ssn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8750" y="4400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8750" y="5162550"/>
            <a:ext cx="857250" cy="3303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794" b="1" i="0" u="none">
                <a:solidFill>
                  <a:srgbClr val="C8102E"/>
                </a:solidFill>
                <a:latin typeface="Courier New"/>
              </a:rPr>
              <a:t>FD2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9200" y="6096000"/>
            <a:ext cx="15849600" cy="10557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19200" y="6096000"/>
            <a:ext cx="47625" cy="10557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4000" y="6286500"/>
            <a:ext cx="15240000" cy="6747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1932" b="0" i="0" u="none">
                <a:solidFill>
                  <a:srgbClr val="0F172A"/>
                </a:solidFill>
                <a:latin typeface="Calibri"/>
              </a:rPr>
              <a:t>Ssn → Dnumber and Dnumber → {Dname, Dmgr_ssn}, so Ssn → Dname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through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Dnumber: a </a:t>
            </a:r>
            <a:r>
              <a:rPr sz="1932" b="1" i="0" u="none">
                <a:solidFill>
                  <a:srgbClr val="0F172A"/>
                </a:solidFill>
                <a:latin typeface="Calibri"/>
              </a:rPr>
              <a:t>transitive</a:t>
            </a:r>
            <a:r>
              <a:rPr sz="1932" b="0" i="0" u="none">
                <a:solidFill>
                  <a:srgbClr val="0F172A"/>
                </a:solidFill>
                <a:latin typeface="Calibri"/>
              </a:rPr>
              <a:t> dependency. Dnumber is not a key of EMP_DEPT.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33187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FUNCTIONAL DEPENDENCIES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09300" y="981075"/>
            <a:ext cx="122165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13/38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Three types of functional dependency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266933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Full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full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removing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any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attribute from X breaks the dependency.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Hours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2482024"/>
            <a:ext cx="5273040" cy="4266933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Partial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7530" y="3605204"/>
            <a:ext cx="447294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some attribute can be removed from X and the dependency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still holds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7530" y="5471731"/>
            <a:ext cx="447294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{Ssn, Pnumber} → Ename (Ssn alone is enough)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00560" y="2482024"/>
            <a:ext cx="5273040" cy="4266933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Transitive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00610" y="3605204"/>
            <a:ext cx="447294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X → Y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transitive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if X → Z and Z → Y, where Z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a key (nor part of one).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610" y="5057066"/>
            <a:ext cx="4472940" cy="46251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Ssn → Dnumber → Dname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14/38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Normal 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1NF, 2NF and 3NF step by step, then BCNF and beyond.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15/38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Each normal form includes the previous 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19200" y="5905500"/>
            <a:ext cx="2514600" cy="2095500"/>
          </a:xfrm>
          <a:prstGeom prst="roundRect">
            <a:avLst>
              <a:gd name="adj" fmla="val 7272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5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5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Atomic values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5238750"/>
            <a:ext cx="2514600" cy="276225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2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2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partial deps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53200" y="4572000"/>
            <a:ext cx="2514600" cy="3429000"/>
          </a:xfrm>
          <a:prstGeom prst="roundRect">
            <a:avLst>
              <a:gd name="adj" fmla="val 6060"/>
            </a:avLst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9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3NF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9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transitive deps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0200" y="3905250"/>
            <a:ext cx="2514600" cy="4095750"/>
          </a:xfrm>
          <a:prstGeom prst="roundRect">
            <a:avLst>
              <a:gd name="adj" fmla="val 6060"/>
            </a:avLst>
          </a:prstGeom>
          <a:solidFill>
            <a:srgbClr val="0F172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86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BCNF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86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Every determinant is a key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0" y="3238500"/>
            <a:ext cx="2514600" cy="476250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53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4NF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53900" y="7200900"/>
            <a:ext cx="1981200" cy="57835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multi-valued deps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554200" y="2571750"/>
            <a:ext cx="2514600" cy="5429250"/>
          </a:xfrm>
          <a:prstGeom prst="roundRect">
            <a:avLst>
              <a:gd name="adj" fmla="val 6060"/>
            </a:avLst>
          </a:prstGeom>
          <a:solidFill>
            <a:srgbClr val="64748B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820900" y="6572250"/>
            <a:ext cx="1981200" cy="6099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3312" b="1" i="0" u="none">
                <a:solidFill>
                  <a:srgbClr val="FFFFFF"/>
                </a:solidFill>
                <a:latin typeface="Arial"/>
              </a:rPr>
              <a:t>5NF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20900" y="7200900"/>
            <a:ext cx="1981200" cy="3049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6" b="0" i="0" u="none">
                <a:solidFill>
                  <a:srgbClr val="FFFFFF"/>
                </a:solidFill>
                <a:latin typeface="Calibri"/>
              </a:rPr>
              <a:t>No join deps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19200" y="8248650"/>
            <a:ext cx="15849600" cy="35577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32" b="0" i="0" u="none">
                <a:solidFill>
                  <a:srgbClr val="334155"/>
                </a:solidFill>
                <a:latin typeface="Calibri"/>
              </a:rPr>
              <a:t>Practical designs usually stop at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3NF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or </a:t>
            </a:r>
            <a:r>
              <a:rPr sz="1932" b="1" i="0" u="none">
                <a:solidFill>
                  <a:srgbClr val="334155"/>
                </a:solidFill>
                <a:latin typeface="Calibri"/>
              </a:rPr>
              <a:t>BCNF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. </a:t>
            </a:r>
            <a:r>
              <a:rPr sz="1932" b="0" i="1" u="none">
                <a:solidFill>
                  <a:srgbClr val="334155"/>
                </a:solidFill>
                <a:latin typeface="Calibri"/>
              </a:rPr>
              <a:t>Denormalization</a:t>
            </a:r>
            <a:r>
              <a:rPr sz="1932" b="0" i="0" u="none">
                <a:solidFill>
                  <a:srgbClr val="334155"/>
                </a:solidFill>
                <a:latin typeface="Calibri"/>
              </a:rPr>
              <a:t> deliberately goes back down for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16/38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First normal form (1NF)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every cell holds a single,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atomic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value: no multi-valued attributes, repeating groups or composite attributes.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1NF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repeating group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each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multi-valued attribute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to a new table, carrying the PK as a FK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Split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composite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attributes into one column per part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Repeating group?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5604121"/>
            <a:ext cx="7269480" cy="139121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 set of multi-valued columns that belong together, e.g. Subject + Description + Grade for one student.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17/38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unnormalized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81328"/>
                <a:gridCol w="1481328"/>
                <a:gridCol w="1645920"/>
                <a:gridCol w="1645920"/>
                <a:gridCol w="1810512"/>
                <a:gridCol w="1810512"/>
                <a:gridCol w="1645920"/>
                <a:gridCol w="3127248"/>
                <a:gridCol w="1810512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Stud_ID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Location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Level_Mgr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Subject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Subj_Desc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Ali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Cairo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DB, CN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Database, Networks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011, 010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Primary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Noha M.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CN, DB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Networks, 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B, C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Marwa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Giza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Secondary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Moh. A.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SW, DB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Software, 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A, A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255576"/>
            <a:ext cx="5273040" cy="995911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5255576"/>
            <a:ext cx="47625" cy="995911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41120" y="5522276"/>
            <a:ext cx="4419600" cy="4625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Tel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is multi-valued.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480" y="5255576"/>
            <a:ext cx="527304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480" y="5255576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4200" y="5522276"/>
            <a:ext cx="441960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Subject, Subj_Desc, Grade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form a repeating group.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100560" y="5255576"/>
            <a:ext cx="5273040" cy="182524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100560" y="5255576"/>
            <a:ext cx="47625" cy="182524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27280" y="5522276"/>
            <a:ext cx="4419600" cy="129184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1" i="0" u="none">
                <a:solidFill>
                  <a:srgbClr val="0F172A"/>
                </a:solidFill>
                <a:latin typeface="Calibri"/>
              </a:rPr>
              <a:t>Level → Level_Mgr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and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Subject → Subj_Desc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hide more FDs.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18/38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1NF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751628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7042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6552644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655264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120" y="6819344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Every cell is now atomic. But STUDENT_SUBJECT still repeats Subject_Desc for every student taking that subject.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19/38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Second normal form (2NF)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1NF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is partially dependent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03330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19236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attributes that depend on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the key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Take that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part of the key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with them as the new table's 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403330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04070" y="4880990"/>
            <a:ext cx="7269480" cy="10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Already in 2NF if any is 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4070" y="6104663"/>
            <a:ext cx="7269480" cy="200953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The PK is a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single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column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All columns are part of the PK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Every non-key column depends on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whole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20/38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2NF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30724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4266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7108261"/>
            <a:ext cx="1645920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7108261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1120" y="7374961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Subject → Subject_Desc was partial (only part of {Stud_ID, Subject}). STUDENT is still not in 3NF: Level → Level_Mgr.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21/38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Third normal form (3NF)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154552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54552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15605760" cy="101212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if it is in 2NF and </a:t>
            </a:r>
            <a:r>
              <a:rPr sz="2898" b="1" i="0" u="none">
                <a:solidFill>
                  <a:srgbClr val="0F172A"/>
                </a:solidFill>
                <a:latin typeface="Calibri"/>
              </a:rPr>
              <a:t>no non-key attribute depends transitively</a:t>
            </a:r>
            <a:r>
              <a:rPr sz="2898" b="0" i="0" u="none">
                <a:solidFill>
                  <a:srgbClr val="0F172A"/>
                </a:solidFill>
                <a:latin typeface="Calibri"/>
              </a:rPr>
              <a:t> on the primary key (no non-key → non-key dependency).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480940"/>
            <a:ext cx="806958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14450" y="4880990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To reach 3NF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4450" y="5604121"/>
            <a:ext cx="726948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Move the dependent non-key attributes to a new table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Its PK is the non-key attribute they depend on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1" i="0" u="none">
                <a:solidFill>
                  <a:srgbClr val="334155"/>
                </a:solidFill>
                <a:latin typeface="Calibri"/>
              </a:rPr>
              <a:t>Leave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that attribute in the original table as a FK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04020" y="4480940"/>
            <a:ext cx="8069580" cy="202398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4020" y="4480940"/>
            <a:ext cx="47625" cy="202398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30740" y="4747640"/>
            <a:ext cx="7216140" cy="149058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898" b="0" i="1" u="none">
                <a:solidFill>
                  <a:srgbClr val="0F172A"/>
                </a:solidFill>
                <a:latin typeface="Calibri"/>
              </a:rPr>
              <a:t>Every non-key attribute must depend on the key, the whole key, and nothing but the key.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243709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SCHOOL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234309" y="981075"/>
            <a:ext cx="13291566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22/38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example: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862862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Stud_ID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Name,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Location,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Level (FK)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3882387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LEVEL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Level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Level_Mgr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438005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Tel (PK)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110" y="4993622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STUD_SUBJECT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Stud_ID (PK, FK),</a:t>
            </a:r>
            <a:r>
              <a:rPr sz="2488" b="1" i="0" u="none">
                <a:solidFill>
                  <a:srgbClr val="0E8A8A"/>
                </a:solidFill>
                <a:latin typeface="Courier New"/>
              </a:rPr>
              <a:t> Subject (PK, FK),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Grade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110" y="5549240"/>
            <a:ext cx="15765780" cy="448937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488" b="1" i="0" u="none">
                <a:solidFill>
                  <a:srgbClr val="0F172A"/>
                </a:solidFill>
                <a:latin typeface="Courier New"/>
              </a:rPr>
              <a:t>SUBJECT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488" b="1" i="0" u="none">
                <a:solidFill>
                  <a:srgbClr val="C8102E"/>
                </a:solidFill>
                <a:latin typeface="Courier New"/>
              </a:rPr>
              <a:t> Subject (PK),</a:t>
            </a:r>
            <a:r>
              <a:rPr sz="2488" b="0" i="0" u="none">
                <a:solidFill>
                  <a:srgbClr val="0F172A"/>
                </a:solidFill>
                <a:latin typeface="Courier New"/>
              </a:rPr>
              <a:t> Subject_Desc</a:t>
            </a:r>
            <a:r>
              <a:rPr sz="2488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798277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63879"/>
            <a:ext cx="16459200" cy="1478051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7663879"/>
            <a:ext cx="47625" cy="1478051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7930579"/>
            <a:ext cx="1560576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Five tables, each about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one thing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 Changing a level manager now updates exactly one row.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23/38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Boyce–Codd normal form (BCNF)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16240" cy="147805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82024"/>
            <a:ext cx="47625" cy="147805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1120" y="2748724"/>
            <a:ext cx="7162800" cy="94465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A table is in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if for every non-trivial FD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X → 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, X is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superkey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4226775"/>
          <a:ext cx="8016240" cy="32594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72080"/>
                <a:gridCol w="2672080"/>
                <a:gridCol w="2672080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Instructor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Narayan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Mark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Navathe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Operating Systems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Ammar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Wong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Database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Omiecinski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7752891"/>
            <a:ext cx="8016240" cy="80970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0" i="0" u="none">
                <a:solidFill>
                  <a:srgbClr val="64748B"/>
                </a:solidFill>
                <a:latin typeface="Calibri"/>
              </a:rPr>
              <a:t>TEACH · key {Student, Course} · FD: </a:t>
            </a:r>
            <a:r>
              <a:rPr sz="2318" b="1" i="0" u="none">
                <a:solidFill>
                  <a:srgbClr val="64748B"/>
                </a:solidFill>
                <a:latin typeface="Calibri"/>
              </a:rPr>
              <a:t>Instructor → Course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57360" y="2482024"/>
            <a:ext cx="8016240" cy="330948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57410" y="2882074"/>
            <a:ext cx="72161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Why it is 3NF but not BCNF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7410" y="3605204"/>
            <a:ext cx="721614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Course is part of the key, so 3NF allows Instructor → Course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But Instructor is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not a superkey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→ BCNF is violated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7360" y="6058204"/>
            <a:ext cx="8016240" cy="278292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04070" y="6404914"/>
            <a:ext cx="732282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BCNF DECOMPOSITION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4070" y="6902950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INSTRUCTOR_COURSE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Instructor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04070" y="7752023"/>
            <a:ext cx="732282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STUDENT_INSTRUCTOR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Student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Instructor (PK, 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24/38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Beyond BCNF: 4NF and 5NF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4NF: multi-valued dependencies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Two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independent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multi-valued facts about the same key in one 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269532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EMP(Ename, Pname, Dname): projects and dependents are unrelated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project × every dependent → huge redundancy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Fix: EMP_PROJECTS(Ename, Pname) + EMP_DEPENDENTS(Ename, Dname)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5255750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5NF: join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 table that can only be rebuilt by joining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three or more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its projections.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4642401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Rare in practice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Related to the ternary vs three binaries question (Lesson 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8191164"/>
            <a:ext cx="16459200" cy="1410576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8191164"/>
            <a:ext cx="47625" cy="1410576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1120" y="8457864"/>
            <a:ext cx="15605760" cy="87717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A well-designed ERD mapped with the 7 steps rarely produces 4NF/5NF problems: multi-valued attributes already get their own tables.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25/38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Good decompositions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443255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Lossless join (required)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Joining the new tables gives back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exactly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the original rows: no spurious rows.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450" y="4642401"/>
            <a:ext cx="7269480" cy="178624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Split R into R1, R2 so the common columns are a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key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 of R1 or R2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That is why we keep the FK (Level) in 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04020" y="2482024"/>
            <a:ext cx="8069580" cy="443255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04070" y="2882074"/>
            <a:ext cx="7269480" cy="10636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Dependency preservation (desired)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4070" y="4105747"/>
            <a:ext cx="7269480" cy="8771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Every FD can still be checked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inside one table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4070" y="5142943"/>
            <a:ext cx="7269480" cy="13715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3NF can always keep both properties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BCNF sometimes must give this up (TEACH example)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00482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NORMAL FORMS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995421" y="981075"/>
            <a:ext cx="1353045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26/38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Denormalization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44258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F172A"/>
                </a:solidFill>
                <a:latin typeface="Arial"/>
              </a:rPr>
              <a:t>What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4450" y="3605204"/>
            <a:ext cx="4472940" cy="228433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Deliberately storing the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join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of normalized tables, or a derived value, as a base table (a lower normal form).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44258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753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When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7530" y="3605204"/>
            <a:ext cx="4472940" cy="2902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Read-heavy reports and dashboards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Data warehouses (star schemas)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Measured performance problems, not guesses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4425886"/>
          </a:xfrm>
          <a:prstGeom prst="rect">
            <a:avLst/>
          </a:prstGeom>
          <a:solidFill>
            <a:srgbClr val="FDECEF"/>
          </a:solidFill>
          <a:ln w="14287">
            <a:solidFill>
              <a:srgbClr val="F5C2CB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00610" y="2882074"/>
            <a:ext cx="447294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C8102E"/>
                </a:solidFill>
                <a:latin typeface="Arial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00610" y="3605204"/>
            <a:ext cx="4472940" cy="24560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Redundancy comes back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Application or triggers must keep copies in sync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More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7361300"/>
            <a:ext cx="16459200" cy="1031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7361300"/>
            <a:ext cx="47625" cy="103148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1120" y="7628000"/>
            <a:ext cx="15605760" cy="4980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704" b="0" i="0" u="none">
                <a:solidFill>
                  <a:srgbClr val="0F172A"/>
                </a:solidFill>
                <a:latin typeface="Calibri"/>
              </a:rPr>
              <a:t>Normalize first; denormalize only with a </a:t>
            </a:r>
            <a:r>
              <a:rPr sz="2704" b="1" i="0" u="none">
                <a:solidFill>
                  <a:srgbClr val="0F172A"/>
                </a:solidFill>
                <a:latin typeface="Calibri"/>
              </a:rPr>
              <a:t>measured</a:t>
            </a:r>
            <a:r>
              <a:rPr sz="2704" b="0" i="0" u="none">
                <a:solidFill>
                  <a:srgbClr val="0F172A"/>
                </a:solidFill>
                <a:latin typeface="Calibri"/>
              </a:rPr>
              <a:t> reason, and document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5715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C8102E"/>
                </a:solidFill>
                <a:latin typeface="Arial"/>
              </a:rPr>
              <a:t>SECTION 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90900" y="981075"/>
            <a:ext cx="13134975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27/38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57500"/>
            <a:ext cx="5715000" cy="228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6000"/>
              </a:lnSpc>
            </a:pPr>
            <a:r>
              <a:rPr sz="1500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34000"/>
            <a:ext cx="15240000" cy="190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300"/>
              </a:lnSpc>
            </a:pPr>
            <a:r>
              <a:rPr sz="6300" b="1" i="0" u="none">
                <a:solidFill>
                  <a:srgbClr val="0F172A"/>
                </a:solidFill>
                <a:latin typeface="Arial"/>
              </a:rPr>
              <a:t>Worked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7239000"/>
            <a:ext cx="13335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400" b="0" i="0" u="none">
                <a:solidFill>
                  <a:srgbClr val="334155"/>
                </a:solidFill>
                <a:latin typeface="Calibri"/>
              </a:rPr>
              <a:t>An ITI student sheet, real school data, and a suppliers table.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28/38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student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324024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15659100" cy="24401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Student number: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ITI205-40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Name: Hassan Ali Ahmed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Address (Street, City): 12 Haram St, Giza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Tel / mobile: 33868420 · 01111111253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F-code: ENG · Faculty: Engineering · Major: Computer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6039642"/>
          <a:ext cx="16459200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1840"/>
                <a:gridCol w="6254496"/>
                <a:gridCol w="2962656"/>
                <a:gridCol w="3950208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name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Department 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Admission grade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Comments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ERP-SAP Functional Consultant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Average personality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Java-MAD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Java mobile applications developer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Very good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Cyber Security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Above average technical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88537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ITI EXAMPLE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875978" y="981075"/>
            <a:ext cx="1364989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29/38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ITI sheet: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STUDENT_TEL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Tel_No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5377062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89700" y="2482024"/>
            <a:ext cx="5308600" cy="433628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64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DEPT_STUDENT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Dept_Name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Stud_No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Ad_Grade,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Comments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64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DEPARTMENT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Dept_Name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Dept_Desc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065000" y="2482024"/>
            <a:ext cx="5308600" cy="433628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3326770"/>
            <a:ext cx="4615180" cy="109453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Stud_No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Stud_Name,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F_code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Major,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Street,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11710" y="4527989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F_code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Faculty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271701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30/38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Real-world school data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82024"/>
          <a:ext cx="16459198" cy="23201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51314"/>
                <a:gridCol w="2351314"/>
                <a:gridCol w="2351314"/>
                <a:gridCol w="2351314"/>
                <a:gridCol w="2351314"/>
                <a:gridCol w="2351314"/>
                <a:gridCol w="2351314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First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1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Parent 2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App No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City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Postal code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Birth date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Renee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Theodore Smith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6/25/1983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Lucy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Barbara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Steve Mills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Annandale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22003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8/14/1983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Brendan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Jennifer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Stephen Jones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Fairfax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22032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6/13/1984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5074220"/>
          <a:ext cx="16459200" cy="303858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975104"/>
                <a:gridCol w="1975104"/>
                <a:gridCol w="3621024"/>
                <a:gridCol w="1810512"/>
                <a:gridCol w="1975104"/>
                <a:gridCol w="2962656"/>
                <a:gridCol w="2139696"/>
              </a:tblGrid>
              <a:tr h="939253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Prev.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Curr. teacher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Student phone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Course desc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Enrolled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Attended days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939253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323-0893, (703) 324-0708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X, Y, 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96/97, 96/97, 97/98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0, 0, 0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764-5829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Y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Hamil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Burke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(703) 978-1083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Z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96/97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REAL-WORLD DATA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31/38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School data: 1NF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16459200" cy="2927701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157657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157657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Stud_Fname,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Parent1,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Parent2,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Postal_Code,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Birthdate,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Prev_Teacher,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Curr_Teacher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110" y="4175842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110" y="4672769"/>
            <a:ext cx="1576578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STUDENT_PHONE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Phone (PK)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636420"/>
            <a:ext cx="8096250" cy="243077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11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 (CHANGED)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11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STUDENT_COURSE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App_No (PK, FK),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Course (PK, 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Enrolled,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Att_Days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11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COURSE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Course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Course_Desc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7350" y="5636420"/>
            <a:ext cx="8096250" cy="243077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24060" y="5983130"/>
            <a:ext cx="740283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 (CHANGED)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24060" y="6481166"/>
            <a:ext cx="740283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STUDENT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App_No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Postal_Code (FK),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…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4060" y="7330239"/>
            <a:ext cx="7402830" cy="390246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POSTAL_CODE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Postal_Code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City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829389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32/38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8069580" cy="5300075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7269480" cy="44999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Relation (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S#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Country, Currency,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P#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, Qty)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S#: supplier number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Country: where the supplier is located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Currency: the currency of that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P#: part number supplied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Qty: quantity supplied to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304020" y="2482024"/>
            <a:ext cx="8069580" cy="5300075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04070" y="2882074"/>
            <a:ext cx="7269480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04070" y="3605204"/>
            <a:ext cx="7269480" cy="94465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Qty depends on supplier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and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 part, so the PK is the composite </a:t>
            </a:r>
            <a:r>
              <a:rPr sz="2704" b="1" i="0" u="none">
                <a:solidFill>
                  <a:srgbClr val="334155"/>
                </a:solidFill>
                <a:latin typeface="Calibri"/>
              </a:rPr>
              <a:t>{S#, P#}</a:t>
            </a:r>
            <a:r>
              <a:rPr sz="2704" b="0" i="0" u="none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04070" y="4709876"/>
            <a:ext cx="7269480" cy="15629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77860" indent="-377860">
              <a:lnSpc>
                <a:spcPct val="111800"/>
              </a:lnSpc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S# → Country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Country → Currency</a:t>
            </a:r>
          </a:p>
          <a:p>
            <a:pPr algn="l" marL="377860" indent="-377860">
              <a:lnSpc>
                <a:spcPct val="111800"/>
              </a:lnSpc>
              <a:spcBef>
                <a:spcPts val="676"/>
              </a:spcBef>
              <a:buChar char="•"/>
            </a:pPr>
            <a:r>
              <a:rPr sz="2704" b="0" i="0" u="none">
                <a:solidFill>
                  <a:srgbClr val="334155"/>
                </a:solidFill>
                <a:latin typeface="Calibri"/>
              </a:rPr>
              <a:t>{S#, P#} → Qty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646491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SUPPLIERS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637091" y="981075"/>
            <a:ext cx="13888784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33/38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Suppliers: 1NF → 2NF → 3NF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1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1NF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1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89700" y="2482024"/>
            <a:ext cx="5308600" cy="3631994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64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2NF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64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Country,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364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65000" y="2482024"/>
            <a:ext cx="5308600" cy="3631994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11710" y="2828734"/>
            <a:ext cx="4615180" cy="3913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125" b="1" i="0" u="none" spc="100">
                <a:solidFill>
                  <a:srgbClr val="C8102E"/>
                </a:solidFill>
                <a:latin typeface="Arial"/>
              </a:rPr>
              <a:t>3NF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11710" y="3326770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S# (PK),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Country (FK)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1710" y="4175842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COUNTRY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Country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Currency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11710" y="5024915"/>
            <a:ext cx="4615180" cy="742392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0000"/>
              </a:lnSpc>
            </a:pPr>
            <a:r>
              <a:rPr sz="2132" b="1" i="0" u="none">
                <a:solidFill>
                  <a:srgbClr val="0F172A"/>
                </a:solidFill>
                <a:latin typeface="Courier New"/>
              </a:rPr>
              <a:t>SUPPLIER_PART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(</a:t>
            </a:r>
            <a:r>
              <a:rPr sz="2132" b="1" i="0" u="none">
                <a:solidFill>
                  <a:srgbClr val="0E8A8A"/>
                </a:solidFill>
                <a:latin typeface="Courier New"/>
              </a:rPr>
              <a:t> S# (PK, FK),</a:t>
            </a:r>
            <a:r>
              <a:rPr sz="2132" b="1" i="0" u="none">
                <a:solidFill>
                  <a:srgbClr val="C8102E"/>
                </a:solidFill>
                <a:latin typeface="Courier New"/>
              </a:rPr>
              <a:t> P# (PK),</a:t>
            </a:r>
            <a:r>
              <a:rPr sz="2132" b="0" i="0" u="none">
                <a:solidFill>
                  <a:srgbClr val="0F172A"/>
                </a:solidFill>
                <a:latin typeface="Courier New"/>
              </a:rPr>
              <a:t> Qty</a:t>
            </a:r>
            <a:r>
              <a:rPr sz="2132" b="0" i="0" u="none">
                <a:solidFill>
                  <a:srgbClr val="64748B"/>
                </a:solidFill>
                <a:latin typeface="Courier New"/>
              </a:rPr>
              <a:t> 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567408"/>
            <a:ext cx="16459200" cy="1825241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6567408"/>
            <a:ext cx="47625" cy="182524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1120" y="6834108"/>
            <a:ext cx="15605760" cy="129184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120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Every value is already atomic, so the original relation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is already in 1NF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. The split into SUPPLIER and SUPPLIER_PART removes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partial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dependency S# → Country, Currency: that is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step.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8846040"/>
            <a:ext cx="16459200" cy="412211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318" b="1" i="0" u="none">
                <a:solidFill>
                  <a:srgbClr val="C8102E"/>
                </a:solidFill>
                <a:latin typeface="Courier New"/>
              </a:rPr>
              <a:t>col (PK)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primary key   ·   </a:t>
            </a:r>
            <a:r>
              <a:rPr sz="2318" b="1" i="0" u="none">
                <a:solidFill>
                  <a:srgbClr val="0E8A8A"/>
                </a:solidFill>
                <a:latin typeface="Courier New"/>
              </a:rPr>
              <a:t>col (FK)</a:t>
            </a:r>
            <a:r>
              <a:rPr sz="2318" b="0" i="0" u="none">
                <a:solidFill>
                  <a:srgbClr val="64748B"/>
                </a:solidFill>
                <a:latin typeface="Calibri"/>
              </a:rPr>
              <a:t> = foreign key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765934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34 · RECAP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56535" y="981075"/>
            <a:ext cx="13769340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34/38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What to walk out remembering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71650" y="30289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Redundancy causes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insert, update and delete anomalies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8862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0576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40576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A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functional dependency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 → B: A determines exactly one B.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49149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0863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1650" y="50863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1NF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atomic values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2NF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partial deps ·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3NF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no transitive deps.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59436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1150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71650" y="61150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BCNF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: every determinant is a superkey.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6972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1437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650" y="71437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0" i="0" u="none">
                <a:solidFill>
                  <a:srgbClr val="0F172A"/>
                </a:solidFill>
                <a:latin typeface="Calibri"/>
              </a:rPr>
              <a:t>Decompositions must be </a:t>
            </a:r>
            <a:r>
              <a:rPr sz="2250" b="1" i="0" u="none">
                <a:solidFill>
                  <a:srgbClr val="0F172A"/>
                </a:solidFill>
                <a:latin typeface="Calibri"/>
              </a:rPr>
              <a:t>lossless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; keep dependencies when you can.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0010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914400" y="8172450"/>
            <a:ext cx="7620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C8102E"/>
                </a:solidFill>
                <a:latin typeface="Arial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71650" y="8172450"/>
            <a:ext cx="15601950" cy="8001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250" b="1" i="0" u="none">
                <a:solidFill>
                  <a:srgbClr val="0F172A"/>
                </a:solidFill>
                <a:latin typeface="Calibri"/>
              </a:rPr>
              <a:t>Denormalize</a:t>
            </a:r>
            <a:r>
              <a:rPr sz="2250" b="0" i="0" u="none">
                <a:solidFill>
                  <a:srgbClr val="0F172A"/>
                </a:solidFill>
                <a:latin typeface="Calibri"/>
              </a:rPr>
              <a:t> only for measured performance needs.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90297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1527048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17648" y="981075"/>
            <a:ext cx="14008227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35/38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Normalize this sales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9619488" cy="3575166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14450" y="2882074"/>
            <a:ext cx="8819388" cy="277506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number: 1001 · Name: ABC Company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Customer address: 100 Points, Manhattan, KS 66502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Sales order number: 405 · Date: 2/1/2000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Clerk number: 210 · Clerk name: Martin Lawrence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6270551"/>
          <a:ext cx="9619485" cy="2900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54338"/>
                <a:gridCol w="3270625"/>
                <a:gridCol w="1154338"/>
                <a:gridCol w="1923897"/>
                <a:gridCol w="2116287"/>
              </a:tblGrid>
              <a:tr h="580040"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Description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Qty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Unit price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47218" marR="147218" marT="88331" marB="88331" anchor="ctr">
                    <a:solidFill>
                      <a:srgbClr val="0F172A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widget small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801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tingimajigger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805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thingibob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0" i="0" u="none">
                          <a:solidFill>
                            <a:srgbClr val="334155"/>
                          </a:solidFill>
                          <a:latin typeface="Calibri"/>
                        </a:rPr>
                        <a:t>1,000.00</a:t>
                      </a:r>
                    </a:p>
                  </a:txBody>
                  <a:tcPr marL="147218" marR="147218" marT="88331" marB="88331" anchor="ctr">
                    <a:solidFill>
                      <a:srgbClr val="FFFFFF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  <a:tr h="580040"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Order total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318" b="1" i="0" u="none">
                          <a:solidFill>
                            <a:srgbClr val="334155"/>
                          </a:solidFill>
                          <a:latin typeface="Calibri"/>
                        </a:rPr>
                        <a:t>3,800.00</a:t>
                      </a:r>
                    </a:p>
                  </a:txBody>
                  <a:tcPr marL="147218" marR="147218" marT="88331" marB="88331" anchor="ctr">
                    <a:solidFill>
                      <a:srgbClr val="F8FAFC"/>
                    </a:solidFill>
                    <a:lnL w="9525">
                      <a:solidFill>
                        <a:srgbClr val="E2E8F0"/>
                      </a:solidFill>
                    </a:lnL>
                    <a:lnR w="9525">
                      <a:solidFill>
                        <a:srgbClr val="E2E8F0"/>
                      </a:solidFill>
                    </a:lnR>
                    <a:lnT w="9525">
                      <a:solidFill>
                        <a:srgbClr val="E2E8F0"/>
                      </a:solidFill>
                    </a:lnT>
                    <a:lnB w="9525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10960608" y="2482024"/>
            <a:ext cx="6412992" cy="3468966"/>
          </a:xfrm>
          <a:prstGeom prst="rect">
            <a:avLst/>
          </a:prstGeom>
          <a:solidFill>
            <a:srgbClr val="E6F4F4"/>
          </a:solidFill>
          <a:ln w="14287">
            <a:solidFill>
              <a:srgbClr val="B7DCDC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60658" y="2882074"/>
            <a:ext cx="5612892" cy="56311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3200"/>
              </a:lnSpc>
            </a:pPr>
            <a:r>
              <a:rPr sz="3284" b="1" i="0" u="none">
                <a:solidFill>
                  <a:srgbClr val="0E8A8A"/>
                </a:solidFill>
                <a:latin typeface="Arial"/>
              </a:rPr>
              <a:t>Your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60658" y="3605204"/>
            <a:ext cx="5612892" cy="194573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350870" indent="-350870">
              <a:lnSpc>
                <a:spcPct val="111800"/>
              </a:lnSpc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List the FDs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Write the 0NF relation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Normalize to 1NF, 2NF, 3NF</a:t>
            </a:r>
          </a:p>
          <a:p>
            <a:pPr algn="l" marL="350870" indent="-350870">
              <a:lnSpc>
                <a:spcPct val="111800"/>
              </a:lnSpc>
              <a:spcBef>
                <a:spcPts val="627"/>
              </a:spcBef>
              <a:buChar char="•"/>
            </a:pPr>
            <a:r>
              <a:rPr sz="2511" b="0" i="0" u="none">
                <a:solidFill>
                  <a:srgbClr val="334155"/>
                </a:solidFill>
                <a:latin typeface="Calibri"/>
              </a:rPr>
              <a:t>Which values are </a:t>
            </a:r>
            <a:r>
              <a:rPr sz="2511" b="1" i="0" u="none">
                <a:solidFill>
                  <a:srgbClr val="334155"/>
                </a:solidFill>
                <a:latin typeface="Calibri"/>
              </a:rPr>
              <a:t>derived</a:t>
            </a:r>
            <a:r>
              <a:rPr sz="2511" b="0" i="0" u="none">
                <a:solidFill>
                  <a:srgbClr val="334155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840926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 · OPTIONAL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831526" y="981075"/>
            <a:ext cx="12694349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36/38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Practice: Lesson 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778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Q1 ·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778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For COURSE_REG(StudentID, StudentName, CourseID, CourseTitle, Grade): list the FDs and normalize to 3NF.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0748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8086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Q2 ·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80860" y="341568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Show one insert, one update and one delete anomaly in EMP_PROJ (Ssn, Pnumber, Hours, Ename, Pname, Plocation).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00560" y="248202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73940" y="285540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E8A8A"/>
                </a:solidFill>
                <a:latin typeface="Arial"/>
              </a:rPr>
              <a:t>Q3 ·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73940" y="3415687"/>
            <a:ext cx="4526280" cy="129184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Classify each FD as full, partial or transitive in the school example.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778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Q4 · STRETCH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778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Normalize the </a:t>
            </a:r>
            <a:r>
              <a:rPr sz="2511" b="1" i="0" u="none">
                <a:solidFill>
                  <a:srgbClr val="0F172A"/>
                </a:solidFill>
                <a:latin typeface="Calibri"/>
              </a:rPr>
              <a:t>sales order</a:t>
            </a:r>
            <a:r>
              <a:rPr sz="2511" b="0" i="0" u="none">
                <a:solidFill>
                  <a:srgbClr val="0F172A"/>
                </a:solidFill>
                <a:latin typeface="Calibri"/>
              </a:rPr>
              <a:t> on the previous slide and say which values should not be stored.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748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8086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C8102E"/>
                </a:solidFill>
                <a:latin typeface="Arial"/>
              </a:rPr>
              <a:t>Q5 · STRETCH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086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Is BOOK(ISBN, Title, AuthorID, AuthorName, PublisherID, PublisherCity) in 3NF? Fix 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100560" y="5815614"/>
            <a:ext cx="5273040" cy="3013549"/>
          </a:xfrm>
          <a:prstGeom prst="rect">
            <a:avLst/>
          </a:prstGeom>
          <a:solidFill>
            <a:srgbClr val="FFFFFF"/>
          </a:solidFill>
          <a:ln w="14287">
            <a:solidFill>
              <a:srgbClr val="E2E8F0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473940" y="6188994"/>
            <a:ext cx="4526280" cy="4269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318" b="1" i="0" u="none">
                <a:solidFill>
                  <a:srgbClr val="0F172A"/>
                </a:solidFill>
                <a:latin typeface="Arial"/>
              </a:rPr>
              <a:t>Q6 ·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3940" y="6749277"/>
            <a:ext cx="4526280" cy="170650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2511" b="0" i="0" u="none">
                <a:solidFill>
                  <a:srgbClr val="0F172A"/>
                </a:solidFill>
                <a:latin typeface="Calibri"/>
              </a:rPr>
              <a:t>Find a table in BCNF violation in your own project, decompose it, and check the join is lossless.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2363152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37 · STUDY MORE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353752" y="981075"/>
            <a:ext cx="13172123" cy="0"/>
          </a:xfrm>
          <a:prstGeom prst="line">
            <a:avLst/>
          </a:prstGeom>
          <a:ln w="19050">
            <a:solidFill>
              <a:srgbClr val="E2E8F0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6306800" y="838200"/>
            <a:ext cx="10668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ourier New"/>
              </a:rPr>
              <a:t>37/38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3500"/>
            <a:ext cx="16459200" cy="65322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6320"/>
              </a:lnSpc>
            </a:pPr>
            <a:r>
              <a:rPr sz="4050" b="1" i="0" u="none">
                <a:solidFill>
                  <a:srgbClr val="0F172A"/>
                </a:solidFill>
                <a:latin typeface="Arial"/>
              </a:rPr>
              <a:t>Go deeper: Lesson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70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9900" y="30099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Elmasri &amp; Navathe (7th ed.)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chapters 14–15: FDs, normal forms, decomposition properties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9814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14400" y="41910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41338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Wikipedia: Database normalization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worked example from 1NF to 6NF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2"/>
              </a:rPr>
              <a:t>en.wikipedia.org/wiki/Database_normalization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51054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14400" y="53149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9900" y="52578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William Kent: A Simple Guide to Five Normal Forms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the classic short paper (1983), free online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3"/>
              </a:rPr>
              <a:t>www.bkent.net/Doc/simple5.htm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14400" y="62293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14400" y="643890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9900" y="638175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CMU 15-445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database design and normal forms lectures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4"/>
              </a:rPr>
              <a:t>15445.courses.cs.cmu.edu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735330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14400" y="75628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650" b="1" i="0" u="none">
                <a:solidFill>
                  <a:srgbClr val="C8102E"/>
                </a:solidFill>
                <a:latin typeface="Arial"/>
              </a:rPr>
              <a:t>PRACTICE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9900" y="7505700"/>
            <a:ext cx="14363700" cy="9334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r>
              <a:rPr sz="2100" b="1" i="0" u="none">
                <a:solidFill>
                  <a:srgbClr val="0F172A"/>
                </a:solidFill>
                <a:latin typeface="Arial"/>
              </a:rPr>
              <a:t>DB Fiddle</a:t>
            </a:r>
            <a:r>
              <a:rPr sz="1950" b="0" i="0" u="none">
                <a:solidFill>
                  <a:srgbClr val="334155"/>
                </a:solidFill>
                <a:latin typeface="Calibri"/>
              </a:rPr>
              <a:t> — create your normalized tables and test joins</a:t>
            </a:r>
          </a:p>
          <a:p>
            <a:r>
              <a:rPr sz="1800" b="0" i="0" u="none">
                <a:solidFill>
                  <a:srgbClr val="0E8A8A"/>
                </a:solidFill>
                <a:latin typeface="Courier New"/>
                <a:hlinkClick r:id="rId5"/>
              </a:rPr>
              <a:t>www.db-fiddle.com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4400" y="8477250"/>
            <a:ext cx="16459200" cy="0"/>
          </a:xfrm>
          <a:prstGeom prst="line">
            <a:avLst/>
          </a:prstGeom>
          <a:ln w="14287">
            <a:solidFill>
              <a:srgbClr val="E2E8F0"/>
            </a:solidFill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85725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1" i="0" u="none">
                <a:solidFill>
                  <a:srgbClr val="F87171"/>
                </a:solidFill>
                <a:latin typeface="Arial"/>
              </a:rPr>
              <a:t>COURSE COMPLETE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3438525" y="962025"/>
            <a:ext cx="13935075" cy="0"/>
          </a:xfrm>
          <a:prstGeom prst="line">
            <a:avLst/>
          </a:prstGeom>
          <a:ln w="19050">
            <a:solidFill>
              <a:srgbClr val="1E293B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914400" y="3143250"/>
            <a:ext cx="8572500" cy="35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950" b="1" i="0" u="none">
                <a:solidFill>
                  <a:srgbClr val="94A3B8"/>
                </a:solidFill>
                <a:latin typeface="Arial"/>
              </a:rPr>
              <a:t>DATABASE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2350"/>
            <a:ext cx="14287500" cy="175221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90000"/>
              </a:lnSpc>
            </a:pPr>
            <a:r>
              <a:rPr sz="6300" b="1" i="0" u="none">
                <a:solidFill>
                  <a:srgbClr val="FFFFFF"/>
                </a:solidFill>
                <a:latin typeface="Arial"/>
              </a:rPr>
              <a:t>From narrative to </a:t>
            </a:r>
            <a:r>
              <a:rPr sz="6300" b="1" i="0" u="none">
                <a:solidFill>
                  <a:srgbClr val="F87171"/>
                </a:solidFill>
                <a:latin typeface="Arial"/>
              </a:rPr>
              <a:t>normalized</a:t>
            </a:r>
            <a:r>
              <a:rPr sz="6300" b="1" i="0" u="none">
                <a:solidFill>
                  <a:srgbClr val="FFFFFF"/>
                </a:solidFill>
                <a:latin typeface="Arial"/>
              </a:rPr>
              <a:t>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86069"/>
            <a:ext cx="12382500" cy="1333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>
              <a:lnSpc>
                <a:spcPct val="120000"/>
              </a:lnSpc>
            </a:pPr>
            <a:r>
              <a:rPr sz="2400" b="0" i="0" u="none">
                <a:solidFill>
                  <a:srgbClr val="CBD5E1"/>
                </a:solidFill>
                <a:latin typeface="Calibri"/>
              </a:rPr>
              <a:t>ERD → tables → </a:t>
            </a:r>
            <a:r>
              <a:rPr sz="2400" b="0" i="0" u="none">
                <a:solidFill>
                  <a:srgbClr val="5EEAD4"/>
                </a:solidFill>
                <a:latin typeface="Courier New"/>
              </a:rPr>
              <a:t>CREATE TABLE</a:t>
            </a:r>
            <a:r>
              <a:rPr sz="2400" b="0" i="0" u="none">
                <a:solidFill>
                  <a:srgbClr val="CBD5E1"/>
                </a:solidFill>
                <a:latin typeface="Calibri"/>
              </a:rPr>
              <a:t> → queries → normal forms. Keep practising on real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ITI · Database Fundamentals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600" y="9296400"/>
            <a:ext cx="7620000" cy="3314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11800"/>
              </a:lnSpc>
            </a:pPr>
            <a:r>
              <a:rPr sz="1800" b="0" i="0" u="none">
                <a:solidFill>
                  <a:srgbClr val="94A3B8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