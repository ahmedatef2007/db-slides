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</p:sldIdLst>
  <p:sldSz cy="10287000" cx="18288000"/>
  <p:notesSz cx="10287000" cy="1828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New framing slide: the original jumped straight to definitions. Showing the four design phases explains why we draw an ERD before writing CREATE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Example: a DEPENDENT is identified by the dependent's first name (and birth date) together with the EMPLOYEE they belong to. Two employees can each have a son called Ahmed; only Ssn + Name is unique. In Chen notation the partial key is drawn with a dashed underline.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Simple is also called single or atomic. Composite and multi-valued attributes can nest: e.g. a multi-valued composite attribute {AddressPhone(Phone, Address)}.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If two attributes are underlined separately, then each is a key on its own. If they are joined into one composite attribute that is underlined, the combination is the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Relationship: establishes a connection between a pair of entities in an ERD, or a pair of tables in a database. Cardinality ratio and participation together are called the structural constraints of a relationship.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 a recursive relationship the same entity type plays two different roles, so we label the lines with role names (supervisor, supervisee). Binary relationships are by far the most common.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each side: 'one employee manages ONE department' (the number next to DEPARTMENT), 'one department is managed by ONE employee' (the number next to EMPLOYEE).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Synonyms: total = full = mandatory (existence dependency); partial = optional. The double line is always drawn on the side of the entity that MUST participate.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Formal constraint: (min,max) means each entity participates in at least min and at most max relationship instances. min = 0 means partial participation, min &gt;= 1 means total. Careful: (min,max) is written next to the entity it describes, which is the opposite side from the 1:N labels on the previous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Completes an idea that the original showed only inside the COMPANY ERD (Hours, StartDate).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Guidelines: a relationship between two entities is a line through a diamond. Verbs name relationships (e.g. 'addresses LOCATE businesses'). Attribute lists grow as you go. Select (or assign) one unique identifier per entity.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New slide: students will meet crow's foot in industry and in most online tools. The circle = minimum 0, the bar = minimum/maximum 1, the crow's foot = many.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New method slide (the eighth card, review, is the habit that catches most errors). Students apply it to every case study that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students to underline nouns (entities), circle verbs (relationships), and highlight 'unique' (keys)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Redrawn from the original figure (Elmasri &amp; Navathe). Some attributes are omitted to keep the diagram readable: EMPLOYEE also has Bdate, Address, Sex and a composite Name (Fname, Minit, Lname); DEPARTMENT has the derived attribute NumberOfEmployees; PROJECT has Name; DEPENDENT has Sex, BirthDate, Relationship. Walk the relationships aloud: WORKS_FOR N:1 (both total), MANAGES 1:1 (department total), CONTROLS 1:N (project total), WORKS_ON M:N with Hours (both total), SUPERVISION 1:N recursive (partial), DEPENDENTS_OF identifying 1:N.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New slide: makes the reasoning behind every symbol explicit, which is what students struggle with in the case studies.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New slide collecting the mistakes most often seen when grading ERD labs.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Hints: MODEL key = composite (Name, Suffix). PART: Id code key, Images multi-valued. MODEL-PART is M:N. FACTORY key = City; Computer system is composite (OS, DBMS, Internet). PRODUCES model: N models : 1 factory, model total. Factory produces parts: if each part type is produced at one factory only, that is 1:N; this can motivate discussing a ternary relationship in Lesson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Unique keys are not specified in the narrative: students must propose surrogate keys (e.g. Route_No) and say so as an assumption.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Hints: BUS N:1 ROUTE. ROUTE M:N TOWN; Stations multi-valued in TOWN. Allocation history: DRIVER M:N ROUTE with attributes FromDate, ToDate (the 'changes' sentence turns a 1:N into M:N over time).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Hints: Phones multi-valued; last transaction date composite (Day, Month, Year) and arguably derived from transactions. TRANSACTION relates CUSTOMER (or ACCOUNT), BRANCH: discuss whether it is an entity with two 1:N relationships or a ternary relationship.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dbdiagram.io/" TargetMode="External"/><Relationship Id="rId3" Type="http://schemas.openxmlformats.org/officeDocument/2006/relationships/hyperlink" Target="https://app.diagrams.net/" TargetMode="External"/><Relationship Id="rId4" Type="http://schemas.openxmlformats.org/officeDocument/2006/relationships/hyperlink" Target="https://www.lucidchart.com/pages/er-diagrams" TargetMode="External"/><Relationship Id="rId5" Type="http://schemas.openxmlformats.org/officeDocument/2006/relationships/hyperlink" Target="https://15445.courses.cs.cmu.edu/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838200"/>
            <a:ext cx="133350" cy="4953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38250" y="952500"/>
            <a:ext cx="133350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800" b="1" i="0" u="none">
                <a:solidFill>
                  <a:srgbClr val="64748B"/>
                </a:solidFill>
                <a:latin typeface="Arial"/>
              </a:rPr>
              <a:t>ITI · DATABASE FUNDAMENTALS · LESSON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43250"/>
            <a:ext cx="16459200" cy="2857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>
              <a:lnSpc>
                <a:spcPct val="95000"/>
              </a:lnSpc>
            </a:pPr>
            <a:r>
              <a:rPr sz="7500" b="1" i="0" u="none">
                <a:solidFill>
                  <a:srgbClr val="0F172A"/>
                </a:solidFill>
                <a:latin typeface="Arial"/>
              </a:rPr>
              <a:t>Entity Relationship </a:t>
            </a:r>
            <a:r>
              <a:rPr sz="7500" b="1" i="0" u="none">
                <a:solidFill>
                  <a:srgbClr val="C8102E"/>
                </a:solidFill>
                <a:latin typeface="Arial"/>
              </a:rPr>
              <a:t>Diagrams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191250"/>
            <a:ext cx="14287500" cy="89058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550" b="0" i="0" u="none">
                <a:solidFill>
                  <a:srgbClr val="334155"/>
                </a:solidFill>
                <a:latin typeface="Calibri"/>
              </a:rPr>
              <a:t>Turning a business narrative into a picture of entities, attributes and relationships.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8877300"/>
            <a:ext cx="8572500" cy="3590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950" b="1" i="0" u="none">
                <a:solidFill>
                  <a:srgbClr val="0F172A"/>
                </a:solidFill>
                <a:latin typeface="Arial"/>
              </a:rPr>
              <a:t>Lecturer: Rana Salah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277350"/>
            <a:ext cx="8572500" cy="3590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950" b="0" i="0" u="none">
                <a:solidFill>
                  <a:srgbClr val="334155"/>
                </a:solidFill>
                <a:latin typeface="Calibri"/>
              </a:rPr>
              <a:t>rsalah@mcit.gov.eg · Room 3005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1100" y="8934450"/>
            <a:ext cx="8572500" cy="33147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64748B"/>
                </a:solidFill>
                <a:latin typeface="Calibri"/>
              </a:rPr>
              <a:t>Based on original slides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01100" y="9296400"/>
            <a:ext cx="8572500" cy="33147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334155"/>
                </a:solidFill>
                <a:latin typeface="Calibri"/>
              </a:rPr>
              <a:t>Shahinaz S. Azab · edited by Mona Saleh · Rana Salah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1885378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02 · AGENDA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875978" y="981075"/>
            <a:ext cx="13649897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02/39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6459200" cy="653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320"/>
              </a:lnSpc>
            </a:pPr>
            <a:r>
              <a:rPr sz="4050" b="1" i="0" u="none">
                <a:solidFill>
                  <a:srgbClr val="0F172A"/>
                </a:solidFill>
                <a:latin typeface="Arial"/>
              </a:rPr>
              <a:t>What this lesson covers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57500"/>
            <a:ext cx="666750" cy="41433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250" b="1" i="0" u="none">
                <a:solidFill>
                  <a:srgbClr val="C8102E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76400" y="2857500"/>
            <a:ext cx="7086600" cy="441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400" b="1" i="0" u="none">
                <a:solidFill>
                  <a:srgbClr val="0F172A"/>
                </a:solidFill>
                <a:latin typeface="Arial"/>
              </a:rPr>
              <a:t>Modeling basics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76400" y="3314700"/>
            <a:ext cx="7086600" cy="666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800" b="0" i="0" u="none">
                <a:solidFill>
                  <a:srgbClr val="64748B"/>
                </a:solidFill>
                <a:latin typeface="Calibri"/>
              </a:rPr>
              <a:t>What an ERD is for, and its building blocks: entities, instances and attributes.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14400" y="4114800"/>
            <a:ext cx="7848600" cy="0"/>
          </a:xfrm>
          <a:prstGeom prst="line">
            <a:avLst/>
          </a:prstGeom>
          <a:ln w="14287">
            <a:solidFill>
              <a:srgbClr val="E2E8F0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914400" y="4286250"/>
            <a:ext cx="666750" cy="41433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250" b="1" i="0" u="none">
                <a:solidFill>
                  <a:srgbClr val="C8102E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6400" y="4286250"/>
            <a:ext cx="7086600" cy="441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400" b="1" i="0" u="none">
                <a:solidFill>
                  <a:srgbClr val="0F172A"/>
                </a:solidFill>
                <a:latin typeface="Arial"/>
              </a:rPr>
              <a:t>Attributes &amp; keys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76400" y="4743450"/>
            <a:ext cx="7086600" cy="666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800" b="0" i="0" u="none">
                <a:solidFill>
                  <a:srgbClr val="64748B"/>
                </a:solidFill>
                <a:latin typeface="Calibri"/>
              </a:rPr>
              <a:t>Five kinds of attributes, and how keys identify each instance.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4400" y="5543550"/>
            <a:ext cx="7848600" cy="0"/>
          </a:xfrm>
          <a:prstGeom prst="line">
            <a:avLst/>
          </a:prstGeom>
          <a:ln w="14287">
            <a:solidFill>
              <a:srgbClr val="E2E8F0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914400" y="5715000"/>
            <a:ext cx="666750" cy="41433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250" b="1" i="0" u="none">
                <a:solidFill>
                  <a:srgbClr val="C8102E"/>
                </a:solidFill>
                <a:latin typeface="Arial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5715000"/>
            <a:ext cx="7086600" cy="441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400" b="1" i="0" u="none">
                <a:solidFill>
                  <a:srgbClr val="0F172A"/>
                </a:solidFill>
                <a:latin typeface="Arial"/>
              </a:rPr>
              <a:t>Relationships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76400" y="6172200"/>
            <a:ext cx="7086600" cy="666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800" b="0" i="0" u="none">
                <a:solidFill>
                  <a:srgbClr val="64748B"/>
                </a:solidFill>
                <a:latin typeface="Calibri"/>
              </a:rPr>
              <a:t>How entities connect: degree, cardinality ratio and participation.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4400" y="6972300"/>
            <a:ext cx="7848600" cy="0"/>
          </a:xfrm>
          <a:prstGeom prst="line">
            <a:avLst/>
          </a:prstGeom>
          <a:ln w="14287">
            <a:solidFill>
              <a:srgbClr val="E2E8F0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9525000" y="2857500"/>
            <a:ext cx="666750" cy="41433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250" b="1" i="0" u="none">
                <a:solidFill>
                  <a:srgbClr val="C8102E"/>
                </a:solidFill>
                <a:latin typeface="Arial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0" y="2857500"/>
            <a:ext cx="7086600" cy="441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400" b="1" i="0" u="none">
                <a:solidFill>
                  <a:srgbClr val="0F172A"/>
                </a:solidFill>
                <a:latin typeface="Arial"/>
              </a:rPr>
              <a:t>Building an ERD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3314700"/>
            <a:ext cx="7086600" cy="666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800" b="0" i="0" u="none">
                <a:solidFill>
                  <a:srgbClr val="64748B"/>
                </a:solidFill>
                <a:latin typeface="Calibri"/>
              </a:rPr>
              <a:t>A repeatable method, applied to the COMPANY database.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525000" y="4114800"/>
            <a:ext cx="7848600" cy="0"/>
          </a:xfrm>
          <a:prstGeom prst="line">
            <a:avLst/>
          </a:prstGeom>
          <a:ln w="14287">
            <a:solidFill>
              <a:srgbClr val="E2E8F0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9525000" y="4286250"/>
            <a:ext cx="666750" cy="41433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250" b="1" i="0" u="none">
                <a:solidFill>
                  <a:srgbClr val="C8102E"/>
                </a:solidFill>
                <a:latin typeface="Arial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4286250"/>
            <a:ext cx="7086600" cy="441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400" b="1" i="0" u="none">
                <a:solidFill>
                  <a:srgbClr val="0F172A"/>
                </a:solidFill>
                <a:latin typeface="Arial"/>
              </a:rPr>
              <a:t>Case studies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7000" y="4743450"/>
            <a:ext cx="7086600" cy="666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800" b="0" i="0" u="none">
                <a:solidFill>
                  <a:srgbClr val="64748B"/>
                </a:solidFill>
                <a:latin typeface="Calibri"/>
              </a:rPr>
              <a:t>Practice the method on three narratives: a car manufacturer, a bus company and a bank.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525000" y="5543550"/>
            <a:ext cx="7848600" cy="0"/>
          </a:xfrm>
          <a:prstGeom prst="line">
            <a:avLst/>
          </a:prstGeom>
          <a:ln w="14287">
            <a:solidFill>
              <a:srgbClr val="E2E8F0"/>
            </a:solidFill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1527048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LESSON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17648" y="981075"/>
            <a:ext cx="14008227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03/39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6459200" cy="653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320"/>
              </a:lnSpc>
            </a:pPr>
            <a:r>
              <a:rPr sz="4050" b="1" i="0" u="none">
                <a:solidFill>
                  <a:srgbClr val="0F172A"/>
                </a:solidFill>
                <a:latin typeface="Arial"/>
              </a:rPr>
              <a:t>By the end of this lesson you can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482024"/>
            <a:ext cx="5273040" cy="2877639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14450" y="2882074"/>
            <a:ext cx="4472940" cy="4269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318" b="1" i="0" u="none">
                <a:solidFill>
                  <a:srgbClr val="C8102E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4450" y="3469027"/>
            <a:ext cx="4472940" cy="149058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898" b="0" i="0" u="none">
                <a:solidFill>
                  <a:srgbClr val="334155"/>
                </a:solidFill>
                <a:latin typeface="Calibri"/>
              </a:rPr>
              <a:t>Explain where the ERD sits in the </a:t>
            </a:r>
            <a:r>
              <a:rPr sz="2898" b="1" i="0" u="none">
                <a:solidFill>
                  <a:srgbClr val="334155"/>
                </a:solidFill>
                <a:latin typeface="Calibri"/>
              </a:rPr>
              <a:t>design process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07480" y="2482024"/>
            <a:ext cx="5273040" cy="2877639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7530" y="2882074"/>
            <a:ext cx="4472940" cy="4269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318" b="1" i="0" u="none">
                <a:solidFill>
                  <a:srgbClr val="C8102E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7530" y="3469027"/>
            <a:ext cx="4472940" cy="101212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898" b="0" i="0" u="none">
                <a:solidFill>
                  <a:srgbClr val="334155"/>
                </a:solidFill>
                <a:latin typeface="Calibri"/>
              </a:rPr>
              <a:t>Identify </a:t>
            </a:r>
            <a:r>
              <a:rPr sz="2898" b="1" i="0" u="none">
                <a:solidFill>
                  <a:srgbClr val="334155"/>
                </a:solidFill>
                <a:latin typeface="Calibri"/>
              </a:rPr>
              <a:t>entities</a:t>
            </a:r>
            <a:r>
              <a:rPr sz="2898" b="0" i="0" u="none">
                <a:solidFill>
                  <a:srgbClr val="334155"/>
                </a:solidFill>
                <a:latin typeface="Calibri"/>
              </a:rPr>
              <a:t>, strong and weak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100560" y="2482024"/>
            <a:ext cx="5273040" cy="2877639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00610" y="2882074"/>
            <a:ext cx="4472940" cy="4269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318" b="1" i="0" u="none">
                <a:solidFill>
                  <a:srgbClr val="C8102E"/>
                </a:solidFill>
                <a:latin typeface="Arial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00610" y="3469027"/>
            <a:ext cx="4472940" cy="101212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898" b="0" i="0" u="none">
                <a:solidFill>
                  <a:srgbClr val="334155"/>
                </a:solidFill>
                <a:latin typeface="Calibri"/>
              </a:rPr>
              <a:t>Classify </a:t>
            </a:r>
            <a:r>
              <a:rPr sz="2898" b="1" i="0" u="none">
                <a:solidFill>
                  <a:srgbClr val="334155"/>
                </a:solidFill>
                <a:latin typeface="Calibri"/>
              </a:rPr>
              <a:t>attributes</a:t>
            </a:r>
            <a:r>
              <a:rPr sz="2898" b="0" i="0" u="none">
                <a:solidFill>
                  <a:srgbClr val="334155"/>
                </a:solidFill>
                <a:latin typeface="Calibri"/>
              </a:rPr>
              <a:t> and choose </a:t>
            </a:r>
            <a:r>
              <a:rPr sz="2898" b="1" i="0" u="none">
                <a:solidFill>
                  <a:srgbClr val="334155"/>
                </a:solidFill>
                <a:latin typeface="Calibri"/>
              </a:rPr>
              <a:t>keys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5679704"/>
            <a:ext cx="5273040" cy="2877639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14450" y="6079754"/>
            <a:ext cx="4472940" cy="4269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318" b="1" i="0" u="none">
                <a:solidFill>
                  <a:srgbClr val="C8102E"/>
                </a:solidFill>
                <a:latin typeface="Arial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14450" y="6666707"/>
            <a:ext cx="4472940" cy="149058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898" b="0" i="0" u="none">
                <a:solidFill>
                  <a:srgbClr val="334155"/>
                </a:solidFill>
                <a:latin typeface="Calibri"/>
              </a:rPr>
              <a:t>Describe relationships by </a:t>
            </a:r>
            <a:r>
              <a:rPr sz="2898" b="1" i="0" u="none">
                <a:solidFill>
                  <a:srgbClr val="334155"/>
                </a:solidFill>
                <a:latin typeface="Calibri"/>
              </a:rPr>
              <a:t>degree, cardinality, participation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07480" y="5679704"/>
            <a:ext cx="5273040" cy="2877639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7530" y="6079754"/>
            <a:ext cx="4472940" cy="4269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318" b="1" i="0" u="none">
                <a:solidFill>
                  <a:srgbClr val="C8102E"/>
                </a:solidFill>
                <a:latin typeface="Arial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7530" y="6666707"/>
            <a:ext cx="4472940" cy="149058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898" b="0" i="0" u="none">
                <a:solidFill>
                  <a:srgbClr val="334155"/>
                </a:solidFill>
                <a:latin typeface="Calibri"/>
              </a:rPr>
              <a:t>Read and draw </a:t>
            </a:r>
            <a:r>
              <a:rPr sz="2898" b="1" i="0" u="none">
                <a:solidFill>
                  <a:srgbClr val="334155"/>
                </a:solidFill>
                <a:latin typeface="Calibri"/>
              </a:rPr>
              <a:t>Chen</a:t>
            </a:r>
            <a:r>
              <a:rPr sz="2898" b="0" i="0" u="none">
                <a:solidFill>
                  <a:srgbClr val="334155"/>
                </a:solidFill>
                <a:latin typeface="Calibri"/>
              </a:rPr>
              <a:t> notation, and read </a:t>
            </a:r>
            <a:r>
              <a:rPr sz="2898" b="1" i="0" u="none">
                <a:solidFill>
                  <a:srgbClr val="334155"/>
                </a:solidFill>
                <a:latin typeface="Calibri"/>
              </a:rPr>
              <a:t>crow's foot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100560" y="5679704"/>
            <a:ext cx="5273040" cy="2877639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500610" y="6079754"/>
            <a:ext cx="4472940" cy="4269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318" b="1" i="0" u="none">
                <a:solidFill>
                  <a:srgbClr val="C8102E"/>
                </a:solidFill>
                <a:latin typeface="Arial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500610" y="6666707"/>
            <a:ext cx="4472940" cy="101212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898" b="0" i="0" u="none">
                <a:solidFill>
                  <a:srgbClr val="334155"/>
                </a:solidFill>
                <a:latin typeface="Calibri"/>
              </a:rPr>
              <a:t>Build an ERD from a </a:t>
            </a:r>
            <a:r>
              <a:rPr sz="2898" b="1" i="0" u="none">
                <a:solidFill>
                  <a:srgbClr val="334155"/>
                </a:solidFill>
                <a:latin typeface="Calibri"/>
              </a:rPr>
              <a:t>narrative</a:t>
            </a:r>
            <a:r>
              <a:rPr sz="2898" b="0" i="0" u="none">
                <a:solidFill>
                  <a:srgbClr val="334155"/>
                </a:solidFill>
                <a:latin typeface="Calibri"/>
              </a:rPr>
              <a:t>, step by step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5715000" cy="33147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800" b="1" i="0" u="none">
                <a:solidFill>
                  <a:srgbClr val="C8102E"/>
                </a:solidFill>
                <a:latin typeface="Arial"/>
              </a:rPr>
              <a:t>SECTION 01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390900" y="981075"/>
            <a:ext cx="13134975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04/39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57500"/>
            <a:ext cx="5715000" cy="2286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86000"/>
              </a:lnSpc>
            </a:pPr>
            <a:r>
              <a:rPr sz="15000" b="1" i="0" u="none">
                <a:solidFill>
                  <a:srgbClr val="C8102E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34000"/>
            <a:ext cx="15240000" cy="1905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300"/>
              </a:lnSpc>
            </a:pPr>
            <a:r>
              <a:rPr sz="6300" b="1" i="0" u="none">
                <a:solidFill>
                  <a:srgbClr val="0F172A"/>
                </a:solidFill>
                <a:latin typeface="Arial"/>
              </a:rPr>
              <a:t>Modeling basics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7239000"/>
            <a:ext cx="13335000" cy="1143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400" b="0" i="0" u="none">
                <a:solidFill>
                  <a:srgbClr val="334155"/>
                </a:solidFill>
                <a:latin typeface="Calibri"/>
              </a:rPr>
              <a:t>What an ERD is for, and its building blocks: entities, instances and attributes.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2363152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MODELING BASICS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353752" y="981075"/>
            <a:ext cx="13172123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05/39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6459200" cy="653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320"/>
              </a:lnSpc>
            </a:pPr>
            <a:r>
              <a:rPr sz="4050" b="1" i="0" u="none">
                <a:solidFill>
                  <a:srgbClr val="0F172A"/>
                </a:solidFill>
                <a:latin typeface="Arial"/>
              </a:rPr>
              <a:t>Where the ERD 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82024"/>
            <a:ext cx="16459200" cy="107960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3091" b="0" i="0" u="none">
                <a:solidFill>
                  <a:srgbClr val="334155"/>
                </a:solidFill>
                <a:latin typeface="Calibri"/>
              </a:rPr>
              <a:t>An </a:t>
            </a:r>
            <a:r>
              <a:rPr sz="3091" b="1" i="0" u="none">
                <a:solidFill>
                  <a:srgbClr val="334155"/>
                </a:solidFill>
                <a:latin typeface="Calibri"/>
              </a:rPr>
              <a:t>Entity Relationship Diagram</a:t>
            </a:r>
            <a:r>
              <a:rPr sz="3091" b="0" i="0" u="none">
                <a:solidFill>
                  <a:srgbClr val="334155"/>
                </a:solidFill>
                <a:latin typeface="Calibri"/>
              </a:rPr>
              <a:t> identifies the information a business needs by showing the relevant </a:t>
            </a:r>
            <a:r>
              <a:rPr sz="3091" b="1" i="0" u="none">
                <a:solidFill>
                  <a:srgbClr val="334155"/>
                </a:solidFill>
                <a:latin typeface="Calibri"/>
              </a:rPr>
              <a:t>entities</a:t>
            </a:r>
            <a:r>
              <a:rPr sz="3091" b="0" i="0" u="none">
                <a:solidFill>
                  <a:srgbClr val="334155"/>
                </a:solidFill>
                <a:latin typeface="Calibri"/>
              </a:rPr>
              <a:t> and the </a:t>
            </a:r>
            <a:r>
              <a:rPr sz="3091" b="1" i="0" u="none">
                <a:solidFill>
                  <a:srgbClr val="334155"/>
                </a:solidFill>
                <a:latin typeface="Calibri"/>
              </a:rPr>
              <a:t>relationships</a:t>
            </a:r>
            <a:r>
              <a:rPr sz="3091" b="0" i="0" u="none">
                <a:solidFill>
                  <a:srgbClr val="334155"/>
                </a:solidFill>
                <a:latin typeface="Calibri"/>
              </a:rPr>
              <a:t> between them.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015016"/>
            <a:ext cx="3337560" cy="2968424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450" y="4415066"/>
            <a:ext cx="2537460" cy="47988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2798" b="1" i="0" u="none">
                <a:solidFill>
                  <a:srgbClr val="0F172A"/>
                </a:solidFill>
                <a:latin typeface="Arial"/>
              </a:rPr>
              <a:t>Requirements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4450" y="5054967"/>
            <a:ext cx="2537460" cy="139121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704" b="0" i="0" u="none">
                <a:solidFill>
                  <a:srgbClr val="334155"/>
                </a:solidFill>
                <a:latin typeface="Calibri"/>
              </a:rPr>
              <a:t>Interview users; write the narrative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541520" y="4015016"/>
            <a:ext cx="457200" cy="38100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288279" y="4015016"/>
            <a:ext cx="3337560" cy="2968424"/>
          </a:xfrm>
          <a:prstGeom prst="rect">
            <a:avLst/>
          </a:prstGeom>
          <a:solidFill>
            <a:srgbClr val="FDECEF"/>
          </a:solidFill>
          <a:ln w="14287">
            <a:solidFill>
              <a:srgbClr val="F5C2C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88329" y="4415066"/>
            <a:ext cx="2537460" cy="10636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3284" b="1" i="0" u="none">
                <a:solidFill>
                  <a:srgbClr val="C8102E"/>
                </a:solidFill>
                <a:latin typeface="Arial"/>
              </a:rPr>
              <a:t>Conceptual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88329" y="5638739"/>
            <a:ext cx="2537460" cy="94465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704" b="0" i="0" u="none">
                <a:solidFill>
                  <a:srgbClr val="334155"/>
                </a:solidFill>
                <a:latin typeface="Calibri"/>
              </a:rPr>
              <a:t>ERD (this lesson)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915399" y="4015016"/>
            <a:ext cx="457200" cy="38100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62159" y="4015016"/>
            <a:ext cx="3337560" cy="2968424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62209" y="4415066"/>
            <a:ext cx="2537460" cy="10636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3284" b="1" i="0" u="none">
                <a:solidFill>
                  <a:srgbClr val="0F172A"/>
                </a:solidFill>
                <a:latin typeface="Arial"/>
              </a:rPr>
              <a:t>Logical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62209" y="5638739"/>
            <a:ext cx="2537460" cy="94465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704" b="0" i="0" u="none">
                <a:solidFill>
                  <a:srgbClr val="334155"/>
                </a:solidFill>
                <a:latin typeface="Calibri"/>
              </a:rPr>
              <a:t>Tables, keys (Lesson 3)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13289279" y="4015016"/>
            <a:ext cx="457200" cy="38100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4036040" y="4015016"/>
            <a:ext cx="3337560" cy="2968424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36090" y="4415066"/>
            <a:ext cx="2537460" cy="10636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3284" b="1" i="0" u="none">
                <a:solidFill>
                  <a:srgbClr val="0F172A"/>
                </a:solidFill>
                <a:latin typeface="Arial"/>
              </a:rPr>
              <a:t>Physical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36090" y="5638739"/>
            <a:ext cx="2537460" cy="94465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704" b="0" i="0" u="none">
                <a:solidFill>
                  <a:srgbClr val="334155"/>
                </a:solidFill>
                <a:latin typeface="Calibri"/>
              </a:rPr>
              <a:t>SQL, indexes (Lesson 4)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7436830"/>
            <a:ext cx="16459200" cy="1478051"/>
          </a:xfrm>
          <a:prstGeom prst="rect">
            <a:avLst/>
          </a:prstGeom>
          <a:solidFill>
            <a:srgbClr val="E6F4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" y="7436830"/>
            <a:ext cx="47625" cy="1478051"/>
          </a:xfrm>
          <a:prstGeom prst="rect">
            <a:avLst/>
          </a:prstGeom>
          <a:solidFill>
            <a:srgbClr val="0E8A8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1120" y="7703530"/>
            <a:ext cx="15605760" cy="94465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12000"/>
              </a:lnSpc>
            </a:pPr>
            <a:r>
              <a:rPr sz="2704" b="0" i="0" u="none">
                <a:solidFill>
                  <a:srgbClr val="0F172A"/>
                </a:solidFill>
                <a:latin typeface="Calibri"/>
              </a:rPr>
              <a:t>The ERD is a </a:t>
            </a:r>
            <a:r>
              <a:rPr sz="2704" b="1" i="0" u="none">
                <a:solidFill>
                  <a:srgbClr val="0F172A"/>
                </a:solidFill>
                <a:latin typeface="Calibri"/>
              </a:rPr>
              <a:t>conceptual</a:t>
            </a:r>
            <a:r>
              <a:rPr sz="2704" b="0" i="0" u="none">
                <a:solidFill>
                  <a:srgbClr val="0F172A"/>
                </a:solidFill>
                <a:latin typeface="Calibri"/>
              </a:rPr>
              <a:t> model: no tables, data types or SQL yet. It is a shared language between designers and the business.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2363152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MODELING BASICS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353752" y="981075"/>
            <a:ext cx="13172123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06/39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6459200" cy="653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320"/>
              </a:lnSpc>
            </a:pPr>
            <a:r>
              <a:rPr sz="4050" b="1" i="0" u="none">
                <a:solidFill>
                  <a:srgbClr val="0F172A"/>
                </a:solidFill>
                <a:latin typeface="Arial"/>
              </a:rPr>
              <a:t>Four questions every data model answers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482024"/>
            <a:ext cx="8069580" cy="3122310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14450" y="2882074"/>
            <a:ext cx="7269480" cy="4269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318" b="1" i="0" u="none">
                <a:solidFill>
                  <a:srgbClr val="C8102E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4450" y="3469027"/>
            <a:ext cx="7269480" cy="56311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3284" b="1" i="0" u="none">
                <a:solidFill>
                  <a:srgbClr val="0F172A"/>
                </a:solidFill>
                <a:latin typeface="Arial"/>
              </a:rPr>
              <a:t>Which entities?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4450" y="4192158"/>
            <a:ext cx="7269480" cy="101212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898" b="0" i="0" u="none">
                <a:solidFill>
                  <a:srgbClr val="334155"/>
                </a:solidFill>
                <a:latin typeface="Calibri"/>
              </a:rPr>
              <a:t>What things does the business need to describe?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04020" y="2482024"/>
            <a:ext cx="8069580" cy="3122310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04070" y="2882074"/>
            <a:ext cx="7269480" cy="4269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318" b="1" i="0" u="none">
                <a:solidFill>
                  <a:srgbClr val="C8102E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04070" y="3469027"/>
            <a:ext cx="7269480" cy="56311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3284" b="1" i="0" u="none">
                <a:solidFill>
                  <a:srgbClr val="0F172A"/>
                </a:solidFill>
                <a:latin typeface="Arial"/>
              </a:rPr>
              <a:t>Which attributes?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04070" y="4192158"/>
            <a:ext cx="7269480" cy="101212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898" b="0" i="0" u="none">
                <a:solidFill>
                  <a:srgbClr val="334155"/>
                </a:solidFill>
                <a:latin typeface="Calibri"/>
              </a:rPr>
              <a:t>What facts must be recorded about each entity?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5924374"/>
            <a:ext cx="8069580" cy="3122310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14450" y="6324424"/>
            <a:ext cx="7269480" cy="4269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318" b="1" i="0" u="none">
                <a:solidFill>
                  <a:srgbClr val="C8102E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4450" y="6911378"/>
            <a:ext cx="7269480" cy="56311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3284" b="1" i="0" u="none">
                <a:solidFill>
                  <a:srgbClr val="0F172A"/>
                </a:solidFill>
                <a:latin typeface="Arial"/>
              </a:rPr>
              <a:t>Which key?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14450" y="7634508"/>
            <a:ext cx="7269480" cy="101212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898" b="0" i="0" u="none">
                <a:solidFill>
                  <a:srgbClr val="334155"/>
                </a:solidFill>
                <a:latin typeface="Calibri"/>
              </a:rPr>
              <a:t>Which attribute(s) uniquely identify one occurrence?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04020" y="5924374"/>
            <a:ext cx="8069580" cy="3122310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04070" y="6324424"/>
            <a:ext cx="7269480" cy="4269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318" b="1" i="0" u="none">
                <a:solidFill>
                  <a:srgbClr val="C8102E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04070" y="6911378"/>
            <a:ext cx="7269480" cy="56311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3284" b="1" i="0" u="none">
                <a:solidFill>
                  <a:srgbClr val="0F172A"/>
                </a:solidFill>
                <a:latin typeface="Arial"/>
              </a:rPr>
              <a:t>Which relationships?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04070" y="7634508"/>
            <a:ext cx="7269480" cy="101212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898" b="0" i="0" u="none">
                <a:solidFill>
                  <a:srgbClr val="334155"/>
                </a:solidFill>
                <a:latin typeface="Calibri"/>
              </a:rPr>
              <a:t>How are the entities associated with each other?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2363152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MODELING BASICS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353752" y="981075"/>
            <a:ext cx="13172123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07/39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6459200" cy="653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320"/>
              </a:lnSpc>
            </a:pPr>
            <a:r>
              <a:rPr sz="4050" b="1" i="0" u="none">
                <a:solidFill>
                  <a:srgbClr val="0F172A"/>
                </a:solidFill>
                <a:latin typeface="Arial"/>
              </a:rPr>
              <a:t>Entities, instances, attributes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482024"/>
            <a:ext cx="5300472" cy="3966355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63015" y="2830639"/>
            <a:ext cx="4603242" cy="49071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2862" b="1" i="0" u="none">
                <a:solidFill>
                  <a:srgbClr val="0F172A"/>
                </a:solidFill>
                <a:latin typeface="Arial"/>
              </a:rPr>
              <a:t>Entity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3015" y="3460795"/>
            <a:ext cx="4603242" cy="8231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357" b="0" i="0" u="none">
                <a:solidFill>
                  <a:srgbClr val="334155"/>
                </a:solidFill>
                <a:latin typeface="Calibri"/>
              </a:rPr>
              <a:t>A thing in the real world with an independent existence.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3015" y="4423438"/>
            <a:ext cx="4603242" cy="167632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329278" indent="-329278">
              <a:lnSpc>
                <a:spcPct val="111800"/>
              </a:lnSpc>
              <a:buChar char="•"/>
            </a:pPr>
            <a:r>
              <a:rPr sz="2357" b="0" i="0" u="none">
                <a:solidFill>
                  <a:srgbClr val="334155"/>
                </a:solidFill>
                <a:latin typeface="Calibri"/>
              </a:rPr>
              <a:t>Physical: a person, a car</a:t>
            </a:r>
          </a:p>
          <a:p>
            <a:pPr algn="l" marL="329278" indent="-329278">
              <a:lnSpc>
                <a:spcPct val="111800"/>
              </a:lnSpc>
              <a:spcBef>
                <a:spcPts val="589"/>
              </a:spcBef>
              <a:buChar char="•"/>
            </a:pPr>
            <a:r>
              <a:rPr sz="2357" b="0" i="0" u="none">
                <a:solidFill>
                  <a:srgbClr val="334155"/>
                </a:solidFill>
                <a:latin typeface="Calibri"/>
              </a:rPr>
              <a:t>Conceptual: a job, a course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3764" y="2482024"/>
            <a:ext cx="5300472" cy="3966355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42379" y="2830639"/>
            <a:ext cx="4603242" cy="49071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2862" b="1" i="0" u="none">
                <a:solidFill>
                  <a:srgbClr val="0F172A"/>
                </a:solidFill>
                <a:latin typeface="Arial"/>
              </a:rPr>
              <a:t>Entity instance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2379" y="3460795"/>
            <a:ext cx="4603242" cy="8231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357" b="0" i="0" u="none">
                <a:solidFill>
                  <a:srgbClr val="334155"/>
                </a:solidFill>
                <a:latin typeface="Calibri"/>
              </a:rPr>
              <a:t>One particular occurrence of an entity.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2379" y="4423438"/>
            <a:ext cx="4603242" cy="8231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329278" indent="-329278">
              <a:lnSpc>
                <a:spcPct val="111800"/>
              </a:lnSpc>
              <a:buChar char="•"/>
            </a:pPr>
            <a:r>
              <a:rPr sz="2357" b="0" i="1" u="none">
                <a:solidFill>
                  <a:srgbClr val="334155"/>
                </a:solidFill>
                <a:latin typeface="Calibri"/>
              </a:rPr>
              <a:t>Mai</a:t>
            </a:r>
            <a:r>
              <a:rPr sz="2357" b="0" i="0" u="none">
                <a:solidFill>
                  <a:srgbClr val="334155"/>
                </a:solidFill>
                <a:latin typeface="Calibri"/>
              </a:rPr>
              <a:t>, </a:t>
            </a:r>
            <a:r>
              <a:rPr sz="2357" b="0" i="1" u="none">
                <a:solidFill>
                  <a:srgbClr val="334155"/>
                </a:solidFill>
                <a:latin typeface="Calibri"/>
              </a:rPr>
              <a:t>Ali</a:t>
            </a:r>
            <a:r>
              <a:rPr sz="2357" b="0" i="0" u="none">
                <a:solidFill>
                  <a:srgbClr val="334155"/>
                </a:solidFill>
                <a:latin typeface="Calibri"/>
              </a:rPr>
              <a:t> are instances of STUDENT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73128" y="2482024"/>
            <a:ext cx="5300472" cy="3966355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421742" y="2830639"/>
            <a:ext cx="4603242" cy="49071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2862" b="1" i="0" u="none">
                <a:solidFill>
                  <a:srgbClr val="0F172A"/>
                </a:solidFill>
                <a:latin typeface="Arial"/>
              </a:rPr>
              <a:t>Attribute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21742" y="3460795"/>
            <a:ext cx="4603242" cy="8231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357" b="0" i="0" u="none">
                <a:solidFill>
                  <a:srgbClr val="334155"/>
                </a:solidFill>
                <a:latin typeface="Calibri"/>
              </a:rPr>
              <a:t>A property that describes the entity.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21742" y="4423438"/>
            <a:ext cx="4603242" cy="8231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329278" indent="-329278">
              <a:lnSpc>
                <a:spcPct val="111800"/>
              </a:lnSpc>
              <a:buChar char="•"/>
            </a:pPr>
            <a:r>
              <a:rPr sz="2357" b="0" i="0" u="none">
                <a:solidFill>
                  <a:srgbClr val="334155"/>
                </a:solidFill>
                <a:latin typeface="Calibri"/>
              </a:rPr>
              <a:t>EMPLOYEE: name, age, address, salary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914400" y="6764457"/>
          <a:ext cx="16459200" cy="1642755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21024"/>
                <a:gridCol w="4279392"/>
                <a:gridCol w="5596128"/>
                <a:gridCol w="2962656"/>
              </a:tblGrid>
              <a:tr h="547585">
                <a:tc>
                  <a:txBody>
                    <a:bodyPr/>
                    <a:lstStyle/>
                    <a:p>
                      <a:r>
                        <a:rPr sz="2188" b="1" i="0" u="none">
                          <a:solidFill>
                            <a:srgbClr val="FFFFFF"/>
                          </a:solidFill>
                          <a:latin typeface="Arial"/>
                        </a:rPr>
                        <a:t>SSN</a:t>
                      </a:r>
                    </a:p>
                  </a:txBody>
                  <a:tcPr marL="138981" marR="138981" marT="83388" marB="83388" anchor="ctr">
                    <a:solidFill>
                      <a:srgbClr val="0F172A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188" b="1" i="0" u="none">
                          <a:solidFill>
                            <a:srgbClr val="FFFFFF"/>
                          </a:solidFill>
                          <a:latin typeface="Arial"/>
                        </a:rPr>
                        <a:t>Name</a:t>
                      </a:r>
                    </a:p>
                  </a:txBody>
                  <a:tcPr marL="138981" marR="138981" marT="83388" marB="83388" anchor="ctr">
                    <a:solidFill>
                      <a:srgbClr val="0F172A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188" b="1" i="0" u="none">
                          <a:solidFill>
                            <a:srgbClr val="FFFFFF"/>
                          </a:solidFill>
                          <a:latin typeface="Arial"/>
                        </a:rPr>
                        <a:t>Address</a:t>
                      </a:r>
                    </a:p>
                  </a:txBody>
                  <a:tcPr marL="138981" marR="138981" marT="83388" marB="83388" anchor="ctr">
                    <a:solidFill>
                      <a:srgbClr val="0F172A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188" b="1" i="0" u="none">
                          <a:solidFill>
                            <a:srgbClr val="FFFFFF"/>
                          </a:solidFill>
                          <a:latin typeface="Arial"/>
                        </a:rPr>
                        <a:t>Salary</a:t>
                      </a:r>
                    </a:p>
                  </a:txBody>
                  <a:tcPr marL="138981" marR="138981" marT="83388" marB="83388" anchor="ctr">
                    <a:solidFill>
                      <a:srgbClr val="0F172A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</a:tr>
              <a:tr h="547585">
                <a:tc>
                  <a:txBody>
                    <a:bodyPr/>
                    <a:lstStyle/>
                    <a:p>
                      <a:r>
                        <a:rPr sz="2188" b="0" i="0" u="none">
                          <a:solidFill>
                            <a:srgbClr val="334155"/>
                          </a:solidFill>
                          <a:latin typeface="Calibri"/>
                        </a:rPr>
                        <a:t>123456789</a:t>
                      </a:r>
                    </a:p>
                  </a:txBody>
                  <a:tcPr marL="138981" marR="138981" marT="83388" marB="83388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188" b="0" i="0" u="none">
                          <a:solidFill>
                            <a:srgbClr val="334155"/>
                          </a:solidFill>
                          <a:latin typeface="Calibri"/>
                        </a:rPr>
                        <a:t>John Smith</a:t>
                      </a:r>
                    </a:p>
                  </a:txBody>
                  <a:tcPr marL="138981" marR="138981" marT="83388" marB="83388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188" b="0" i="0" u="none">
                          <a:solidFill>
                            <a:srgbClr val="334155"/>
                          </a:solidFill>
                          <a:latin typeface="Calibri"/>
                        </a:rPr>
                        <a:t>731 Fondren, Houston</a:t>
                      </a:r>
                    </a:p>
                  </a:txBody>
                  <a:tcPr marL="138981" marR="138981" marT="83388" marB="83388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188" b="0" i="0" u="none">
                          <a:solidFill>
                            <a:srgbClr val="334155"/>
                          </a:solidFill>
                          <a:latin typeface="Calibri"/>
                        </a:rPr>
                        <a:t>30000</a:t>
                      </a:r>
                    </a:p>
                  </a:txBody>
                  <a:tcPr marL="138981" marR="138981" marT="83388" marB="83388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</a:tr>
              <a:tr h="547585">
                <a:tc>
                  <a:txBody>
                    <a:bodyPr/>
                    <a:lstStyle/>
                    <a:p>
                      <a:r>
                        <a:rPr sz="2188" b="0" i="0" u="none">
                          <a:solidFill>
                            <a:srgbClr val="334155"/>
                          </a:solidFill>
                          <a:latin typeface="Calibri"/>
                        </a:rPr>
                        <a:t>333445555</a:t>
                      </a:r>
                    </a:p>
                  </a:txBody>
                  <a:tcPr marL="138981" marR="138981" marT="83388" marB="83388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188" b="0" i="0" u="none">
                          <a:solidFill>
                            <a:srgbClr val="334155"/>
                          </a:solidFill>
                          <a:latin typeface="Calibri"/>
                        </a:rPr>
                        <a:t>Franklin Wong</a:t>
                      </a:r>
                    </a:p>
                  </a:txBody>
                  <a:tcPr marL="138981" marR="138981" marT="83388" marB="83388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188" b="0" i="0" u="none">
                          <a:solidFill>
                            <a:srgbClr val="334155"/>
                          </a:solidFill>
                          <a:latin typeface="Calibri"/>
                        </a:rPr>
                        <a:t>638 Voss, Houston</a:t>
                      </a:r>
                    </a:p>
                  </a:txBody>
                  <a:tcPr marL="138981" marR="138981" marT="83388" marB="83388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188" b="0" i="0" u="none">
                          <a:solidFill>
                            <a:srgbClr val="334155"/>
                          </a:solidFill>
                          <a:latin typeface="Calibri"/>
                        </a:rPr>
                        <a:t>40000</a:t>
                      </a:r>
                    </a:p>
                  </a:txBody>
                  <a:tcPr marL="138981" marR="138981" marT="83388" marB="83388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914400" y="8723292"/>
            <a:ext cx="16459200" cy="37204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020" b="0" i="0" u="none">
                <a:solidFill>
                  <a:srgbClr val="64748B"/>
                </a:solidFill>
                <a:latin typeface="Calibri"/>
              </a:rPr>
              <a:t>Entity type </a:t>
            </a:r>
            <a:r>
              <a:rPr sz="2020" b="1" i="0" u="none">
                <a:solidFill>
                  <a:srgbClr val="64748B"/>
                </a:solidFill>
                <a:latin typeface="Calibri"/>
              </a:rPr>
              <a:t>EMPLOYEE</a:t>
            </a:r>
            <a:r>
              <a:rPr sz="2020" b="0" i="0" u="none">
                <a:solidFill>
                  <a:srgbClr val="64748B"/>
                </a:solidFill>
                <a:latin typeface="Calibri"/>
              </a:rPr>
              <a:t> (the set) · each row = one </a:t>
            </a:r>
            <a:r>
              <a:rPr sz="2020" b="1" i="0" u="none">
                <a:solidFill>
                  <a:srgbClr val="64748B"/>
                </a:solidFill>
                <a:latin typeface="Calibri"/>
              </a:rPr>
              <a:t>instance</a:t>
            </a:r>
            <a:r>
              <a:rPr sz="2020" b="0" i="0" u="none">
                <a:solidFill>
                  <a:srgbClr val="64748B"/>
                </a:solidFill>
                <a:latin typeface="Calibri"/>
              </a:rPr>
              <a:t> · each column = one </a:t>
            </a:r>
            <a:r>
              <a:rPr sz="2020" b="1" i="0" u="none">
                <a:solidFill>
                  <a:srgbClr val="64748B"/>
                </a:solidFill>
                <a:latin typeface="Calibri"/>
              </a:rPr>
              <a:t>attribute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2363152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MODELING BASICS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353752" y="981075"/>
            <a:ext cx="13172123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08/39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6459200" cy="653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320"/>
              </a:lnSpc>
            </a:pPr>
            <a:r>
              <a:rPr sz="4050" b="1" i="0" u="none">
                <a:solidFill>
                  <a:srgbClr val="0F172A"/>
                </a:solidFill>
                <a:latin typeface="Arial"/>
              </a:rPr>
              <a:t>Strong vs weak entity types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34000" y="4953000"/>
            <a:ext cx="2381250" cy="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572750" y="5000625"/>
            <a:ext cx="2286000" cy="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10572750" y="4905375"/>
            <a:ext cx="2286000" cy="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4095750" y="3638550"/>
            <a:ext cx="0" cy="89535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10" name="Connector 9"/>
          <p:cNvCxnSpPr/>
          <p:nvPr/>
        </p:nvCxnSpPr>
        <p:spPr>
          <a:xfrm flipH="1">
            <a:off x="13239750" y="5372100"/>
            <a:ext cx="285750" cy="118110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4859000" y="5372100"/>
            <a:ext cx="952500" cy="118110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sp>
        <p:nvSpPr>
          <p:cNvPr id="12" name="Rectangle 11"/>
          <p:cNvSpPr/>
          <p:nvPr/>
        </p:nvSpPr>
        <p:spPr>
          <a:xfrm>
            <a:off x="2857500" y="4533900"/>
            <a:ext cx="2476500" cy="838200"/>
          </a:xfrm>
          <a:prstGeom prst="rect">
            <a:avLst/>
          </a:prstGeom>
          <a:solidFill>
            <a:srgbClr val="FFFFFF"/>
          </a:solidFill>
          <a:ln w="23812">
            <a:solidFill>
              <a:srgbClr val="0F172A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932" b="1" i="0" u="none">
                <a:solidFill>
                  <a:srgbClr val="0F172A"/>
                </a:solidFill>
                <a:latin typeface="Arial"/>
              </a:rPr>
              <a:t>EMPLOYEE</a:t>
            </a:r>
          </a:p>
        </p:txBody>
      </p:sp>
      <p:sp>
        <p:nvSpPr>
          <p:cNvPr id="13" name="Diamond 12"/>
          <p:cNvSpPr/>
          <p:nvPr/>
        </p:nvSpPr>
        <p:spPr>
          <a:xfrm>
            <a:off x="7715250" y="4286250"/>
            <a:ext cx="2857500" cy="1333500"/>
          </a:xfrm>
          <a:prstGeom prst="diamond">
            <a:avLst/>
          </a:prstGeom>
          <a:solidFill>
            <a:srgbClr val="FDECEF"/>
          </a:solidFill>
          <a:ln w="66675" cmpd="dbl">
            <a:solidFill>
              <a:srgbClr val="C8102E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656" b="1" i="0" u="none">
                <a:solidFill>
                  <a:srgbClr val="0F172A"/>
                </a:solidFill>
                <a:latin typeface="Arial"/>
              </a:rPr>
              <a:t>DEPENDENTS_OF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58750" y="4533900"/>
            <a:ext cx="2667000" cy="838200"/>
          </a:xfrm>
          <a:prstGeom prst="rect">
            <a:avLst/>
          </a:prstGeom>
          <a:solidFill>
            <a:srgbClr val="FFFFFF"/>
          </a:solidFill>
          <a:ln w="66675" cmpd="dbl">
            <a:solidFill>
              <a:srgbClr val="0F172A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932" b="1" i="0" u="none">
                <a:solidFill>
                  <a:srgbClr val="0F172A"/>
                </a:solidFill>
                <a:latin typeface="Arial"/>
              </a:rPr>
              <a:t>DEPENDENT</a:t>
            </a:r>
          </a:p>
        </p:txBody>
      </p:sp>
      <p:sp>
        <p:nvSpPr>
          <p:cNvPr id="15" name="Oval 14"/>
          <p:cNvSpPr/>
          <p:nvPr/>
        </p:nvSpPr>
        <p:spPr>
          <a:xfrm>
            <a:off x="3238500" y="3028950"/>
            <a:ext cx="1714500" cy="609600"/>
          </a:xfrm>
          <a:prstGeom prst="ellipse">
            <a:avLst/>
          </a:prstGeom>
          <a:solidFill>
            <a:srgbClr val="E6F4F4"/>
          </a:solidFill>
          <a:ln w="19050">
            <a:solidFill>
              <a:srgbClr val="0E8A8A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656" b="0" i="0" u="sng">
                <a:solidFill>
                  <a:srgbClr val="0F172A"/>
                </a:solidFill>
                <a:latin typeface="Calibri"/>
              </a:rPr>
              <a:t>Ssn</a:t>
            </a:r>
          </a:p>
        </p:txBody>
      </p:sp>
      <p:sp>
        <p:nvSpPr>
          <p:cNvPr id="16" name="Oval 15"/>
          <p:cNvSpPr/>
          <p:nvPr/>
        </p:nvSpPr>
        <p:spPr>
          <a:xfrm>
            <a:off x="11811000" y="6553200"/>
            <a:ext cx="2667000" cy="609600"/>
          </a:xfrm>
          <a:prstGeom prst="ellipse">
            <a:avLst/>
          </a:prstGeom>
          <a:solidFill>
            <a:srgbClr val="E6F4F4"/>
          </a:solidFill>
          <a:ln w="19050">
            <a:solidFill>
              <a:srgbClr val="0E8A8A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656" b="0" i="0" u="none">
                <a:solidFill>
                  <a:srgbClr val="0F172A"/>
                </a:solidFill>
                <a:latin typeface="Calibri"/>
              </a:rPr>
              <a:t>Name (partial key)</a:t>
            </a:r>
          </a:p>
        </p:txBody>
      </p:sp>
      <p:sp>
        <p:nvSpPr>
          <p:cNvPr id="17" name="Oval 16"/>
          <p:cNvSpPr/>
          <p:nvPr/>
        </p:nvSpPr>
        <p:spPr>
          <a:xfrm>
            <a:off x="15049500" y="6553200"/>
            <a:ext cx="1905000" cy="609600"/>
          </a:xfrm>
          <a:prstGeom prst="ellipse">
            <a:avLst/>
          </a:prstGeom>
          <a:solidFill>
            <a:srgbClr val="E6F4F4"/>
          </a:solidFill>
          <a:ln w="19050">
            <a:solidFill>
              <a:srgbClr val="0E8A8A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656" b="0" i="0" u="none">
                <a:solidFill>
                  <a:srgbClr val="0F172A"/>
                </a:solidFill>
                <a:latin typeface="Calibri"/>
              </a:rPr>
              <a:t>BirthDate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24500" y="4502067"/>
            <a:ext cx="381000" cy="3303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1800"/>
              </a:lnSpc>
            </a:pPr>
            <a:r>
              <a:rPr sz="1794" b="1" i="0" u="none">
                <a:solidFill>
                  <a:srgbClr val="0F172A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87250" y="4502067"/>
            <a:ext cx="381000" cy="3303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1800"/>
              </a:lnSpc>
            </a:pPr>
            <a:r>
              <a:rPr sz="1794" b="1" i="0" u="none">
                <a:solidFill>
                  <a:srgbClr val="0F172A"/>
                </a:solidFill>
                <a:latin typeface="Arial"/>
              </a:rPr>
              <a:t>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9200" y="6096000"/>
            <a:ext cx="7810500" cy="12189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794" b="0" i="0" u="none">
                <a:solidFill>
                  <a:srgbClr val="334155"/>
                </a:solidFill>
                <a:latin typeface="Calibri"/>
              </a:rPr>
              <a:t>A </a:t>
            </a:r>
            <a:r>
              <a:rPr sz="1794" b="1" i="0" u="none">
                <a:solidFill>
                  <a:srgbClr val="334155"/>
                </a:solidFill>
                <a:latin typeface="Calibri"/>
              </a:rPr>
              <a:t>weak entity</a:t>
            </a:r>
            <a:r>
              <a:rPr sz="1794" b="0" i="0" u="none">
                <a:solidFill>
                  <a:srgbClr val="334155"/>
                </a:solidFill>
                <a:latin typeface="Calibri"/>
              </a:rPr>
              <a:t> has no key of its own. It is identified by its </a:t>
            </a:r>
            <a:r>
              <a:rPr sz="1794" b="1" i="0" u="none">
                <a:solidFill>
                  <a:srgbClr val="334155"/>
                </a:solidFill>
                <a:latin typeface="Calibri"/>
              </a:rPr>
              <a:t>owner</a:t>
            </a:r>
            <a:r>
              <a:rPr sz="1794" b="0" i="0" u="none">
                <a:solidFill>
                  <a:srgbClr val="334155"/>
                </a:solidFill>
                <a:latin typeface="Calibri"/>
              </a:rPr>
              <a:t> (EMPLOYEE) + its </a:t>
            </a:r>
            <a:r>
              <a:rPr sz="1794" b="1" i="0" u="none">
                <a:solidFill>
                  <a:srgbClr val="334155"/>
                </a:solidFill>
                <a:latin typeface="Calibri"/>
              </a:rPr>
              <a:t>partial key</a:t>
            </a:r>
            <a:r>
              <a:rPr sz="1794" b="0" i="0" u="none">
                <a:solidFill>
                  <a:srgbClr val="334155"/>
                </a:solidFill>
                <a:latin typeface="Calibri"/>
              </a:rPr>
              <a:t> (Name), through an </a:t>
            </a:r>
            <a:r>
              <a:rPr sz="1794" b="1" i="0" u="none">
                <a:solidFill>
                  <a:srgbClr val="334155"/>
                </a:solidFill>
                <a:latin typeface="Calibri"/>
              </a:rPr>
              <a:t>identifying relationship</a:t>
            </a:r>
            <a:r>
              <a:rPr sz="1794" b="0" i="0" u="none">
                <a:solidFill>
                  <a:srgbClr val="334155"/>
                </a:solidFill>
                <a:latin typeface="Calibri"/>
              </a:rPr>
              <a:t> (double diamond). Its participation is always </a:t>
            </a:r>
            <a:r>
              <a:rPr sz="1794" b="1" i="0" u="none">
                <a:solidFill>
                  <a:srgbClr val="334155"/>
                </a:solidFill>
                <a:latin typeface="Calibri"/>
              </a:rPr>
              <a:t>total</a:t>
            </a:r>
            <a:r>
              <a:rPr sz="1794" b="0" i="0" u="none">
                <a:solidFill>
                  <a:srgbClr val="334155"/>
                </a:solidFill>
                <a:latin typeface="Calibri"/>
              </a:rPr>
              <a:t> (double line).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5715000" cy="33147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800" b="1" i="0" u="none">
                <a:solidFill>
                  <a:srgbClr val="C8102E"/>
                </a:solidFill>
                <a:latin typeface="Arial"/>
              </a:rPr>
              <a:t>SECTION 02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390900" y="981075"/>
            <a:ext cx="13134975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09/39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57500"/>
            <a:ext cx="5715000" cy="2286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86000"/>
              </a:lnSpc>
            </a:pPr>
            <a:r>
              <a:rPr sz="15000" b="1" i="0" u="none">
                <a:solidFill>
                  <a:srgbClr val="C8102E"/>
                </a:solidFill>
                <a:latin typeface="Arial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34000"/>
            <a:ext cx="15240000" cy="1905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300"/>
              </a:lnSpc>
            </a:pPr>
            <a:r>
              <a:rPr sz="6300" b="1" i="0" u="none">
                <a:solidFill>
                  <a:srgbClr val="0F172A"/>
                </a:solidFill>
                <a:latin typeface="Arial"/>
              </a:rPr>
              <a:t>Attributes &amp; keys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7239000"/>
            <a:ext cx="13335000" cy="1143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400" b="0" i="0" u="none">
                <a:solidFill>
                  <a:srgbClr val="334155"/>
                </a:solidFill>
                <a:latin typeface="Calibri"/>
              </a:rPr>
              <a:t>Five kinds of attributes, and how keys identify each instance.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1765934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ATTRIBUTES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56535" y="981075"/>
            <a:ext cx="13769340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10/39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6459200" cy="653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320"/>
              </a:lnSpc>
            </a:pPr>
            <a:r>
              <a:rPr sz="4050" b="1" i="0" u="none">
                <a:solidFill>
                  <a:srgbClr val="0F172A"/>
                </a:solidFill>
                <a:latin typeface="Arial"/>
              </a:rPr>
              <a:t>Attribute types on one entity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953000" y="4305300"/>
            <a:ext cx="2286000" cy="80010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8191500" y="4305300"/>
            <a:ext cx="0" cy="80010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6858000" y="3257550"/>
            <a:ext cx="952500" cy="49530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9" name="Connector 8"/>
          <p:cNvCxnSpPr/>
          <p:nvPr/>
        </p:nvCxnSpPr>
        <p:spPr>
          <a:xfrm flipH="1">
            <a:off x="8572500" y="3257550"/>
            <a:ext cx="952500" cy="49530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10" name="Connector 9"/>
          <p:cNvCxnSpPr/>
          <p:nvPr/>
        </p:nvCxnSpPr>
        <p:spPr>
          <a:xfrm flipH="1">
            <a:off x="9334500" y="4495800"/>
            <a:ext cx="2286000" cy="60960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4953000" y="5943600"/>
            <a:ext cx="2286000" cy="99060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8191500" y="5943600"/>
            <a:ext cx="0" cy="127635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 flipV="1">
            <a:off x="9144000" y="5943600"/>
            <a:ext cx="2476500" cy="99060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sp>
        <p:nvSpPr>
          <p:cNvPr id="14" name="Rectangle 13"/>
          <p:cNvSpPr/>
          <p:nvPr/>
        </p:nvSpPr>
        <p:spPr>
          <a:xfrm>
            <a:off x="6858000" y="5105400"/>
            <a:ext cx="2667000" cy="838200"/>
          </a:xfrm>
          <a:prstGeom prst="rect">
            <a:avLst/>
          </a:prstGeom>
          <a:solidFill>
            <a:srgbClr val="FFFFFF"/>
          </a:solidFill>
          <a:ln w="23812">
            <a:solidFill>
              <a:srgbClr val="0F172A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932" b="1" i="0" u="none">
                <a:solidFill>
                  <a:srgbClr val="0F172A"/>
                </a:solidFill>
                <a:latin typeface="Arial"/>
              </a:rPr>
              <a:t>EMPLOYEE</a:t>
            </a:r>
          </a:p>
        </p:txBody>
      </p:sp>
      <p:sp>
        <p:nvSpPr>
          <p:cNvPr id="15" name="Oval 14"/>
          <p:cNvSpPr/>
          <p:nvPr/>
        </p:nvSpPr>
        <p:spPr>
          <a:xfrm>
            <a:off x="4095750" y="3695700"/>
            <a:ext cx="1714500" cy="609600"/>
          </a:xfrm>
          <a:prstGeom prst="ellipse">
            <a:avLst/>
          </a:prstGeom>
          <a:solidFill>
            <a:srgbClr val="E6F4F4"/>
          </a:solidFill>
          <a:ln w="19050">
            <a:solidFill>
              <a:srgbClr val="0E8A8A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656" b="0" i="0" u="sng">
                <a:solidFill>
                  <a:srgbClr val="0F172A"/>
                </a:solidFill>
                <a:latin typeface="Calibri"/>
              </a:rPr>
              <a:t>Ssn</a:t>
            </a:r>
          </a:p>
        </p:txBody>
      </p:sp>
      <p:sp>
        <p:nvSpPr>
          <p:cNvPr id="16" name="Oval 15"/>
          <p:cNvSpPr/>
          <p:nvPr/>
        </p:nvSpPr>
        <p:spPr>
          <a:xfrm>
            <a:off x="7334250" y="3695700"/>
            <a:ext cx="1714500" cy="609600"/>
          </a:xfrm>
          <a:prstGeom prst="ellipse">
            <a:avLst/>
          </a:prstGeom>
          <a:solidFill>
            <a:srgbClr val="E6F4F4"/>
          </a:solidFill>
          <a:ln w="19050">
            <a:solidFill>
              <a:srgbClr val="0E8A8A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656" b="0" i="0" u="none">
                <a:solidFill>
                  <a:srgbClr val="0F172A"/>
                </a:solidFill>
                <a:latin typeface="Calibri"/>
              </a:rPr>
              <a:t>Name</a:t>
            </a:r>
          </a:p>
        </p:txBody>
      </p:sp>
      <p:sp>
        <p:nvSpPr>
          <p:cNvPr id="17" name="Oval 16"/>
          <p:cNvSpPr/>
          <p:nvPr/>
        </p:nvSpPr>
        <p:spPr>
          <a:xfrm>
            <a:off x="5905500" y="2647950"/>
            <a:ext cx="1524000" cy="609600"/>
          </a:xfrm>
          <a:prstGeom prst="ellipse">
            <a:avLst/>
          </a:prstGeom>
          <a:solidFill>
            <a:srgbClr val="E6F4F4"/>
          </a:solidFill>
          <a:ln w="19050">
            <a:solidFill>
              <a:srgbClr val="0E8A8A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656" b="0" i="0" u="none">
                <a:solidFill>
                  <a:srgbClr val="0F172A"/>
                </a:solidFill>
                <a:latin typeface="Calibri"/>
              </a:rPr>
              <a:t>Fname</a:t>
            </a:r>
          </a:p>
        </p:txBody>
      </p:sp>
      <p:sp>
        <p:nvSpPr>
          <p:cNvPr id="18" name="Oval 17"/>
          <p:cNvSpPr/>
          <p:nvPr/>
        </p:nvSpPr>
        <p:spPr>
          <a:xfrm>
            <a:off x="8953500" y="2647950"/>
            <a:ext cx="1524000" cy="609600"/>
          </a:xfrm>
          <a:prstGeom prst="ellipse">
            <a:avLst/>
          </a:prstGeom>
          <a:solidFill>
            <a:srgbClr val="E6F4F4"/>
          </a:solidFill>
          <a:ln w="19050">
            <a:solidFill>
              <a:srgbClr val="0E8A8A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656" b="0" i="0" u="none">
                <a:solidFill>
                  <a:srgbClr val="0F172A"/>
                </a:solidFill>
                <a:latin typeface="Calibri"/>
              </a:rPr>
              <a:t>Lname</a:t>
            </a:r>
          </a:p>
        </p:txBody>
      </p:sp>
      <p:sp>
        <p:nvSpPr>
          <p:cNvPr id="19" name="Oval 18"/>
          <p:cNvSpPr/>
          <p:nvPr/>
        </p:nvSpPr>
        <p:spPr>
          <a:xfrm>
            <a:off x="10763250" y="3886200"/>
            <a:ext cx="1714500" cy="609600"/>
          </a:xfrm>
          <a:prstGeom prst="ellipse">
            <a:avLst/>
          </a:prstGeom>
          <a:solidFill>
            <a:srgbClr val="E6F4F4"/>
          </a:solidFill>
          <a:ln w="57150" cmpd="dbl">
            <a:solidFill>
              <a:srgbClr val="0E8A8A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656" b="0" i="0" u="none">
                <a:solidFill>
                  <a:srgbClr val="0F172A"/>
                </a:solidFill>
                <a:latin typeface="Calibri"/>
              </a:rPr>
              <a:t>Phones</a:t>
            </a:r>
          </a:p>
        </p:txBody>
      </p:sp>
      <p:sp>
        <p:nvSpPr>
          <p:cNvPr id="20" name="Oval 19"/>
          <p:cNvSpPr/>
          <p:nvPr/>
        </p:nvSpPr>
        <p:spPr>
          <a:xfrm>
            <a:off x="4095750" y="6934200"/>
            <a:ext cx="1714500" cy="609600"/>
          </a:xfrm>
          <a:prstGeom prst="ellipse">
            <a:avLst/>
          </a:prstGeom>
          <a:solidFill>
            <a:srgbClr val="E6F4F4"/>
          </a:solidFill>
          <a:ln w="19050">
            <a:solidFill>
              <a:srgbClr val="0E8A8A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656" b="0" i="0" u="none">
                <a:solidFill>
                  <a:srgbClr val="0F172A"/>
                </a:solidFill>
                <a:latin typeface="Calibri"/>
              </a:rPr>
              <a:t>Salary</a:t>
            </a:r>
          </a:p>
        </p:txBody>
      </p:sp>
      <p:sp>
        <p:nvSpPr>
          <p:cNvPr id="21" name="Oval 20"/>
          <p:cNvSpPr/>
          <p:nvPr/>
        </p:nvSpPr>
        <p:spPr>
          <a:xfrm>
            <a:off x="7239000" y="7219950"/>
            <a:ext cx="1905000" cy="609600"/>
          </a:xfrm>
          <a:prstGeom prst="ellipse">
            <a:avLst/>
          </a:prstGeom>
          <a:solidFill>
            <a:srgbClr val="E6F4F4"/>
          </a:solidFill>
          <a:ln w="19050">
            <a:solidFill>
              <a:srgbClr val="0E8A8A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656" b="0" i="0" u="none">
                <a:solidFill>
                  <a:srgbClr val="0F172A"/>
                </a:solidFill>
                <a:latin typeface="Calibri"/>
              </a:rPr>
              <a:t>BirthDate</a:t>
            </a:r>
          </a:p>
        </p:txBody>
      </p:sp>
      <p:sp>
        <p:nvSpPr>
          <p:cNvPr id="22" name="Oval 21"/>
          <p:cNvSpPr/>
          <p:nvPr/>
        </p:nvSpPr>
        <p:spPr>
          <a:xfrm>
            <a:off x="10763250" y="6934200"/>
            <a:ext cx="1714500" cy="609600"/>
          </a:xfrm>
          <a:prstGeom prst="ellipse">
            <a:avLst/>
          </a:prstGeom>
          <a:solidFill>
            <a:srgbClr val="E6F4F4"/>
          </a:solidFill>
          <a:ln w="19050">
            <a:solidFill>
              <a:srgbClr val="0E8A8A"/>
            </a:solidFill>
            <a:prstDash val="dash"/>
          </a:ln>
        </p:spPr>
        <p:txBody>
          <a:bodyPr rtlCol="0" anchor="ctr" lIns="0" rIns="0" tIns="0" bIns="0" wrap="none"/>
          <a:lstStyle/>
          <a:p>
            <a:pPr algn="ctr"/>
            <a:r>
              <a:rPr sz="1656" b="0" i="0" u="none">
                <a:solidFill>
                  <a:srgbClr val="0F172A"/>
                </a:solidFill>
                <a:latin typeface="Calibri"/>
              </a:rPr>
              <a:t>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525500" y="2857500"/>
            <a:ext cx="3543300" cy="3274009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811250" y="3143250"/>
            <a:ext cx="2971800" cy="270250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31343" indent="-231343">
              <a:lnSpc>
                <a:spcPct val="111800"/>
              </a:lnSpc>
              <a:buChar char="•"/>
            </a:pPr>
            <a:r>
              <a:rPr sz="1656" b="1" i="0" u="none">
                <a:solidFill>
                  <a:srgbClr val="334155"/>
                </a:solidFill>
                <a:latin typeface="Calibri"/>
              </a:rPr>
              <a:t>Ssn</a:t>
            </a:r>
            <a:r>
              <a:rPr sz="1656" b="0" i="0" u="none">
                <a:solidFill>
                  <a:srgbClr val="334155"/>
                </a:solidFill>
                <a:latin typeface="Calibri"/>
              </a:rPr>
              <a:t>: key (underlined)</a:t>
            </a:r>
          </a:p>
          <a:p>
            <a:pPr algn="l" marL="231343" indent="-231343">
              <a:lnSpc>
                <a:spcPct val="111800"/>
              </a:lnSpc>
              <a:spcBef>
                <a:spcPts val="414"/>
              </a:spcBef>
              <a:buChar char="•"/>
            </a:pPr>
            <a:r>
              <a:rPr sz="1656" b="1" i="0" u="none">
                <a:solidFill>
                  <a:srgbClr val="334155"/>
                </a:solidFill>
                <a:latin typeface="Calibri"/>
              </a:rPr>
              <a:t>Name</a:t>
            </a:r>
            <a:r>
              <a:rPr sz="1656" b="0" i="0" u="none">
                <a:solidFill>
                  <a:srgbClr val="334155"/>
                </a:solidFill>
                <a:latin typeface="Calibri"/>
              </a:rPr>
              <a:t>: composite → Fname, Lname</a:t>
            </a:r>
          </a:p>
          <a:p>
            <a:pPr algn="l" marL="231343" indent="-231343">
              <a:lnSpc>
                <a:spcPct val="111800"/>
              </a:lnSpc>
              <a:spcBef>
                <a:spcPts val="414"/>
              </a:spcBef>
              <a:buChar char="•"/>
            </a:pPr>
            <a:r>
              <a:rPr sz="1656" b="1" i="0" u="none">
                <a:solidFill>
                  <a:srgbClr val="334155"/>
                </a:solidFill>
                <a:latin typeface="Calibri"/>
              </a:rPr>
              <a:t>Phones</a:t>
            </a:r>
            <a:r>
              <a:rPr sz="1656" b="0" i="0" u="none">
                <a:solidFill>
                  <a:srgbClr val="334155"/>
                </a:solidFill>
                <a:latin typeface="Calibri"/>
              </a:rPr>
              <a:t>: multi-valued (double)</a:t>
            </a:r>
          </a:p>
          <a:p>
            <a:pPr algn="l" marL="231343" indent="-231343">
              <a:lnSpc>
                <a:spcPct val="111800"/>
              </a:lnSpc>
              <a:spcBef>
                <a:spcPts val="414"/>
              </a:spcBef>
              <a:buChar char="•"/>
            </a:pPr>
            <a:r>
              <a:rPr sz="1656" b="1" i="0" u="none">
                <a:solidFill>
                  <a:srgbClr val="334155"/>
                </a:solidFill>
                <a:latin typeface="Calibri"/>
              </a:rPr>
              <a:t>Age</a:t>
            </a:r>
            <a:r>
              <a:rPr sz="1656" b="0" i="0" u="none">
                <a:solidFill>
                  <a:srgbClr val="334155"/>
                </a:solidFill>
                <a:latin typeface="Calibri"/>
              </a:rPr>
              <a:t>: derived from BirthDate (dashed)</a:t>
            </a:r>
          </a:p>
          <a:p>
            <a:pPr algn="l" marL="231343" indent="-231343">
              <a:lnSpc>
                <a:spcPct val="111800"/>
              </a:lnSpc>
              <a:spcBef>
                <a:spcPts val="414"/>
              </a:spcBef>
              <a:buChar char="•"/>
            </a:pPr>
            <a:r>
              <a:rPr sz="1656" b="1" i="0" u="none">
                <a:solidFill>
                  <a:srgbClr val="334155"/>
                </a:solidFill>
                <a:latin typeface="Calibri"/>
              </a:rPr>
              <a:t>Salary</a:t>
            </a:r>
            <a:r>
              <a:rPr sz="1656" b="0" i="0" u="none">
                <a:solidFill>
                  <a:srgbClr val="334155"/>
                </a:solidFill>
                <a:latin typeface="Calibri"/>
              </a:rPr>
              <a:t>: simple, single-valued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1765934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ATTRIBUTES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56535" y="981075"/>
            <a:ext cx="13769340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11/39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6459200" cy="653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320"/>
              </a:lnSpc>
            </a:pPr>
            <a:r>
              <a:rPr sz="4050" b="1" i="0" u="none">
                <a:solidFill>
                  <a:srgbClr val="0F172A"/>
                </a:solidFill>
                <a:latin typeface="Arial"/>
              </a:rPr>
              <a:t>Attribute types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482024"/>
          <a:ext cx="16459200" cy="494636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962656"/>
                <a:gridCol w="5266944"/>
                <a:gridCol w="5266944"/>
                <a:gridCol w="2962656"/>
              </a:tblGrid>
              <a:tr h="583493">
                <a:tc>
                  <a:txBody>
                    <a:bodyPr/>
                    <a:lstStyle/>
                    <a:p>
                      <a:r>
                        <a:rPr sz="2332" b="1" i="0" u="none">
                          <a:solidFill>
                            <a:srgbClr val="FFFFFF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marL="148094" marR="148094" marT="88856" marB="88856" anchor="ctr">
                    <a:solidFill>
                      <a:srgbClr val="0F172A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32" b="1" i="0" u="none">
                          <a:solidFill>
                            <a:srgbClr val="FFFFFF"/>
                          </a:solidFill>
                          <a:latin typeface="Arial"/>
                        </a:rPr>
                        <a:t>Meaning</a:t>
                      </a:r>
                    </a:p>
                  </a:txBody>
                  <a:tcPr marL="148094" marR="148094" marT="88856" marB="88856" anchor="ctr">
                    <a:solidFill>
                      <a:srgbClr val="0F172A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32" b="1" i="0" u="none">
                          <a:solidFill>
                            <a:srgbClr val="FFFFFF"/>
                          </a:solidFill>
                          <a:latin typeface="Arial"/>
                        </a:rPr>
                        <a:t>Example</a:t>
                      </a:r>
                    </a:p>
                  </a:txBody>
                  <a:tcPr marL="148094" marR="148094" marT="88856" marB="88856" anchor="ctr">
                    <a:solidFill>
                      <a:srgbClr val="0F172A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32" b="1" i="0" u="none">
                          <a:solidFill>
                            <a:srgbClr val="FFFFFF"/>
                          </a:solidFill>
                          <a:latin typeface="Arial"/>
                        </a:rPr>
                        <a:t>Chen symbol</a:t>
                      </a:r>
                    </a:p>
                  </a:txBody>
                  <a:tcPr marL="148094" marR="148094" marT="88856" marB="88856" anchor="ctr">
                    <a:solidFill>
                      <a:srgbClr val="0F172A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</a:tr>
              <a:tr h="944844">
                <a:tc>
                  <a:txBody>
                    <a:bodyPr/>
                    <a:lstStyle/>
                    <a:p>
                      <a:r>
                        <a:rPr sz="2332" b="0" i="0" u="none">
                          <a:solidFill>
                            <a:srgbClr val="334155"/>
                          </a:solidFill>
                          <a:latin typeface="Calibri"/>
                        </a:rPr>
                        <a:t>Simple (atomic)</a:t>
                      </a:r>
                    </a:p>
                  </a:txBody>
                  <a:tcPr marL="148094" marR="148094" marT="88856" marB="88856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32" b="0" i="0" u="none">
                          <a:solidFill>
                            <a:srgbClr val="334155"/>
                          </a:solidFill>
                          <a:latin typeface="Calibri"/>
                        </a:rPr>
                        <a:t>Cannot be divided; one value per instance</a:t>
                      </a:r>
                    </a:p>
                  </a:txBody>
                  <a:tcPr marL="148094" marR="148094" marT="88856" marB="88856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32" b="0" i="0" u="none">
                          <a:solidFill>
                            <a:srgbClr val="334155"/>
                          </a:solidFill>
                          <a:latin typeface="Calibri"/>
                        </a:rPr>
                        <a:t>Salary</a:t>
                      </a:r>
                    </a:p>
                  </a:txBody>
                  <a:tcPr marL="148094" marR="148094" marT="88856" marB="88856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32" b="0" i="0" u="none">
                          <a:solidFill>
                            <a:srgbClr val="334155"/>
                          </a:solidFill>
                          <a:latin typeface="Calibri"/>
                        </a:rPr>
                        <a:t>Ellipse</a:t>
                      </a:r>
                    </a:p>
                  </a:txBody>
                  <a:tcPr marL="148094" marR="148094" marT="88856" marB="88856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</a:tr>
              <a:tr h="944844">
                <a:tc>
                  <a:txBody>
                    <a:bodyPr/>
                    <a:lstStyle/>
                    <a:p>
                      <a:r>
                        <a:rPr sz="2332" b="0" i="0" u="none">
                          <a:solidFill>
                            <a:srgbClr val="334155"/>
                          </a:solidFill>
                          <a:latin typeface="Calibri"/>
                        </a:rPr>
                        <a:t>Composite</a:t>
                      </a:r>
                    </a:p>
                  </a:txBody>
                  <a:tcPr marL="148094" marR="148094" marT="88856" marB="88856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32" b="0" i="0" u="none">
                          <a:solidFill>
                            <a:srgbClr val="334155"/>
                          </a:solidFill>
                          <a:latin typeface="Calibri"/>
                        </a:rPr>
                        <a:t>Made of smaller parts</a:t>
                      </a:r>
                    </a:p>
                  </a:txBody>
                  <a:tcPr marL="148094" marR="148094" marT="88856" marB="88856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32" b="0" i="0" u="none">
                          <a:solidFill>
                            <a:srgbClr val="334155"/>
                          </a:solidFill>
                          <a:latin typeface="Calibri"/>
                        </a:rPr>
                        <a:t>Name = Fname + Lname; Address = Street + City</a:t>
                      </a:r>
                    </a:p>
                  </a:txBody>
                  <a:tcPr marL="148094" marR="148094" marT="88856" marB="88856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32" b="0" i="0" u="none">
                          <a:solidFill>
                            <a:srgbClr val="334155"/>
                          </a:solidFill>
                          <a:latin typeface="Calibri"/>
                        </a:rPr>
                        <a:t>Ellipse with sub-ellipses</a:t>
                      </a:r>
                    </a:p>
                  </a:txBody>
                  <a:tcPr marL="148094" marR="148094" marT="88856" marB="88856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</a:tr>
              <a:tr h="944844">
                <a:tc>
                  <a:txBody>
                    <a:bodyPr/>
                    <a:lstStyle/>
                    <a:p>
                      <a:r>
                        <a:rPr sz="2332" b="0" i="0" u="none">
                          <a:solidFill>
                            <a:srgbClr val="334155"/>
                          </a:solidFill>
                          <a:latin typeface="Calibri"/>
                        </a:rPr>
                        <a:t>Multi-valued</a:t>
                      </a:r>
                    </a:p>
                  </a:txBody>
                  <a:tcPr marL="148094" marR="148094" marT="88856" marB="88856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32" b="0" i="0" u="none">
                          <a:solidFill>
                            <a:srgbClr val="334155"/>
                          </a:solidFill>
                          <a:latin typeface="Calibri"/>
                        </a:rPr>
                        <a:t>A set of values for one instance</a:t>
                      </a:r>
                    </a:p>
                  </a:txBody>
                  <a:tcPr marL="148094" marR="148094" marT="88856" marB="88856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32" b="0" i="0" u="none">
                          <a:solidFill>
                            <a:srgbClr val="334155"/>
                          </a:solidFill>
                          <a:latin typeface="Calibri"/>
                        </a:rPr>
                        <a:t>Phones, Locations, Images</a:t>
                      </a:r>
                    </a:p>
                  </a:txBody>
                  <a:tcPr marL="148094" marR="148094" marT="88856" marB="88856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32" b="0" i="0" u="none">
                          <a:solidFill>
                            <a:srgbClr val="334155"/>
                          </a:solidFill>
                          <a:latin typeface="Calibri"/>
                        </a:rPr>
                        <a:t>Double ellipse</a:t>
                      </a:r>
                    </a:p>
                  </a:txBody>
                  <a:tcPr marL="148094" marR="148094" marT="88856" marB="88856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</a:tr>
              <a:tr h="944844">
                <a:tc>
                  <a:txBody>
                    <a:bodyPr/>
                    <a:lstStyle/>
                    <a:p>
                      <a:r>
                        <a:rPr sz="2332" b="0" i="0" u="none">
                          <a:solidFill>
                            <a:srgbClr val="334155"/>
                          </a:solidFill>
                          <a:latin typeface="Calibri"/>
                        </a:rPr>
                        <a:t>Derived</a:t>
                      </a:r>
                    </a:p>
                  </a:txBody>
                  <a:tcPr marL="148094" marR="148094" marT="88856" marB="88856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32" b="0" i="0" u="none">
                          <a:solidFill>
                            <a:srgbClr val="334155"/>
                          </a:solidFill>
                          <a:latin typeface="Calibri"/>
                        </a:rPr>
                        <a:t>Calculated from other attributes or entities</a:t>
                      </a:r>
                    </a:p>
                  </a:txBody>
                  <a:tcPr marL="148094" marR="148094" marT="88856" marB="88856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32" b="0" i="0" u="none">
                          <a:solidFill>
                            <a:srgbClr val="334155"/>
                          </a:solidFill>
                          <a:latin typeface="Calibri"/>
                        </a:rPr>
                        <a:t>Age from BirthDate; NumberOfEmployees</a:t>
                      </a:r>
                    </a:p>
                  </a:txBody>
                  <a:tcPr marL="148094" marR="148094" marT="88856" marB="88856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32" b="0" i="0" u="none">
                          <a:solidFill>
                            <a:srgbClr val="334155"/>
                          </a:solidFill>
                          <a:latin typeface="Calibri"/>
                        </a:rPr>
                        <a:t>Dashed ellipse</a:t>
                      </a:r>
                    </a:p>
                  </a:txBody>
                  <a:tcPr marL="148094" marR="148094" marT="88856" marB="88856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</a:tr>
              <a:tr h="583493">
                <a:tc>
                  <a:txBody>
                    <a:bodyPr/>
                    <a:lstStyle/>
                    <a:p>
                      <a:r>
                        <a:rPr sz="2332" b="0" i="0" u="none">
                          <a:solidFill>
                            <a:srgbClr val="334155"/>
                          </a:solidFill>
                          <a:latin typeface="Calibri"/>
                        </a:rPr>
                        <a:t>Key</a:t>
                      </a:r>
                    </a:p>
                  </a:txBody>
                  <a:tcPr marL="148094" marR="148094" marT="88856" marB="88856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32" b="0" i="0" u="none">
                          <a:solidFill>
                            <a:srgbClr val="334155"/>
                          </a:solidFill>
                          <a:latin typeface="Calibri"/>
                        </a:rPr>
                        <a:t>Unique for each instance</a:t>
                      </a:r>
                    </a:p>
                  </a:txBody>
                  <a:tcPr marL="148094" marR="148094" marT="88856" marB="88856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32" b="0" i="0" u="none">
                          <a:solidFill>
                            <a:srgbClr val="334155"/>
                          </a:solidFill>
                          <a:latin typeface="Calibri"/>
                        </a:rPr>
                        <a:t>Ssn, Student_ID</a:t>
                      </a:r>
                    </a:p>
                  </a:txBody>
                  <a:tcPr marL="148094" marR="148094" marT="88856" marB="88856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32" b="0" i="0" u="none">
                          <a:solidFill>
                            <a:srgbClr val="334155"/>
                          </a:solidFill>
                          <a:latin typeface="Calibri"/>
                        </a:rPr>
                        <a:t>Underlined name</a:t>
                      </a:r>
                    </a:p>
                  </a:txBody>
                  <a:tcPr marL="148094" marR="148094" marT="88856" marB="88856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914400" y="7849392"/>
            <a:ext cx="16459200" cy="1372476"/>
          </a:xfrm>
          <a:prstGeom prst="rect">
            <a:avLst/>
          </a:prstGeom>
          <a:solidFill>
            <a:srgbClr val="E6F4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7849392"/>
            <a:ext cx="47625" cy="1372476"/>
          </a:xfrm>
          <a:prstGeom prst="rect">
            <a:avLst/>
          </a:prstGeom>
          <a:solidFill>
            <a:srgbClr val="0E8A8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10640" y="8097042"/>
            <a:ext cx="15666720" cy="87717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12000"/>
              </a:lnSpc>
            </a:pPr>
            <a:r>
              <a:rPr sz="2511" b="1" i="0" u="none">
                <a:solidFill>
                  <a:srgbClr val="0E8A8A"/>
                </a:solidFill>
                <a:latin typeface="Arial"/>
              </a:rPr>
              <a:t>Tip: </a:t>
            </a:r>
            <a:r>
              <a:rPr sz="2511" b="0" i="0" u="none">
                <a:solidFill>
                  <a:srgbClr val="0F172A"/>
                </a:solidFill>
                <a:latin typeface="Calibri"/>
              </a:rPr>
              <a:t>Store </a:t>
            </a:r>
            <a:r>
              <a:rPr sz="2511" b="1" i="0" u="none">
                <a:solidFill>
                  <a:srgbClr val="0F172A"/>
                </a:solidFill>
                <a:latin typeface="Calibri"/>
              </a:rPr>
              <a:t>BirthDate</a:t>
            </a:r>
            <a:r>
              <a:rPr sz="2511" b="0" i="0" u="none">
                <a:solidFill>
                  <a:srgbClr val="0F172A"/>
                </a:solidFill>
                <a:latin typeface="Calibri"/>
              </a:rPr>
              <a:t>, not Age: a derived attribute is computed when needed, so it never goes stale.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1049274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KEYS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039874" y="981075"/>
            <a:ext cx="14486001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12/39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6459200" cy="653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320"/>
              </a:lnSpc>
            </a:pPr>
            <a:r>
              <a:rPr sz="4050" b="1" i="0" u="none">
                <a:solidFill>
                  <a:srgbClr val="0F172A"/>
                </a:solidFill>
                <a:latin typeface="Arial"/>
              </a:rPr>
              <a:t>Key attributes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482024"/>
            <a:ext cx="5300472" cy="3966355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63015" y="2830639"/>
            <a:ext cx="4603242" cy="49071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2862" b="1" i="0" u="none">
                <a:solidFill>
                  <a:srgbClr val="0F172A"/>
                </a:solidFill>
                <a:latin typeface="Arial"/>
              </a:rPr>
              <a:t>Simple key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3015" y="3460795"/>
            <a:ext cx="4603242" cy="43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357" b="0" i="0" u="none">
                <a:solidFill>
                  <a:srgbClr val="334155"/>
                </a:solidFill>
                <a:latin typeface="Calibri"/>
              </a:rPr>
              <a:t>One attribute is unique.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3015" y="4034290"/>
            <a:ext cx="4603242" cy="43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329278" indent="-329278">
              <a:lnSpc>
                <a:spcPct val="111800"/>
              </a:lnSpc>
              <a:buChar char="•"/>
            </a:pPr>
            <a:r>
              <a:rPr sz="2357" b="0" i="0" u="none">
                <a:solidFill>
                  <a:srgbClr val="0F172A"/>
                </a:solidFill>
                <a:latin typeface="Courier New"/>
              </a:rPr>
              <a:t>Ssn</a:t>
            </a:r>
            <a:r>
              <a:rPr sz="2357" b="0" i="0" u="none">
                <a:solidFill>
                  <a:srgbClr val="334155"/>
                </a:solidFill>
                <a:latin typeface="Calibri"/>
              </a:rPr>
              <a:t> of EMPLOYEE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3764" y="2482024"/>
            <a:ext cx="5300472" cy="3966355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42379" y="2830639"/>
            <a:ext cx="4603242" cy="49071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2862" b="1" i="0" u="none">
                <a:solidFill>
                  <a:srgbClr val="0F172A"/>
                </a:solidFill>
                <a:latin typeface="Arial"/>
              </a:rPr>
              <a:t>Composite key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2379" y="3460795"/>
            <a:ext cx="4603242" cy="8231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357" b="0" i="0" u="none">
                <a:solidFill>
                  <a:srgbClr val="334155"/>
                </a:solidFill>
                <a:latin typeface="Calibri"/>
              </a:rPr>
              <a:t>A combination of attributes is unique; no part alone 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2379" y="4423438"/>
            <a:ext cx="4603242" cy="898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329278" indent="-329278">
              <a:lnSpc>
                <a:spcPct val="111800"/>
              </a:lnSpc>
              <a:buChar char="•"/>
            </a:pPr>
            <a:r>
              <a:rPr sz="2357" b="0" i="0" u="none">
                <a:solidFill>
                  <a:srgbClr val="334155"/>
                </a:solidFill>
                <a:latin typeface="Calibri"/>
              </a:rPr>
              <a:t>(</a:t>
            </a:r>
            <a:r>
              <a:rPr sz="2357" b="0" i="0" u="none">
                <a:solidFill>
                  <a:srgbClr val="0F172A"/>
                </a:solidFill>
                <a:latin typeface="Courier New"/>
              </a:rPr>
              <a:t>ID</a:t>
            </a:r>
            <a:r>
              <a:rPr sz="2357" b="0" i="0" u="none">
                <a:solidFill>
                  <a:srgbClr val="334155"/>
                </a:solidFill>
                <a:latin typeface="Calibri"/>
              </a:rPr>
              <a:t>, </a:t>
            </a:r>
            <a:r>
              <a:rPr sz="2357" b="0" i="0" u="none">
                <a:solidFill>
                  <a:srgbClr val="0F172A"/>
                </a:solidFill>
                <a:latin typeface="Courier New"/>
              </a:rPr>
              <a:t>Application_no</a:t>
            </a:r>
            <a:r>
              <a:rPr sz="2357" b="0" i="0" u="none">
                <a:solidFill>
                  <a:srgbClr val="334155"/>
                </a:solidFill>
                <a:latin typeface="Calibri"/>
              </a:rPr>
              <a:t>)</a:t>
            </a:r>
          </a:p>
          <a:p>
            <a:pPr algn="l" marL="329278" indent="-329278">
              <a:lnSpc>
                <a:spcPct val="111800"/>
              </a:lnSpc>
              <a:spcBef>
                <a:spcPts val="589"/>
              </a:spcBef>
              <a:buChar char="•"/>
            </a:pPr>
            <a:r>
              <a:rPr sz="2357" b="0" i="0" u="none">
                <a:solidFill>
                  <a:srgbClr val="334155"/>
                </a:solidFill>
                <a:latin typeface="Calibri"/>
              </a:rPr>
              <a:t>Model (</a:t>
            </a:r>
            <a:r>
              <a:rPr sz="2357" b="0" i="0" u="none">
                <a:solidFill>
                  <a:srgbClr val="0F172A"/>
                </a:solidFill>
                <a:latin typeface="Courier New"/>
              </a:rPr>
              <a:t>Name</a:t>
            </a:r>
            <a:r>
              <a:rPr sz="2357" b="0" i="0" u="none">
                <a:solidFill>
                  <a:srgbClr val="334155"/>
                </a:solidFill>
                <a:latin typeface="Calibri"/>
              </a:rPr>
              <a:t>, </a:t>
            </a:r>
            <a:r>
              <a:rPr sz="2357" b="0" i="0" u="none">
                <a:solidFill>
                  <a:srgbClr val="0F172A"/>
                </a:solidFill>
                <a:latin typeface="Courier New"/>
              </a:rPr>
              <a:t>Suffix</a:t>
            </a:r>
            <a:r>
              <a:rPr sz="2357" b="0" i="0" u="none">
                <a:solidFill>
                  <a:srgbClr val="334155"/>
                </a:solidFill>
                <a:latin typeface="Calibri"/>
              </a:rPr>
              <a:t>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73128" y="2482024"/>
            <a:ext cx="5300472" cy="3966355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421742" y="2830639"/>
            <a:ext cx="4603242" cy="49071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2862" b="1" i="0" u="none">
                <a:solidFill>
                  <a:srgbClr val="0F172A"/>
                </a:solidFill>
                <a:latin typeface="Arial"/>
              </a:rPr>
              <a:t>Candidate keys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21742" y="3460795"/>
            <a:ext cx="4603242" cy="8231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357" b="0" i="0" u="none">
                <a:solidFill>
                  <a:srgbClr val="334155"/>
                </a:solidFill>
                <a:latin typeface="Calibri"/>
              </a:rPr>
              <a:t>An entity can have </a:t>
            </a:r>
            <a:r>
              <a:rPr sz="2357" b="1" i="0" u="none">
                <a:solidFill>
                  <a:srgbClr val="334155"/>
                </a:solidFill>
                <a:latin typeface="Calibri"/>
              </a:rPr>
              <a:t>more than one</a:t>
            </a:r>
            <a:r>
              <a:rPr sz="2357" b="0" i="0" u="none">
                <a:solidFill>
                  <a:srgbClr val="334155"/>
                </a:solidFill>
                <a:latin typeface="Calibri"/>
              </a:rPr>
              <a:t> key.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21742" y="4423438"/>
            <a:ext cx="4603242" cy="167632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329278" indent="-329278">
              <a:lnSpc>
                <a:spcPct val="111800"/>
              </a:lnSpc>
              <a:buChar char="•"/>
            </a:pPr>
            <a:r>
              <a:rPr sz="2357" b="0" i="0" u="none">
                <a:solidFill>
                  <a:srgbClr val="334155"/>
                </a:solidFill>
                <a:latin typeface="Calibri"/>
              </a:rPr>
              <a:t>EMPLOYEE: </a:t>
            </a:r>
            <a:r>
              <a:rPr sz="2357" b="0" i="0" u="none">
                <a:solidFill>
                  <a:srgbClr val="0F172A"/>
                </a:solidFill>
                <a:latin typeface="Courier New"/>
              </a:rPr>
              <a:t>Ssn</a:t>
            </a:r>
            <a:r>
              <a:rPr sz="2357" b="0" i="0" u="none">
                <a:solidFill>
                  <a:srgbClr val="334155"/>
                </a:solidFill>
                <a:latin typeface="Calibri"/>
              </a:rPr>
              <a:t> and </a:t>
            </a:r>
            <a:r>
              <a:rPr sz="2357" b="0" i="0" u="none">
                <a:solidFill>
                  <a:srgbClr val="0F172A"/>
                </a:solidFill>
                <a:latin typeface="Courier New"/>
              </a:rPr>
              <a:t>Email</a:t>
            </a:r>
          </a:p>
          <a:p>
            <a:pPr algn="l" marL="329278" indent="-329278">
              <a:lnSpc>
                <a:spcPct val="111800"/>
              </a:lnSpc>
              <a:spcBef>
                <a:spcPts val="589"/>
              </a:spcBef>
              <a:buChar char="•"/>
            </a:pPr>
            <a:r>
              <a:rPr sz="2357" b="0" i="0" u="none">
                <a:solidFill>
                  <a:srgbClr val="334155"/>
                </a:solidFill>
                <a:latin typeface="Calibri"/>
              </a:rPr>
              <a:t>Each key is underlined separately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6843477"/>
            <a:ext cx="16459200" cy="128801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6843477"/>
            <a:ext cx="47625" cy="128801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6256" y="7075887"/>
            <a:ext cx="15715488" cy="8231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12000"/>
              </a:lnSpc>
            </a:pPr>
            <a:r>
              <a:rPr sz="2357" b="1" i="0" u="none">
                <a:solidFill>
                  <a:srgbClr val="B45309"/>
                </a:solidFill>
                <a:latin typeface="Arial"/>
              </a:rPr>
              <a:t>Note: </a:t>
            </a:r>
            <a:r>
              <a:rPr sz="2357" b="0" i="0" u="none">
                <a:solidFill>
                  <a:srgbClr val="0F172A"/>
                </a:solidFill>
                <a:latin typeface="Calibri"/>
              </a:rPr>
              <a:t>There is </a:t>
            </a:r>
            <a:r>
              <a:rPr sz="2357" b="1" i="0" u="none">
                <a:solidFill>
                  <a:srgbClr val="0F172A"/>
                </a:solidFill>
                <a:latin typeface="Calibri"/>
              </a:rPr>
              <a:t>no primary key in an ERD</a:t>
            </a:r>
            <a:r>
              <a:rPr sz="2357" b="0" i="0" u="none">
                <a:solidFill>
                  <a:srgbClr val="0F172A"/>
                </a:solidFill>
                <a:latin typeface="Calibri"/>
              </a:rPr>
              <a:t>. We pick one candidate key as the primary key later, during mapping (Lesson 3).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8526590"/>
            <a:ext cx="16459200" cy="898868"/>
          </a:xfrm>
          <a:prstGeom prst="rect">
            <a:avLst/>
          </a:prstGeom>
          <a:solidFill>
            <a:srgbClr val="E6F4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8526590"/>
            <a:ext cx="47625" cy="898868"/>
          </a:xfrm>
          <a:prstGeom prst="rect">
            <a:avLst/>
          </a:prstGeom>
          <a:solidFill>
            <a:srgbClr val="0E8A8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86256" y="8759000"/>
            <a:ext cx="15715488" cy="43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12000"/>
              </a:lnSpc>
            </a:pPr>
            <a:r>
              <a:rPr sz="2357" b="0" i="0" u="none">
                <a:solidFill>
                  <a:srgbClr val="0F172A"/>
                </a:solidFill>
                <a:latin typeface="Calibri"/>
              </a:rPr>
              <a:t>An entity type with </a:t>
            </a:r>
            <a:r>
              <a:rPr sz="2357" b="1" i="0" u="none">
                <a:solidFill>
                  <a:srgbClr val="0F172A"/>
                </a:solidFill>
                <a:latin typeface="Calibri"/>
              </a:rPr>
              <a:t>no key</a:t>
            </a:r>
            <a:r>
              <a:rPr sz="2357" b="0" i="0" u="none">
                <a:solidFill>
                  <a:srgbClr val="0F172A"/>
                </a:solidFill>
                <a:latin typeface="Calibri"/>
              </a:rPr>
              <a:t> of its own is a </a:t>
            </a:r>
            <a:r>
              <a:rPr sz="2357" b="1" i="0" u="none">
                <a:solidFill>
                  <a:srgbClr val="0F172A"/>
                </a:solidFill>
                <a:latin typeface="Calibri"/>
              </a:rPr>
              <a:t>weak entity</a:t>
            </a:r>
            <a:r>
              <a:rPr sz="2357" b="0" i="0" u="none">
                <a:solidFill>
                  <a:srgbClr val="0F172A"/>
                </a:solidFill>
                <a:latin typeface="Calibri"/>
              </a:rPr>
              <a:t> type.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5715000" cy="33147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800" b="1" i="0" u="none">
                <a:solidFill>
                  <a:srgbClr val="C8102E"/>
                </a:solidFill>
                <a:latin typeface="Arial"/>
              </a:rPr>
              <a:t>SECTION 03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390900" y="981075"/>
            <a:ext cx="13134975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13/39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57500"/>
            <a:ext cx="5715000" cy="2286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86000"/>
              </a:lnSpc>
            </a:pPr>
            <a:r>
              <a:rPr sz="15000" b="1" i="0" u="none">
                <a:solidFill>
                  <a:srgbClr val="C8102E"/>
                </a:solidFill>
                <a:latin typeface="Arial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34000"/>
            <a:ext cx="15240000" cy="1905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300"/>
              </a:lnSpc>
            </a:pPr>
            <a:r>
              <a:rPr sz="6300" b="1" i="0" u="none">
                <a:solidFill>
                  <a:srgbClr val="0F172A"/>
                </a:solidFill>
                <a:latin typeface="Arial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7239000"/>
            <a:ext cx="13335000" cy="1143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400" b="0" i="0" u="none">
                <a:solidFill>
                  <a:srgbClr val="334155"/>
                </a:solidFill>
                <a:latin typeface="Calibri"/>
              </a:rPr>
              <a:t>How entities connect: degree, cardinality ratio and participation.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2124265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RELATIONSHIPS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114865" y="981075"/>
            <a:ext cx="13411010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14/39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6459200" cy="653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320"/>
              </a:lnSpc>
            </a:pPr>
            <a:r>
              <a:rPr sz="4050" b="1" i="0" u="none">
                <a:solidFill>
                  <a:srgbClr val="0F172A"/>
                </a:solidFill>
                <a:latin typeface="Arial"/>
              </a:rPr>
              <a:t>Describing a relationship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82024"/>
            <a:ext cx="16459200" cy="107960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3091" b="0" i="0" u="none">
                <a:solidFill>
                  <a:srgbClr val="334155"/>
                </a:solidFill>
                <a:latin typeface="Calibri"/>
              </a:rPr>
              <a:t>A </a:t>
            </a:r>
            <a:r>
              <a:rPr sz="3091" b="1" i="0" u="none">
                <a:solidFill>
                  <a:srgbClr val="334155"/>
                </a:solidFill>
                <a:latin typeface="Calibri"/>
              </a:rPr>
              <a:t>relationship</a:t>
            </a:r>
            <a:r>
              <a:rPr sz="3091" b="0" i="0" u="none">
                <a:solidFill>
                  <a:srgbClr val="334155"/>
                </a:solidFill>
                <a:latin typeface="Calibri"/>
              </a:rPr>
              <a:t> is an association between entity instances: </a:t>
            </a:r>
            <a:r>
              <a:rPr sz="3091" b="0" i="1" u="none">
                <a:solidFill>
                  <a:srgbClr val="334155"/>
                </a:solidFill>
                <a:latin typeface="Calibri"/>
              </a:rPr>
              <a:t>Ali</a:t>
            </a:r>
            <a:r>
              <a:rPr sz="3091" b="0" i="0" u="none">
                <a:solidFill>
                  <a:srgbClr val="334155"/>
                </a:solidFill>
                <a:latin typeface="Calibri"/>
              </a:rPr>
              <a:t> </a:t>
            </a:r>
            <a:r>
              <a:rPr sz="3091" b="1" i="0" u="none">
                <a:solidFill>
                  <a:srgbClr val="334155"/>
                </a:solidFill>
                <a:latin typeface="Calibri"/>
              </a:rPr>
              <a:t>works for</a:t>
            </a:r>
            <a:r>
              <a:rPr sz="3091" b="0" i="0" u="none">
                <a:solidFill>
                  <a:srgbClr val="334155"/>
                </a:solidFill>
                <a:latin typeface="Calibri"/>
              </a:rPr>
              <a:t> </a:t>
            </a:r>
            <a:r>
              <a:rPr sz="3091" b="0" i="1" u="none">
                <a:solidFill>
                  <a:srgbClr val="334155"/>
                </a:solidFill>
                <a:latin typeface="Calibri"/>
              </a:rPr>
              <a:t>Research</a:t>
            </a:r>
            <a:r>
              <a:rPr sz="3091" b="0" i="0" u="none">
                <a:solidFill>
                  <a:srgbClr val="334155"/>
                </a:solidFill>
                <a:latin typeface="Calibri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015016"/>
            <a:ext cx="5273040" cy="3501397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450" y="4415066"/>
            <a:ext cx="4472940" cy="4269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318" b="1" i="0" u="none">
                <a:solidFill>
                  <a:srgbClr val="C8102E"/>
                </a:solidFill>
                <a:latin typeface="Arial"/>
              </a:rPr>
              <a:t>How many?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4450" y="5002019"/>
            <a:ext cx="4472940" cy="56311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3284" b="1" i="0" u="none">
                <a:solidFill>
                  <a:srgbClr val="0F172A"/>
                </a:solidFill>
                <a:latin typeface="Arial"/>
              </a:rPr>
              <a:t>Degree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4450" y="5725149"/>
            <a:ext cx="4472940" cy="139121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704" b="0" i="0" u="none">
                <a:solidFill>
                  <a:srgbClr val="334155"/>
                </a:solidFill>
                <a:latin typeface="Calibri"/>
              </a:rPr>
              <a:t>How many entity types take part: unary, binary, ternary…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07480" y="4015016"/>
            <a:ext cx="5273040" cy="3501397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7530" y="4415066"/>
            <a:ext cx="4472940" cy="4269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318" b="1" i="0" u="none">
                <a:solidFill>
                  <a:srgbClr val="C8102E"/>
                </a:solidFill>
                <a:latin typeface="Arial"/>
              </a:rPr>
              <a:t>At most?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7530" y="5002019"/>
            <a:ext cx="4472940" cy="56311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3284" b="1" i="0" u="none">
                <a:solidFill>
                  <a:srgbClr val="0F172A"/>
                </a:solidFill>
                <a:latin typeface="Arial"/>
              </a:rPr>
              <a:t>Cardinality ratio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7530" y="5725149"/>
            <a:ext cx="4472940" cy="139121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704" b="0" i="0" u="none">
                <a:solidFill>
                  <a:srgbClr val="334155"/>
                </a:solidFill>
                <a:latin typeface="Calibri"/>
              </a:rPr>
              <a:t>The </a:t>
            </a:r>
            <a:r>
              <a:rPr sz="2704" b="1" i="0" u="none">
                <a:solidFill>
                  <a:srgbClr val="334155"/>
                </a:solidFill>
                <a:latin typeface="Calibri"/>
              </a:rPr>
              <a:t>maximum</a:t>
            </a:r>
            <a:r>
              <a:rPr sz="2704" b="0" i="0" u="none">
                <a:solidFill>
                  <a:srgbClr val="334155"/>
                </a:solidFill>
                <a:latin typeface="Calibri"/>
              </a:rPr>
              <a:t> number of instances an entity can be related to: 1:1, 1:N, M:N.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100560" y="4015016"/>
            <a:ext cx="5273040" cy="3501397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500610" y="4415066"/>
            <a:ext cx="4472940" cy="4269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318" b="1" i="0" u="none">
                <a:solidFill>
                  <a:srgbClr val="C8102E"/>
                </a:solidFill>
                <a:latin typeface="Arial"/>
              </a:rPr>
              <a:t>At least?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00610" y="5002019"/>
            <a:ext cx="4472940" cy="56311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3284" b="1" i="0" u="none">
                <a:solidFill>
                  <a:srgbClr val="0F172A"/>
                </a:solidFill>
                <a:latin typeface="Arial"/>
              </a:rPr>
              <a:t>Participation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00610" y="5725149"/>
            <a:ext cx="4472940" cy="139121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704" b="0" i="0" u="none">
                <a:solidFill>
                  <a:srgbClr val="334155"/>
                </a:solidFill>
                <a:latin typeface="Calibri"/>
              </a:rPr>
              <a:t>The </a:t>
            </a:r>
            <a:r>
              <a:rPr sz="2704" b="1" i="0" u="none">
                <a:solidFill>
                  <a:srgbClr val="334155"/>
                </a:solidFill>
                <a:latin typeface="Calibri"/>
              </a:rPr>
              <a:t>minimum</a:t>
            </a:r>
            <a:r>
              <a:rPr sz="2704" b="0" i="0" u="none">
                <a:solidFill>
                  <a:srgbClr val="334155"/>
                </a:solidFill>
                <a:latin typeface="Calibri"/>
              </a:rPr>
              <a:t>: must every instance take part (total) or not (partial)?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2124265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RELATIONSHIPS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114865" y="981075"/>
            <a:ext cx="13411010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15/39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6459200" cy="653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320"/>
              </a:lnSpc>
            </a:pPr>
            <a:r>
              <a:rPr sz="4050" b="1" i="0" u="none">
                <a:solidFill>
                  <a:srgbClr val="0F172A"/>
                </a:solidFill>
                <a:latin typeface="Arial"/>
              </a:rPr>
              <a:t>Degree of a relationship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2714625" y="4038600"/>
            <a:ext cx="428625" cy="205740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4476750" y="4038600"/>
            <a:ext cx="428625" cy="205740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9144000" y="4038600"/>
            <a:ext cx="0" cy="72390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9144000" y="5905500"/>
            <a:ext cx="0" cy="72390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14478000" y="4038600"/>
            <a:ext cx="0" cy="771525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11" name="Connector 10"/>
          <p:cNvCxnSpPr/>
          <p:nvPr/>
        </p:nvCxnSpPr>
        <p:spPr>
          <a:xfrm flipH="1">
            <a:off x="13335000" y="5600700"/>
            <a:ext cx="666750" cy="121920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14954250" y="5600700"/>
            <a:ext cx="666750" cy="121920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667000" y="3200400"/>
            <a:ext cx="2286000" cy="838200"/>
          </a:xfrm>
          <a:prstGeom prst="rect">
            <a:avLst/>
          </a:prstGeom>
          <a:solidFill>
            <a:srgbClr val="FFFFFF"/>
          </a:solidFill>
          <a:ln w="23812">
            <a:solidFill>
              <a:srgbClr val="0F172A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932" b="1" i="0" u="none">
                <a:solidFill>
                  <a:srgbClr val="0F172A"/>
                </a:solidFill>
                <a:latin typeface="Arial"/>
              </a:rPr>
              <a:t>EMPLOYEE</a:t>
            </a:r>
          </a:p>
        </p:txBody>
      </p:sp>
      <p:sp>
        <p:nvSpPr>
          <p:cNvPr id="14" name="Diamond 13"/>
          <p:cNvSpPr/>
          <p:nvPr/>
        </p:nvSpPr>
        <p:spPr>
          <a:xfrm>
            <a:off x="2714625" y="5524500"/>
            <a:ext cx="2190750" cy="1143000"/>
          </a:xfrm>
          <a:prstGeom prst="diamond">
            <a:avLst/>
          </a:prstGeom>
          <a:solidFill>
            <a:srgbClr val="FDECEF"/>
          </a:solidFill>
          <a:ln w="23812">
            <a:solidFill>
              <a:srgbClr val="C8102E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656" b="1" i="0" u="none">
                <a:solidFill>
                  <a:srgbClr val="0F172A"/>
                </a:solidFill>
                <a:latin typeface="Arial"/>
              </a:rPr>
              <a:t>SUPERVISES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3200400"/>
            <a:ext cx="2286000" cy="838200"/>
          </a:xfrm>
          <a:prstGeom prst="rect">
            <a:avLst/>
          </a:prstGeom>
          <a:solidFill>
            <a:srgbClr val="FFFFFF"/>
          </a:solidFill>
          <a:ln w="23812">
            <a:solidFill>
              <a:srgbClr val="0F172A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932" b="1" i="0" u="none">
                <a:solidFill>
                  <a:srgbClr val="0F172A"/>
                </a:solidFill>
                <a:latin typeface="Arial"/>
              </a:rPr>
              <a:t>EMPLOYEE</a:t>
            </a:r>
          </a:p>
        </p:txBody>
      </p:sp>
      <p:sp>
        <p:nvSpPr>
          <p:cNvPr id="16" name="Diamond 15"/>
          <p:cNvSpPr/>
          <p:nvPr/>
        </p:nvSpPr>
        <p:spPr>
          <a:xfrm>
            <a:off x="8048625" y="4762500"/>
            <a:ext cx="2190750" cy="1143000"/>
          </a:xfrm>
          <a:prstGeom prst="diamond">
            <a:avLst/>
          </a:prstGeom>
          <a:solidFill>
            <a:srgbClr val="FDECEF"/>
          </a:solidFill>
          <a:ln w="23812">
            <a:solidFill>
              <a:srgbClr val="C8102E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656" b="1" i="0" u="none">
                <a:solidFill>
                  <a:srgbClr val="0F172A"/>
                </a:solidFill>
                <a:latin typeface="Arial"/>
              </a:rPr>
              <a:t>WORKS_FOR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05750" y="6629400"/>
            <a:ext cx="2476500" cy="838200"/>
          </a:xfrm>
          <a:prstGeom prst="rect">
            <a:avLst/>
          </a:prstGeom>
          <a:solidFill>
            <a:srgbClr val="FFFFFF"/>
          </a:solidFill>
          <a:ln w="23812">
            <a:solidFill>
              <a:srgbClr val="0F172A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932" b="1" i="0" u="none">
                <a:solidFill>
                  <a:srgbClr val="0F172A"/>
                </a:solidFill>
                <a:latin typeface="Arial"/>
              </a:rPr>
              <a:t>DEPARTMENT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335000" y="3200400"/>
            <a:ext cx="2286000" cy="838200"/>
          </a:xfrm>
          <a:prstGeom prst="rect">
            <a:avLst/>
          </a:prstGeom>
          <a:solidFill>
            <a:srgbClr val="FFFFFF"/>
          </a:solidFill>
          <a:ln w="23812">
            <a:solidFill>
              <a:srgbClr val="0F172A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932" b="1" i="0" u="none">
                <a:solidFill>
                  <a:srgbClr val="0F172A"/>
                </a:solidFill>
                <a:latin typeface="Arial"/>
              </a:rPr>
              <a:t>SUPPLIER</a:t>
            </a:r>
          </a:p>
        </p:txBody>
      </p:sp>
      <p:sp>
        <p:nvSpPr>
          <p:cNvPr id="19" name="Diamond 18"/>
          <p:cNvSpPr/>
          <p:nvPr/>
        </p:nvSpPr>
        <p:spPr>
          <a:xfrm>
            <a:off x="13525500" y="4810125"/>
            <a:ext cx="1905000" cy="1047750"/>
          </a:xfrm>
          <a:prstGeom prst="diamond">
            <a:avLst/>
          </a:prstGeom>
          <a:solidFill>
            <a:srgbClr val="FDECEF"/>
          </a:solidFill>
          <a:ln w="23812">
            <a:solidFill>
              <a:srgbClr val="C8102E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656" b="1" i="0" u="none">
                <a:solidFill>
                  <a:srgbClr val="0F172A"/>
                </a:solidFill>
                <a:latin typeface="Arial"/>
              </a:rPr>
              <a:t>SUPPLY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192000" y="6819900"/>
            <a:ext cx="1905000" cy="838200"/>
          </a:xfrm>
          <a:prstGeom prst="rect">
            <a:avLst/>
          </a:prstGeom>
          <a:solidFill>
            <a:srgbClr val="FFFFFF"/>
          </a:solidFill>
          <a:ln w="23812">
            <a:solidFill>
              <a:srgbClr val="0F172A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932" b="1" i="0" u="none">
                <a:solidFill>
                  <a:srgbClr val="0F172A"/>
                </a:solidFill>
                <a:latin typeface="Arial"/>
              </a:rPr>
              <a:t>PART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763750" y="6819900"/>
            <a:ext cx="2095500" cy="838200"/>
          </a:xfrm>
          <a:prstGeom prst="rect">
            <a:avLst/>
          </a:prstGeom>
          <a:solidFill>
            <a:srgbClr val="FFFFFF"/>
          </a:solidFill>
          <a:ln w="23812">
            <a:solidFill>
              <a:srgbClr val="0F172A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932" b="1" i="0" u="none">
                <a:solidFill>
                  <a:srgbClr val="0F172A"/>
                </a:solidFill>
                <a:latin typeface="Arial"/>
              </a:rPr>
              <a:t>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1625" y="4800523"/>
            <a:ext cx="1428750" cy="3049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1800"/>
              </a:lnSpc>
            </a:pPr>
            <a:r>
              <a:rPr sz="1656" b="0" i="0" u="none">
                <a:solidFill>
                  <a:srgbClr val="64748B"/>
                </a:solidFill>
                <a:latin typeface="Calibri"/>
              </a:rPr>
              <a:t>supervisor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7250" y="4800523"/>
            <a:ext cx="1428750" cy="3049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1800"/>
              </a:lnSpc>
            </a:pPr>
            <a:r>
              <a:rPr sz="1656" b="0" i="0" u="none">
                <a:solidFill>
                  <a:srgbClr val="64748B"/>
                </a:solidFill>
                <a:latin typeface="Calibri"/>
              </a:rPr>
              <a:t>supervisee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3500" y="7962900"/>
            <a:ext cx="4953000" cy="3303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1800"/>
              </a:lnSpc>
            </a:pPr>
            <a:r>
              <a:rPr sz="1794" b="1" i="0" u="none">
                <a:solidFill>
                  <a:srgbClr val="C8102E"/>
                </a:solidFill>
                <a:latin typeface="Calibri"/>
              </a:rPr>
              <a:t>Unary (recursive): 1 entity type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7500" y="7962900"/>
            <a:ext cx="4953000" cy="3303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1800"/>
              </a:lnSpc>
            </a:pPr>
            <a:r>
              <a:rPr sz="1794" b="1" i="0" u="none">
                <a:solidFill>
                  <a:srgbClr val="C8102E"/>
                </a:solidFill>
                <a:latin typeface="Calibri"/>
              </a:rPr>
              <a:t>Binary: 2 entity types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001500" y="7962900"/>
            <a:ext cx="4953000" cy="3303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1800"/>
              </a:lnSpc>
            </a:pPr>
            <a:r>
              <a:rPr sz="1794" b="1" i="0" u="none">
                <a:solidFill>
                  <a:srgbClr val="C8102E"/>
                </a:solidFill>
                <a:latin typeface="Calibri"/>
              </a:rPr>
              <a:t>Ternary: 3 entity types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2124265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RELATIONSHIPS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114865" y="981075"/>
            <a:ext cx="13411010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16/39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6459200" cy="653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320"/>
              </a:lnSpc>
            </a:pPr>
            <a:r>
              <a:rPr sz="4050" b="1" i="0" u="none">
                <a:solidFill>
                  <a:srgbClr val="0F172A"/>
                </a:solidFill>
                <a:latin typeface="Arial"/>
              </a:rPr>
              <a:t>Cardinality ratio: 1:1, 1:N, M:N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048125" y="3524250"/>
            <a:ext cx="1047750" cy="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7096125" y="3524250"/>
            <a:ext cx="1047750" cy="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4048125" y="5524500"/>
            <a:ext cx="1047750" cy="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7096125" y="5524500"/>
            <a:ext cx="1047750" cy="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4048125" y="7524750"/>
            <a:ext cx="1047750" cy="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7096125" y="7524750"/>
            <a:ext cx="1047750" cy="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sp>
        <p:nvSpPr>
          <p:cNvPr id="12" name="Rectangle 11"/>
          <p:cNvSpPr/>
          <p:nvPr/>
        </p:nvSpPr>
        <p:spPr>
          <a:xfrm>
            <a:off x="1666875" y="3143250"/>
            <a:ext cx="2381250" cy="762000"/>
          </a:xfrm>
          <a:prstGeom prst="rect">
            <a:avLst/>
          </a:prstGeom>
          <a:solidFill>
            <a:srgbClr val="FFFFFF"/>
          </a:solidFill>
          <a:ln w="23812">
            <a:solidFill>
              <a:srgbClr val="0F172A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794" b="1" i="0" u="none">
                <a:solidFill>
                  <a:srgbClr val="0F172A"/>
                </a:solidFill>
                <a:latin typeface="Arial"/>
              </a:rPr>
              <a:t>EMPLOYEE</a:t>
            </a:r>
          </a:p>
        </p:txBody>
      </p:sp>
      <p:sp>
        <p:nvSpPr>
          <p:cNvPr id="13" name="Diamond 12"/>
          <p:cNvSpPr/>
          <p:nvPr/>
        </p:nvSpPr>
        <p:spPr>
          <a:xfrm>
            <a:off x="5095875" y="3000375"/>
            <a:ext cx="2000250" cy="1047750"/>
          </a:xfrm>
          <a:prstGeom prst="diamond">
            <a:avLst/>
          </a:prstGeom>
          <a:solidFill>
            <a:srgbClr val="FDECEF"/>
          </a:solidFill>
          <a:ln w="23812">
            <a:solidFill>
              <a:srgbClr val="C8102E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656" b="1" i="0" u="none">
                <a:solidFill>
                  <a:srgbClr val="0F172A"/>
                </a:solidFill>
                <a:latin typeface="Arial"/>
              </a:rPr>
              <a:t>MANAGES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43875" y="3143250"/>
            <a:ext cx="2381250" cy="762000"/>
          </a:xfrm>
          <a:prstGeom prst="rect">
            <a:avLst/>
          </a:prstGeom>
          <a:solidFill>
            <a:srgbClr val="FFFFFF"/>
          </a:solidFill>
          <a:ln w="23812">
            <a:solidFill>
              <a:srgbClr val="0F172A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794" b="1" i="0" u="none">
                <a:solidFill>
                  <a:srgbClr val="0F172A"/>
                </a:solidFill>
                <a:latin typeface="Arial"/>
              </a:rPr>
              <a:t>DEPARTMENT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66875" y="5143500"/>
            <a:ext cx="2381250" cy="762000"/>
          </a:xfrm>
          <a:prstGeom prst="rect">
            <a:avLst/>
          </a:prstGeom>
          <a:solidFill>
            <a:srgbClr val="FFFFFF"/>
          </a:solidFill>
          <a:ln w="23812">
            <a:solidFill>
              <a:srgbClr val="0F172A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794" b="1" i="0" u="none">
                <a:solidFill>
                  <a:srgbClr val="0F172A"/>
                </a:solidFill>
                <a:latin typeface="Arial"/>
              </a:rPr>
              <a:t>DEPARTMENT</a:t>
            </a:r>
          </a:p>
        </p:txBody>
      </p:sp>
      <p:sp>
        <p:nvSpPr>
          <p:cNvPr id="16" name="Diamond 15"/>
          <p:cNvSpPr/>
          <p:nvPr/>
        </p:nvSpPr>
        <p:spPr>
          <a:xfrm>
            <a:off x="5095875" y="5000625"/>
            <a:ext cx="2000250" cy="1047750"/>
          </a:xfrm>
          <a:prstGeom prst="diamond">
            <a:avLst/>
          </a:prstGeom>
          <a:solidFill>
            <a:srgbClr val="FDECEF"/>
          </a:solidFill>
          <a:ln w="23812">
            <a:solidFill>
              <a:srgbClr val="C8102E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656" b="1" i="0" u="none">
                <a:solidFill>
                  <a:srgbClr val="0F172A"/>
                </a:solidFill>
                <a:latin typeface="Arial"/>
              </a:rPr>
              <a:t>HAS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43875" y="5143500"/>
            <a:ext cx="2381250" cy="762000"/>
          </a:xfrm>
          <a:prstGeom prst="rect">
            <a:avLst/>
          </a:prstGeom>
          <a:solidFill>
            <a:srgbClr val="FFFFFF"/>
          </a:solidFill>
          <a:ln w="23812">
            <a:solidFill>
              <a:srgbClr val="0F172A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794" b="1" i="0" u="none">
                <a:solidFill>
                  <a:srgbClr val="0F172A"/>
                </a:solidFill>
                <a:latin typeface="Arial"/>
              </a:rPr>
              <a:t>EMPLOYEE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66875" y="7143750"/>
            <a:ext cx="2381250" cy="762000"/>
          </a:xfrm>
          <a:prstGeom prst="rect">
            <a:avLst/>
          </a:prstGeom>
          <a:solidFill>
            <a:srgbClr val="FFFFFF"/>
          </a:solidFill>
          <a:ln w="23812">
            <a:solidFill>
              <a:srgbClr val="0F172A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794" b="1" i="0" u="none">
                <a:solidFill>
                  <a:srgbClr val="0F172A"/>
                </a:solidFill>
                <a:latin typeface="Arial"/>
              </a:rPr>
              <a:t>EMPLOYEE</a:t>
            </a:r>
          </a:p>
        </p:txBody>
      </p:sp>
      <p:sp>
        <p:nvSpPr>
          <p:cNvPr id="19" name="Diamond 18"/>
          <p:cNvSpPr/>
          <p:nvPr/>
        </p:nvSpPr>
        <p:spPr>
          <a:xfrm>
            <a:off x="5095875" y="7000875"/>
            <a:ext cx="2000250" cy="1047750"/>
          </a:xfrm>
          <a:prstGeom prst="diamond">
            <a:avLst/>
          </a:prstGeom>
          <a:solidFill>
            <a:srgbClr val="FDECEF"/>
          </a:solidFill>
          <a:ln w="23812">
            <a:solidFill>
              <a:srgbClr val="C8102E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656" b="1" i="0" u="none">
                <a:solidFill>
                  <a:srgbClr val="0F172A"/>
                </a:solidFill>
                <a:latin typeface="Arial"/>
              </a:rPr>
              <a:t>WORKS_ON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43875" y="7143750"/>
            <a:ext cx="2381250" cy="762000"/>
          </a:xfrm>
          <a:prstGeom prst="rect">
            <a:avLst/>
          </a:prstGeom>
          <a:solidFill>
            <a:srgbClr val="FFFFFF"/>
          </a:solidFill>
          <a:ln w="23812">
            <a:solidFill>
              <a:srgbClr val="0F172A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794" b="1" i="0" u="none">
                <a:solidFill>
                  <a:srgbClr val="0F172A"/>
                </a:solidFill>
                <a:latin typeface="Arial"/>
              </a:rPr>
              <a:t>PROJECT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43375" y="3092367"/>
            <a:ext cx="381000" cy="3303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1800"/>
              </a:lnSpc>
            </a:pPr>
            <a:r>
              <a:rPr sz="1794" b="1" i="0" u="none">
                <a:solidFill>
                  <a:srgbClr val="0F172A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67625" y="3092367"/>
            <a:ext cx="381000" cy="3303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1800"/>
              </a:lnSpc>
            </a:pPr>
            <a:r>
              <a:rPr sz="1794" b="1" i="0" u="none">
                <a:solidFill>
                  <a:srgbClr val="0F172A"/>
                </a:solidFill>
                <a:latin typeface="Arial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43375" y="5092617"/>
            <a:ext cx="381000" cy="3303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1800"/>
              </a:lnSpc>
            </a:pPr>
            <a:r>
              <a:rPr sz="1794" b="1" i="0" u="none">
                <a:solidFill>
                  <a:srgbClr val="0F172A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67625" y="5092617"/>
            <a:ext cx="381000" cy="3303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1800"/>
              </a:lnSpc>
            </a:pPr>
            <a:r>
              <a:rPr sz="1794" b="1" i="0" u="none">
                <a:solidFill>
                  <a:srgbClr val="0F172A"/>
                </a:solidFill>
                <a:latin typeface="Arial"/>
              </a:rPr>
              <a:t>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43375" y="7092867"/>
            <a:ext cx="381000" cy="3303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1800"/>
              </a:lnSpc>
            </a:pPr>
            <a:r>
              <a:rPr sz="1794" b="1" i="0" u="none">
                <a:solidFill>
                  <a:srgbClr val="0F172A"/>
                </a:solidFill>
                <a:latin typeface="Arial"/>
              </a:rPr>
              <a:t>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67625" y="7092867"/>
            <a:ext cx="381000" cy="3303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1800"/>
              </a:lnSpc>
            </a:pPr>
            <a:r>
              <a:rPr sz="1794" b="1" i="0" u="none">
                <a:solidFill>
                  <a:srgbClr val="0F172A"/>
                </a:solidFill>
                <a:latin typeface="Arial"/>
              </a:rPr>
              <a:t>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49000" y="3143250"/>
            <a:ext cx="6019800" cy="62655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794" b="0" i="0" u="none">
                <a:solidFill>
                  <a:srgbClr val="334155"/>
                </a:solidFill>
                <a:latin typeface="Calibri"/>
              </a:rPr>
              <a:t>An employee manages at most one department; a department has at most one manager.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9000" y="5143500"/>
            <a:ext cx="6019800" cy="62655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794" b="0" i="0" u="none">
                <a:solidFill>
                  <a:srgbClr val="334155"/>
                </a:solidFill>
                <a:latin typeface="Calibri"/>
              </a:rPr>
              <a:t>A department has many employees; an employee belongs to at most one department.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49000" y="7143750"/>
            <a:ext cx="6019800" cy="62655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794" b="0" i="0" u="none">
                <a:solidFill>
                  <a:srgbClr val="334155"/>
                </a:solidFill>
                <a:latin typeface="Calibri"/>
              </a:rPr>
              <a:t>An employee works on many projects; a project has many employees.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2124265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RELATIONSHIPS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114865" y="981075"/>
            <a:ext cx="13411010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17/39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6459200" cy="653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320"/>
              </a:lnSpc>
            </a:pPr>
            <a:r>
              <a:rPr sz="4050" b="1" i="0" u="none">
                <a:solidFill>
                  <a:srgbClr val="0F172A"/>
                </a:solidFill>
                <a:latin typeface="Arial"/>
              </a:rPr>
              <a:t>Participation: total vs partial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048125" y="3810000"/>
            <a:ext cx="1047750" cy="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7096125" y="3857625"/>
            <a:ext cx="1047750" cy="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7096125" y="3762375"/>
            <a:ext cx="1047750" cy="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4048125" y="6858000"/>
            <a:ext cx="1047750" cy="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7096125" y="6905625"/>
            <a:ext cx="1047750" cy="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7096125" y="6810375"/>
            <a:ext cx="1047750" cy="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sp>
        <p:nvSpPr>
          <p:cNvPr id="12" name="Rectangle 11"/>
          <p:cNvSpPr/>
          <p:nvPr/>
        </p:nvSpPr>
        <p:spPr>
          <a:xfrm>
            <a:off x="1666875" y="3429000"/>
            <a:ext cx="2381250" cy="762000"/>
          </a:xfrm>
          <a:prstGeom prst="rect">
            <a:avLst/>
          </a:prstGeom>
          <a:solidFill>
            <a:srgbClr val="FFFFFF"/>
          </a:solidFill>
          <a:ln w="23812">
            <a:solidFill>
              <a:srgbClr val="0F172A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794" b="1" i="0" u="none">
                <a:solidFill>
                  <a:srgbClr val="0F172A"/>
                </a:solidFill>
                <a:latin typeface="Arial"/>
              </a:rPr>
              <a:t>EMPLOYEE</a:t>
            </a:r>
          </a:p>
        </p:txBody>
      </p:sp>
      <p:sp>
        <p:nvSpPr>
          <p:cNvPr id="13" name="Diamond 12"/>
          <p:cNvSpPr/>
          <p:nvPr/>
        </p:nvSpPr>
        <p:spPr>
          <a:xfrm>
            <a:off x="5095875" y="3286125"/>
            <a:ext cx="2000250" cy="1047750"/>
          </a:xfrm>
          <a:prstGeom prst="diamond">
            <a:avLst/>
          </a:prstGeom>
          <a:solidFill>
            <a:srgbClr val="FDECEF"/>
          </a:solidFill>
          <a:ln w="23812">
            <a:solidFill>
              <a:srgbClr val="C8102E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656" b="1" i="0" u="none">
                <a:solidFill>
                  <a:srgbClr val="0F172A"/>
                </a:solidFill>
                <a:latin typeface="Arial"/>
              </a:rPr>
              <a:t>MANAGES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43875" y="3429000"/>
            <a:ext cx="2381250" cy="762000"/>
          </a:xfrm>
          <a:prstGeom prst="rect">
            <a:avLst/>
          </a:prstGeom>
          <a:solidFill>
            <a:srgbClr val="FFFFFF"/>
          </a:solidFill>
          <a:ln w="23812">
            <a:solidFill>
              <a:srgbClr val="0F172A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794" b="1" i="0" u="none">
                <a:solidFill>
                  <a:srgbClr val="0F172A"/>
                </a:solidFill>
                <a:latin typeface="Arial"/>
              </a:rPr>
              <a:t>DEPARTMENT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66875" y="6477000"/>
            <a:ext cx="2381250" cy="762000"/>
          </a:xfrm>
          <a:prstGeom prst="rect">
            <a:avLst/>
          </a:prstGeom>
          <a:solidFill>
            <a:srgbClr val="FFFFFF"/>
          </a:solidFill>
          <a:ln w="23812">
            <a:solidFill>
              <a:srgbClr val="0F172A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794" b="1" i="0" u="none">
                <a:solidFill>
                  <a:srgbClr val="0F172A"/>
                </a:solidFill>
                <a:latin typeface="Arial"/>
              </a:rPr>
              <a:t>EMPLOYEE</a:t>
            </a:r>
          </a:p>
        </p:txBody>
      </p:sp>
      <p:sp>
        <p:nvSpPr>
          <p:cNvPr id="16" name="Diamond 15"/>
          <p:cNvSpPr/>
          <p:nvPr/>
        </p:nvSpPr>
        <p:spPr>
          <a:xfrm>
            <a:off x="5095875" y="6334125"/>
            <a:ext cx="2000250" cy="1047750"/>
          </a:xfrm>
          <a:prstGeom prst="diamond">
            <a:avLst/>
          </a:prstGeom>
          <a:solidFill>
            <a:srgbClr val="FDECEF"/>
          </a:solidFill>
          <a:ln w="23812">
            <a:solidFill>
              <a:srgbClr val="C8102E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656" b="1" i="0" u="none">
                <a:solidFill>
                  <a:srgbClr val="0F172A"/>
                </a:solidFill>
                <a:latin typeface="Arial"/>
              </a:rPr>
              <a:t>HAS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43875" y="6477000"/>
            <a:ext cx="2381250" cy="762000"/>
          </a:xfrm>
          <a:prstGeom prst="rect">
            <a:avLst/>
          </a:prstGeom>
          <a:solidFill>
            <a:srgbClr val="FFFFFF"/>
          </a:solidFill>
          <a:ln w="23812">
            <a:solidFill>
              <a:srgbClr val="0F172A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794" b="1" i="0" u="none">
                <a:solidFill>
                  <a:srgbClr val="0F172A"/>
                </a:solidFill>
                <a:latin typeface="Arial"/>
              </a:rPr>
              <a:t>CAR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43375" y="3378117"/>
            <a:ext cx="381000" cy="3303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1800"/>
              </a:lnSpc>
            </a:pPr>
            <a:r>
              <a:rPr sz="1794" b="1" i="0" u="none">
                <a:solidFill>
                  <a:srgbClr val="0F172A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7625" y="3378117"/>
            <a:ext cx="381000" cy="3303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1800"/>
              </a:lnSpc>
            </a:pPr>
            <a:r>
              <a:rPr sz="1794" b="1" i="0" u="none">
                <a:solidFill>
                  <a:srgbClr val="0F172A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43375" y="6426117"/>
            <a:ext cx="381000" cy="3303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1800"/>
              </a:lnSpc>
            </a:pPr>
            <a:r>
              <a:rPr sz="1794" b="1" i="0" u="none">
                <a:solidFill>
                  <a:srgbClr val="0F172A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67625" y="6426117"/>
            <a:ext cx="381000" cy="3303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1800"/>
              </a:lnSpc>
            </a:pPr>
            <a:r>
              <a:rPr sz="1794" b="1" i="0" u="none">
                <a:solidFill>
                  <a:srgbClr val="0F172A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3238500"/>
            <a:ext cx="6019800" cy="92274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794" b="0" i="0" u="none">
                <a:solidFill>
                  <a:srgbClr val="334155"/>
                </a:solidFill>
                <a:latin typeface="Calibri"/>
              </a:rPr>
              <a:t>Not every employee manages a department → </a:t>
            </a:r>
            <a:r>
              <a:rPr sz="1794" b="1" i="0" u="none">
                <a:solidFill>
                  <a:srgbClr val="334155"/>
                </a:solidFill>
                <a:latin typeface="Calibri"/>
              </a:rPr>
              <a:t>partial</a:t>
            </a:r>
            <a:r>
              <a:rPr sz="1794" b="0" i="0" u="none">
                <a:solidFill>
                  <a:srgbClr val="334155"/>
                </a:solidFill>
                <a:latin typeface="Calibri"/>
              </a:rPr>
              <a:t> (single line). Every department must have a manager → </a:t>
            </a:r>
            <a:r>
              <a:rPr sz="1794" b="1" i="0" u="none">
                <a:solidFill>
                  <a:srgbClr val="334155"/>
                </a:solidFill>
                <a:latin typeface="Calibri"/>
              </a:rPr>
              <a:t>total</a:t>
            </a:r>
            <a:r>
              <a:rPr sz="1794" b="0" i="0" u="none">
                <a:solidFill>
                  <a:srgbClr val="334155"/>
                </a:solidFill>
                <a:latin typeface="Calibri"/>
              </a:rPr>
              <a:t> (double line).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286500"/>
            <a:ext cx="6019800" cy="62655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794" b="0" i="0" u="none">
                <a:solidFill>
                  <a:srgbClr val="334155"/>
                </a:solidFill>
                <a:latin typeface="Calibri"/>
              </a:rPr>
              <a:t>An employee </a:t>
            </a:r>
            <a:r>
              <a:rPr sz="1794" b="1" i="0" u="none">
                <a:solidFill>
                  <a:srgbClr val="334155"/>
                </a:solidFill>
                <a:latin typeface="Calibri"/>
              </a:rPr>
              <a:t>may</a:t>
            </a:r>
            <a:r>
              <a:rPr sz="1794" b="0" i="0" u="none">
                <a:solidFill>
                  <a:srgbClr val="334155"/>
                </a:solidFill>
                <a:latin typeface="Calibri"/>
              </a:rPr>
              <a:t> have a car → </a:t>
            </a:r>
            <a:r>
              <a:rPr sz="1794" b="1" i="0" u="none">
                <a:solidFill>
                  <a:srgbClr val="334155"/>
                </a:solidFill>
                <a:latin typeface="Calibri"/>
              </a:rPr>
              <a:t>partial</a:t>
            </a:r>
            <a:r>
              <a:rPr sz="1794" b="0" i="0" u="none">
                <a:solidFill>
                  <a:srgbClr val="334155"/>
                </a:solidFill>
                <a:latin typeface="Calibri"/>
              </a:rPr>
              <a:t>. A car </a:t>
            </a:r>
            <a:r>
              <a:rPr sz="1794" b="1" i="0" u="none">
                <a:solidFill>
                  <a:srgbClr val="334155"/>
                </a:solidFill>
                <a:latin typeface="Calibri"/>
              </a:rPr>
              <a:t>must</a:t>
            </a:r>
            <a:r>
              <a:rPr sz="1794" b="0" i="0" u="none">
                <a:solidFill>
                  <a:srgbClr val="334155"/>
                </a:solidFill>
                <a:latin typeface="Calibri"/>
              </a:rPr>
              <a:t> be assigned to an employee → </a:t>
            </a:r>
            <a:r>
              <a:rPr sz="1794" b="1" i="0" u="none">
                <a:solidFill>
                  <a:srgbClr val="334155"/>
                </a:solidFill>
                <a:latin typeface="Calibri"/>
              </a:rPr>
              <a:t>total</a:t>
            </a:r>
            <a:r>
              <a:rPr sz="1794" b="0" i="0" u="none">
                <a:solidFill>
                  <a:srgbClr val="334155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2124265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RELATIONSHIPS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114865" y="981075"/>
            <a:ext cx="13411010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18/39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6459200" cy="653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320"/>
              </a:lnSpc>
            </a:pPr>
            <a:r>
              <a:rPr sz="4050" b="1" i="0" u="none">
                <a:solidFill>
                  <a:srgbClr val="0F172A"/>
                </a:solidFill>
                <a:latin typeface="Arial"/>
              </a:rPr>
              <a:t>Structural constraints in (min, max) notation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48250" y="3810000"/>
            <a:ext cx="3048000" cy="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191750" y="3857625"/>
            <a:ext cx="3048000" cy="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10191750" y="3762375"/>
            <a:ext cx="3048000" cy="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sp>
        <p:nvSpPr>
          <p:cNvPr id="9" name="Rectangle 8"/>
          <p:cNvSpPr/>
          <p:nvPr/>
        </p:nvSpPr>
        <p:spPr>
          <a:xfrm>
            <a:off x="2571750" y="3390900"/>
            <a:ext cx="2476500" cy="838200"/>
          </a:xfrm>
          <a:prstGeom prst="rect">
            <a:avLst/>
          </a:prstGeom>
          <a:solidFill>
            <a:srgbClr val="FFFFFF"/>
          </a:solidFill>
          <a:ln w="23812">
            <a:solidFill>
              <a:srgbClr val="0F172A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932" b="1" i="0" u="none">
                <a:solidFill>
                  <a:srgbClr val="0F172A"/>
                </a:solidFill>
                <a:latin typeface="Arial"/>
              </a:rPr>
              <a:t>DEPARTMENT</a:t>
            </a:r>
          </a:p>
        </p:txBody>
      </p:sp>
      <p:sp>
        <p:nvSpPr>
          <p:cNvPr id="10" name="Diamond 9"/>
          <p:cNvSpPr/>
          <p:nvPr/>
        </p:nvSpPr>
        <p:spPr>
          <a:xfrm>
            <a:off x="8096250" y="3238500"/>
            <a:ext cx="2095500" cy="1143000"/>
          </a:xfrm>
          <a:prstGeom prst="diamond">
            <a:avLst/>
          </a:prstGeom>
          <a:solidFill>
            <a:srgbClr val="FDECEF"/>
          </a:solidFill>
          <a:ln w="23812">
            <a:solidFill>
              <a:srgbClr val="C8102E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656" b="1" i="0" u="none">
                <a:solidFill>
                  <a:srgbClr val="0F172A"/>
                </a:solidFill>
                <a:latin typeface="Arial"/>
              </a:rPr>
              <a:t>HIRES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239750" y="3390900"/>
            <a:ext cx="2476500" cy="838200"/>
          </a:xfrm>
          <a:prstGeom prst="rect">
            <a:avLst/>
          </a:prstGeom>
          <a:solidFill>
            <a:srgbClr val="FFFFFF"/>
          </a:solidFill>
          <a:ln w="23812">
            <a:solidFill>
              <a:srgbClr val="0F172A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932" b="1" i="0" u="none">
                <a:solidFill>
                  <a:srgbClr val="0F172A"/>
                </a:solidFill>
                <a:latin typeface="Arial"/>
              </a:rPr>
              <a:t>EMPLOYEE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4500" y="3340017"/>
            <a:ext cx="1143000" cy="3303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1800"/>
              </a:lnSpc>
            </a:pPr>
            <a:r>
              <a:rPr sz="1794" b="1" i="0" u="none">
                <a:solidFill>
                  <a:srgbClr val="0F172A"/>
                </a:solidFill>
                <a:latin typeface="Arial"/>
              </a:rPr>
              <a:t>(0,N)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20500" y="3340017"/>
            <a:ext cx="1143000" cy="3303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1800"/>
              </a:lnSpc>
            </a:pPr>
            <a:r>
              <a:rPr sz="1794" b="1" i="0" u="none">
                <a:solidFill>
                  <a:srgbClr val="0F172A"/>
                </a:solidFill>
                <a:latin typeface="Arial"/>
              </a:rPr>
              <a:t>(1,1)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219200" y="5143500"/>
          <a:ext cx="15849600" cy="134652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754880"/>
                <a:gridCol w="7290816"/>
                <a:gridCol w="3803904"/>
              </a:tblGrid>
              <a:tr h="448840">
                <a:tc>
                  <a:txBody>
                    <a:bodyPr/>
                    <a:lstStyle/>
                    <a:p>
                      <a:r>
                        <a:rPr sz="1794" b="1" i="0" u="none">
                          <a:solidFill>
                            <a:srgbClr val="FFFFFF"/>
                          </a:solidFill>
                          <a:latin typeface="Arial"/>
                        </a:rPr>
                        <a:t>Pair</a:t>
                      </a:r>
                    </a:p>
                  </a:txBody>
                  <a:tcPr marL="113919" marR="113919" marT="68351" marB="68351" anchor="ctr">
                    <a:solidFill>
                      <a:srgbClr val="0F172A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94" b="1" i="0" u="none">
                          <a:solidFill>
                            <a:srgbClr val="FFFFFF"/>
                          </a:solidFill>
                          <a:latin typeface="Arial"/>
                        </a:rPr>
                        <a:t>Read it as</a:t>
                      </a:r>
                    </a:p>
                  </a:txBody>
                  <a:tcPr marL="113919" marR="113919" marT="68351" marB="68351" anchor="ctr">
                    <a:solidFill>
                      <a:srgbClr val="0F172A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94" b="1" i="0" u="none">
                          <a:solidFill>
                            <a:srgbClr val="FFFFFF"/>
                          </a:solidFill>
                          <a:latin typeface="Arial"/>
                        </a:rPr>
                        <a:t>So participation is</a:t>
                      </a:r>
                    </a:p>
                  </a:txBody>
                  <a:tcPr marL="113919" marR="113919" marT="68351" marB="68351" anchor="ctr">
                    <a:solidFill>
                      <a:srgbClr val="0F172A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</a:tr>
              <a:tr h="448840">
                <a:tc>
                  <a:txBody>
                    <a:bodyPr/>
                    <a:lstStyle/>
                    <a:p>
                      <a:r>
                        <a:rPr sz="1794" b="0" i="0" u="none">
                          <a:solidFill>
                            <a:srgbClr val="334155"/>
                          </a:solidFill>
                          <a:latin typeface="Calibri"/>
                        </a:rPr>
                        <a:t>(0,N) next to DEPARTMENT</a:t>
                      </a:r>
                    </a:p>
                  </a:txBody>
                  <a:tcPr marL="113919" marR="113919" marT="68351" marB="6835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94" b="0" i="0" u="none">
                          <a:solidFill>
                            <a:srgbClr val="334155"/>
                          </a:solidFill>
                          <a:latin typeface="Calibri"/>
                        </a:rPr>
                        <a:t>A department may hire </a:t>
                      </a:r>
                      <a:r>
                        <a:rPr sz="1794" b="1" i="0" u="none">
                          <a:solidFill>
                            <a:srgbClr val="334155"/>
                          </a:solidFill>
                          <a:latin typeface="Calibri"/>
                        </a:rPr>
                        <a:t>zero or more</a:t>
                      </a:r>
                      <a:r>
                        <a:rPr sz="1794" b="0" i="0" u="none">
                          <a:solidFill>
                            <a:srgbClr val="334155"/>
                          </a:solidFill>
                          <a:latin typeface="Calibri"/>
                        </a:rPr>
                        <a:t> employees</a:t>
                      </a:r>
                    </a:p>
                  </a:txBody>
                  <a:tcPr marL="113919" marR="113919" marT="68351" marB="6835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94" b="0" i="0" u="none">
                          <a:solidFill>
                            <a:srgbClr val="334155"/>
                          </a:solidFill>
                          <a:latin typeface="Calibri"/>
                        </a:rPr>
                        <a:t>Partial (min = 0)</a:t>
                      </a:r>
                    </a:p>
                  </a:txBody>
                  <a:tcPr marL="113919" marR="113919" marT="68351" marB="6835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</a:tr>
              <a:tr h="448840">
                <a:tc>
                  <a:txBody>
                    <a:bodyPr/>
                    <a:lstStyle/>
                    <a:p>
                      <a:r>
                        <a:rPr sz="1794" b="0" i="0" u="none">
                          <a:solidFill>
                            <a:srgbClr val="334155"/>
                          </a:solidFill>
                          <a:latin typeface="Calibri"/>
                        </a:rPr>
                        <a:t>(1,1) next to EMPLOYEE</a:t>
                      </a:r>
                    </a:p>
                  </a:txBody>
                  <a:tcPr marL="113919" marR="113919" marT="68351" marB="6835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94" b="0" i="0" u="none">
                          <a:solidFill>
                            <a:srgbClr val="334155"/>
                          </a:solidFill>
                          <a:latin typeface="Calibri"/>
                        </a:rPr>
                        <a:t>An employee is hired by </a:t>
                      </a:r>
                      <a:r>
                        <a:rPr sz="1794" b="1" i="0" u="none">
                          <a:solidFill>
                            <a:srgbClr val="334155"/>
                          </a:solidFill>
                          <a:latin typeface="Calibri"/>
                        </a:rPr>
                        <a:t>exactly one</a:t>
                      </a:r>
                      <a:r>
                        <a:rPr sz="1794" b="0" i="0" u="none">
                          <a:solidFill>
                            <a:srgbClr val="334155"/>
                          </a:solidFill>
                          <a:latin typeface="Calibri"/>
                        </a:rPr>
                        <a:t> department</a:t>
                      </a:r>
                    </a:p>
                  </a:txBody>
                  <a:tcPr marL="113919" marR="113919" marT="68351" marB="6835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94" b="0" i="0" u="none">
                          <a:solidFill>
                            <a:srgbClr val="334155"/>
                          </a:solidFill>
                          <a:latin typeface="Calibri"/>
                        </a:rPr>
                        <a:t>Total (min ≥ 1)</a:t>
                      </a:r>
                    </a:p>
                  </a:txBody>
                  <a:tcPr marL="113919" marR="113919" marT="68351" marB="6835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2124265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RELATIONSHIPS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114865" y="981075"/>
            <a:ext cx="13411010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19/39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6459200" cy="653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320"/>
              </a:lnSpc>
            </a:pPr>
            <a:r>
              <a:rPr sz="4050" b="1" i="0" u="none">
                <a:solidFill>
                  <a:srgbClr val="0F172A"/>
                </a:solidFill>
                <a:latin typeface="Arial"/>
              </a:rPr>
              <a:t>Attributes on relationships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48250" y="4048125"/>
            <a:ext cx="2952750" cy="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5048250" y="3952875"/>
            <a:ext cx="2952750" cy="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10287000" y="4048125"/>
            <a:ext cx="2952750" cy="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10287000" y="3952875"/>
            <a:ext cx="2952750" cy="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9144000" y="4572000"/>
            <a:ext cx="0" cy="83820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sp>
        <p:nvSpPr>
          <p:cNvPr id="11" name="Rectangle 10"/>
          <p:cNvSpPr/>
          <p:nvPr/>
        </p:nvSpPr>
        <p:spPr>
          <a:xfrm>
            <a:off x="2571750" y="3581400"/>
            <a:ext cx="2476500" cy="838200"/>
          </a:xfrm>
          <a:prstGeom prst="rect">
            <a:avLst/>
          </a:prstGeom>
          <a:solidFill>
            <a:srgbClr val="FFFFFF"/>
          </a:solidFill>
          <a:ln w="23812">
            <a:solidFill>
              <a:srgbClr val="0F172A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932" b="1" i="0" u="none">
                <a:solidFill>
                  <a:srgbClr val="0F172A"/>
                </a:solidFill>
                <a:latin typeface="Arial"/>
              </a:rPr>
              <a:t>EMPLOYEE</a:t>
            </a:r>
          </a:p>
        </p:txBody>
      </p:sp>
      <p:sp>
        <p:nvSpPr>
          <p:cNvPr id="12" name="Diamond 11"/>
          <p:cNvSpPr/>
          <p:nvPr/>
        </p:nvSpPr>
        <p:spPr>
          <a:xfrm>
            <a:off x="8001000" y="3429000"/>
            <a:ext cx="2286000" cy="1143000"/>
          </a:xfrm>
          <a:prstGeom prst="diamond">
            <a:avLst/>
          </a:prstGeom>
          <a:solidFill>
            <a:srgbClr val="FDECEF"/>
          </a:solidFill>
          <a:ln w="23812">
            <a:solidFill>
              <a:srgbClr val="C8102E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656" b="1" i="0" u="none">
                <a:solidFill>
                  <a:srgbClr val="0F172A"/>
                </a:solidFill>
                <a:latin typeface="Arial"/>
              </a:rPr>
              <a:t>WORKS_ON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239750" y="3581400"/>
            <a:ext cx="2476500" cy="838200"/>
          </a:xfrm>
          <a:prstGeom prst="rect">
            <a:avLst/>
          </a:prstGeom>
          <a:solidFill>
            <a:srgbClr val="FFFFFF"/>
          </a:solidFill>
          <a:ln w="23812">
            <a:solidFill>
              <a:srgbClr val="0F172A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932" b="1" i="0" u="none">
                <a:solidFill>
                  <a:srgbClr val="0F172A"/>
                </a:solidFill>
                <a:latin typeface="Arial"/>
              </a:rPr>
              <a:t>PROJECT</a:t>
            </a:r>
          </a:p>
        </p:txBody>
      </p:sp>
      <p:sp>
        <p:nvSpPr>
          <p:cNvPr id="14" name="Oval 13"/>
          <p:cNvSpPr/>
          <p:nvPr/>
        </p:nvSpPr>
        <p:spPr>
          <a:xfrm>
            <a:off x="8286750" y="5410200"/>
            <a:ext cx="1714500" cy="609600"/>
          </a:xfrm>
          <a:prstGeom prst="ellipse">
            <a:avLst/>
          </a:prstGeom>
          <a:solidFill>
            <a:srgbClr val="E6F4F4"/>
          </a:solidFill>
          <a:ln w="19050">
            <a:solidFill>
              <a:srgbClr val="0E8A8A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656" b="0" i="0" u="none">
                <a:solidFill>
                  <a:srgbClr val="0F172A"/>
                </a:solidFill>
                <a:latin typeface="Calibri"/>
              </a:rPr>
              <a:t>Hours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8750" y="3530517"/>
            <a:ext cx="381000" cy="3303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1800"/>
              </a:lnSpc>
            </a:pPr>
            <a:r>
              <a:rPr sz="1794" b="1" i="0" u="none">
                <a:solidFill>
                  <a:srgbClr val="0F172A"/>
                </a:solidFill>
                <a:latin typeface="Arial"/>
              </a:rPr>
              <a:t>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68250" y="3530517"/>
            <a:ext cx="381000" cy="3303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1800"/>
              </a:lnSpc>
            </a:pPr>
            <a:r>
              <a:rPr sz="1794" b="1" i="0" u="none">
                <a:solidFill>
                  <a:srgbClr val="0F172A"/>
                </a:solidFill>
                <a:latin typeface="Arial"/>
              </a:rPr>
              <a:t>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9200" y="6477000"/>
            <a:ext cx="15849600" cy="92274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794" b="1" i="0" u="none">
                <a:solidFill>
                  <a:srgbClr val="334155"/>
                </a:solidFill>
                <a:latin typeface="Calibri"/>
              </a:rPr>
              <a:t>Hours</a:t>
            </a:r>
            <a:r>
              <a:rPr sz="1794" b="0" i="0" u="none">
                <a:solidFill>
                  <a:srgbClr val="334155"/>
                </a:solidFill>
                <a:latin typeface="Calibri"/>
              </a:rPr>
              <a:t> belongs to the </a:t>
            </a:r>
            <a:r>
              <a:rPr sz="1794" b="0" i="1" u="none">
                <a:solidFill>
                  <a:srgbClr val="334155"/>
                </a:solidFill>
                <a:latin typeface="Calibri"/>
              </a:rPr>
              <a:t>pair</a:t>
            </a:r>
            <a:r>
              <a:rPr sz="1794" b="0" i="0" u="none">
                <a:solidFill>
                  <a:srgbClr val="334155"/>
                </a:solidFill>
                <a:latin typeface="Calibri"/>
              </a:rPr>
              <a:t> (employee, project), not to either entity alone. Relationships can have attributes too: e.g. </a:t>
            </a:r>
            <a:r>
              <a:rPr sz="1794" b="1" i="0" u="none">
                <a:solidFill>
                  <a:srgbClr val="334155"/>
                </a:solidFill>
                <a:latin typeface="Calibri"/>
              </a:rPr>
              <a:t>StartDate</a:t>
            </a:r>
            <a:r>
              <a:rPr sz="1794" b="0" i="0" u="none">
                <a:solidFill>
                  <a:srgbClr val="334155"/>
                </a:solidFill>
                <a:latin typeface="Calibri"/>
              </a:rPr>
              <a:t> on MANAGES. When we map to tables, an M:N attribute goes into the new relationship table; a 1:N attribute can move to the N-side entity.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1527048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NOTATION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17648" y="981075"/>
            <a:ext cx="14008227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20/39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6459200" cy="653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320"/>
              </a:lnSpc>
            </a:pPr>
            <a:r>
              <a:rPr sz="4050" b="1" i="0" u="none">
                <a:solidFill>
                  <a:srgbClr val="0F172A"/>
                </a:solidFill>
                <a:latin typeface="Arial"/>
              </a:rPr>
              <a:t>Summary of Chen notation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2438400" y="7210425"/>
            <a:ext cx="476250" cy="24765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486150" y="7210425"/>
            <a:ext cx="476250" cy="24765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6638925" y="7286625"/>
            <a:ext cx="904875" cy="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6638925" y="7191375"/>
            <a:ext cx="904875" cy="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10125075" y="7239000"/>
            <a:ext cx="476250" cy="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649075" y="7239000"/>
            <a:ext cx="476250" cy="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14420850" y="7239000"/>
            <a:ext cx="1190625" cy="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247900" y="2952750"/>
            <a:ext cx="1905000" cy="762000"/>
          </a:xfrm>
          <a:prstGeom prst="rect">
            <a:avLst/>
          </a:prstGeom>
          <a:solidFill>
            <a:srgbClr val="FFFFFF"/>
          </a:solidFill>
          <a:ln w="23812">
            <a:solidFill>
              <a:srgbClr val="0F172A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932" b="1" i="0" u="none">
                <a:solidFill>
                  <a:srgbClr val="0F172A"/>
                </a:solidFill>
                <a:latin typeface="Arial"/>
              </a:rPr>
              <a:t>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300" y="2952750"/>
            <a:ext cx="1905000" cy="762000"/>
          </a:xfrm>
          <a:prstGeom prst="rect">
            <a:avLst/>
          </a:prstGeom>
          <a:solidFill>
            <a:srgbClr val="FFFFFF"/>
          </a:solidFill>
          <a:ln w="66675" cmpd="dbl">
            <a:solidFill>
              <a:srgbClr val="0F172A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932" b="1" i="0" u="none">
                <a:solidFill>
                  <a:srgbClr val="0F172A"/>
                </a:solidFill>
                <a:latin typeface="Arial"/>
              </a:rPr>
              <a:t>E</a:t>
            </a:r>
          </a:p>
        </p:txBody>
      </p:sp>
      <p:sp>
        <p:nvSpPr>
          <p:cNvPr id="15" name="Diamond 14"/>
          <p:cNvSpPr/>
          <p:nvPr/>
        </p:nvSpPr>
        <p:spPr>
          <a:xfrm>
            <a:off x="10315575" y="2857500"/>
            <a:ext cx="1619250" cy="952500"/>
          </a:xfrm>
          <a:prstGeom prst="diamond">
            <a:avLst/>
          </a:prstGeom>
          <a:solidFill>
            <a:srgbClr val="FDECEF"/>
          </a:solidFill>
          <a:ln w="23812">
            <a:solidFill>
              <a:srgbClr val="C8102E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656" b="1" i="0" u="none">
                <a:solidFill>
                  <a:srgbClr val="0F172A"/>
                </a:solidFill>
                <a:latin typeface="Arial"/>
              </a:rPr>
              <a:t>R</a:t>
            </a:r>
          </a:p>
        </p:txBody>
      </p:sp>
      <p:sp>
        <p:nvSpPr>
          <p:cNvPr id="16" name="Diamond 15"/>
          <p:cNvSpPr/>
          <p:nvPr/>
        </p:nvSpPr>
        <p:spPr>
          <a:xfrm>
            <a:off x="14277975" y="2857500"/>
            <a:ext cx="1619250" cy="952500"/>
          </a:xfrm>
          <a:prstGeom prst="diamond">
            <a:avLst/>
          </a:prstGeom>
          <a:solidFill>
            <a:srgbClr val="FDECEF"/>
          </a:solidFill>
          <a:ln w="66675" cmpd="dbl">
            <a:solidFill>
              <a:srgbClr val="C8102E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656" b="1" i="0" u="none">
                <a:solidFill>
                  <a:srgbClr val="0F172A"/>
                </a:solidFill>
                <a:latin typeface="Arial"/>
              </a:rPr>
              <a:t>R</a:t>
            </a:r>
          </a:p>
        </p:txBody>
      </p:sp>
      <p:sp>
        <p:nvSpPr>
          <p:cNvPr id="17" name="Oval 16"/>
          <p:cNvSpPr/>
          <p:nvPr/>
        </p:nvSpPr>
        <p:spPr>
          <a:xfrm>
            <a:off x="2390775" y="4953000"/>
            <a:ext cx="1619250" cy="666750"/>
          </a:xfrm>
          <a:prstGeom prst="ellipse">
            <a:avLst/>
          </a:prstGeom>
          <a:solidFill>
            <a:srgbClr val="E6F4F4"/>
          </a:solidFill>
          <a:ln w="19050">
            <a:solidFill>
              <a:srgbClr val="0E8A8A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656" b="0" i="0" u="none">
                <a:solidFill>
                  <a:srgbClr val="0F172A"/>
                </a:solidFill>
                <a:latin typeface="Calibri"/>
              </a:rPr>
              <a:t>A</a:t>
            </a:r>
          </a:p>
        </p:txBody>
      </p:sp>
      <p:sp>
        <p:nvSpPr>
          <p:cNvPr id="18" name="Oval 17"/>
          <p:cNvSpPr/>
          <p:nvPr/>
        </p:nvSpPr>
        <p:spPr>
          <a:xfrm>
            <a:off x="6353175" y="4953000"/>
            <a:ext cx="1619250" cy="666750"/>
          </a:xfrm>
          <a:prstGeom prst="ellipse">
            <a:avLst/>
          </a:prstGeom>
          <a:solidFill>
            <a:srgbClr val="E6F4F4"/>
          </a:solidFill>
          <a:ln w="19050">
            <a:solidFill>
              <a:srgbClr val="0E8A8A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656" b="0" i="0" u="sng">
                <a:solidFill>
                  <a:srgbClr val="0F172A"/>
                </a:solidFill>
                <a:latin typeface="Calibri"/>
              </a:rPr>
              <a:t>A</a:t>
            </a:r>
          </a:p>
        </p:txBody>
      </p:sp>
      <p:sp>
        <p:nvSpPr>
          <p:cNvPr id="19" name="Oval 18"/>
          <p:cNvSpPr/>
          <p:nvPr/>
        </p:nvSpPr>
        <p:spPr>
          <a:xfrm>
            <a:off x="10315575" y="4953000"/>
            <a:ext cx="1619250" cy="666750"/>
          </a:xfrm>
          <a:prstGeom prst="ellipse">
            <a:avLst/>
          </a:prstGeom>
          <a:solidFill>
            <a:srgbClr val="E6F4F4"/>
          </a:solidFill>
          <a:ln w="57150" cmpd="dbl">
            <a:solidFill>
              <a:srgbClr val="0E8A8A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656" b="0" i="0" u="none">
                <a:solidFill>
                  <a:srgbClr val="0F172A"/>
                </a:solidFill>
                <a:latin typeface="Calibri"/>
              </a:rPr>
              <a:t>A</a:t>
            </a:r>
          </a:p>
        </p:txBody>
      </p:sp>
      <p:sp>
        <p:nvSpPr>
          <p:cNvPr id="20" name="Oval 19"/>
          <p:cNvSpPr/>
          <p:nvPr/>
        </p:nvSpPr>
        <p:spPr>
          <a:xfrm>
            <a:off x="14277975" y="4953000"/>
            <a:ext cx="1619250" cy="666750"/>
          </a:xfrm>
          <a:prstGeom prst="ellipse">
            <a:avLst/>
          </a:prstGeom>
          <a:solidFill>
            <a:srgbClr val="E6F4F4"/>
          </a:solidFill>
          <a:ln w="19050">
            <a:solidFill>
              <a:srgbClr val="0E8A8A"/>
            </a:solidFill>
            <a:prstDash val="dash"/>
          </a:ln>
        </p:spPr>
        <p:txBody>
          <a:bodyPr rtlCol="0" anchor="ctr" lIns="0" rIns="0" tIns="0" bIns="0" wrap="none"/>
          <a:lstStyle/>
          <a:p>
            <a:pPr algn="ctr"/>
            <a:r>
              <a:rPr sz="1656" b="0" i="0" u="none">
                <a:solidFill>
                  <a:srgbClr val="0F172A"/>
                </a:solidFill>
                <a:latin typeface="Calibri"/>
              </a:rPr>
              <a:t>A</a:t>
            </a:r>
          </a:p>
        </p:txBody>
      </p:sp>
      <p:sp>
        <p:nvSpPr>
          <p:cNvPr id="21" name="Oval 20"/>
          <p:cNvSpPr/>
          <p:nvPr/>
        </p:nvSpPr>
        <p:spPr>
          <a:xfrm>
            <a:off x="2581275" y="6696075"/>
            <a:ext cx="1238250" cy="514350"/>
          </a:xfrm>
          <a:prstGeom prst="ellipse">
            <a:avLst/>
          </a:prstGeom>
          <a:solidFill>
            <a:srgbClr val="E6F4F4"/>
          </a:solidFill>
          <a:ln w="19050">
            <a:solidFill>
              <a:srgbClr val="0E8A8A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656" b="0" i="0" u="none">
                <a:solidFill>
                  <a:srgbClr val="0F172A"/>
                </a:solidFill>
                <a:latin typeface="Calibri"/>
              </a:rPr>
              <a:t>A</a:t>
            </a:r>
          </a:p>
        </p:txBody>
      </p:sp>
      <p:sp>
        <p:nvSpPr>
          <p:cNvPr id="22" name="Oval 21"/>
          <p:cNvSpPr/>
          <p:nvPr/>
        </p:nvSpPr>
        <p:spPr>
          <a:xfrm>
            <a:off x="1676400" y="7458075"/>
            <a:ext cx="1143000" cy="476250"/>
          </a:xfrm>
          <a:prstGeom prst="ellipse">
            <a:avLst/>
          </a:prstGeom>
          <a:solidFill>
            <a:srgbClr val="E6F4F4"/>
          </a:solidFill>
          <a:ln w="19050">
            <a:solidFill>
              <a:srgbClr val="0E8A8A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656" b="0" i="0" u="none">
                <a:solidFill>
                  <a:srgbClr val="0F172A"/>
                </a:solidFill>
                <a:latin typeface="Calibri"/>
              </a:rPr>
              <a:t>A1</a:t>
            </a:r>
          </a:p>
        </p:txBody>
      </p:sp>
      <p:sp>
        <p:nvSpPr>
          <p:cNvPr id="23" name="Oval 22"/>
          <p:cNvSpPr/>
          <p:nvPr/>
        </p:nvSpPr>
        <p:spPr>
          <a:xfrm>
            <a:off x="3581400" y="7458075"/>
            <a:ext cx="1143000" cy="476250"/>
          </a:xfrm>
          <a:prstGeom prst="ellipse">
            <a:avLst/>
          </a:prstGeom>
          <a:solidFill>
            <a:srgbClr val="E6F4F4"/>
          </a:solidFill>
          <a:ln w="19050">
            <a:solidFill>
              <a:srgbClr val="0E8A8A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656" b="0" i="0" u="none">
                <a:solidFill>
                  <a:srgbClr val="0F172A"/>
                </a:solidFill>
                <a:latin typeface="Calibri"/>
              </a:rPr>
              <a:t>A2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91175" y="6934200"/>
            <a:ext cx="1047750" cy="609600"/>
          </a:xfrm>
          <a:prstGeom prst="rect">
            <a:avLst/>
          </a:prstGeom>
          <a:solidFill>
            <a:srgbClr val="FFFFFF"/>
          </a:solidFill>
          <a:ln w="23812">
            <a:solidFill>
              <a:srgbClr val="0F172A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932" b="1" i="0" u="none">
                <a:solidFill>
                  <a:srgbClr val="0F172A"/>
                </a:solidFill>
                <a:latin typeface="Arial"/>
              </a:rPr>
              <a:t>E</a:t>
            </a:r>
          </a:p>
        </p:txBody>
      </p:sp>
      <p:sp>
        <p:nvSpPr>
          <p:cNvPr id="25" name="Diamond 24"/>
          <p:cNvSpPr/>
          <p:nvPr/>
        </p:nvSpPr>
        <p:spPr>
          <a:xfrm>
            <a:off x="7543800" y="6858000"/>
            <a:ext cx="1143000" cy="762000"/>
          </a:xfrm>
          <a:prstGeom prst="diamond">
            <a:avLst/>
          </a:prstGeom>
          <a:solidFill>
            <a:srgbClr val="FDECEF"/>
          </a:solidFill>
          <a:ln w="23812">
            <a:solidFill>
              <a:srgbClr val="C8102E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656" b="1" i="0" u="none">
                <a:solidFill>
                  <a:srgbClr val="0F172A"/>
                </a:solidFill>
                <a:latin typeface="Arial"/>
              </a:rPr>
              <a:t>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67825" y="6953250"/>
            <a:ext cx="857250" cy="571500"/>
          </a:xfrm>
          <a:prstGeom prst="rect">
            <a:avLst/>
          </a:prstGeom>
          <a:solidFill>
            <a:srgbClr val="FFFFFF"/>
          </a:solidFill>
          <a:ln w="23812">
            <a:solidFill>
              <a:srgbClr val="0F172A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656" b="1" i="0" u="none">
                <a:solidFill>
                  <a:srgbClr val="0F172A"/>
                </a:solidFill>
                <a:latin typeface="Arial"/>
              </a:rPr>
              <a:t>E1</a:t>
            </a:r>
          </a:p>
        </p:txBody>
      </p:sp>
      <p:sp>
        <p:nvSpPr>
          <p:cNvPr id="27" name="Diamond 26"/>
          <p:cNvSpPr/>
          <p:nvPr/>
        </p:nvSpPr>
        <p:spPr>
          <a:xfrm>
            <a:off x="10601325" y="6877050"/>
            <a:ext cx="1047750" cy="723900"/>
          </a:xfrm>
          <a:prstGeom prst="diamond">
            <a:avLst/>
          </a:prstGeom>
          <a:solidFill>
            <a:srgbClr val="FDECEF"/>
          </a:solidFill>
          <a:ln w="23812">
            <a:solidFill>
              <a:srgbClr val="C8102E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656" b="1" i="0" u="none">
                <a:solidFill>
                  <a:srgbClr val="0F172A"/>
                </a:solidFill>
                <a:latin typeface="Arial"/>
              </a:rPr>
              <a:t>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125325" y="6953250"/>
            <a:ext cx="857250" cy="571500"/>
          </a:xfrm>
          <a:prstGeom prst="rect">
            <a:avLst/>
          </a:prstGeom>
          <a:solidFill>
            <a:srgbClr val="FFFFFF"/>
          </a:solidFill>
          <a:ln w="23812">
            <a:solidFill>
              <a:srgbClr val="0F172A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656" b="1" i="0" u="none">
                <a:solidFill>
                  <a:srgbClr val="0F172A"/>
                </a:solidFill>
                <a:latin typeface="Arial"/>
              </a:rPr>
              <a:t>E2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468350" y="6934200"/>
            <a:ext cx="952500" cy="609600"/>
          </a:xfrm>
          <a:prstGeom prst="rect">
            <a:avLst/>
          </a:prstGeom>
          <a:solidFill>
            <a:srgbClr val="FFFFFF"/>
          </a:solidFill>
          <a:ln w="23812">
            <a:solidFill>
              <a:srgbClr val="0F172A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932" b="1" i="0" u="none">
                <a:solidFill>
                  <a:srgbClr val="0F172A"/>
                </a:solidFill>
                <a:latin typeface="Arial"/>
              </a:rPr>
              <a:t>E</a:t>
            </a:r>
          </a:p>
        </p:txBody>
      </p:sp>
      <p:sp>
        <p:nvSpPr>
          <p:cNvPr id="30" name="Diamond 29"/>
          <p:cNvSpPr/>
          <p:nvPr/>
        </p:nvSpPr>
        <p:spPr>
          <a:xfrm>
            <a:off x="15611475" y="6877050"/>
            <a:ext cx="1047750" cy="723900"/>
          </a:xfrm>
          <a:prstGeom prst="diamond">
            <a:avLst/>
          </a:prstGeom>
          <a:solidFill>
            <a:srgbClr val="FDECEF"/>
          </a:solidFill>
          <a:ln w="23812">
            <a:solidFill>
              <a:srgbClr val="C8102E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656" b="1" i="0" u="none">
                <a:solidFill>
                  <a:srgbClr val="0F172A"/>
                </a:solidFill>
                <a:latin typeface="Arial"/>
              </a:rPr>
              <a:t>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20325" y="6838873"/>
            <a:ext cx="285750" cy="3049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1800"/>
              </a:lnSpc>
            </a:pPr>
            <a:r>
              <a:rPr sz="1656" b="1" i="0" u="none">
                <a:solidFill>
                  <a:srgbClr val="0F172A"/>
                </a:solidFill>
                <a:latin typeface="Arial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44325" y="6838873"/>
            <a:ext cx="285750" cy="3049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1800"/>
              </a:lnSpc>
            </a:pPr>
            <a:r>
              <a:rPr sz="1656" b="1" i="0" u="none">
                <a:solidFill>
                  <a:srgbClr val="0F172A"/>
                </a:solidFill>
                <a:latin typeface="Arial"/>
              </a:rPr>
              <a:t>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373225" y="6800773"/>
            <a:ext cx="1333500" cy="3049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1800"/>
              </a:lnSpc>
            </a:pPr>
            <a:r>
              <a:rPr sz="1656" b="1" i="0" u="none">
                <a:solidFill>
                  <a:srgbClr val="0F172A"/>
                </a:solidFill>
                <a:latin typeface="Arial"/>
              </a:rPr>
              <a:t>(min,max)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95400" y="4095750"/>
            <a:ext cx="3810000" cy="3049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1800"/>
              </a:lnSpc>
            </a:pPr>
            <a:r>
              <a:rPr sz="1656" b="0" i="0" u="none">
                <a:solidFill>
                  <a:srgbClr val="64748B"/>
                </a:solidFill>
                <a:latin typeface="Calibri"/>
              </a:rPr>
              <a:t>Entity type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57800" y="4095750"/>
            <a:ext cx="3810000" cy="3049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1800"/>
              </a:lnSpc>
            </a:pPr>
            <a:r>
              <a:rPr sz="1656" b="0" i="0" u="none">
                <a:solidFill>
                  <a:srgbClr val="64748B"/>
                </a:solidFill>
                <a:latin typeface="Calibri"/>
              </a:rPr>
              <a:t>Weak entity type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20200" y="4095750"/>
            <a:ext cx="3810000" cy="3049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1800"/>
              </a:lnSpc>
            </a:pPr>
            <a:r>
              <a:rPr sz="1656" b="0" i="0" u="none">
                <a:solidFill>
                  <a:srgbClr val="64748B"/>
                </a:solidFill>
                <a:latin typeface="Calibri"/>
              </a:rPr>
              <a:t>Relationship type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182600" y="4095750"/>
            <a:ext cx="3810000" cy="3049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1800"/>
              </a:lnSpc>
            </a:pPr>
            <a:r>
              <a:rPr sz="1656" b="0" i="0" u="none">
                <a:solidFill>
                  <a:srgbClr val="64748B"/>
                </a:solidFill>
                <a:latin typeface="Calibri"/>
              </a:rPr>
              <a:t>Identifying relationship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95400" y="6048375"/>
            <a:ext cx="3810000" cy="3049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1800"/>
              </a:lnSpc>
            </a:pPr>
            <a:r>
              <a:rPr sz="1656" b="0" i="0" u="none">
                <a:solidFill>
                  <a:srgbClr val="64748B"/>
                </a:solidFill>
                <a:latin typeface="Calibri"/>
              </a:rPr>
              <a:t>Attribute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57800" y="6048375"/>
            <a:ext cx="3810000" cy="3049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1800"/>
              </a:lnSpc>
            </a:pPr>
            <a:r>
              <a:rPr sz="1656" b="0" i="0" u="none">
                <a:solidFill>
                  <a:srgbClr val="64748B"/>
                </a:solidFill>
                <a:latin typeface="Calibri"/>
              </a:rPr>
              <a:t>Key attribute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20200" y="6048375"/>
            <a:ext cx="3810000" cy="3049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1800"/>
              </a:lnSpc>
            </a:pPr>
            <a:r>
              <a:rPr sz="1656" b="0" i="0" u="none">
                <a:solidFill>
                  <a:srgbClr val="64748B"/>
                </a:solidFill>
                <a:latin typeface="Calibri"/>
              </a:rPr>
              <a:t>Multi-valued attribute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182600" y="6048375"/>
            <a:ext cx="3810000" cy="3049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1800"/>
              </a:lnSpc>
            </a:pPr>
            <a:r>
              <a:rPr sz="1656" b="0" i="0" u="none">
                <a:solidFill>
                  <a:srgbClr val="64748B"/>
                </a:solidFill>
                <a:latin typeface="Calibri"/>
              </a:rPr>
              <a:t>Derived attribute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95400" y="8001000"/>
            <a:ext cx="3810000" cy="3049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1800"/>
              </a:lnSpc>
            </a:pPr>
            <a:r>
              <a:rPr sz="1656" b="0" i="0" u="none">
                <a:solidFill>
                  <a:srgbClr val="64748B"/>
                </a:solidFill>
                <a:latin typeface="Calibri"/>
              </a:rPr>
              <a:t>Composite attribute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57800" y="8001000"/>
            <a:ext cx="3810000" cy="3049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1800"/>
              </a:lnSpc>
            </a:pPr>
            <a:r>
              <a:rPr sz="1656" b="0" i="0" u="none">
                <a:solidFill>
                  <a:srgbClr val="64748B"/>
                </a:solidFill>
                <a:latin typeface="Calibri"/>
              </a:rPr>
              <a:t>Total participation of E in 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20200" y="8001000"/>
            <a:ext cx="3810000" cy="3049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1800"/>
              </a:lnSpc>
            </a:pPr>
            <a:r>
              <a:rPr sz="1656" b="0" i="0" u="none">
                <a:solidFill>
                  <a:srgbClr val="64748B"/>
                </a:solidFill>
                <a:latin typeface="Calibri"/>
              </a:rPr>
              <a:t>Cardinality 1:N for E1:E2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182600" y="8001000"/>
            <a:ext cx="3810000" cy="3049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1800"/>
              </a:lnSpc>
            </a:pPr>
            <a:r>
              <a:rPr sz="1656" b="0" i="0" u="none">
                <a:solidFill>
                  <a:srgbClr val="64748B"/>
                </a:solidFill>
                <a:latin typeface="Calibri"/>
              </a:rPr>
              <a:t>(min, max) of E in 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1527048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NOTATION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17648" y="981075"/>
            <a:ext cx="14008227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21/39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6459200" cy="653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320"/>
              </a:lnSpc>
            </a:pPr>
            <a:r>
              <a:rPr sz="4050" b="1" i="0" u="none">
                <a:solidFill>
                  <a:srgbClr val="0F172A"/>
                </a:solidFill>
                <a:latin typeface="Arial"/>
              </a:rPr>
              <a:t>The same ideas in crow's foot notation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82024"/>
            <a:ext cx="16459200" cy="93983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691" b="0" i="0" u="none">
                <a:solidFill>
                  <a:srgbClr val="334155"/>
                </a:solidFill>
                <a:latin typeface="Calibri"/>
              </a:rPr>
              <a:t>Most modern tools (dbdiagram.io, draw.io, MySQL Workbench, Lucidchart) draw </a:t>
            </a:r>
            <a:r>
              <a:rPr sz="2691" b="1" i="0" u="none">
                <a:solidFill>
                  <a:srgbClr val="334155"/>
                </a:solidFill>
                <a:latin typeface="Calibri"/>
              </a:rPr>
              <a:t>crow's foot</a:t>
            </a:r>
            <a:r>
              <a:rPr sz="2691" b="0" i="0" u="none">
                <a:solidFill>
                  <a:srgbClr val="334155"/>
                </a:solidFill>
                <a:latin typeface="Calibri"/>
              </a:rPr>
              <a:t> ERDs: attributes go inside the entity box and the line ends show cardinality.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3842861"/>
          <a:ext cx="16459200" cy="3141885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5596128"/>
                <a:gridCol w="5925312"/>
                <a:gridCol w="4937760"/>
              </a:tblGrid>
              <a:tr h="628377">
                <a:tc>
                  <a:txBody>
                    <a:bodyPr/>
                    <a:lstStyle/>
                    <a:p>
                      <a:r>
                        <a:rPr sz="2511" b="1" i="0" u="none">
                          <a:solidFill>
                            <a:srgbClr val="FFFFFF"/>
                          </a:solidFill>
                          <a:latin typeface="Arial"/>
                        </a:rPr>
                        <a:t>Line end</a:t>
                      </a:r>
                    </a:p>
                  </a:txBody>
                  <a:tcPr marL="159486" marR="159486" marT="95691" marB="95691" anchor="ctr">
                    <a:solidFill>
                      <a:srgbClr val="0F172A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511" b="1" i="0" u="none">
                          <a:solidFill>
                            <a:srgbClr val="FFFFFF"/>
                          </a:solidFill>
                          <a:latin typeface="Arial"/>
                        </a:rPr>
                        <a:t>Meaning</a:t>
                      </a:r>
                    </a:p>
                  </a:txBody>
                  <a:tcPr marL="159486" marR="159486" marT="95691" marB="95691" anchor="ctr">
                    <a:solidFill>
                      <a:srgbClr val="0F172A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511" b="1" i="0" u="none">
                          <a:solidFill>
                            <a:srgbClr val="FFFFFF"/>
                          </a:solidFill>
                          <a:latin typeface="Arial"/>
                        </a:rPr>
                        <a:t>Chen equivalent</a:t>
                      </a:r>
                    </a:p>
                  </a:txBody>
                  <a:tcPr marL="159486" marR="159486" marT="95691" marB="95691" anchor="ctr">
                    <a:solidFill>
                      <a:srgbClr val="0F172A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</a:tr>
              <a:tr h="628377">
                <a:tc>
                  <a:txBody>
                    <a:bodyPr/>
                    <a:lstStyle/>
                    <a:p>
                      <a:r>
                        <a:rPr sz="2511" b="0" i="0" u="none">
                          <a:solidFill>
                            <a:srgbClr val="334155"/>
                          </a:solidFill>
                          <a:latin typeface="Calibri"/>
                        </a:rPr>
                        <a:t>—||—  (two bars)</a:t>
                      </a:r>
                    </a:p>
                  </a:txBody>
                  <a:tcPr marL="159486" marR="159486" marT="95691" marB="9569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511" b="0" i="0" u="none">
                          <a:solidFill>
                            <a:srgbClr val="334155"/>
                          </a:solidFill>
                          <a:latin typeface="Calibri"/>
                        </a:rPr>
                        <a:t>Exactly one (mandatory one)</a:t>
                      </a:r>
                    </a:p>
                  </a:txBody>
                  <a:tcPr marL="159486" marR="159486" marT="95691" marB="9569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511" b="0" i="0" u="none">
                          <a:solidFill>
                            <a:srgbClr val="334155"/>
                          </a:solidFill>
                          <a:latin typeface="Calibri"/>
                        </a:rPr>
                        <a:t>1 + total participation</a:t>
                      </a:r>
                    </a:p>
                  </a:txBody>
                  <a:tcPr marL="159486" marR="159486" marT="95691" marB="9569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</a:tr>
              <a:tr h="628377">
                <a:tc>
                  <a:txBody>
                    <a:bodyPr/>
                    <a:lstStyle/>
                    <a:p>
                      <a:r>
                        <a:rPr sz="2511" b="0" i="0" u="none">
                          <a:solidFill>
                            <a:srgbClr val="334155"/>
                          </a:solidFill>
                          <a:latin typeface="Calibri"/>
                        </a:rPr>
                        <a:t>—o|—  (circle, bar)</a:t>
                      </a:r>
                    </a:p>
                  </a:txBody>
                  <a:tcPr marL="159486" marR="159486" marT="95691" marB="9569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511" b="0" i="0" u="none">
                          <a:solidFill>
                            <a:srgbClr val="334155"/>
                          </a:solidFill>
                          <a:latin typeface="Calibri"/>
                        </a:rPr>
                        <a:t>Zero or one</a:t>
                      </a:r>
                    </a:p>
                  </a:txBody>
                  <a:tcPr marL="159486" marR="159486" marT="95691" marB="9569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511" b="0" i="0" u="none">
                          <a:solidFill>
                            <a:srgbClr val="334155"/>
                          </a:solidFill>
                          <a:latin typeface="Calibri"/>
                        </a:rPr>
                        <a:t>1 + partial participation</a:t>
                      </a:r>
                    </a:p>
                  </a:txBody>
                  <a:tcPr marL="159486" marR="159486" marT="95691" marB="9569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</a:tr>
              <a:tr h="628377">
                <a:tc>
                  <a:txBody>
                    <a:bodyPr/>
                    <a:lstStyle/>
                    <a:p>
                      <a:r>
                        <a:rPr sz="2511" b="0" i="0" u="none">
                          <a:solidFill>
                            <a:srgbClr val="334155"/>
                          </a:solidFill>
                          <a:latin typeface="Calibri"/>
                        </a:rPr>
                        <a:t>—|&lt;   (bar, crow's foot)</a:t>
                      </a:r>
                    </a:p>
                  </a:txBody>
                  <a:tcPr marL="159486" marR="159486" marT="95691" marB="9569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511" b="0" i="0" u="none">
                          <a:solidFill>
                            <a:srgbClr val="334155"/>
                          </a:solidFill>
                          <a:latin typeface="Calibri"/>
                        </a:rPr>
                        <a:t>One or many</a:t>
                      </a:r>
                    </a:p>
                  </a:txBody>
                  <a:tcPr marL="159486" marR="159486" marT="95691" marB="9569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511" b="0" i="0" u="none">
                          <a:solidFill>
                            <a:srgbClr val="334155"/>
                          </a:solidFill>
                          <a:latin typeface="Calibri"/>
                        </a:rPr>
                        <a:t>N + total participation</a:t>
                      </a:r>
                    </a:p>
                  </a:txBody>
                  <a:tcPr marL="159486" marR="159486" marT="95691" marB="9569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</a:tr>
              <a:tr h="628377">
                <a:tc>
                  <a:txBody>
                    <a:bodyPr/>
                    <a:lstStyle/>
                    <a:p>
                      <a:r>
                        <a:rPr sz="2511" b="0" i="0" u="none">
                          <a:solidFill>
                            <a:srgbClr val="334155"/>
                          </a:solidFill>
                          <a:latin typeface="Calibri"/>
                        </a:rPr>
                        <a:t>—o&lt;   (circle, crow's foot)</a:t>
                      </a:r>
                    </a:p>
                  </a:txBody>
                  <a:tcPr marL="159486" marR="159486" marT="95691" marB="9569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511" b="0" i="0" u="none">
                          <a:solidFill>
                            <a:srgbClr val="334155"/>
                          </a:solidFill>
                          <a:latin typeface="Calibri"/>
                        </a:rPr>
                        <a:t>Zero or many</a:t>
                      </a:r>
                    </a:p>
                  </a:txBody>
                  <a:tcPr marL="159486" marR="159486" marT="95691" marB="9569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511" b="0" i="0" u="none">
                          <a:solidFill>
                            <a:srgbClr val="334155"/>
                          </a:solidFill>
                          <a:latin typeface="Calibri"/>
                        </a:rPr>
                        <a:t>N + partial participation</a:t>
                      </a:r>
                    </a:p>
                  </a:txBody>
                  <a:tcPr marL="159486" marR="159486" marT="95691" marB="9569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914400" y="7405752"/>
            <a:ext cx="16459200" cy="1372476"/>
          </a:xfrm>
          <a:prstGeom prst="rect">
            <a:avLst/>
          </a:prstGeom>
          <a:solidFill>
            <a:srgbClr val="E6F4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7405752"/>
            <a:ext cx="47625" cy="1372476"/>
          </a:xfrm>
          <a:prstGeom prst="rect">
            <a:avLst/>
          </a:prstGeom>
          <a:solidFill>
            <a:srgbClr val="0E8A8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10640" y="7653402"/>
            <a:ext cx="15666720" cy="87717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12000"/>
              </a:lnSpc>
            </a:pPr>
            <a:r>
              <a:rPr sz="2511" b="0" i="0" u="none">
                <a:solidFill>
                  <a:srgbClr val="0F172A"/>
                </a:solidFill>
                <a:latin typeface="Calibri"/>
              </a:rPr>
              <a:t>Example: DEPARTMENT —||————o&lt; EMPLOYEE reads "each employee belongs to exactly one department; a department has zero or many employees".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5715000" cy="33147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800" b="1" i="0" u="none">
                <a:solidFill>
                  <a:srgbClr val="C8102E"/>
                </a:solidFill>
                <a:latin typeface="Arial"/>
              </a:rPr>
              <a:t>SECTION 04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390900" y="981075"/>
            <a:ext cx="13134975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22/39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57500"/>
            <a:ext cx="5715000" cy="2286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86000"/>
              </a:lnSpc>
            </a:pPr>
            <a:r>
              <a:rPr sz="15000" b="1" i="0" u="none">
                <a:solidFill>
                  <a:srgbClr val="C8102E"/>
                </a:solidFill>
                <a:latin typeface="Arial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34000"/>
            <a:ext cx="15240000" cy="1905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300"/>
              </a:lnSpc>
            </a:pPr>
            <a:r>
              <a:rPr sz="6300" b="1" i="0" u="none">
                <a:solidFill>
                  <a:srgbClr val="0F172A"/>
                </a:solidFill>
                <a:latin typeface="Arial"/>
              </a:rPr>
              <a:t>Building an ERD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7239000"/>
            <a:ext cx="13335000" cy="1143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400" b="0" i="0" u="none">
                <a:solidFill>
                  <a:srgbClr val="334155"/>
                </a:solidFill>
                <a:latin typeface="Calibri"/>
              </a:rPr>
              <a:t>A repeatable method, applied to the COMPANY database.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1288160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METHOD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278761" y="981075"/>
            <a:ext cx="14247114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23/39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6459200" cy="653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320"/>
              </a:lnSpc>
            </a:pPr>
            <a:r>
              <a:rPr sz="4050" b="1" i="0" u="none">
                <a:solidFill>
                  <a:srgbClr val="0F172A"/>
                </a:solidFill>
                <a:latin typeface="Arial"/>
              </a:rPr>
              <a:t>From narrative to ERD in seven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482024"/>
            <a:ext cx="3891915" cy="3180668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5875" y="2853499"/>
            <a:ext cx="3148965" cy="3964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152" b="1" i="0" u="none">
                <a:solidFill>
                  <a:srgbClr val="C8102E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5875" y="3398527"/>
            <a:ext cx="3148965" cy="49213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2870" b="1" i="0" u="none">
                <a:solidFill>
                  <a:srgbClr val="0F172A"/>
                </a:solidFill>
                <a:latin typeface="Arial"/>
              </a:rPr>
              <a:t>Find entities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5875" y="4039247"/>
            <a:ext cx="3148965" cy="119956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332" b="0" i="0" u="none">
                <a:solidFill>
                  <a:srgbClr val="334155"/>
                </a:solidFill>
                <a:latin typeface="Calibri"/>
              </a:rPr>
              <a:t>Nouns that have their own facts: </a:t>
            </a:r>
            <a:r>
              <a:rPr sz="2332" b="0" i="1" u="none">
                <a:solidFill>
                  <a:srgbClr val="334155"/>
                </a:solidFill>
                <a:latin typeface="Calibri"/>
              </a:rPr>
              <a:t>department, project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03495" y="2482024"/>
            <a:ext cx="3891915" cy="3180668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4970" y="2853499"/>
            <a:ext cx="3148965" cy="3964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152" b="1" i="0" u="none">
                <a:solidFill>
                  <a:srgbClr val="C8102E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74970" y="3398527"/>
            <a:ext cx="3148965" cy="49213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2870" b="1" i="0" u="none">
                <a:solidFill>
                  <a:srgbClr val="0F172A"/>
                </a:solidFill>
                <a:latin typeface="Arial"/>
              </a:rPr>
              <a:t>Find attributes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74970" y="4039247"/>
            <a:ext cx="3148965" cy="119956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332" b="0" i="0" u="none">
                <a:solidFill>
                  <a:srgbClr val="334155"/>
                </a:solidFill>
                <a:latin typeface="Calibri"/>
              </a:rPr>
              <a:t>Facts about a noun: </a:t>
            </a:r>
            <a:r>
              <a:rPr sz="2332" b="0" i="1" u="none">
                <a:solidFill>
                  <a:srgbClr val="334155"/>
                </a:solidFill>
                <a:latin typeface="Calibri"/>
              </a:rPr>
              <a:t>name, number, location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92590" y="2482024"/>
            <a:ext cx="3891915" cy="3180668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64065" y="2853499"/>
            <a:ext cx="3148965" cy="3964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152" b="1" i="0" u="none">
                <a:solidFill>
                  <a:srgbClr val="C8102E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64065" y="3398527"/>
            <a:ext cx="3148965" cy="49213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2870" b="1" i="0" u="none">
                <a:solidFill>
                  <a:srgbClr val="0F172A"/>
                </a:solidFill>
                <a:latin typeface="Arial"/>
              </a:rPr>
              <a:t>Pick keys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4065" y="4039247"/>
            <a:ext cx="3148965" cy="814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332" b="0" i="0" u="none">
                <a:solidFill>
                  <a:srgbClr val="334155"/>
                </a:solidFill>
                <a:latin typeface="Calibri"/>
              </a:rPr>
              <a:t>Words like </a:t>
            </a:r>
            <a:r>
              <a:rPr sz="2332" b="0" i="1" u="none">
                <a:solidFill>
                  <a:srgbClr val="334155"/>
                </a:solidFill>
                <a:latin typeface="Calibri"/>
              </a:rPr>
              <a:t>unique</a:t>
            </a:r>
            <a:r>
              <a:rPr sz="2332" b="0" i="0" u="none">
                <a:solidFill>
                  <a:srgbClr val="334155"/>
                </a:solidFill>
                <a:latin typeface="Calibri"/>
              </a:rPr>
              <a:t>, </a:t>
            </a:r>
            <a:r>
              <a:rPr sz="2332" b="0" i="1" u="none">
                <a:solidFill>
                  <a:srgbClr val="334155"/>
                </a:solidFill>
                <a:latin typeface="Calibri"/>
              </a:rPr>
              <a:t>identified by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481685" y="2482024"/>
            <a:ext cx="3891915" cy="3180668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853160" y="2853499"/>
            <a:ext cx="3148965" cy="3964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152" b="1" i="0" u="none">
                <a:solidFill>
                  <a:srgbClr val="C8102E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53160" y="3398527"/>
            <a:ext cx="3148965" cy="92957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2870" b="1" i="0" u="none">
                <a:solidFill>
                  <a:srgbClr val="0F172A"/>
                </a:solidFill>
                <a:latin typeface="Arial"/>
              </a:rPr>
              <a:t>Find relationships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53160" y="4476696"/>
            <a:ext cx="3148965" cy="814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332" b="0" i="0" u="none">
                <a:solidFill>
                  <a:srgbClr val="334155"/>
                </a:solidFill>
                <a:latin typeface="Calibri"/>
              </a:rPr>
              <a:t>Verbs linking nouns: </a:t>
            </a:r>
            <a:r>
              <a:rPr sz="2332" b="0" i="1" u="none">
                <a:solidFill>
                  <a:srgbClr val="334155"/>
                </a:solidFill>
                <a:latin typeface="Calibri"/>
              </a:rPr>
              <a:t>controls, works 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5959872"/>
            <a:ext cx="3891915" cy="3565714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85875" y="6331347"/>
            <a:ext cx="3148965" cy="3964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152" b="1" i="0" u="none">
                <a:solidFill>
                  <a:srgbClr val="C8102E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5875" y="6876375"/>
            <a:ext cx="3148965" cy="49213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2870" b="1" i="0" u="none">
                <a:solidFill>
                  <a:srgbClr val="0F172A"/>
                </a:solidFill>
                <a:latin typeface="Arial"/>
              </a:rPr>
              <a:t>Cardinality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5875" y="7517095"/>
            <a:ext cx="3148965" cy="814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332" b="0" i="1" u="none">
                <a:solidFill>
                  <a:srgbClr val="334155"/>
                </a:solidFill>
                <a:latin typeface="Calibri"/>
              </a:rPr>
              <a:t>one</a:t>
            </a:r>
            <a:r>
              <a:rPr sz="2332" b="0" i="0" u="none">
                <a:solidFill>
                  <a:srgbClr val="334155"/>
                </a:solidFill>
                <a:latin typeface="Calibri"/>
              </a:rPr>
              <a:t>, </a:t>
            </a:r>
            <a:r>
              <a:rPr sz="2332" b="0" i="1" u="none">
                <a:solidFill>
                  <a:srgbClr val="334155"/>
                </a:solidFill>
                <a:latin typeface="Calibri"/>
              </a:rPr>
              <a:t>several</a:t>
            </a:r>
            <a:r>
              <a:rPr sz="2332" b="0" i="0" u="none">
                <a:solidFill>
                  <a:srgbClr val="334155"/>
                </a:solidFill>
                <a:latin typeface="Calibri"/>
              </a:rPr>
              <a:t>, </a:t>
            </a:r>
            <a:r>
              <a:rPr sz="2332" b="0" i="1" u="none">
                <a:solidFill>
                  <a:srgbClr val="334155"/>
                </a:solidFill>
                <a:latin typeface="Calibri"/>
              </a:rPr>
              <a:t>many</a:t>
            </a:r>
            <a:r>
              <a:rPr sz="2332" b="0" i="0" u="none">
                <a:solidFill>
                  <a:srgbClr val="334155"/>
                </a:solidFill>
                <a:latin typeface="Calibri"/>
              </a:rPr>
              <a:t>, </a:t>
            </a:r>
            <a:r>
              <a:rPr sz="2332" b="0" i="1" u="none">
                <a:solidFill>
                  <a:srgbClr val="334155"/>
                </a:solidFill>
                <a:latin typeface="Calibri"/>
              </a:rPr>
              <a:t>a number of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03495" y="5959872"/>
            <a:ext cx="3891915" cy="3565714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74970" y="6331347"/>
            <a:ext cx="3148965" cy="3964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152" b="1" i="0" u="none">
                <a:solidFill>
                  <a:srgbClr val="C8102E"/>
                </a:solidFill>
                <a:latin typeface="Arial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74970" y="6876375"/>
            <a:ext cx="3148965" cy="49213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2870" b="1" i="0" u="none">
                <a:solidFill>
                  <a:srgbClr val="0F172A"/>
                </a:solidFill>
                <a:latin typeface="Arial"/>
              </a:rPr>
              <a:t>Participation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74970" y="7517095"/>
            <a:ext cx="3148965" cy="814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332" b="0" i="1" u="none">
                <a:solidFill>
                  <a:srgbClr val="334155"/>
                </a:solidFill>
                <a:latin typeface="Calibri"/>
              </a:rPr>
              <a:t>must</a:t>
            </a:r>
            <a:r>
              <a:rPr sz="2332" b="0" i="0" u="none">
                <a:solidFill>
                  <a:srgbClr val="334155"/>
                </a:solidFill>
                <a:latin typeface="Calibri"/>
              </a:rPr>
              <a:t> → total; </a:t>
            </a:r>
            <a:r>
              <a:rPr sz="2332" b="0" i="1" u="none">
                <a:solidFill>
                  <a:srgbClr val="334155"/>
                </a:solidFill>
                <a:latin typeface="Calibri"/>
              </a:rPr>
              <a:t>may</a:t>
            </a:r>
            <a:r>
              <a:rPr sz="2332" b="0" i="0" u="none">
                <a:solidFill>
                  <a:srgbClr val="334155"/>
                </a:solidFill>
                <a:latin typeface="Calibri"/>
              </a:rPr>
              <a:t> → partial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92590" y="5959872"/>
            <a:ext cx="3891915" cy="3565714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64065" y="6331347"/>
            <a:ext cx="3148965" cy="3964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152" b="1" i="0" u="none">
                <a:solidFill>
                  <a:srgbClr val="C8102E"/>
                </a:solidFill>
                <a:latin typeface="Arial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64065" y="6876375"/>
            <a:ext cx="3148965" cy="92957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2870" b="1" i="0" u="none">
                <a:solidFill>
                  <a:srgbClr val="0F172A"/>
                </a:solidFill>
                <a:latin typeface="Arial"/>
              </a:rPr>
              <a:t>Weak entities &amp; extras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4065" y="7954544"/>
            <a:ext cx="3148965" cy="119956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332" b="0" i="0" u="none">
                <a:solidFill>
                  <a:srgbClr val="334155"/>
                </a:solidFill>
                <a:latin typeface="Calibri"/>
              </a:rPr>
              <a:t>No own key? Relationship attributes like </a:t>
            </a:r>
            <a:r>
              <a:rPr sz="2332" b="0" i="1" u="none">
                <a:solidFill>
                  <a:srgbClr val="334155"/>
                </a:solidFill>
                <a:latin typeface="Calibri"/>
              </a:rPr>
              <a:t>hours</a:t>
            </a:r>
            <a:r>
              <a:rPr sz="2332" b="0" i="0" u="none">
                <a:solidFill>
                  <a:srgbClr val="334155"/>
                </a:solidFill>
                <a:latin typeface="Calibri"/>
              </a:rPr>
              <a:t>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481685" y="5959872"/>
            <a:ext cx="3891915" cy="3565714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853160" y="6331347"/>
            <a:ext cx="3148965" cy="3964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152" b="1" i="0" u="none">
                <a:solidFill>
                  <a:srgbClr val="C8102E"/>
                </a:solidFill>
                <a:latin typeface="Arial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853160" y="6876375"/>
            <a:ext cx="3148965" cy="92957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2870" b="1" i="0" u="none">
                <a:solidFill>
                  <a:srgbClr val="0F172A"/>
                </a:solidFill>
                <a:latin typeface="Arial"/>
              </a:rPr>
              <a:t>Review with users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53160" y="7954544"/>
            <a:ext cx="3148965" cy="119956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332" b="0" i="0" u="none">
                <a:solidFill>
                  <a:srgbClr val="334155"/>
                </a:solidFill>
                <a:latin typeface="Calibri"/>
              </a:rPr>
              <a:t>Read every relationship aloud as a sentence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2004821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COMPANY CASE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995421" y="981075"/>
            <a:ext cx="13530454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24/39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6459200" cy="653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320"/>
              </a:lnSpc>
            </a:pPr>
            <a:r>
              <a:rPr sz="4050" b="1" i="0" u="none">
                <a:solidFill>
                  <a:srgbClr val="0F172A"/>
                </a:solidFill>
                <a:latin typeface="Arial"/>
              </a:rPr>
              <a:t>The COMPANY database: requirements (1/2)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482024"/>
            <a:ext cx="16459200" cy="2900415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14450" y="2882074"/>
            <a:ext cx="15659100" cy="210031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3091" b="0" i="0" u="none">
                <a:solidFill>
                  <a:srgbClr val="334155"/>
                </a:solidFill>
                <a:latin typeface="Calibri"/>
              </a:rPr>
              <a:t>A company is organized into </a:t>
            </a:r>
            <a:r>
              <a:rPr sz="3091" b="1" i="0" u="none">
                <a:solidFill>
                  <a:srgbClr val="334155"/>
                </a:solidFill>
                <a:latin typeface="Calibri"/>
              </a:rPr>
              <a:t>departments</a:t>
            </a:r>
            <a:r>
              <a:rPr sz="3091" b="0" i="0" u="none">
                <a:solidFill>
                  <a:srgbClr val="334155"/>
                </a:solidFill>
                <a:latin typeface="Calibri"/>
              </a:rPr>
              <a:t>. Each department has a </a:t>
            </a:r>
            <a:r>
              <a:rPr sz="3091" b="0" i="1" u="none">
                <a:solidFill>
                  <a:srgbClr val="334155"/>
                </a:solidFill>
                <a:latin typeface="Calibri"/>
              </a:rPr>
              <a:t>unique name</a:t>
            </a:r>
            <a:r>
              <a:rPr sz="3091" b="0" i="0" u="none">
                <a:solidFill>
                  <a:srgbClr val="334155"/>
                </a:solidFill>
                <a:latin typeface="Calibri"/>
              </a:rPr>
              <a:t>, a </a:t>
            </a:r>
            <a:r>
              <a:rPr sz="3091" b="0" i="1" u="none">
                <a:solidFill>
                  <a:srgbClr val="334155"/>
                </a:solidFill>
                <a:latin typeface="Calibri"/>
              </a:rPr>
              <a:t>unique number</a:t>
            </a:r>
            <a:r>
              <a:rPr sz="3091" b="0" i="0" u="none">
                <a:solidFill>
                  <a:srgbClr val="334155"/>
                </a:solidFill>
                <a:latin typeface="Calibri"/>
              </a:rPr>
              <a:t>, and a particular employee who </a:t>
            </a:r>
            <a:r>
              <a:rPr sz="3091" b="1" i="0" u="none">
                <a:solidFill>
                  <a:srgbClr val="334155"/>
                </a:solidFill>
                <a:latin typeface="Calibri"/>
              </a:rPr>
              <a:t>manages</a:t>
            </a:r>
            <a:r>
              <a:rPr sz="3091" b="0" i="0" u="none">
                <a:solidFill>
                  <a:srgbClr val="334155"/>
                </a:solidFill>
                <a:latin typeface="Calibri"/>
              </a:rPr>
              <a:t> the department. We keep track of the </a:t>
            </a:r>
            <a:r>
              <a:rPr sz="3091" b="0" i="1" u="none">
                <a:solidFill>
                  <a:srgbClr val="334155"/>
                </a:solidFill>
                <a:latin typeface="Calibri"/>
              </a:rPr>
              <a:t>start date</a:t>
            </a:r>
            <a:r>
              <a:rPr sz="3091" b="0" i="0" u="none">
                <a:solidFill>
                  <a:srgbClr val="334155"/>
                </a:solidFill>
                <a:latin typeface="Calibri"/>
              </a:rPr>
              <a:t> when that employee began managing. A department may have </a:t>
            </a:r>
            <a:r>
              <a:rPr sz="3091" b="1" i="0" u="none">
                <a:solidFill>
                  <a:srgbClr val="334155"/>
                </a:solidFill>
                <a:latin typeface="Calibri"/>
              </a:rPr>
              <a:t>several locations</a:t>
            </a:r>
            <a:r>
              <a:rPr sz="3091" b="0" i="0" u="none">
                <a:solidFill>
                  <a:srgbClr val="334155"/>
                </a:solidFill>
                <a:latin typeface="Calibri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5835830"/>
            <a:ext cx="16459200" cy="2390058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14450" y="6235880"/>
            <a:ext cx="15659100" cy="158995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3091" b="0" i="0" u="none">
                <a:solidFill>
                  <a:srgbClr val="334155"/>
                </a:solidFill>
                <a:latin typeface="Calibri"/>
              </a:rPr>
              <a:t>A department </a:t>
            </a:r>
            <a:r>
              <a:rPr sz="3091" b="1" i="0" u="none">
                <a:solidFill>
                  <a:srgbClr val="334155"/>
                </a:solidFill>
                <a:latin typeface="Calibri"/>
              </a:rPr>
              <a:t>controls</a:t>
            </a:r>
            <a:r>
              <a:rPr sz="3091" b="0" i="0" u="none">
                <a:solidFill>
                  <a:srgbClr val="334155"/>
                </a:solidFill>
                <a:latin typeface="Calibri"/>
              </a:rPr>
              <a:t> a number of </a:t>
            </a:r>
            <a:r>
              <a:rPr sz="3091" b="1" i="0" u="none">
                <a:solidFill>
                  <a:srgbClr val="334155"/>
                </a:solidFill>
                <a:latin typeface="Calibri"/>
              </a:rPr>
              <a:t>projects</a:t>
            </a:r>
            <a:r>
              <a:rPr sz="3091" b="0" i="0" u="none">
                <a:solidFill>
                  <a:srgbClr val="334155"/>
                </a:solidFill>
                <a:latin typeface="Calibri"/>
              </a:rPr>
              <a:t>, each of which has a </a:t>
            </a:r>
            <a:r>
              <a:rPr sz="3091" b="0" i="1" u="none">
                <a:solidFill>
                  <a:srgbClr val="334155"/>
                </a:solidFill>
                <a:latin typeface="Calibri"/>
              </a:rPr>
              <a:t>unique name</a:t>
            </a:r>
            <a:r>
              <a:rPr sz="3091" b="0" i="0" u="none">
                <a:solidFill>
                  <a:srgbClr val="334155"/>
                </a:solidFill>
                <a:latin typeface="Calibri"/>
              </a:rPr>
              <a:t>, a </a:t>
            </a:r>
            <a:r>
              <a:rPr sz="3091" b="0" i="1" u="none">
                <a:solidFill>
                  <a:srgbClr val="334155"/>
                </a:solidFill>
                <a:latin typeface="Calibri"/>
              </a:rPr>
              <a:t>unique number</a:t>
            </a:r>
            <a:r>
              <a:rPr sz="3091" b="0" i="0" u="none">
                <a:solidFill>
                  <a:srgbClr val="334155"/>
                </a:solidFill>
                <a:latin typeface="Calibri"/>
              </a:rPr>
              <a:t>, and a single </a:t>
            </a:r>
            <a:r>
              <a:rPr sz="3091" b="0" i="1" u="none">
                <a:solidFill>
                  <a:srgbClr val="334155"/>
                </a:solidFill>
                <a:latin typeface="Calibri"/>
              </a:rPr>
              <a:t>location</a:t>
            </a:r>
            <a:r>
              <a:rPr sz="3091" b="0" i="0" u="none">
                <a:solidFill>
                  <a:srgbClr val="334155"/>
                </a:solidFill>
                <a:latin typeface="Calibri"/>
              </a:rPr>
              <a:t>. A project must be controlled by a department.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2004821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COMPANY CASE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995421" y="981075"/>
            <a:ext cx="13530454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25/39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6459200" cy="653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320"/>
              </a:lnSpc>
            </a:pPr>
            <a:r>
              <a:rPr sz="4050" b="1" i="0" u="none">
                <a:solidFill>
                  <a:srgbClr val="0F172A"/>
                </a:solidFill>
                <a:latin typeface="Arial"/>
              </a:rPr>
              <a:t>The COMPANY database: requirements (2/2)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482024"/>
            <a:ext cx="16459200" cy="3247605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14450" y="2882074"/>
            <a:ext cx="15659100" cy="244750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898" b="0" i="0" u="none">
                <a:solidFill>
                  <a:srgbClr val="334155"/>
                </a:solidFill>
                <a:latin typeface="Calibri"/>
              </a:rPr>
              <a:t>We store each </a:t>
            </a:r>
            <a:r>
              <a:rPr sz="2898" b="1" i="0" u="none">
                <a:solidFill>
                  <a:srgbClr val="334155"/>
                </a:solidFill>
                <a:latin typeface="Calibri"/>
              </a:rPr>
              <a:t>employee</a:t>
            </a:r>
            <a:r>
              <a:rPr sz="2898" b="0" i="0" u="none">
                <a:solidFill>
                  <a:srgbClr val="334155"/>
                </a:solidFill>
                <a:latin typeface="Calibri"/>
              </a:rPr>
              <a:t>'s </a:t>
            </a:r>
            <a:r>
              <a:rPr sz="2898" b="0" i="1" u="none">
                <a:solidFill>
                  <a:srgbClr val="334155"/>
                </a:solidFill>
                <a:latin typeface="Calibri"/>
              </a:rPr>
              <a:t>name, social security number, address, salary, gender and birth date</a:t>
            </a:r>
            <a:r>
              <a:rPr sz="2898" b="0" i="0" u="none">
                <a:solidFill>
                  <a:srgbClr val="334155"/>
                </a:solidFill>
                <a:latin typeface="Calibri"/>
              </a:rPr>
              <a:t>. An employee must be assigned to </a:t>
            </a:r>
            <a:r>
              <a:rPr sz="2898" b="1" i="0" u="none">
                <a:solidFill>
                  <a:srgbClr val="334155"/>
                </a:solidFill>
                <a:latin typeface="Calibri"/>
              </a:rPr>
              <a:t>one department</a:t>
            </a:r>
            <a:r>
              <a:rPr sz="2898" b="0" i="0" u="none">
                <a:solidFill>
                  <a:srgbClr val="334155"/>
                </a:solidFill>
                <a:latin typeface="Calibri"/>
              </a:rPr>
              <a:t> and must </a:t>
            </a:r>
            <a:r>
              <a:rPr sz="2898" b="1" i="0" u="none">
                <a:solidFill>
                  <a:srgbClr val="334155"/>
                </a:solidFill>
                <a:latin typeface="Calibri"/>
              </a:rPr>
              <a:t>work on</a:t>
            </a:r>
            <a:r>
              <a:rPr sz="2898" b="0" i="0" u="none">
                <a:solidFill>
                  <a:srgbClr val="334155"/>
                </a:solidFill>
                <a:latin typeface="Calibri"/>
              </a:rPr>
              <a:t> one or more projects, which are not necessarily controlled by the same department. We keep track of the </a:t>
            </a:r>
            <a:r>
              <a:rPr sz="2898" b="0" i="1" u="none">
                <a:solidFill>
                  <a:srgbClr val="334155"/>
                </a:solidFill>
                <a:latin typeface="Calibri"/>
              </a:rPr>
              <a:t>number of hours per week</a:t>
            </a:r>
            <a:r>
              <a:rPr sz="2898" b="0" i="0" u="none">
                <a:solidFill>
                  <a:srgbClr val="334155"/>
                </a:solidFill>
                <a:latin typeface="Calibri"/>
              </a:rPr>
              <a:t> that an employee works on each project. We also keep track of the </a:t>
            </a:r>
            <a:r>
              <a:rPr sz="2898" b="1" i="0" u="none">
                <a:solidFill>
                  <a:srgbClr val="334155"/>
                </a:solidFill>
                <a:latin typeface="Calibri"/>
              </a:rPr>
              <a:t>direct supervisor</a:t>
            </a:r>
            <a:r>
              <a:rPr sz="2898" b="0" i="0" u="none">
                <a:solidFill>
                  <a:srgbClr val="334155"/>
                </a:solidFill>
                <a:latin typeface="Calibri"/>
              </a:rPr>
              <a:t> of each employee.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6183020"/>
            <a:ext cx="16459200" cy="1812226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14450" y="6583070"/>
            <a:ext cx="15659100" cy="101212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898" b="0" i="0" u="none">
                <a:solidFill>
                  <a:srgbClr val="334155"/>
                </a:solidFill>
                <a:latin typeface="Calibri"/>
              </a:rPr>
              <a:t>We keep track of the </a:t>
            </a:r>
            <a:r>
              <a:rPr sz="2898" b="1" i="0" u="none">
                <a:solidFill>
                  <a:srgbClr val="334155"/>
                </a:solidFill>
                <a:latin typeface="Calibri"/>
              </a:rPr>
              <a:t>dependents</a:t>
            </a:r>
            <a:r>
              <a:rPr sz="2898" b="0" i="0" u="none">
                <a:solidFill>
                  <a:srgbClr val="334155"/>
                </a:solidFill>
                <a:latin typeface="Calibri"/>
              </a:rPr>
              <a:t> of each employee for insurance purposes: each dependent's </a:t>
            </a:r>
            <a:r>
              <a:rPr sz="2898" b="0" i="1" u="none">
                <a:solidFill>
                  <a:srgbClr val="334155"/>
                </a:solidFill>
                <a:latin typeface="Calibri"/>
              </a:rPr>
              <a:t>first name, gender, birth date</a:t>
            </a:r>
            <a:r>
              <a:rPr sz="2898" b="0" i="0" u="none">
                <a:solidFill>
                  <a:srgbClr val="334155"/>
                </a:solidFill>
                <a:latin typeface="Calibri"/>
              </a:rPr>
              <a:t> and </a:t>
            </a:r>
            <a:r>
              <a:rPr sz="2898" b="0" i="1" u="none">
                <a:solidFill>
                  <a:srgbClr val="334155"/>
                </a:solidFill>
                <a:latin typeface="Calibri"/>
              </a:rPr>
              <a:t>relationship</a:t>
            </a:r>
            <a:r>
              <a:rPr sz="2898" b="0" i="0" u="none">
                <a:solidFill>
                  <a:srgbClr val="334155"/>
                </a:solidFill>
                <a:latin typeface="Calibri"/>
              </a:rPr>
              <a:t> to the employee.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2004821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COMPANY CASE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995421" y="981075"/>
            <a:ext cx="13530454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26/39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6459200" cy="653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320"/>
              </a:lnSpc>
            </a:pPr>
            <a:r>
              <a:rPr sz="4050" b="1" i="0" u="none">
                <a:solidFill>
                  <a:srgbClr val="0F172A"/>
                </a:solidFill>
                <a:latin typeface="Arial"/>
              </a:rPr>
              <a:t>The COMPANY ERD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6589204" y="3283004"/>
            <a:ext cx="2000250" cy="76200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6555295" y="3193995"/>
            <a:ext cx="2000250" cy="76200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10651045" y="3283004"/>
            <a:ext cx="2000250" cy="76200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10684954" y="3193995"/>
            <a:ext cx="2000250" cy="76200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6572250" y="4381500"/>
            <a:ext cx="2000250" cy="38100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10676911" y="4428283"/>
            <a:ext cx="2000250" cy="38100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10659088" y="4334716"/>
            <a:ext cx="2000250" cy="38100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6064756" y="4646044"/>
            <a:ext cx="2476500" cy="215265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6127243" y="4574155"/>
            <a:ext cx="2476500" cy="215265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10649239" y="6806524"/>
            <a:ext cx="2000250" cy="85725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10686760" y="6718975"/>
            <a:ext cx="2000250" cy="85725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13906500" y="4610100"/>
            <a:ext cx="0" cy="81915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13858875" y="6381750"/>
            <a:ext cx="0" cy="81915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13954125" y="6381750"/>
            <a:ext cx="0" cy="81915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5334000" y="4610100"/>
            <a:ext cx="0" cy="110490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5286375" y="6762750"/>
            <a:ext cx="0" cy="91440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5381625" y="6762750"/>
            <a:ext cx="0" cy="91440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23" name="Connector 22"/>
          <p:cNvCxnSpPr/>
          <p:nvPr/>
        </p:nvCxnSpPr>
        <p:spPr>
          <a:xfrm flipH="1">
            <a:off x="2381250" y="4095750"/>
            <a:ext cx="1714500" cy="161925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24" name="Connector 23"/>
          <p:cNvCxnSpPr/>
          <p:nvPr/>
        </p:nvCxnSpPr>
        <p:spPr>
          <a:xfrm flipH="1">
            <a:off x="3476625" y="4610100"/>
            <a:ext cx="1000125" cy="158115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25" name="Connector 24"/>
          <p:cNvCxnSpPr/>
          <p:nvPr/>
        </p:nvCxnSpPr>
        <p:spPr>
          <a:xfrm>
            <a:off x="2762250" y="3352800"/>
            <a:ext cx="1428750" cy="55245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4286250" y="3105150"/>
            <a:ext cx="666750" cy="66675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27" name="Connector 26"/>
          <p:cNvCxnSpPr/>
          <p:nvPr/>
        </p:nvCxnSpPr>
        <p:spPr>
          <a:xfrm flipH="1">
            <a:off x="5619750" y="3105150"/>
            <a:ext cx="476250" cy="66675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12954000" y="3124200"/>
            <a:ext cx="571500" cy="64770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29" name="Connector 28"/>
          <p:cNvCxnSpPr/>
          <p:nvPr/>
        </p:nvCxnSpPr>
        <p:spPr>
          <a:xfrm flipH="1">
            <a:off x="14287500" y="3124200"/>
            <a:ext cx="571500" cy="64770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30" name="Connector 29"/>
          <p:cNvCxnSpPr/>
          <p:nvPr/>
        </p:nvCxnSpPr>
        <p:spPr>
          <a:xfrm flipH="1" flipV="1">
            <a:off x="15144750" y="4286250"/>
            <a:ext cx="285750" cy="9525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31" name="Connector 30"/>
          <p:cNvCxnSpPr/>
          <p:nvPr/>
        </p:nvCxnSpPr>
        <p:spPr>
          <a:xfrm>
            <a:off x="9620250" y="5238750"/>
            <a:ext cx="0" cy="142875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32" name="Connector 31"/>
          <p:cNvCxnSpPr/>
          <p:nvPr/>
        </p:nvCxnSpPr>
        <p:spPr>
          <a:xfrm flipH="1">
            <a:off x="8477250" y="7048500"/>
            <a:ext cx="476250" cy="34290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33" name="Connector 32"/>
          <p:cNvCxnSpPr/>
          <p:nvPr/>
        </p:nvCxnSpPr>
        <p:spPr>
          <a:xfrm flipH="1">
            <a:off x="15144750" y="7048500"/>
            <a:ext cx="476250" cy="38100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34" name="Connector 33"/>
          <p:cNvCxnSpPr/>
          <p:nvPr/>
        </p:nvCxnSpPr>
        <p:spPr>
          <a:xfrm flipH="1" flipV="1">
            <a:off x="15144750" y="7905750"/>
            <a:ext cx="476250" cy="333375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cxnSp>
        <p:nvCxnSpPr>
          <p:cNvPr id="35" name="Connector 34"/>
          <p:cNvCxnSpPr/>
          <p:nvPr/>
        </p:nvCxnSpPr>
        <p:spPr>
          <a:xfrm flipV="1">
            <a:off x="3381375" y="8191500"/>
            <a:ext cx="619125" cy="95250"/>
          </a:xfrm>
          <a:prstGeom prst="line">
            <a:avLst/>
          </a:prstGeom>
          <a:ln w="23812">
            <a:solidFill>
              <a:srgbClr val="0F172A"/>
            </a:solidFill>
          </a:ln>
        </p:spPr>
      </p:cxnSp>
      <p:sp>
        <p:nvSpPr>
          <p:cNvPr id="36" name="Rectangle 35"/>
          <p:cNvSpPr/>
          <p:nvPr/>
        </p:nvSpPr>
        <p:spPr>
          <a:xfrm>
            <a:off x="4095750" y="3771900"/>
            <a:ext cx="2476500" cy="838200"/>
          </a:xfrm>
          <a:prstGeom prst="rect">
            <a:avLst/>
          </a:prstGeom>
          <a:solidFill>
            <a:srgbClr val="FFFFFF"/>
          </a:solidFill>
          <a:ln w="23812">
            <a:solidFill>
              <a:srgbClr val="0F172A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932" b="1" i="0" u="none">
                <a:solidFill>
                  <a:srgbClr val="0F172A"/>
                </a:solidFill>
                <a:latin typeface="Arial"/>
              </a:rPr>
              <a:t>EMPLOYEE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668250" y="3771900"/>
            <a:ext cx="2476500" cy="838200"/>
          </a:xfrm>
          <a:prstGeom prst="rect">
            <a:avLst/>
          </a:prstGeom>
          <a:solidFill>
            <a:srgbClr val="FFFFFF"/>
          </a:solidFill>
          <a:ln w="23812">
            <a:solidFill>
              <a:srgbClr val="0F172A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932" b="1" i="0" u="none">
                <a:solidFill>
                  <a:srgbClr val="0F172A"/>
                </a:solidFill>
                <a:latin typeface="Arial"/>
              </a:rPr>
              <a:t>DEPARTMENT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668250" y="7200900"/>
            <a:ext cx="2476500" cy="838200"/>
          </a:xfrm>
          <a:prstGeom prst="rect">
            <a:avLst/>
          </a:prstGeom>
          <a:solidFill>
            <a:srgbClr val="FFFFFF"/>
          </a:solidFill>
          <a:ln w="23812">
            <a:solidFill>
              <a:srgbClr val="0F172A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932" b="1" i="0" u="none">
                <a:solidFill>
                  <a:srgbClr val="0F172A"/>
                </a:solidFill>
                <a:latin typeface="Arial"/>
              </a:rPr>
              <a:t>PROJECT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00500" y="7677150"/>
            <a:ext cx="2667000" cy="838200"/>
          </a:xfrm>
          <a:prstGeom prst="rect">
            <a:avLst/>
          </a:prstGeom>
          <a:solidFill>
            <a:srgbClr val="FFFFFF"/>
          </a:solidFill>
          <a:ln w="66675" cmpd="dbl">
            <a:solidFill>
              <a:srgbClr val="0F172A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932" b="1" i="0" u="none">
                <a:solidFill>
                  <a:srgbClr val="0F172A"/>
                </a:solidFill>
                <a:latin typeface="Arial"/>
              </a:rPr>
              <a:t>DEPENDENT</a:t>
            </a:r>
          </a:p>
        </p:txBody>
      </p:sp>
      <p:sp>
        <p:nvSpPr>
          <p:cNvPr id="40" name="Diamond 39"/>
          <p:cNvSpPr/>
          <p:nvPr/>
        </p:nvSpPr>
        <p:spPr>
          <a:xfrm>
            <a:off x="8572500" y="2762250"/>
            <a:ext cx="2095500" cy="952500"/>
          </a:xfrm>
          <a:prstGeom prst="diamond">
            <a:avLst/>
          </a:prstGeom>
          <a:solidFill>
            <a:srgbClr val="FDECEF"/>
          </a:solidFill>
          <a:ln w="23812">
            <a:solidFill>
              <a:srgbClr val="C8102E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656" b="1" i="0" u="none">
                <a:solidFill>
                  <a:srgbClr val="0F172A"/>
                </a:solidFill>
                <a:latin typeface="Arial"/>
              </a:rPr>
              <a:t>WORKS_FOR</a:t>
            </a:r>
          </a:p>
        </p:txBody>
      </p:sp>
      <p:sp>
        <p:nvSpPr>
          <p:cNvPr id="41" name="Diamond 40"/>
          <p:cNvSpPr/>
          <p:nvPr/>
        </p:nvSpPr>
        <p:spPr>
          <a:xfrm>
            <a:off x="8572500" y="4286250"/>
            <a:ext cx="2095500" cy="952500"/>
          </a:xfrm>
          <a:prstGeom prst="diamond">
            <a:avLst/>
          </a:prstGeom>
          <a:solidFill>
            <a:srgbClr val="FDECEF"/>
          </a:solidFill>
          <a:ln w="23812">
            <a:solidFill>
              <a:srgbClr val="C8102E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656" b="1" i="0" u="none">
                <a:solidFill>
                  <a:srgbClr val="0F172A"/>
                </a:solidFill>
                <a:latin typeface="Arial"/>
              </a:rPr>
              <a:t>MANAGES</a:t>
            </a:r>
          </a:p>
        </p:txBody>
      </p:sp>
      <p:sp>
        <p:nvSpPr>
          <p:cNvPr id="42" name="Diamond 41"/>
          <p:cNvSpPr/>
          <p:nvPr/>
        </p:nvSpPr>
        <p:spPr>
          <a:xfrm>
            <a:off x="8572500" y="6286500"/>
            <a:ext cx="2095500" cy="952500"/>
          </a:xfrm>
          <a:prstGeom prst="diamond">
            <a:avLst/>
          </a:prstGeom>
          <a:solidFill>
            <a:srgbClr val="FDECEF"/>
          </a:solidFill>
          <a:ln w="23812">
            <a:solidFill>
              <a:srgbClr val="C8102E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656" b="1" i="0" u="none">
                <a:solidFill>
                  <a:srgbClr val="0F172A"/>
                </a:solidFill>
                <a:latin typeface="Arial"/>
              </a:rPr>
              <a:t>WORKS_ON</a:t>
            </a:r>
          </a:p>
        </p:txBody>
      </p:sp>
      <p:sp>
        <p:nvSpPr>
          <p:cNvPr id="43" name="Diamond 42"/>
          <p:cNvSpPr/>
          <p:nvPr/>
        </p:nvSpPr>
        <p:spPr>
          <a:xfrm>
            <a:off x="12858750" y="5429250"/>
            <a:ext cx="2095500" cy="952500"/>
          </a:xfrm>
          <a:prstGeom prst="diamond">
            <a:avLst/>
          </a:prstGeom>
          <a:solidFill>
            <a:srgbClr val="FDECEF"/>
          </a:solidFill>
          <a:ln w="23812">
            <a:solidFill>
              <a:srgbClr val="C8102E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656" b="1" i="0" u="none">
                <a:solidFill>
                  <a:srgbClr val="0F172A"/>
                </a:solidFill>
                <a:latin typeface="Arial"/>
              </a:rPr>
              <a:t>CONTROLS</a:t>
            </a:r>
          </a:p>
        </p:txBody>
      </p:sp>
      <p:sp>
        <p:nvSpPr>
          <p:cNvPr id="44" name="Diamond 43"/>
          <p:cNvSpPr/>
          <p:nvPr/>
        </p:nvSpPr>
        <p:spPr>
          <a:xfrm>
            <a:off x="4000500" y="5715000"/>
            <a:ext cx="2667000" cy="1047750"/>
          </a:xfrm>
          <a:prstGeom prst="diamond">
            <a:avLst/>
          </a:prstGeom>
          <a:solidFill>
            <a:srgbClr val="FDECEF"/>
          </a:solidFill>
          <a:ln w="66675" cmpd="dbl">
            <a:solidFill>
              <a:srgbClr val="C8102E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656" b="1" i="0" u="none">
                <a:solidFill>
                  <a:srgbClr val="0F172A"/>
                </a:solidFill>
                <a:latin typeface="Arial"/>
              </a:rPr>
              <a:t>DEPENDENTS_OF</a:t>
            </a:r>
          </a:p>
        </p:txBody>
      </p:sp>
      <p:sp>
        <p:nvSpPr>
          <p:cNvPr id="45" name="Diamond 44"/>
          <p:cNvSpPr/>
          <p:nvPr/>
        </p:nvSpPr>
        <p:spPr>
          <a:xfrm>
            <a:off x="1285875" y="5715000"/>
            <a:ext cx="2190750" cy="952500"/>
          </a:xfrm>
          <a:prstGeom prst="diamond">
            <a:avLst/>
          </a:prstGeom>
          <a:solidFill>
            <a:srgbClr val="FDECEF"/>
          </a:solidFill>
          <a:ln w="23812">
            <a:solidFill>
              <a:srgbClr val="C8102E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656" b="1" i="0" u="none">
                <a:solidFill>
                  <a:srgbClr val="0F172A"/>
                </a:solidFill>
                <a:latin typeface="Arial"/>
              </a:rPr>
              <a:t>SUPERVISION</a:t>
            </a:r>
          </a:p>
        </p:txBody>
      </p:sp>
      <p:sp>
        <p:nvSpPr>
          <p:cNvPr id="46" name="Oval 45"/>
          <p:cNvSpPr/>
          <p:nvPr/>
        </p:nvSpPr>
        <p:spPr>
          <a:xfrm>
            <a:off x="1714500" y="2876550"/>
            <a:ext cx="1333500" cy="533400"/>
          </a:xfrm>
          <a:prstGeom prst="ellipse">
            <a:avLst/>
          </a:prstGeom>
          <a:solidFill>
            <a:srgbClr val="E6F4F4"/>
          </a:solidFill>
          <a:ln w="19050">
            <a:solidFill>
              <a:srgbClr val="0E8A8A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656" b="0" i="0" u="sng">
                <a:solidFill>
                  <a:srgbClr val="0F172A"/>
                </a:solidFill>
                <a:latin typeface="Calibri"/>
              </a:rPr>
              <a:t>Ssn</a:t>
            </a:r>
          </a:p>
        </p:txBody>
      </p:sp>
      <p:sp>
        <p:nvSpPr>
          <p:cNvPr id="47" name="Oval 46"/>
          <p:cNvSpPr/>
          <p:nvPr/>
        </p:nvSpPr>
        <p:spPr>
          <a:xfrm>
            <a:off x="3381375" y="2590800"/>
            <a:ext cx="1428750" cy="533400"/>
          </a:xfrm>
          <a:prstGeom prst="ellipse">
            <a:avLst/>
          </a:prstGeom>
          <a:solidFill>
            <a:srgbClr val="E6F4F4"/>
          </a:solidFill>
          <a:ln w="19050">
            <a:solidFill>
              <a:srgbClr val="0E8A8A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656" b="0" i="0" u="none">
                <a:solidFill>
                  <a:srgbClr val="0F172A"/>
                </a:solidFill>
                <a:latin typeface="Calibri"/>
              </a:rPr>
              <a:t>Name</a:t>
            </a:r>
          </a:p>
        </p:txBody>
      </p:sp>
      <p:sp>
        <p:nvSpPr>
          <p:cNvPr id="48" name="Oval 47"/>
          <p:cNvSpPr/>
          <p:nvPr/>
        </p:nvSpPr>
        <p:spPr>
          <a:xfrm>
            <a:off x="5572125" y="2590800"/>
            <a:ext cx="1428750" cy="533400"/>
          </a:xfrm>
          <a:prstGeom prst="ellipse">
            <a:avLst/>
          </a:prstGeom>
          <a:solidFill>
            <a:srgbClr val="E6F4F4"/>
          </a:solidFill>
          <a:ln w="19050">
            <a:solidFill>
              <a:srgbClr val="0E8A8A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656" b="0" i="0" u="none">
                <a:solidFill>
                  <a:srgbClr val="0F172A"/>
                </a:solidFill>
                <a:latin typeface="Calibri"/>
              </a:rPr>
              <a:t>Salary</a:t>
            </a:r>
          </a:p>
        </p:txBody>
      </p:sp>
      <p:sp>
        <p:nvSpPr>
          <p:cNvPr id="49" name="Oval 48"/>
          <p:cNvSpPr/>
          <p:nvPr/>
        </p:nvSpPr>
        <p:spPr>
          <a:xfrm>
            <a:off x="11906250" y="2590800"/>
            <a:ext cx="1524000" cy="533400"/>
          </a:xfrm>
          <a:prstGeom prst="ellipse">
            <a:avLst/>
          </a:prstGeom>
          <a:solidFill>
            <a:srgbClr val="E6F4F4"/>
          </a:solidFill>
          <a:ln w="19050">
            <a:solidFill>
              <a:srgbClr val="0E8A8A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656" b="0" i="0" u="sng">
                <a:solidFill>
                  <a:srgbClr val="0F172A"/>
                </a:solidFill>
                <a:latin typeface="Calibri"/>
              </a:rPr>
              <a:t>Number</a:t>
            </a:r>
          </a:p>
        </p:txBody>
      </p:sp>
      <p:sp>
        <p:nvSpPr>
          <p:cNvPr id="50" name="Oval 49"/>
          <p:cNvSpPr/>
          <p:nvPr/>
        </p:nvSpPr>
        <p:spPr>
          <a:xfrm>
            <a:off x="14382750" y="2590800"/>
            <a:ext cx="1333500" cy="533400"/>
          </a:xfrm>
          <a:prstGeom prst="ellipse">
            <a:avLst/>
          </a:prstGeom>
          <a:solidFill>
            <a:srgbClr val="E6F4F4"/>
          </a:solidFill>
          <a:ln w="19050">
            <a:solidFill>
              <a:srgbClr val="0E8A8A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656" b="0" i="0" u="sng">
                <a:solidFill>
                  <a:srgbClr val="0F172A"/>
                </a:solidFill>
                <a:latin typeface="Calibri"/>
              </a:rPr>
              <a:t>Name</a:t>
            </a:r>
          </a:p>
        </p:txBody>
      </p:sp>
      <p:sp>
        <p:nvSpPr>
          <p:cNvPr id="51" name="Oval 50"/>
          <p:cNvSpPr/>
          <p:nvPr/>
        </p:nvSpPr>
        <p:spPr>
          <a:xfrm>
            <a:off x="15430500" y="4191000"/>
            <a:ext cx="1714500" cy="571500"/>
          </a:xfrm>
          <a:prstGeom prst="ellipse">
            <a:avLst/>
          </a:prstGeom>
          <a:solidFill>
            <a:srgbClr val="E6F4F4"/>
          </a:solidFill>
          <a:ln w="57150" cmpd="dbl">
            <a:solidFill>
              <a:srgbClr val="0E8A8A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656" b="0" i="0" u="none">
                <a:solidFill>
                  <a:srgbClr val="0F172A"/>
                </a:solidFill>
                <a:latin typeface="Calibri"/>
              </a:rPr>
              <a:t>Locations</a:t>
            </a:r>
          </a:p>
        </p:txBody>
      </p:sp>
      <p:sp>
        <p:nvSpPr>
          <p:cNvPr id="52" name="Oval 51"/>
          <p:cNvSpPr/>
          <p:nvPr/>
        </p:nvSpPr>
        <p:spPr>
          <a:xfrm>
            <a:off x="8810625" y="5381625"/>
            <a:ext cx="1619250" cy="476250"/>
          </a:xfrm>
          <a:prstGeom prst="ellipse">
            <a:avLst/>
          </a:prstGeom>
          <a:solidFill>
            <a:srgbClr val="E6F4F4"/>
          </a:solidFill>
          <a:ln w="19050">
            <a:solidFill>
              <a:srgbClr val="0E8A8A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656" b="0" i="0" u="none">
                <a:solidFill>
                  <a:srgbClr val="0F172A"/>
                </a:solidFill>
                <a:latin typeface="Calibri"/>
              </a:rPr>
              <a:t>StartDate</a:t>
            </a:r>
          </a:p>
        </p:txBody>
      </p:sp>
      <p:sp>
        <p:nvSpPr>
          <p:cNvPr id="53" name="Oval 52"/>
          <p:cNvSpPr/>
          <p:nvPr/>
        </p:nvSpPr>
        <p:spPr>
          <a:xfrm>
            <a:off x="7572375" y="7381875"/>
            <a:ext cx="1238250" cy="476250"/>
          </a:xfrm>
          <a:prstGeom prst="ellipse">
            <a:avLst/>
          </a:prstGeom>
          <a:solidFill>
            <a:srgbClr val="E6F4F4"/>
          </a:solidFill>
          <a:ln w="19050">
            <a:solidFill>
              <a:srgbClr val="0E8A8A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656" b="0" i="0" u="none">
                <a:solidFill>
                  <a:srgbClr val="0F172A"/>
                </a:solidFill>
                <a:latin typeface="Calibri"/>
              </a:rPr>
              <a:t>Hours</a:t>
            </a:r>
          </a:p>
        </p:txBody>
      </p:sp>
      <p:sp>
        <p:nvSpPr>
          <p:cNvPr id="54" name="Oval 53"/>
          <p:cNvSpPr/>
          <p:nvPr/>
        </p:nvSpPr>
        <p:spPr>
          <a:xfrm>
            <a:off x="15621000" y="6591300"/>
            <a:ext cx="1524000" cy="533400"/>
          </a:xfrm>
          <a:prstGeom prst="ellipse">
            <a:avLst/>
          </a:prstGeom>
          <a:solidFill>
            <a:srgbClr val="E6F4F4"/>
          </a:solidFill>
          <a:ln w="19050">
            <a:solidFill>
              <a:srgbClr val="0E8A8A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656" b="0" i="0" u="sng">
                <a:solidFill>
                  <a:srgbClr val="0F172A"/>
                </a:solidFill>
                <a:latin typeface="Calibri"/>
              </a:rPr>
              <a:t>Number</a:t>
            </a:r>
          </a:p>
        </p:txBody>
      </p:sp>
      <p:sp>
        <p:nvSpPr>
          <p:cNvPr id="55" name="Oval 54"/>
          <p:cNvSpPr/>
          <p:nvPr/>
        </p:nvSpPr>
        <p:spPr>
          <a:xfrm>
            <a:off x="15573375" y="8115300"/>
            <a:ext cx="1619250" cy="533400"/>
          </a:xfrm>
          <a:prstGeom prst="ellipse">
            <a:avLst/>
          </a:prstGeom>
          <a:solidFill>
            <a:srgbClr val="E6F4F4"/>
          </a:solidFill>
          <a:ln w="19050">
            <a:solidFill>
              <a:srgbClr val="0E8A8A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656" b="0" i="0" u="none">
                <a:solidFill>
                  <a:srgbClr val="0F172A"/>
                </a:solidFill>
                <a:latin typeface="Calibri"/>
              </a:rPr>
              <a:t>Location</a:t>
            </a:r>
          </a:p>
        </p:txBody>
      </p:sp>
      <p:sp>
        <p:nvSpPr>
          <p:cNvPr id="56" name="Oval 55"/>
          <p:cNvSpPr/>
          <p:nvPr/>
        </p:nvSpPr>
        <p:spPr>
          <a:xfrm>
            <a:off x="1381125" y="8020050"/>
            <a:ext cx="2000250" cy="533400"/>
          </a:xfrm>
          <a:prstGeom prst="ellipse">
            <a:avLst/>
          </a:prstGeom>
          <a:solidFill>
            <a:srgbClr val="E6F4F4"/>
          </a:solidFill>
          <a:ln w="19050">
            <a:solidFill>
              <a:srgbClr val="0E8A8A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656" b="0" i="0" u="none">
                <a:solidFill>
                  <a:srgbClr val="0F172A"/>
                </a:solidFill>
                <a:latin typeface="Calibri"/>
              </a:rPr>
              <a:t>Name (partial)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0" y="3378117"/>
            <a:ext cx="381000" cy="3303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1800"/>
              </a:lnSpc>
            </a:pPr>
            <a:r>
              <a:rPr sz="1794" b="1" i="0" u="none">
                <a:solidFill>
                  <a:srgbClr val="0F172A"/>
                </a:solidFill>
                <a:latin typeface="Arial"/>
              </a:rPr>
              <a:t>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096750" y="3378117"/>
            <a:ext cx="381000" cy="3303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1800"/>
              </a:lnSpc>
            </a:pPr>
            <a:r>
              <a:rPr sz="1794" b="1" i="0" u="none">
                <a:solidFill>
                  <a:srgbClr val="0F172A"/>
                </a:solidFill>
                <a:latin typeface="Arial"/>
              </a:rPr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0" y="4406817"/>
            <a:ext cx="381000" cy="3303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1800"/>
              </a:lnSpc>
            </a:pPr>
            <a:r>
              <a:rPr sz="1794" b="1" i="0" u="none">
                <a:solidFill>
                  <a:srgbClr val="0F172A"/>
                </a:solidFill>
                <a:latin typeface="Arial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096750" y="4140117"/>
            <a:ext cx="381000" cy="3303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1800"/>
              </a:lnSpc>
            </a:pPr>
            <a:r>
              <a:rPr sz="1794" b="1" i="0" u="none">
                <a:solidFill>
                  <a:srgbClr val="0F172A"/>
                </a:solidFill>
                <a:latin typeface="Arial"/>
              </a:rPr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48500" y="5168817"/>
            <a:ext cx="381000" cy="3303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1800"/>
              </a:lnSpc>
            </a:pPr>
            <a:r>
              <a:rPr sz="1794" b="1" i="0" u="none">
                <a:solidFill>
                  <a:srgbClr val="0F172A"/>
                </a:solidFill>
                <a:latin typeface="Arial"/>
              </a:rPr>
              <a:t>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096750" y="6883317"/>
            <a:ext cx="381000" cy="3303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1800"/>
              </a:lnSpc>
            </a:pPr>
            <a:r>
              <a:rPr sz="1794" b="1" i="0" u="none">
                <a:solidFill>
                  <a:srgbClr val="0F172A"/>
                </a:solidFill>
                <a:latin typeface="Arial"/>
              </a:rPr>
              <a:t>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001750" y="4787817"/>
            <a:ext cx="381000" cy="3303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1800"/>
              </a:lnSpc>
            </a:pPr>
            <a:r>
              <a:rPr sz="1794" b="1" i="0" u="none">
                <a:solidFill>
                  <a:srgbClr val="0F172A"/>
                </a:solidFill>
                <a:latin typeface="Arial"/>
              </a:rPr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001750" y="6692817"/>
            <a:ext cx="381000" cy="3303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1800"/>
              </a:lnSpc>
            </a:pPr>
            <a:r>
              <a:rPr sz="1794" b="1" i="0" u="none">
                <a:solidFill>
                  <a:srgbClr val="0F172A"/>
                </a:solidFill>
                <a:latin typeface="Arial"/>
              </a:rPr>
              <a:t>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29250" y="4787817"/>
            <a:ext cx="381000" cy="3303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1800"/>
              </a:lnSpc>
            </a:pPr>
            <a:r>
              <a:rPr sz="1794" b="1" i="0" u="none">
                <a:solidFill>
                  <a:srgbClr val="0F172A"/>
                </a:solidFill>
                <a:latin typeface="Arial"/>
              </a:rPr>
              <a:t>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29250" y="7169067"/>
            <a:ext cx="381000" cy="3303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1800"/>
              </a:lnSpc>
            </a:pPr>
            <a:r>
              <a:rPr sz="1794" b="1" i="0" u="none">
                <a:solidFill>
                  <a:srgbClr val="0F172A"/>
                </a:solidFill>
                <a:latin typeface="Arial"/>
              </a:rPr>
              <a:t>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667000" y="4787817"/>
            <a:ext cx="381000" cy="3303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1800"/>
              </a:lnSpc>
            </a:pPr>
            <a:r>
              <a:rPr sz="1794" b="1" i="0" u="none">
                <a:solidFill>
                  <a:srgbClr val="0F172A"/>
                </a:solidFill>
                <a:latin typeface="Arial"/>
              </a:rPr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810000" y="5549817"/>
            <a:ext cx="381000" cy="3303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1800"/>
              </a:lnSpc>
            </a:pPr>
            <a:r>
              <a:rPr sz="1794" b="1" i="0" u="none">
                <a:solidFill>
                  <a:srgbClr val="0F172A"/>
                </a:solidFill>
                <a:latin typeface="Arial"/>
              </a:rPr>
              <a:t>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619250" y="4324273"/>
            <a:ext cx="1524000" cy="3049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1800"/>
              </a:lnSpc>
            </a:pPr>
            <a:r>
              <a:rPr sz="1656" b="0" i="0" u="none">
                <a:solidFill>
                  <a:srgbClr val="64748B"/>
                </a:solidFill>
                <a:latin typeface="Calibri"/>
              </a:rPr>
              <a:t>supervisor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381250" y="6705523"/>
            <a:ext cx="1524000" cy="3049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1800"/>
              </a:lnSpc>
            </a:pPr>
            <a:r>
              <a:rPr sz="1656" b="0" i="0" u="none">
                <a:solidFill>
                  <a:srgbClr val="64748B"/>
                </a:solidFill>
                <a:latin typeface="Calibri"/>
              </a:rPr>
              <a:t>supervisee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2004821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COMPANY CASE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995421" y="981075"/>
            <a:ext cx="13530454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27/39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6459200" cy="653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320"/>
              </a:lnSpc>
            </a:pPr>
            <a:r>
              <a:rPr sz="4050" b="1" i="0" u="none">
                <a:solidFill>
                  <a:srgbClr val="0F172A"/>
                </a:solidFill>
                <a:latin typeface="Arial"/>
              </a:rPr>
              <a:t>From sentence to symbol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482024"/>
          <a:ext cx="16459200" cy="658360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8558784"/>
                <a:gridCol w="7900416"/>
              </a:tblGrid>
              <a:tr h="628377">
                <a:tc>
                  <a:txBody>
                    <a:bodyPr/>
                    <a:lstStyle/>
                    <a:p>
                      <a:r>
                        <a:rPr sz="2511" b="1" i="0" u="none">
                          <a:solidFill>
                            <a:srgbClr val="FFFFFF"/>
                          </a:solidFill>
                          <a:latin typeface="Arial"/>
                        </a:rPr>
                        <a:t>Sentence in the requirements</a:t>
                      </a:r>
                    </a:p>
                  </a:txBody>
                  <a:tcPr marL="159486" marR="159486" marT="95691" marB="95691" anchor="ctr">
                    <a:solidFill>
                      <a:srgbClr val="0F172A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511" b="1" i="0" u="none">
                          <a:solidFill>
                            <a:srgbClr val="FFFFFF"/>
                          </a:solidFill>
                          <a:latin typeface="Arial"/>
                        </a:rPr>
                        <a:t>ERD decision</a:t>
                      </a:r>
                    </a:p>
                  </a:txBody>
                  <a:tcPr marL="159486" marR="159486" marT="95691" marB="95691" anchor="ctr">
                    <a:solidFill>
                      <a:srgbClr val="0F172A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</a:tr>
              <a:tr h="1017524">
                <a:tc>
                  <a:txBody>
                    <a:bodyPr/>
                    <a:lstStyle/>
                    <a:p>
                      <a:r>
                        <a:rPr sz="2511" b="0" i="0" u="none">
                          <a:solidFill>
                            <a:srgbClr val="334155"/>
                          </a:solidFill>
                          <a:latin typeface="Calibri"/>
                        </a:rPr>
                        <a:t>"Each department has a unique name, a unique number"</a:t>
                      </a:r>
                    </a:p>
                  </a:txBody>
                  <a:tcPr marL="159486" marR="159486" marT="95691" marB="9569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511" b="0" i="0" u="none">
                          <a:solidFill>
                            <a:srgbClr val="334155"/>
                          </a:solidFill>
                          <a:latin typeface="Calibri"/>
                        </a:rPr>
                        <a:t>DEPARTMENT with two candidate keys: Name, Number</a:t>
                      </a:r>
                    </a:p>
                  </a:txBody>
                  <a:tcPr marL="159486" marR="159486" marT="95691" marB="9569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</a:tr>
              <a:tr h="628377">
                <a:tc>
                  <a:txBody>
                    <a:bodyPr/>
                    <a:lstStyle/>
                    <a:p>
                      <a:r>
                        <a:rPr sz="2511" b="0" i="0" u="none">
                          <a:solidFill>
                            <a:srgbClr val="334155"/>
                          </a:solidFill>
                          <a:latin typeface="Calibri"/>
                        </a:rPr>
                        <a:t>"A department may have several locations"</a:t>
                      </a:r>
                    </a:p>
                  </a:txBody>
                  <a:tcPr marL="159486" marR="159486" marT="95691" marB="9569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511" b="0" i="0" u="none">
                          <a:solidFill>
                            <a:srgbClr val="334155"/>
                          </a:solidFill>
                          <a:latin typeface="Calibri"/>
                        </a:rPr>
                        <a:t>Locations is multi-valued</a:t>
                      </a:r>
                    </a:p>
                  </a:txBody>
                  <a:tcPr marL="159486" marR="159486" marT="95691" marB="9569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</a:tr>
              <a:tr h="1017524">
                <a:tc>
                  <a:txBody>
                    <a:bodyPr/>
                    <a:lstStyle/>
                    <a:p>
                      <a:r>
                        <a:rPr sz="2511" b="0" i="0" u="none">
                          <a:solidFill>
                            <a:srgbClr val="334155"/>
                          </a:solidFill>
                          <a:latin typeface="Calibri"/>
                        </a:rPr>
                        <a:t>"A particular employee who manages the department"</a:t>
                      </a:r>
                    </a:p>
                  </a:txBody>
                  <a:tcPr marL="159486" marR="159486" marT="95691" marB="9569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511" b="0" i="0" u="none">
                          <a:solidFill>
                            <a:srgbClr val="334155"/>
                          </a:solidFill>
                          <a:latin typeface="Calibri"/>
                        </a:rPr>
                        <a:t>MANAGES 1:1; DEPARTMENT total, EMPLOYEE partial</a:t>
                      </a:r>
                    </a:p>
                  </a:txBody>
                  <a:tcPr marL="159486" marR="159486" marT="95691" marB="9569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</a:tr>
              <a:tr h="1017524">
                <a:tc>
                  <a:txBody>
                    <a:bodyPr/>
                    <a:lstStyle/>
                    <a:p>
                      <a:r>
                        <a:rPr sz="2511" b="0" i="0" u="none">
                          <a:solidFill>
                            <a:srgbClr val="334155"/>
                          </a:solidFill>
                          <a:latin typeface="Calibri"/>
                        </a:rPr>
                        <a:t>"A project must be controlled by a department"</a:t>
                      </a:r>
                    </a:p>
                  </a:txBody>
                  <a:tcPr marL="159486" marR="159486" marT="95691" marB="9569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511" b="0" i="0" u="none">
                          <a:solidFill>
                            <a:srgbClr val="334155"/>
                          </a:solidFill>
                          <a:latin typeface="Calibri"/>
                        </a:rPr>
                        <a:t>CONTROLS 1:N; PROJECT total</a:t>
                      </a:r>
                    </a:p>
                  </a:txBody>
                  <a:tcPr marL="159486" marR="159486" marT="95691" marB="9569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</a:tr>
              <a:tr h="1017524">
                <a:tc>
                  <a:txBody>
                    <a:bodyPr/>
                    <a:lstStyle/>
                    <a:p>
                      <a:r>
                        <a:rPr sz="2511" b="0" i="0" u="none">
                          <a:solidFill>
                            <a:srgbClr val="334155"/>
                          </a:solidFill>
                          <a:latin typeface="Calibri"/>
                        </a:rPr>
                        <a:t>"Must work on one or more projects… hours per week"</a:t>
                      </a:r>
                    </a:p>
                  </a:txBody>
                  <a:tcPr marL="159486" marR="159486" marT="95691" marB="9569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511" b="0" i="0" u="none">
                          <a:solidFill>
                            <a:srgbClr val="334155"/>
                          </a:solidFill>
                          <a:latin typeface="Calibri"/>
                        </a:rPr>
                        <a:t>WORKS_ON M:N, EMPLOYEE total, attribute Hours</a:t>
                      </a:r>
                    </a:p>
                  </a:txBody>
                  <a:tcPr marL="159486" marR="159486" marT="95691" marB="9569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</a:tr>
              <a:tr h="628377">
                <a:tc>
                  <a:txBody>
                    <a:bodyPr/>
                    <a:lstStyle/>
                    <a:p>
                      <a:r>
                        <a:rPr sz="2511" b="0" i="0" u="none">
                          <a:solidFill>
                            <a:srgbClr val="334155"/>
                          </a:solidFill>
                          <a:latin typeface="Calibri"/>
                        </a:rPr>
                        <a:t>"The direct supervisor of each employee"</a:t>
                      </a:r>
                    </a:p>
                  </a:txBody>
                  <a:tcPr marL="159486" marR="159486" marT="95691" marB="9569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511" b="0" i="0" u="none">
                          <a:solidFill>
                            <a:srgbClr val="334155"/>
                          </a:solidFill>
                          <a:latin typeface="Calibri"/>
                        </a:rPr>
                        <a:t>SUPERVISION, recursive 1:N with roles</a:t>
                      </a:r>
                    </a:p>
                  </a:txBody>
                  <a:tcPr marL="159486" marR="159486" marT="95691" marB="9569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</a:tr>
              <a:tr h="628377">
                <a:tc>
                  <a:txBody>
                    <a:bodyPr/>
                    <a:lstStyle/>
                    <a:p>
                      <a:r>
                        <a:rPr sz="2511" b="0" i="0" u="none">
                          <a:solidFill>
                            <a:srgbClr val="334155"/>
                          </a:solidFill>
                          <a:latin typeface="Calibri"/>
                        </a:rPr>
                        <a:t>"Dependents of each employee… first name"</a:t>
                      </a:r>
                    </a:p>
                  </a:txBody>
                  <a:tcPr marL="159486" marR="159486" marT="95691" marB="9569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511" b="0" i="0" u="none">
                          <a:solidFill>
                            <a:srgbClr val="334155"/>
                          </a:solidFill>
                          <a:latin typeface="Calibri"/>
                        </a:rPr>
                        <a:t>Weak entity DEPENDENT, partial key Name</a:t>
                      </a:r>
                    </a:p>
                  </a:txBody>
                  <a:tcPr marL="159486" marR="159486" marT="95691" marB="9569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1288160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METHOD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278761" y="981075"/>
            <a:ext cx="14247114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28/39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6459200" cy="653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320"/>
              </a:lnSpc>
            </a:pPr>
            <a:r>
              <a:rPr sz="4050" b="1" i="0" u="none">
                <a:solidFill>
                  <a:srgbClr val="0F172A"/>
                </a:solidFill>
                <a:latin typeface="Arial"/>
              </a:rPr>
              <a:t>Common ERD mistakes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482024"/>
            <a:ext cx="5288279" cy="3078784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5875" y="2853499"/>
            <a:ext cx="4545329" cy="98767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3049" b="1" i="0" u="none">
                <a:solidFill>
                  <a:srgbClr val="0F172A"/>
                </a:solidFill>
                <a:latin typeface="Arial"/>
              </a:rPr>
              <a:t>Attributes as entities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5875" y="3989767"/>
            <a:ext cx="4545329" cy="119956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332" b="0" i="1" u="none">
                <a:solidFill>
                  <a:srgbClr val="334155"/>
                </a:solidFill>
                <a:latin typeface="Calibri"/>
              </a:rPr>
              <a:t>City</a:t>
            </a:r>
            <a:r>
              <a:rPr sz="2332" b="0" i="0" u="none">
                <a:solidFill>
                  <a:srgbClr val="334155"/>
                </a:solidFill>
                <a:latin typeface="Calibri"/>
              </a:rPr>
              <a:t> with only a name is usually an attribute, not an entity.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9860" y="2482024"/>
            <a:ext cx="5288279" cy="3078784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71335" y="2853499"/>
            <a:ext cx="4545329" cy="98767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3049" b="1" i="0" u="none">
                <a:solidFill>
                  <a:srgbClr val="0F172A"/>
                </a:solidFill>
                <a:latin typeface="Arial"/>
              </a:rPr>
              <a:t>Foreign keys in the ERD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71335" y="3989767"/>
            <a:ext cx="4545329" cy="119956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332" b="0" i="0" u="none">
                <a:solidFill>
                  <a:srgbClr val="334155"/>
                </a:solidFill>
                <a:latin typeface="Calibri"/>
              </a:rPr>
              <a:t>Don't add </a:t>
            </a:r>
            <a:r>
              <a:rPr sz="2332" b="0" i="1" u="none">
                <a:solidFill>
                  <a:srgbClr val="334155"/>
                </a:solidFill>
                <a:latin typeface="Calibri"/>
              </a:rPr>
              <a:t>DeptNo</a:t>
            </a:r>
            <a:r>
              <a:rPr sz="2332" b="0" i="0" u="none">
                <a:solidFill>
                  <a:srgbClr val="334155"/>
                </a:solidFill>
                <a:latin typeface="Calibri"/>
              </a:rPr>
              <a:t> to EMPLOYEE: the relationship already says it. FKs appear in Lesson 3.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85320" y="2482024"/>
            <a:ext cx="5288279" cy="3078784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456795" y="2853499"/>
            <a:ext cx="4545329" cy="98767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3049" b="1" i="0" u="none">
                <a:solidFill>
                  <a:srgbClr val="0F172A"/>
                </a:solidFill>
                <a:latin typeface="Arial"/>
              </a:rPr>
              <a:t>Wrong side for cardinality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56795" y="3989767"/>
            <a:ext cx="4545329" cy="119956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332" b="0" i="0" u="none">
                <a:solidFill>
                  <a:srgbClr val="334155"/>
                </a:solidFill>
                <a:latin typeface="Calibri"/>
              </a:rPr>
              <a:t>Read both directions aloud as sentences before writing 1 or 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5857989"/>
            <a:ext cx="5288279" cy="2693738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5875" y="6229464"/>
            <a:ext cx="4545329" cy="98767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3049" b="1" i="0" u="none">
                <a:solidFill>
                  <a:srgbClr val="0F172A"/>
                </a:solidFill>
                <a:latin typeface="Arial"/>
              </a:rPr>
              <a:t>Relationship facts on an entity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5875" y="7365732"/>
            <a:ext cx="4545329" cy="814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332" b="0" i="1" u="none">
                <a:solidFill>
                  <a:srgbClr val="334155"/>
                </a:solidFill>
                <a:latin typeface="Calibri"/>
              </a:rPr>
              <a:t>Hours</a:t>
            </a:r>
            <a:r>
              <a:rPr sz="2332" b="0" i="0" u="none">
                <a:solidFill>
                  <a:srgbClr val="334155"/>
                </a:solidFill>
                <a:latin typeface="Calibri"/>
              </a:rPr>
              <a:t> on EMPLOYEE is wrong: it depends on the project too.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9860" y="5857989"/>
            <a:ext cx="5288279" cy="2693738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71335" y="6229464"/>
            <a:ext cx="4545329" cy="98767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3049" b="1" i="0" u="none">
                <a:solidFill>
                  <a:srgbClr val="0F172A"/>
                </a:solidFill>
                <a:latin typeface="Arial"/>
              </a:rPr>
              <a:t>Storing derived values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1335" y="7365732"/>
            <a:ext cx="4545329" cy="814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332" b="0" i="0" u="none">
                <a:solidFill>
                  <a:srgbClr val="334155"/>
                </a:solidFill>
                <a:latin typeface="Calibri"/>
              </a:rPr>
              <a:t>Prefer </a:t>
            </a:r>
            <a:r>
              <a:rPr sz="2332" b="0" i="1" u="none">
                <a:solidFill>
                  <a:srgbClr val="334155"/>
                </a:solidFill>
                <a:latin typeface="Calibri"/>
              </a:rPr>
              <a:t>BirthDate</a:t>
            </a:r>
            <a:r>
              <a:rPr sz="2332" b="0" i="0" u="none">
                <a:solidFill>
                  <a:srgbClr val="334155"/>
                </a:solidFill>
                <a:latin typeface="Calibri"/>
              </a:rPr>
              <a:t> over </a:t>
            </a:r>
            <a:r>
              <a:rPr sz="2332" b="0" i="1" u="none">
                <a:solidFill>
                  <a:srgbClr val="334155"/>
                </a:solidFill>
                <a:latin typeface="Calibri"/>
              </a:rPr>
              <a:t>Age</a:t>
            </a:r>
            <a:r>
              <a:rPr sz="2332" b="0" i="0" u="none">
                <a:solidFill>
                  <a:srgbClr val="334155"/>
                </a:solidFill>
                <a:latin typeface="Calibri"/>
              </a:rPr>
              <a:t>; mark derived attributes dashed.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85320" y="5857989"/>
            <a:ext cx="5288279" cy="2693738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456795" y="6229464"/>
            <a:ext cx="4545329" cy="5228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3049" b="1" i="0" u="none">
                <a:solidFill>
                  <a:srgbClr val="0F172A"/>
                </a:solidFill>
                <a:latin typeface="Arial"/>
              </a:rPr>
              <a:t>Ignoring history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456795" y="6900942"/>
            <a:ext cx="4545329" cy="119956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332" b="0" i="0" u="none">
                <a:solidFill>
                  <a:srgbClr val="334155"/>
                </a:solidFill>
                <a:latin typeface="Calibri"/>
              </a:rPr>
              <a:t>"Keep track of changes" means a relationship with dates, not one overwritten value.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5715000" cy="33147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800" b="1" i="0" u="none">
                <a:solidFill>
                  <a:srgbClr val="C8102E"/>
                </a:solidFill>
                <a:latin typeface="Arial"/>
              </a:rPr>
              <a:t>SECTION 05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390900" y="981075"/>
            <a:ext cx="13134975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29/39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57500"/>
            <a:ext cx="5715000" cy="2286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86000"/>
              </a:lnSpc>
            </a:pPr>
            <a:r>
              <a:rPr sz="15000" b="1" i="0" u="none">
                <a:solidFill>
                  <a:srgbClr val="C8102E"/>
                </a:solidFill>
                <a:latin typeface="Arial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34000"/>
            <a:ext cx="15240000" cy="1905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300"/>
              </a:lnSpc>
            </a:pPr>
            <a:r>
              <a:rPr sz="6300" b="1" i="0" u="none">
                <a:solidFill>
                  <a:srgbClr val="0F172A"/>
                </a:solidFill>
                <a:latin typeface="Arial"/>
              </a:rPr>
              <a:t>Case studies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7239000"/>
            <a:ext cx="13335000" cy="1143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400" b="0" i="0" u="none">
                <a:solidFill>
                  <a:srgbClr val="334155"/>
                </a:solidFill>
                <a:latin typeface="Calibri"/>
              </a:rPr>
              <a:t>Practice the method on three narratives: a car manufacturer, a bus company and a bank.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2004821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CASE STUDY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995421" y="981075"/>
            <a:ext cx="13530454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30/39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6459200" cy="653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320"/>
              </a:lnSpc>
            </a:pPr>
            <a:r>
              <a:rPr sz="4050" b="1" i="0" u="none">
                <a:solidFill>
                  <a:srgbClr val="0F172A"/>
                </a:solidFill>
                <a:latin typeface="Arial"/>
              </a:rPr>
              <a:t>Car manufacturer (1/2)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482024"/>
            <a:ext cx="16459200" cy="1879701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14450" y="2882074"/>
            <a:ext cx="15659100" cy="107960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3091" b="0" i="0" u="none">
                <a:solidFill>
                  <a:srgbClr val="334155"/>
                </a:solidFill>
                <a:latin typeface="Calibri"/>
              </a:rPr>
              <a:t>An organization makes many </a:t>
            </a:r>
            <a:r>
              <a:rPr sz="3091" b="1" i="0" u="none">
                <a:solidFill>
                  <a:srgbClr val="334155"/>
                </a:solidFill>
                <a:latin typeface="Calibri"/>
              </a:rPr>
              <a:t>models</a:t>
            </a:r>
            <a:r>
              <a:rPr sz="3091" b="0" i="0" u="none">
                <a:solidFill>
                  <a:srgbClr val="334155"/>
                </a:solidFill>
                <a:latin typeface="Calibri"/>
              </a:rPr>
              <a:t> of cars, where a model is characterized by a </a:t>
            </a:r>
            <a:r>
              <a:rPr sz="3091" b="0" i="1" u="none">
                <a:solidFill>
                  <a:srgbClr val="334155"/>
                </a:solidFill>
                <a:latin typeface="Calibri"/>
              </a:rPr>
              <a:t>unique name</a:t>
            </a:r>
            <a:r>
              <a:rPr sz="3091" b="0" i="0" u="none">
                <a:solidFill>
                  <a:srgbClr val="334155"/>
                </a:solidFill>
                <a:latin typeface="Calibri"/>
              </a:rPr>
              <a:t> and a </a:t>
            </a:r>
            <a:r>
              <a:rPr sz="3091" b="0" i="1" u="none">
                <a:solidFill>
                  <a:srgbClr val="334155"/>
                </a:solidFill>
                <a:latin typeface="Calibri"/>
              </a:rPr>
              <a:t>suffix</a:t>
            </a:r>
            <a:r>
              <a:rPr sz="3091" b="0" i="0" u="none">
                <a:solidFill>
                  <a:srgbClr val="334155"/>
                </a:solidFill>
                <a:latin typeface="Calibri"/>
              </a:rPr>
              <a:t> (such as GL or XL) and an </a:t>
            </a:r>
            <a:r>
              <a:rPr sz="3091" b="0" i="1" u="none">
                <a:solidFill>
                  <a:srgbClr val="334155"/>
                </a:solidFill>
                <a:latin typeface="Calibri"/>
              </a:rPr>
              <a:t>engine size</a:t>
            </a:r>
            <a:r>
              <a:rPr sz="3091" b="0" i="0" u="none">
                <a:solidFill>
                  <a:srgbClr val="334155"/>
                </a:solidFill>
                <a:latin typeface="Calibri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815116"/>
            <a:ext cx="16459200" cy="2390058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14450" y="5215166"/>
            <a:ext cx="15659100" cy="158995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3091" b="0" i="0" u="none">
                <a:solidFill>
                  <a:srgbClr val="334155"/>
                </a:solidFill>
                <a:latin typeface="Calibri"/>
              </a:rPr>
              <a:t>Each model is made up from many </a:t>
            </a:r>
            <a:r>
              <a:rPr sz="3091" b="1" i="0" u="none">
                <a:solidFill>
                  <a:srgbClr val="334155"/>
                </a:solidFill>
                <a:latin typeface="Calibri"/>
              </a:rPr>
              <a:t>parts</a:t>
            </a:r>
            <a:r>
              <a:rPr sz="3091" b="0" i="0" u="none">
                <a:solidFill>
                  <a:srgbClr val="334155"/>
                </a:solidFill>
                <a:latin typeface="Calibri"/>
              </a:rPr>
              <a:t>, and each part has a </a:t>
            </a:r>
            <a:r>
              <a:rPr sz="3091" b="0" i="1" u="none">
                <a:solidFill>
                  <a:srgbClr val="334155"/>
                </a:solidFill>
                <a:latin typeface="Calibri"/>
              </a:rPr>
              <a:t>description</a:t>
            </a:r>
            <a:r>
              <a:rPr sz="3091" b="0" i="0" u="none">
                <a:solidFill>
                  <a:srgbClr val="334155"/>
                </a:solidFill>
                <a:latin typeface="Calibri"/>
              </a:rPr>
              <a:t>, an </a:t>
            </a:r>
            <a:r>
              <a:rPr sz="3091" b="0" i="1" u="none">
                <a:solidFill>
                  <a:srgbClr val="334155"/>
                </a:solidFill>
                <a:latin typeface="Calibri"/>
              </a:rPr>
              <a:t>id code</a:t>
            </a:r>
            <a:r>
              <a:rPr sz="3091" b="0" i="0" u="none">
                <a:solidFill>
                  <a:srgbClr val="334155"/>
                </a:solidFill>
                <a:latin typeface="Calibri"/>
              </a:rPr>
              <a:t>, </a:t>
            </a:r>
            <a:r>
              <a:rPr sz="3091" b="0" i="1" u="none">
                <a:solidFill>
                  <a:srgbClr val="334155"/>
                </a:solidFill>
                <a:latin typeface="Calibri"/>
              </a:rPr>
              <a:t>production year</a:t>
            </a:r>
            <a:r>
              <a:rPr sz="3091" b="0" i="0" u="none">
                <a:solidFill>
                  <a:srgbClr val="334155"/>
                </a:solidFill>
                <a:latin typeface="Calibri"/>
              </a:rPr>
              <a:t>, and </a:t>
            </a:r>
            <a:r>
              <a:rPr sz="3091" b="0" i="1" u="none">
                <a:solidFill>
                  <a:srgbClr val="334155"/>
                </a:solidFill>
                <a:latin typeface="Calibri"/>
              </a:rPr>
              <a:t>many images</a:t>
            </a:r>
            <a:r>
              <a:rPr sz="3091" b="0" i="0" u="none">
                <a:solidFill>
                  <a:srgbClr val="334155"/>
                </a:solidFill>
                <a:latin typeface="Calibri"/>
              </a:rPr>
              <a:t>. Each part may be used in the manufacturing of more than one model.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2004821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CASE STUDY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995421" y="981075"/>
            <a:ext cx="13530454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31/39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6459200" cy="653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320"/>
              </a:lnSpc>
            </a:pPr>
            <a:r>
              <a:rPr sz="4050" b="1" i="0" u="none">
                <a:solidFill>
                  <a:srgbClr val="0F172A"/>
                </a:solidFill>
                <a:latin typeface="Arial"/>
              </a:rPr>
              <a:t>Car manufacturer (2/2)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482024"/>
            <a:ext cx="16459200" cy="2900415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14450" y="2882074"/>
            <a:ext cx="15659100" cy="210031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3091" b="0" i="0" u="none">
                <a:solidFill>
                  <a:srgbClr val="334155"/>
                </a:solidFill>
                <a:latin typeface="Calibri"/>
              </a:rPr>
              <a:t>Each model must be produced at just one of the firm's </a:t>
            </a:r>
            <a:r>
              <a:rPr sz="3091" b="1" i="0" u="none">
                <a:solidFill>
                  <a:srgbClr val="334155"/>
                </a:solidFill>
                <a:latin typeface="Calibri"/>
              </a:rPr>
              <a:t>factories</a:t>
            </a:r>
            <a:r>
              <a:rPr sz="3091" b="0" i="0" u="none">
                <a:solidFill>
                  <a:srgbClr val="334155"/>
                </a:solidFill>
                <a:latin typeface="Calibri"/>
              </a:rPr>
              <a:t>, which are located in London, Birmingham, Bristol, Wolverhampton and Manchester (one in each city). Each factory has a </a:t>
            </a:r>
            <a:r>
              <a:rPr sz="3091" b="0" i="1" u="none">
                <a:solidFill>
                  <a:srgbClr val="334155"/>
                </a:solidFill>
                <a:latin typeface="Calibri"/>
              </a:rPr>
              <a:t>number of machines</a:t>
            </a:r>
            <a:r>
              <a:rPr sz="3091" b="0" i="0" u="none">
                <a:solidFill>
                  <a:srgbClr val="334155"/>
                </a:solidFill>
                <a:latin typeface="Calibri"/>
              </a:rPr>
              <a:t>, </a:t>
            </a:r>
            <a:r>
              <a:rPr sz="3091" b="0" i="1" u="none">
                <a:solidFill>
                  <a:srgbClr val="334155"/>
                </a:solidFill>
                <a:latin typeface="Calibri"/>
              </a:rPr>
              <a:t>capacity</a:t>
            </a:r>
            <a:r>
              <a:rPr sz="3091" b="0" i="0" u="none">
                <a:solidFill>
                  <a:srgbClr val="334155"/>
                </a:solidFill>
                <a:latin typeface="Calibri"/>
              </a:rPr>
              <a:t>, and </a:t>
            </a:r>
            <a:r>
              <a:rPr sz="3091" b="0" i="1" u="none">
                <a:solidFill>
                  <a:srgbClr val="334155"/>
                </a:solidFill>
                <a:latin typeface="Calibri"/>
              </a:rPr>
              <a:t>computer system</a:t>
            </a:r>
            <a:r>
              <a:rPr sz="3091" b="0" i="0" u="none">
                <a:solidFill>
                  <a:srgbClr val="334155"/>
                </a:solidFill>
                <a:latin typeface="Calibri"/>
              </a:rPr>
              <a:t> used (OS, DBMS, Internet).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5835830"/>
            <a:ext cx="16459200" cy="1369344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14450" y="6235880"/>
            <a:ext cx="15659100" cy="5692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3091" b="0" i="0" u="none">
                <a:solidFill>
                  <a:srgbClr val="334155"/>
                </a:solidFill>
                <a:latin typeface="Calibri"/>
              </a:rPr>
              <a:t>A factory produces many models of cars and many types of parts.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7658564"/>
            <a:ext cx="16459200" cy="1478051"/>
          </a:xfrm>
          <a:prstGeom prst="rect">
            <a:avLst/>
          </a:prstGeom>
          <a:solidFill>
            <a:srgbClr val="E6F4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7658564"/>
            <a:ext cx="47625" cy="1478051"/>
          </a:xfrm>
          <a:prstGeom prst="rect">
            <a:avLst/>
          </a:prstGeom>
          <a:solidFill>
            <a:srgbClr val="0E8A8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1120" y="7925264"/>
            <a:ext cx="15605760" cy="94465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12000"/>
              </a:lnSpc>
            </a:pPr>
            <a:r>
              <a:rPr sz="2704" b="1" i="0" u="none">
                <a:solidFill>
                  <a:srgbClr val="0E8A8A"/>
                </a:solidFill>
                <a:latin typeface="Arial"/>
              </a:rPr>
              <a:t>Think: </a:t>
            </a:r>
            <a:r>
              <a:rPr sz="2704" b="0" i="0" u="none">
                <a:solidFill>
                  <a:srgbClr val="0F172A"/>
                </a:solidFill>
                <a:latin typeface="Calibri"/>
              </a:rPr>
              <a:t>Is the key of MODEL just Name, or (Name, Suffix)? Is </a:t>
            </a:r>
            <a:r>
              <a:rPr sz="2704" b="0" i="1" u="none">
                <a:solidFill>
                  <a:srgbClr val="0F172A"/>
                </a:solidFill>
                <a:latin typeface="Calibri"/>
              </a:rPr>
              <a:t>images</a:t>
            </a:r>
            <a:r>
              <a:rPr sz="2704" b="0" i="0" u="none">
                <a:solidFill>
                  <a:srgbClr val="0F172A"/>
                </a:solidFill>
                <a:latin typeface="Calibri"/>
              </a:rPr>
              <a:t> single- or multi-valued? Is </a:t>
            </a:r>
            <a:r>
              <a:rPr sz="2704" b="0" i="1" u="none">
                <a:solidFill>
                  <a:srgbClr val="0F172A"/>
                </a:solidFill>
                <a:latin typeface="Calibri"/>
              </a:rPr>
              <a:t>computer system</a:t>
            </a:r>
            <a:r>
              <a:rPr sz="2704" b="0" i="0" u="none">
                <a:solidFill>
                  <a:srgbClr val="0F172A"/>
                </a:solidFill>
                <a:latin typeface="Calibri"/>
              </a:rPr>
              <a:t> composite?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2004821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CASE STUDY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995421" y="981075"/>
            <a:ext cx="13530454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32/39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6459200" cy="653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320"/>
              </a:lnSpc>
            </a:pPr>
            <a:r>
              <a:rPr sz="4050" b="1" i="0" u="none">
                <a:solidFill>
                  <a:srgbClr val="0F172A"/>
                </a:solidFill>
                <a:latin typeface="Arial"/>
              </a:rPr>
              <a:t>Country bus company (1/2)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482024"/>
            <a:ext cx="16459200" cy="1879701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14450" y="2882074"/>
            <a:ext cx="15659100" cy="107960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3091" b="0" i="0" u="none">
                <a:solidFill>
                  <a:srgbClr val="334155"/>
                </a:solidFill>
                <a:latin typeface="Calibri"/>
              </a:rPr>
              <a:t>A country bus company owns a number of </a:t>
            </a:r>
            <a:r>
              <a:rPr sz="3091" b="1" i="0" u="none">
                <a:solidFill>
                  <a:srgbClr val="334155"/>
                </a:solidFill>
                <a:latin typeface="Calibri"/>
              </a:rPr>
              <a:t>buses</a:t>
            </a:r>
            <a:r>
              <a:rPr sz="3091" b="0" i="0" u="none">
                <a:solidFill>
                  <a:srgbClr val="334155"/>
                </a:solidFill>
                <a:latin typeface="Calibri"/>
              </a:rPr>
              <a:t>. A bus is characterized by </a:t>
            </a:r>
            <a:r>
              <a:rPr sz="3091" b="0" i="1" u="none">
                <a:solidFill>
                  <a:srgbClr val="334155"/>
                </a:solidFill>
                <a:latin typeface="Calibri"/>
              </a:rPr>
              <a:t>number</a:t>
            </a:r>
            <a:r>
              <a:rPr sz="3091" b="0" i="0" u="none">
                <a:solidFill>
                  <a:srgbClr val="334155"/>
                </a:solidFill>
                <a:latin typeface="Calibri"/>
              </a:rPr>
              <a:t>, </a:t>
            </a:r>
            <a:r>
              <a:rPr sz="3091" b="0" i="1" u="none">
                <a:solidFill>
                  <a:srgbClr val="334155"/>
                </a:solidFill>
                <a:latin typeface="Calibri"/>
              </a:rPr>
              <a:t>number of chairs</a:t>
            </a:r>
            <a:r>
              <a:rPr sz="3091" b="0" i="0" u="none">
                <a:solidFill>
                  <a:srgbClr val="334155"/>
                </a:solidFill>
                <a:latin typeface="Calibri"/>
              </a:rPr>
              <a:t>, </a:t>
            </a:r>
            <a:r>
              <a:rPr sz="3091" b="0" i="1" u="none">
                <a:solidFill>
                  <a:srgbClr val="334155"/>
                </a:solidFill>
                <a:latin typeface="Calibri"/>
              </a:rPr>
              <a:t>options</a:t>
            </a:r>
            <a:r>
              <a:rPr sz="3091" b="0" i="0" u="none">
                <a:solidFill>
                  <a:srgbClr val="334155"/>
                </a:solidFill>
                <a:latin typeface="Calibri"/>
              </a:rPr>
              <a:t> (AC, Automatic, PS) and </a:t>
            </a:r>
            <a:r>
              <a:rPr sz="3091" b="0" i="1" u="none">
                <a:solidFill>
                  <a:srgbClr val="334155"/>
                </a:solidFill>
                <a:latin typeface="Calibri"/>
              </a:rPr>
              <a:t>brand name</a:t>
            </a:r>
            <a:r>
              <a:rPr sz="3091" b="0" i="0" u="none">
                <a:solidFill>
                  <a:srgbClr val="334155"/>
                </a:solidFill>
                <a:latin typeface="Calibri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815116"/>
            <a:ext cx="16459200" cy="2390058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14450" y="5215166"/>
            <a:ext cx="15659100" cy="158995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3091" b="0" i="0" u="none">
                <a:solidFill>
                  <a:srgbClr val="334155"/>
                </a:solidFill>
                <a:latin typeface="Calibri"/>
              </a:rPr>
              <a:t>Each bus is allocated to a particular </a:t>
            </a:r>
            <a:r>
              <a:rPr sz="3091" b="1" i="0" u="none">
                <a:solidFill>
                  <a:srgbClr val="334155"/>
                </a:solidFill>
                <a:latin typeface="Calibri"/>
              </a:rPr>
              <a:t>route</a:t>
            </a:r>
            <a:r>
              <a:rPr sz="3091" b="0" i="0" u="none">
                <a:solidFill>
                  <a:srgbClr val="334155"/>
                </a:solidFill>
                <a:latin typeface="Calibri"/>
              </a:rPr>
              <a:t>, although some routes may have several buses. Each route is described by </a:t>
            </a:r>
            <a:r>
              <a:rPr sz="3091" b="0" i="1" u="none">
                <a:solidFill>
                  <a:srgbClr val="334155"/>
                </a:solidFill>
                <a:latin typeface="Calibri"/>
              </a:rPr>
              <a:t>KM</a:t>
            </a:r>
            <a:r>
              <a:rPr sz="3091" b="0" i="0" u="none">
                <a:solidFill>
                  <a:srgbClr val="334155"/>
                </a:solidFill>
                <a:latin typeface="Calibri"/>
              </a:rPr>
              <a:t>, </a:t>
            </a:r>
            <a:r>
              <a:rPr sz="3091" b="0" i="1" u="none">
                <a:solidFill>
                  <a:srgbClr val="334155"/>
                </a:solidFill>
                <a:latin typeface="Calibri"/>
              </a:rPr>
              <a:t>start point</a:t>
            </a:r>
            <a:r>
              <a:rPr sz="3091" b="0" i="0" u="none">
                <a:solidFill>
                  <a:srgbClr val="334155"/>
                </a:solidFill>
                <a:latin typeface="Calibri"/>
              </a:rPr>
              <a:t>, </a:t>
            </a:r>
            <a:r>
              <a:rPr sz="3091" b="0" i="1" u="none">
                <a:solidFill>
                  <a:srgbClr val="334155"/>
                </a:solidFill>
                <a:latin typeface="Calibri"/>
              </a:rPr>
              <a:t>end point</a:t>
            </a:r>
            <a:r>
              <a:rPr sz="3091" b="0" i="0" u="none">
                <a:solidFill>
                  <a:srgbClr val="334155"/>
                </a:solidFill>
                <a:latin typeface="Calibri"/>
              </a:rPr>
              <a:t> and </a:t>
            </a:r>
            <a:r>
              <a:rPr sz="3091" b="0" i="1" u="none">
                <a:solidFill>
                  <a:srgbClr val="334155"/>
                </a:solidFill>
                <a:latin typeface="Calibri"/>
              </a:rPr>
              <a:t>duration</a:t>
            </a:r>
            <a:r>
              <a:rPr sz="3091" b="0" i="0" u="none">
                <a:solidFill>
                  <a:srgbClr val="334155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2004821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CASE STUDY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995421" y="981075"/>
            <a:ext cx="13530454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33/39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6459200" cy="653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320"/>
              </a:lnSpc>
            </a:pPr>
            <a:r>
              <a:rPr sz="4050" b="1" i="0" u="none">
                <a:solidFill>
                  <a:srgbClr val="0F172A"/>
                </a:solidFill>
                <a:latin typeface="Arial"/>
              </a:rPr>
              <a:t>Country bus company (2/2)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482024"/>
            <a:ext cx="16459200" cy="1812226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14450" y="2882074"/>
            <a:ext cx="15659100" cy="101212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898" b="0" i="0" u="none">
                <a:solidFill>
                  <a:srgbClr val="334155"/>
                </a:solidFill>
                <a:latin typeface="Calibri"/>
              </a:rPr>
              <a:t>Each route passes through a number of </a:t>
            </a:r>
            <a:r>
              <a:rPr sz="2898" b="1" i="0" u="none">
                <a:solidFill>
                  <a:srgbClr val="334155"/>
                </a:solidFill>
                <a:latin typeface="Calibri"/>
              </a:rPr>
              <a:t>towns</a:t>
            </a:r>
            <a:r>
              <a:rPr sz="2898" b="0" i="0" u="none">
                <a:solidFill>
                  <a:srgbClr val="334155"/>
                </a:solidFill>
                <a:latin typeface="Calibri"/>
              </a:rPr>
              <a:t>. A town may be situated along several routes. We keep track of a </a:t>
            </a:r>
            <a:r>
              <a:rPr sz="2898" b="0" i="1" u="none">
                <a:solidFill>
                  <a:srgbClr val="334155"/>
                </a:solidFill>
                <a:latin typeface="Calibri"/>
              </a:rPr>
              <a:t>unique name</a:t>
            </a:r>
            <a:r>
              <a:rPr sz="2898" b="0" i="0" u="none">
                <a:solidFill>
                  <a:srgbClr val="334155"/>
                </a:solidFill>
                <a:latin typeface="Calibri"/>
              </a:rPr>
              <a:t> and the </a:t>
            </a:r>
            <a:r>
              <a:rPr sz="2898" b="0" i="1" u="none">
                <a:solidFill>
                  <a:srgbClr val="334155"/>
                </a:solidFill>
                <a:latin typeface="Calibri"/>
              </a:rPr>
              <a:t>station names</a:t>
            </a:r>
            <a:r>
              <a:rPr sz="2898" b="0" i="0" u="none">
                <a:solidFill>
                  <a:srgbClr val="334155"/>
                </a:solidFill>
                <a:latin typeface="Calibri"/>
              </a:rPr>
              <a:t> in each town.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747640"/>
            <a:ext cx="16459200" cy="1812226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14450" y="5147690"/>
            <a:ext cx="15659100" cy="101212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898" b="0" i="0" u="none">
                <a:solidFill>
                  <a:srgbClr val="334155"/>
                </a:solidFill>
                <a:latin typeface="Calibri"/>
              </a:rPr>
              <a:t>One or more </a:t>
            </a:r>
            <a:r>
              <a:rPr sz="2898" b="1" i="0" u="none">
                <a:solidFill>
                  <a:srgbClr val="334155"/>
                </a:solidFill>
                <a:latin typeface="Calibri"/>
              </a:rPr>
              <a:t>drivers</a:t>
            </a:r>
            <a:r>
              <a:rPr sz="2898" b="0" i="0" u="none">
                <a:solidFill>
                  <a:srgbClr val="334155"/>
                </a:solidFill>
                <a:latin typeface="Calibri"/>
              </a:rPr>
              <a:t> are allocated to one route during a period of time. The system keeps the driver's </a:t>
            </a:r>
            <a:r>
              <a:rPr sz="2898" b="0" i="1" u="none">
                <a:solidFill>
                  <a:srgbClr val="334155"/>
                </a:solidFill>
                <a:latin typeface="Calibri"/>
              </a:rPr>
              <a:t>name</a:t>
            </a:r>
            <a:r>
              <a:rPr sz="2898" b="0" i="0" u="none">
                <a:solidFill>
                  <a:srgbClr val="334155"/>
                </a:solidFill>
                <a:latin typeface="Calibri"/>
              </a:rPr>
              <a:t>, </a:t>
            </a:r>
            <a:r>
              <a:rPr sz="2898" b="0" i="1" u="none">
                <a:solidFill>
                  <a:srgbClr val="334155"/>
                </a:solidFill>
                <a:latin typeface="Calibri"/>
              </a:rPr>
              <a:t>mobile number</a:t>
            </a:r>
            <a:r>
              <a:rPr sz="2898" b="0" i="0" u="none">
                <a:solidFill>
                  <a:srgbClr val="334155"/>
                </a:solidFill>
                <a:latin typeface="Calibri"/>
              </a:rPr>
              <a:t>, </a:t>
            </a:r>
            <a:r>
              <a:rPr sz="2898" b="0" i="1" u="none">
                <a:solidFill>
                  <a:srgbClr val="334155"/>
                </a:solidFill>
                <a:latin typeface="Calibri"/>
              </a:rPr>
              <a:t>hire date</a:t>
            </a:r>
            <a:r>
              <a:rPr sz="2898" b="0" i="0" u="none">
                <a:solidFill>
                  <a:srgbClr val="334155"/>
                </a:solidFill>
                <a:latin typeface="Calibri"/>
              </a:rPr>
              <a:t>, </a:t>
            </a:r>
            <a:r>
              <a:rPr sz="2898" b="0" i="1" u="none">
                <a:solidFill>
                  <a:srgbClr val="334155"/>
                </a:solidFill>
                <a:latin typeface="Calibri"/>
              </a:rPr>
              <a:t>basic salary</a:t>
            </a:r>
            <a:r>
              <a:rPr sz="2898" b="0" i="0" u="none">
                <a:solidFill>
                  <a:srgbClr val="334155"/>
                </a:solidFill>
                <a:latin typeface="Calibri"/>
              </a:rPr>
              <a:t> and </a:t>
            </a:r>
            <a:r>
              <a:rPr sz="2898" b="0" i="1" u="none">
                <a:solidFill>
                  <a:srgbClr val="334155"/>
                </a:solidFill>
                <a:latin typeface="Calibri"/>
              </a:rPr>
              <a:t>job grade</a:t>
            </a:r>
            <a:r>
              <a:rPr sz="2898" b="0" i="0" u="none">
                <a:solidFill>
                  <a:srgbClr val="334155"/>
                </a:solidFill>
                <a:latin typeface="Calibri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7013257"/>
            <a:ext cx="16459200" cy="1812226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14450" y="7413307"/>
            <a:ext cx="15659100" cy="101212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898" b="0" i="0" u="none">
                <a:solidFill>
                  <a:srgbClr val="334155"/>
                </a:solidFill>
                <a:latin typeface="Calibri"/>
              </a:rPr>
              <a:t>The system keeps information about </a:t>
            </a:r>
            <a:r>
              <a:rPr sz="2898" b="1" i="0" u="none">
                <a:solidFill>
                  <a:srgbClr val="334155"/>
                </a:solidFill>
                <a:latin typeface="Calibri"/>
              </a:rPr>
              <a:t>any changes</a:t>
            </a:r>
            <a:r>
              <a:rPr sz="2898" b="0" i="0" u="none">
                <a:solidFill>
                  <a:srgbClr val="334155"/>
                </a:solidFill>
                <a:latin typeface="Calibri"/>
              </a:rPr>
              <a:t> in the allocation of drivers to routes.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929830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LAB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920430" y="981075"/>
            <a:ext cx="14605445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34/39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6459200" cy="653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320"/>
              </a:lnSpc>
            </a:pPr>
            <a:r>
              <a:rPr sz="4050" b="1" i="0" u="none">
                <a:solidFill>
                  <a:srgbClr val="0F172A"/>
                </a:solidFill>
                <a:latin typeface="Arial"/>
              </a:rPr>
              <a:t>Banking system (1/2)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482024"/>
            <a:ext cx="16459200" cy="1879701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14450" y="2882074"/>
            <a:ext cx="15659100" cy="107960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3091" b="0" i="0" u="none">
                <a:solidFill>
                  <a:srgbClr val="334155"/>
                </a:solidFill>
                <a:latin typeface="Calibri"/>
              </a:rPr>
              <a:t>A database for a banking system controls withdrawal, deposit and loan </a:t>
            </a:r>
            <a:r>
              <a:rPr sz="3091" b="1" i="0" u="none">
                <a:solidFill>
                  <a:srgbClr val="334155"/>
                </a:solidFill>
                <a:latin typeface="Calibri"/>
              </a:rPr>
              <a:t>transactions</a:t>
            </a:r>
            <a:r>
              <a:rPr sz="3091" b="0" i="0" u="none">
                <a:solidFill>
                  <a:srgbClr val="334155"/>
                </a:solidFill>
                <a:latin typeface="Calibri"/>
              </a:rPr>
              <a:t> with </a:t>
            </a:r>
            <a:r>
              <a:rPr sz="3091" b="1" i="0" u="none">
                <a:solidFill>
                  <a:srgbClr val="334155"/>
                </a:solidFill>
                <a:latin typeface="Calibri"/>
              </a:rPr>
              <a:t>customers</a:t>
            </a:r>
            <a:r>
              <a:rPr sz="3091" b="0" i="0" u="none">
                <a:solidFill>
                  <a:srgbClr val="334155"/>
                </a:solidFill>
                <a:latin typeface="Calibri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815116"/>
            <a:ext cx="16459200" cy="1879701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14450" y="5215166"/>
            <a:ext cx="15659100" cy="107960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3091" b="0" i="0" u="none">
                <a:solidFill>
                  <a:srgbClr val="334155"/>
                </a:solidFill>
                <a:latin typeface="Calibri"/>
              </a:rPr>
              <a:t>Banks using this system have many </a:t>
            </a:r>
            <a:r>
              <a:rPr sz="3091" b="1" i="0" u="none">
                <a:solidFill>
                  <a:srgbClr val="334155"/>
                </a:solidFill>
                <a:latin typeface="Calibri"/>
              </a:rPr>
              <a:t>branches</a:t>
            </a:r>
            <a:r>
              <a:rPr sz="3091" b="0" i="0" u="none">
                <a:solidFill>
                  <a:srgbClr val="334155"/>
                </a:solidFill>
                <a:latin typeface="Calibri"/>
              </a:rPr>
              <a:t>; each branch has a </a:t>
            </a:r>
            <a:r>
              <a:rPr sz="3091" b="0" i="1" u="none">
                <a:solidFill>
                  <a:srgbClr val="334155"/>
                </a:solidFill>
                <a:latin typeface="Calibri"/>
              </a:rPr>
              <a:t>unique name</a:t>
            </a:r>
            <a:r>
              <a:rPr sz="3091" b="0" i="0" u="none">
                <a:solidFill>
                  <a:srgbClr val="334155"/>
                </a:solidFill>
                <a:latin typeface="Calibri"/>
              </a:rPr>
              <a:t>, </a:t>
            </a:r>
            <a:r>
              <a:rPr sz="3091" b="0" i="1" u="none">
                <a:solidFill>
                  <a:srgbClr val="334155"/>
                </a:solidFill>
                <a:latin typeface="Calibri"/>
              </a:rPr>
              <a:t>unique address</a:t>
            </a:r>
            <a:r>
              <a:rPr sz="3091" b="0" i="0" u="none">
                <a:solidFill>
                  <a:srgbClr val="334155"/>
                </a:solidFill>
                <a:latin typeface="Calibri"/>
              </a:rPr>
              <a:t> and </a:t>
            </a:r>
            <a:r>
              <a:rPr sz="3091" b="0" i="1" u="none">
                <a:solidFill>
                  <a:srgbClr val="334155"/>
                </a:solidFill>
                <a:latin typeface="Calibri"/>
              </a:rPr>
              <a:t>phone</a:t>
            </a:r>
            <a:r>
              <a:rPr sz="3091" b="0" i="0" u="none">
                <a:solidFill>
                  <a:srgbClr val="334155"/>
                </a:solidFill>
                <a:latin typeface="Calibri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7148207"/>
            <a:ext cx="16459200" cy="1879701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14450" y="7548257"/>
            <a:ext cx="15659100" cy="107960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3091" b="0" i="0" u="none">
                <a:solidFill>
                  <a:srgbClr val="334155"/>
                </a:solidFill>
                <a:latin typeface="Calibri"/>
              </a:rPr>
              <a:t>The system stores information about customers: </a:t>
            </a:r>
            <a:r>
              <a:rPr sz="3091" b="0" i="1" u="none">
                <a:solidFill>
                  <a:srgbClr val="334155"/>
                </a:solidFill>
                <a:latin typeface="Calibri"/>
              </a:rPr>
              <a:t>unique customer ID</a:t>
            </a:r>
            <a:r>
              <a:rPr sz="3091" b="0" i="0" u="none">
                <a:solidFill>
                  <a:srgbClr val="334155"/>
                </a:solidFill>
                <a:latin typeface="Calibri"/>
              </a:rPr>
              <a:t>, </a:t>
            </a:r>
            <a:r>
              <a:rPr sz="3091" b="0" i="1" u="none">
                <a:solidFill>
                  <a:srgbClr val="334155"/>
                </a:solidFill>
                <a:latin typeface="Calibri"/>
              </a:rPr>
              <a:t>name</a:t>
            </a:r>
            <a:r>
              <a:rPr sz="3091" b="0" i="0" u="none">
                <a:solidFill>
                  <a:srgbClr val="334155"/>
                </a:solidFill>
                <a:latin typeface="Calibri"/>
              </a:rPr>
              <a:t>, </a:t>
            </a:r>
            <a:r>
              <a:rPr sz="3091" b="0" i="1" u="none">
                <a:solidFill>
                  <a:srgbClr val="334155"/>
                </a:solidFill>
                <a:latin typeface="Calibri"/>
              </a:rPr>
              <a:t>address</a:t>
            </a:r>
            <a:r>
              <a:rPr sz="3091" b="0" i="0" u="none">
                <a:solidFill>
                  <a:srgbClr val="334155"/>
                </a:solidFill>
                <a:latin typeface="Calibri"/>
              </a:rPr>
              <a:t> and </a:t>
            </a:r>
            <a:r>
              <a:rPr sz="3091" b="0" i="1" u="none">
                <a:solidFill>
                  <a:srgbClr val="334155"/>
                </a:solidFill>
                <a:latin typeface="Calibri"/>
              </a:rPr>
              <a:t>phones</a:t>
            </a:r>
            <a:r>
              <a:rPr sz="3091" b="0" i="0" u="none">
                <a:solidFill>
                  <a:srgbClr val="334155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929830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LAB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920430" y="981075"/>
            <a:ext cx="14605445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35/39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6459200" cy="653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320"/>
              </a:lnSpc>
            </a:pPr>
            <a:r>
              <a:rPr sz="4050" b="1" i="0" u="none">
                <a:solidFill>
                  <a:srgbClr val="0F172A"/>
                </a:solidFill>
                <a:latin typeface="Arial"/>
              </a:rPr>
              <a:t>Banking system (2/2)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482024"/>
            <a:ext cx="16459200" cy="1812226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14450" y="2882074"/>
            <a:ext cx="15659100" cy="101212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898" b="0" i="0" u="none">
                <a:solidFill>
                  <a:srgbClr val="334155"/>
                </a:solidFill>
                <a:latin typeface="Calibri"/>
              </a:rPr>
              <a:t>Each customer has one </a:t>
            </a:r>
            <a:r>
              <a:rPr sz="2898" b="1" i="0" u="none">
                <a:solidFill>
                  <a:srgbClr val="334155"/>
                </a:solidFill>
                <a:latin typeface="Calibri"/>
              </a:rPr>
              <a:t>account</a:t>
            </a:r>
            <a:r>
              <a:rPr sz="2898" b="0" i="0" u="none">
                <a:solidFill>
                  <a:srgbClr val="334155"/>
                </a:solidFill>
                <a:latin typeface="Calibri"/>
              </a:rPr>
              <a:t> identified by a </a:t>
            </a:r>
            <a:r>
              <a:rPr sz="2898" b="0" i="1" u="none">
                <a:solidFill>
                  <a:srgbClr val="334155"/>
                </a:solidFill>
                <a:latin typeface="Calibri"/>
              </a:rPr>
              <a:t>unique account number</a:t>
            </a:r>
            <a:r>
              <a:rPr sz="2898" b="0" i="0" u="none">
                <a:solidFill>
                  <a:srgbClr val="334155"/>
                </a:solidFill>
                <a:latin typeface="Calibri"/>
              </a:rPr>
              <a:t>, </a:t>
            </a:r>
            <a:r>
              <a:rPr sz="2898" b="0" i="1" u="none">
                <a:solidFill>
                  <a:srgbClr val="334155"/>
                </a:solidFill>
                <a:latin typeface="Calibri"/>
              </a:rPr>
              <a:t>amount</a:t>
            </a:r>
            <a:r>
              <a:rPr sz="2898" b="0" i="0" u="none">
                <a:solidFill>
                  <a:srgbClr val="334155"/>
                </a:solidFill>
                <a:latin typeface="Calibri"/>
              </a:rPr>
              <a:t>, and </a:t>
            </a:r>
            <a:r>
              <a:rPr sz="2898" b="0" i="1" u="none">
                <a:solidFill>
                  <a:srgbClr val="334155"/>
                </a:solidFill>
                <a:latin typeface="Calibri"/>
              </a:rPr>
              <a:t>last transaction date</a:t>
            </a:r>
            <a:r>
              <a:rPr sz="2898" b="0" i="0" u="none">
                <a:solidFill>
                  <a:srgbClr val="334155"/>
                </a:solidFill>
                <a:latin typeface="Calibri"/>
              </a:rPr>
              <a:t> (day, month and year).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747640"/>
            <a:ext cx="16459200" cy="1812226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14450" y="5147690"/>
            <a:ext cx="15659100" cy="101212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898" b="0" i="0" u="none">
                <a:solidFill>
                  <a:srgbClr val="334155"/>
                </a:solidFill>
                <a:latin typeface="Calibri"/>
              </a:rPr>
              <a:t>The system records </a:t>
            </a:r>
            <a:r>
              <a:rPr sz="2898" b="0" i="1" u="none">
                <a:solidFill>
                  <a:srgbClr val="334155"/>
                </a:solidFill>
                <a:latin typeface="Calibri"/>
              </a:rPr>
              <a:t>transaction number</a:t>
            </a:r>
            <a:r>
              <a:rPr sz="2898" b="0" i="0" u="none">
                <a:solidFill>
                  <a:srgbClr val="334155"/>
                </a:solidFill>
                <a:latin typeface="Calibri"/>
              </a:rPr>
              <a:t>, </a:t>
            </a:r>
            <a:r>
              <a:rPr sz="2898" b="0" i="1" u="none">
                <a:solidFill>
                  <a:srgbClr val="334155"/>
                </a:solidFill>
                <a:latin typeface="Calibri"/>
              </a:rPr>
              <a:t>transaction type</a:t>
            </a:r>
            <a:r>
              <a:rPr sz="2898" b="0" i="0" u="none">
                <a:solidFill>
                  <a:srgbClr val="334155"/>
                </a:solidFill>
                <a:latin typeface="Calibri"/>
              </a:rPr>
              <a:t>, </a:t>
            </a:r>
            <a:r>
              <a:rPr sz="2898" b="0" i="1" u="none">
                <a:solidFill>
                  <a:srgbClr val="334155"/>
                </a:solidFill>
                <a:latin typeface="Calibri"/>
              </a:rPr>
              <a:t>transaction date</a:t>
            </a:r>
            <a:r>
              <a:rPr sz="2898" b="0" i="0" u="none">
                <a:solidFill>
                  <a:srgbClr val="334155"/>
                </a:solidFill>
                <a:latin typeface="Calibri"/>
              </a:rPr>
              <a:t>, </a:t>
            </a:r>
            <a:r>
              <a:rPr sz="2898" b="0" i="1" u="none">
                <a:solidFill>
                  <a:srgbClr val="334155"/>
                </a:solidFill>
                <a:latin typeface="Calibri"/>
              </a:rPr>
              <a:t>amount</a:t>
            </a:r>
            <a:r>
              <a:rPr sz="2898" b="0" i="0" u="none">
                <a:solidFill>
                  <a:srgbClr val="334155"/>
                </a:solidFill>
                <a:latin typeface="Calibri"/>
              </a:rPr>
              <a:t> and </a:t>
            </a:r>
            <a:r>
              <a:rPr sz="2898" b="0" i="1" u="none">
                <a:solidFill>
                  <a:srgbClr val="334155"/>
                </a:solidFill>
                <a:latin typeface="Calibri"/>
              </a:rPr>
              <a:t>time</a:t>
            </a:r>
            <a:r>
              <a:rPr sz="2898" b="0" i="0" u="none">
                <a:solidFill>
                  <a:srgbClr val="334155"/>
                </a:solidFill>
                <a:latin typeface="Calibri"/>
              </a:rPr>
              <a:t>, and the </a:t>
            </a:r>
            <a:r>
              <a:rPr sz="2898" b="1" i="0" u="none">
                <a:solidFill>
                  <a:srgbClr val="334155"/>
                </a:solidFill>
                <a:latin typeface="Calibri"/>
              </a:rPr>
              <a:t>branch</a:t>
            </a:r>
            <a:r>
              <a:rPr sz="2898" b="0" i="0" u="none">
                <a:solidFill>
                  <a:srgbClr val="334155"/>
                </a:solidFill>
                <a:latin typeface="Calibri"/>
              </a:rPr>
              <a:t> where the transaction occurred.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7013257"/>
            <a:ext cx="16459200" cy="1812226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14450" y="7413307"/>
            <a:ext cx="15659100" cy="101212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898" b="0" i="0" u="none">
                <a:solidFill>
                  <a:srgbClr val="334155"/>
                </a:solidFill>
                <a:latin typeface="Calibri"/>
              </a:rPr>
              <a:t>A customer can make any type of transaction (withdrawal or deposit) from any branch of the bank.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1765934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36 · RECAP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56535" y="981075"/>
            <a:ext cx="13769340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36/39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6459200" cy="653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320"/>
              </a:lnSpc>
            </a:pPr>
            <a:r>
              <a:rPr sz="4050" b="1" i="0" u="none">
                <a:solidFill>
                  <a:srgbClr val="0F172A"/>
                </a:solidFill>
                <a:latin typeface="Arial"/>
              </a:rPr>
              <a:t>What to walk out remembering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28950"/>
            <a:ext cx="762000" cy="41433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250" b="1" i="0" u="none">
                <a:solidFill>
                  <a:srgbClr val="C8102E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71650" y="3028950"/>
            <a:ext cx="15601950" cy="8001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250" b="0" i="0" u="none">
                <a:solidFill>
                  <a:srgbClr val="0F172A"/>
                </a:solidFill>
                <a:latin typeface="Calibri"/>
              </a:rPr>
              <a:t>An ERD is the </a:t>
            </a:r>
            <a:r>
              <a:rPr sz="2250" b="1" i="0" u="none">
                <a:solidFill>
                  <a:srgbClr val="0F172A"/>
                </a:solidFill>
                <a:latin typeface="Calibri"/>
              </a:rPr>
              <a:t>conceptual</a:t>
            </a:r>
            <a:r>
              <a:rPr sz="2250" b="0" i="0" u="none">
                <a:solidFill>
                  <a:srgbClr val="0F172A"/>
                </a:solidFill>
                <a:latin typeface="Calibri"/>
              </a:rPr>
              <a:t> model: entities, attributes, relationships; no tables yet.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14400" y="3886200"/>
            <a:ext cx="16459200" cy="0"/>
          </a:xfrm>
          <a:prstGeom prst="line">
            <a:avLst/>
          </a:prstGeom>
          <a:ln w="14287">
            <a:solidFill>
              <a:srgbClr val="E2E8F0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914400" y="4057650"/>
            <a:ext cx="762000" cy="41433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250" b="1" i="0" u="none">
                <a:solidFill>
                  <a:srgbClr val="C8102E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71650" y="4057650"/>
            <a:ext cx="15601950" cy="8001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250" b="0" i="0" u="none">
                <a:solidFill>
                  <a:srgbClr val="0F172A"/>
                </a:solidFill>
                <a:latin typeface="Calibri"/>
              </a:rPr>
              <a:t>A </a:t>
            </a:r>
            <a:r>
              <a:rPr sz="2250" b="1" i="0" u="none">
                <a:solidFill>
                  <a:srgbClr val="0F172A"/>
                </a:solidFill>
                <a:latin typeface="Calibri"/>
              </a:rPr>
              <a:t>weak entity</a:t>
            </a:r>
            <a:r>
              <a:rPr sz="2250" b="0" i="0" u="none">
                <a:solidFill>
                  <a:srgbClr val="0F172A"/>
                </a:solidFill>
                <a:latin typeface="Calibri"/>
              </a:rPr>
              <a:t> is identified through its owner plus a partial key.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4400" y="4914900"/>
            <a:ext cx="16459200" cy="0"/>
          </a:xfrm>
          <a:prstGeom prst="line">
            <a:avLst/>
          </a:prstGeom>
          <a:ln w="14287">
            <a:solidFill>
              <a:srgbClr val="E2E8F0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914400" y="5086350"/>
            <a:ext cx="762000" cy="41433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250" b="1" i="0" u="none">
                <a:solidFill>
                  <a:srgbClr val="C8102E"/>
                </a:solidFill>
                <a:latin typeface="Arial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71650" y="5086350"/>
            <a:ext cx="15601950" cy="8001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250" b="0" i="0" u="none">
                <a:solidFill>
                  <a:srgbClr val="0F172A"/>
                </a:solidFill>
                <a:latin typeface="Calibri"/>
              </a:rPr>
              <a:t>Attributes can be simple, composite, multi-valued, derived or key.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4400" y="5943600"/>
            <a:ext cx="16459200" cy="0"/>
          </a:xfrm>
          <a:prstGeom prst="line">
            <a:avLst/>
          </a:prstGeom>
          <a:ln w="14287">
            <a:solidFill>
              <a:srgbClr val="E2E8F0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914400" y="6115050"/>
            <a:ext cx="762000" cy="41433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250" b="1" i="0" u="none">
                <a:solidFill>
                  <a:srgbClr val="C8102E"/>
                </a:solidFill>
                <a:latin typeface="Arial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71650" y="6115050"/>
            <a:ext cx="15601950" cy="8001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250" b="0" i="0" u="none">
                <a:solidFill>
                  <a:srgbClr val="0F172A"/>
                </a:solidFill>
                <a:latin typeface="Calibri"/>
              </a:rPr>
              <a:t>Relationships have a </a:t>
            </a:r>
            <a:r>
              <a:rPr sz="2250" b="1" i="0" u="none">
                <a:solidFill>
                  <a:srgbClr val="0F172A"/>
                </a:solidFill>
                <a:latin typeface="Calibri"/>
              </a:rPr>
              <a:t>degree</a:t>
            </a:r>
            <a:r>
              <a:rPr sz="2250" b="0" i="0" u="none">
                <a:solidFill>
                  <a:srgbClr val="0F172A"/>
                </a:solidFill>
                <a:latin typeface="Calibri"/>
              </a:rPr>
              <a:t>, a </a:t>
            </a:r>
            <a:r>
              <a:rPr sz="2250" b="1" i="0" u="none">
                <a:solidFill>
                  <a:srgbClr val="0F172A"/>
                </a:solidFill>
                <a:latin typeface="Calibri"/>
              </a:rPr>
              <a:t>cardinality ratio</a:t>
            </a:r>
            <a:r>
              <a:rPr sz="2250" b="0" i="0" u="none">
                <a:solidFill>
                  <a:srgbClr val="0F172A"/>
                </a:solidFill>
                <a:latin typeface="Calibri"/>
              </a:rPr>
              <a:t> (max) and </a:t>
            </a:r>
            <a:r>
              <a:rPr sz="2250" b="1" i="0" u="none">
                <a:solidFill>
                  <a:srgbClr val="0F172A"/>
                </a:solidFill>
                <a:latin typeface="Calibri"/>
              </a:rPr>
              <a:t>participation</a:t>
            </a:r>
            <a:r>
              <a:rPr sz="2250" b="0" i="0" u="none">
                <a:solidFill>
                  <a:srgbClr val="0F172A"/>
                </a:solidFill>
                <a:latin typeface="Calibri"/>
              </a:rPr>
              <a:t> (min).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4400" y="6972300"/>
            <a:ext cx="16459200" cy="0"/>
          </a:xfrm>
          <a:prstGeom prst="line">
            <a:avLst/>
          </a:prstGeom>
          <a:ln w="14287">
            <a:solidFill>
              <a:srgbClr val="E2E8F0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914400" y="7143750"/>
            <a:ext cx="762000" cy="41433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250" b="1" i="0" u="none">
                <a:solidFill>
                  <a:srgbClr val="C8102E"/>
                </a:solidFill>
                <a:latin typeface="Arial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71650" y="7143750"/>
            <a:ext cx="15601950" cy="8001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250" b="0" i="0" u="none">
                <a:solidFill>
                  <a:srgbClr val="0F172A"/>
                </a:solidFill>
                <a:latin typeface="Calibri"/>
              </a:rPr>
              <a:t>Chen and crow's foot express the </a:t>
            </a:r>
            <a:r>
              <a:rPr sz="2250" b="1" i="0" u="none">
                <a:solidFill>
                  <a:srgbClr val="0F172A"/>
                </a:solidFill>
                <a:latin typeface="Calibri"/>
              </a:rPr>
              <a:t>same constraints</a:t>
            </a:r>
            <a:r>
              <a:rPr sz="2250" b="0" i="0" u="none">
                <a:solidFill>
                  <a:srgbClr val="0F172A"/>
                </a:solidFill>
                <a:latin typeface="Calibri"/>
              </a:rPr>
              <a:t> with different symbols.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4400" y="8001000"/>
            <a:ext cx="16459200" cy="0"/>
          </a:xfrm>
          <a:prstGeom prst="line">
            <a:avLst/>
          </a:prstGeom>
          <a:ln w="14287">
            <a:solidFill>
              <a:srgbClr val="E2E8F0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914400" y="8172450"/>
            <a:ext cx="762000" cy="41433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250" b="1" i="0" u="none">
                <a:solidFill>
                  <a:srgbClr val="C8102E"/>
                </a:solidFill>
                <a:latin typeface="Arial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71650" y="8172450"/>
            <a:ext cx="15601950" cy="8001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250" b="0" i="0" u="none">
                <a:solidFill>
                  <a:srgbClr val="0F172A"/>
                </a:solidFill>
                <a:latin typeface="Calibri"/>
              </a:rPr>
              <a:t>Build ERDs </a:t>
            </a:r>
            <a:r>
              <a:rPr sz="2250" b="1" i="0" u="none">
                <a:solidFill>
                  <a:srgbClr val="0F172A"/>
                </a:solidFill>
                <a:latin typeface="Calibri"/>
              </a:rPr>
              <a:t>methodically</a:t>
            </a:r>
            <a:r>
              <a:rPr sz="2250" b="0" i="0" u="none">
                <a:solidFill>
                  <a:srgbClr val="0F172A"/>
                </a:solidFill>
                <a:latin typeface="Calibri"/>
              </a:rPr>
              <a:t>: nouns → verbs → keys → constraints → review.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9029700"/>
            <a:ext cx="16459200" cy="0"/>
          </a:xfrm>
          <a:prstGeom prst="line">
            <a:avLst/>
          </a:prstGeom>
          <a:ln w="14287">
            <a:solidFill>
              <a:srgbClr val="E2E8F0"/>
            </a:solidFill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2840926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PRACTICE · OPTIONAL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831526" y="981075"/>
            <a:ext cx="12694349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37/39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6459200" cy="653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320"/>
              </a:lnSpc>
            </a:pPr>
            <a:r>
              <a:rPr sz="4050" b="1" i="0" u="none">
                <a:solidFill>
                  <a:srgbClr val="0F172A"/>
                </a:solidFill>
                <a:latin typeface="Arial"/>
              </a:rPr>
              <a:t>Practice: Lesson 2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482024"/>
            <a:ext cx="5273040" cy="3428215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7780" y="2855404"/>
            <a:ext cx="4526280" cy="4269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318" b="1" i="0" u="none">
                <a:solidFill>
                  <a:srgbClr val="0E8A8A"/>
                </a:solidFill>
                <a:latin typeface="Arial"/>
              </a:rPr>
              <a:t>Q1 · 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7780" y="3415687"/>
            <a:ext cx="4526280" cy="212117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511" b="0" i="0" u="none">
                <a:solidFill>
                  <a:srgbClr val="0F172A"/>
                </a:solidFill>
                <a:latin typeface="Calibri"/>
              </a:rPr>
              <a:t>For a </a:t>
            </a:r>
            <a:r>
              <a:rPr sz="2511" b="1" i="0" u="none">
                <a:solidFill>
                  <a:srgbClr val="0F172A"/>
                </a:solidFill>
                <a:latin typeface="Calibri"/>
              </a:rPr>
              <a:t>library</a:t>
            </a:r>
            <a:r>
              <a:rPr sz="2511" b="0" i="0" u="none">
                <a:solidFill>
                  <a:srgbClr val="0F172A"/>
                </a:solidFill>
                <a:latin typeface="Calibri"/>
              </a:rPr>
              <a:t>: members borrow copies of books; each book has many authors. Draw the ERD with keys and constraints.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07480" y="2482024"/>
            <a:ext cx="5273040" cy="3428215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80860" y="2855404"/>
            <a:ext cx="4526280" cy="4269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318" b="1" i="0" u="none">
                <a:solidFill>
                  <a:srgbClr val="0E8A8A"/>
                </a:solidFill>
                <a:latin typeface="Arial"/>
              </a:rPr>
              <a:t>Q2 · 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80860" y="3415687"/>
            <a:ext cx="4526280" cy="170650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511" b="0" i="0" u="none">
                <a:solidFill>
                  <a:srgbClr val="0F172A"/>
                </a:solidFill>
                <a:latin typeface="Calibri"/>
              </a:rPr>
              <a:t>Give one real example each of a 1:1, a 1:N and an M:N relationship, with participation for both sides.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100560" y="2482024"/>
            <a:ext cx="5273040" cy="3428215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473940" y="2855404"/>
            <a:ext cx="4526280" cy="4269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318" b="1" i="0" u="none">
                <a:solidFill>
                  <a:srgbClr val="0E8A8A"/>
                </a:solidFill>
                <a:latin typeface="Arial"/>
              </a:rPr>
              <a:t>Q3 · 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73940" y="3415687"/>
            <a:ext cx="4526280" cy="87717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511" b="0" i="0" u="none">
                <a:solidFill>
                  <a:srgbClr val="0F172A"/>
                </a:solidFill>
                <a:latin typeface="Calibri"/>
              </a:rPr>
              <a:t>Redraw the COMPANY ERD in </a:t>
            </a:r>
            <a:r>
              <a:rPr sz="2511" b="1" i="0" u="none">
                <a:solidFill>
                  <a:srgbClr val="0F172A"/>
                </a:solidFill>
                <a:latin typeface="Calibri"/>
              </a:rPr>
              <a:t>crow's foot</a:t>
            </a:r>
            <a:r>
              <a:rPr sz="2511" b="0" i="0" u="none">
                <a:solidFill>
                  <a:srgbClr val="0F172A"/>
                </a:solidFill>
                <a:latin typeface="Calibri"/>
              </a:rPr>
              <a:t> notation.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6230279"/>
            <a:ext cx="5273040" cy="3428215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7780" y="6603659"/>
            <a:ext cx="4526280" cy="4269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318" b="1" i="0" u="none">
                <a:solidFill>
                  <a:srgbClr val="C8102E"/>
                </a:solidFill>
                <a:latin typeface="Arial"/>
              </a:rPr>
              <a:t>Q4 · STRETCH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7780" y="7163943"/>
            <a:ext cx="4526280" cy="212117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511" b="0" i="0" u="none">
                <a:solidFill>
                  <a:srgbClr val="0F172A"/>
                </a:solidFill>
                <a:latin typeface="Calibri"/>
              </a:rPr>
              <a:t>A </a:t>
            </a:r>
            <a:r>
              <a:rPr sz="2511" b="1" i="0" u="none">
                <a:solidFill>
                  <a:srgbClr val="0F172A"/>
                </a:solidFill>
                <a:latin typeface="Calibri"/>
              </a:rPr>
              <a:t>hospital</a:t>
            </a:r>
            <a:r>
              <a:rPr sz="2511" b="0" i="0" u="none">
                <a:solidFill>
                  <a:srgbClr val="0F172A"/>
                </a:solidFill>
                <a:latin typeface="Calibri"/>
              </a:rPr>
              <a:t>: patients, doctors, rooms, admissions with dates. Which entity is weak? Which relationship has attributes?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07480" y="6230279"/>
            <a:ext cx="5273040" cy="3428215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80860" y="6603659"/>
            <a:ext cx="4526280" cy="4269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318" b="1" i="0" u="none">
                <a:solidFill>
                  <a:srgbClr val="C8102E"/>
                </a:solidFill>
                <a:latin typeface="Arial"/>
              </a:rPr>
              <a:t>Q5 · STRETCH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80860" y="7163943"/>
            <a:ext cx="4526280" cy="170650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511" b="0" i="0" u="none">
                <a:solidFill>
                  <a:srgbClr val="0F172A"/>
                </a:solidFill>
                <a:latin typeface="Calibri"/>
              </a:rPr>
              <a:t>Rewrite every relationship in the bus case as two sentences (one per direction) and check your cardinalities.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100560" y="6230279"/>
            <a:ext cx="5273040" cy="3428215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473940" y="6603659"/>
            <a:ext cx="4526280" cy="4269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318" b="1" i="0" u="none">
                <a:solidFill>
                  <a:srgbClr val="0F172A"/>
                </a:solidFill>
                <a:latin typeface="Arial"/>
              </a:rPr>
              <a:t>Q6 · CHALLENGE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473940" y="7163943"/>
            <a:ext cx="4526280" cy="212117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511" b="0" i="0" u="none">
                <a:solidFill>
                  <a:srgbClr val="0F172A"/>
                </a:solidFill>
                <a:latin typeface="Calibri"/>
              </a:rPr>
              <a:t>Model an online </a:t>
            </a:r>
            <a:r>
              <a:rPr sz="2511" b="1" i="0" u="none">
                <a:solidFill>
                  <a:srgbClr val="0F172A"/>
                </a:solidFill>
                <a:latin typeface="Calibri"/>
              </a:rPr>
              <a:t>course platform</a:t>
            </a:r>
            <a:r>
              <a:rPr sz="2511" b="0" i="0" u="none">
                <a:solidFill>
                  <a:srgbClr val="0F172A"/>
                </a:solidFill>
                <a:latin typeface="Calibri"/>
              </a:rPr>
              <a:t> (students, instructors, courses, lessons, enrollments, ratings) and justify each M:N.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2363152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38 · STUDY MORE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353752" y="981075"/>
            <a:ext cx="13172123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38/39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6459200" cy="653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320"/>
              </a:lnSpc>
            </a:pPr>
            <a:r>
              <a:rPr sz="4050" b="1" i="0" u="none">
                <a:solidFill>
                  <a:srgbClr val="0F172A"/>
                </a:solidFill>
                <a:latin typeface="Arial"/>
              </a:rPr>
              <a:t>Go deeper: Lesson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70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09900" y="3009900"/>
            <a:ext cx="14363700" cy="93345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2100" b="1" i="0" u="none">
                <a:solidFill>
                  <a:srgbClr val="0F172A"/>
                </a:solidFill>
                <a:latin typeface="Arial"/>
              </a:rPr>
              <a:t>Elmasri &amp; Navathe, Fundamentals of Database Systems (7th ed.)</a:t>
            </a:r>
            <a:r>
              <a:rPr sz="1950" b="0" i="0" u="none">
                <a:solidFill>
                  <a:srgbClr val="334155"/>
                </a:solidFill>
                <a:latin typeface="Calibri"/>
              </a:rPr>
              <a:t> — chapter 3: ER modeling, the COMPANY example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14400" y="3981450"/>
            <a:ext cx="16459200" cy="0"/>
          </a:xfrm>
          <a:prstGeom prst="line">
            <a:avLst/>
          </a:prstGeom>
          <a:ln w="14287">
            <a:solidFill>
              <a:srgbClr val="E2E8F0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914400" y="419100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TOOL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9900" y="4133850"/>
            <a:ext cx="14363700" cy="93345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2100" b="1" i="0" u="none">
                <a:solidFill>
                  <a:srgbClr val="0F172A"/>
                </a:solidFill>
                <a:latin typeface="Arial"/>
              </a:rPr>
              <a:t>dbdiagram.io</a:t>
            </a:r>
            <a:r>
              <a:rPr sz="1950" b="0" i="0" u="none">
                <a:solidFill>
                  <a:srgbClr val="334155"/>
                </a:solidFill>
                <a:latin typeface="Calibri"/>
              </a:rPr>
              <a:t> — draw crow's foot ERDs from text, free</a:t>
            </a:r>
          </a:p>
          <a:p>
            <a:r>
              <a:rPr sz="1800" b="0" i="0" u="none">
                <a:solidFill>
                  <a:srgbClr val="0E8A8A"/>
                </a:solidFill>
                <a:latin typeface="Courier New"/>
                <a:hlinkClick r:id="rId2"/>
              </a:rPr>
              <a:t>dbdiagram.io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4400" y="5105400"/>
            <a:ext cx="16459200" cy="0"/>
          </a:xfrm>
          <a:prstGeom prst="line">
            <a:avLst/>
          </a:prstGeom>
          <a:ln w="14287">
            <a:solidFill>
              <a:srgbClr val="E2E8F0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914400" y="53149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09900" y="5257800"/>
            <a:ext cx="14363700" cy="93345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2100" b="1" i="0" u="none">
                <a:solidFill>
                  <a:srgbClr val="0F172A"/>
                </a:solidFill>
                <a:latin typeface="Arial"/>
              </a:rPr>
              <a:t>diagrams.net (draw.io)</a:t>
            </a:r>
            <a:r>
              <a:rPr sz="1950" b="0" i="0" u="none">
                <a:solidFill>
                  <a:srgbClr val="334155"/>
                </a:solidFill>
                <a:latin typeface="Calibri"/>
              </a:rPr>
              <a:t> — free diagram editor with Chen and crow's foot shapes</a:t>
            </a:r>
          </a:p>
          <a:p>
            <a:r>
              <a:rPr sz="1800" b="0" i="0" u="none">
                <a:solidFill>
                  <a:srgbClr val="0E8A8A"/>
                </a:solidFill>
                <a:latin typeface="Courier New"/>
                <a:hlinkClick r:id="rId3"/>
              </a:rPr>
              <a:t>app.diagrams.net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4400" y="6229350"/>
            <a:ext cx="16459200" cy="0"/>
          </a:xfrm>
          <a:prstGeom prst="line">
            <a:avLst/>
          </a:prstGeom>
          <a:ln w="14287">
            <a:solidFill>
              <a:srgbClr val="E2E8F0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914400" y="643890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READ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9900" y="6381750"/>
            <a:ext cx="14363700" cy="93345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2100" b="1" i="0" u="none">
                <a:solidFill>
                  <a:srgbClr val="0F172A"/>
                </a:solidFill>
                <a:latin typeface="Arial"/>
              </a:rPr>
              <a:t>Lucidchart: What is an ERD?</a:t>
            </a:r>
            <a:r>
              <a:rPr sz="1950" b="0" i="0" u="none">
                <a:solidFill>
                  <a:srgbClr val="334155"/>
                </a:solidFill>
                <a:latin typeface="Calibri"/>
              </a:rPr>
              <a:t> — notations compared with pictures</a:t>
            </a:r>
          </a:p>
          <a:p>
            <a:r>
              <a:rPr sz="1800" b="0" i="0" u="none">
                <a:solidFill>
                  <a:srgbClr val="0E8A8A"/>
                </a:solidFill>
                <a:latin typeface="Courier New"/>
                <a:hlinkClick r:id="rId4"/>
              </a:rPr>
              <a:t>www.lucidchart.com/pages/er-diagrams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4400" y="7353300"/>
            <a:ext cx="16459200" cy="0"/>
          </a:xfrm>
          <a:prstGeom prst="line">
            <a:avLst/>
          </a:prstGeom>
          <a:ln w="14287">
            <a:solidFill>
              <a:srgbClr val="E2E8F0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914400" y="75628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VIDEO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9900" y="7505700"/>
            <a:ext cx="14363700" cy="93345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2100" b="1" i="0" u="none">
                <a:solidFill>
                  <a:srgbClr val="0F172A"/>
                </a:solidFill>
                <a:latin typeface="Arial"/>
              </a:rPr>
              <a:t>CMU 15-445 / Stanford DB courses</a:t>
            </a:r>
            <a:r>
              <a:rPr sz="1950" b="0" i="0" u="none">
                <a:solidFill>
                  <a:srgbClr val="334155"/>
                </a:solidFill>
                <a:latin typeface="Calibri"/>
              </a:rPr>
              <a:t> — search "ER model" lectures for worked examples</a:t>
            </a:r>
          </a:p>
          <a:p>
            <a:r>
              <a:rPr sz="1800" b="0" i="0" u="none">
                <a:solidFill>
                  <a:srgbClr val="0E8A8A"/>
                </a:solidFill>
                <a:latin typeface="Courier New"/>
                <a:hlinkClick r:id="rId5"/>
              </a:rPr>
              <a:t>15445.courses.cs.cmu.edu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4400" y="8477250"/>
            <a:ext cx="16459200" cy="0"/>
          </a:xfrm>
          <a:prstGeom prst="line">
            <a:avLst/>
          </a:prstGeom>
          <a:ln w="14287">
            <a:solidFill>
              <a:srgbClr val="E2E8F0"/>
            </a:solidFill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7620000" cy="33147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800" b="1" i="0" u="none">
                <a:solidFill>
                  <a:srgbClr val="F87171"/>
                </a:solidFill>
                <a:latin typeface="Arial"/>
              </a:rPr>
              <a:t>UP NEXT · LESSON 3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867150" y="962025"/>
            <a:ext cx="13506450" cy="0"/>
          </a:xfrm>
          <a:prstGeom prst="line">
            <a:avLst/>
          </a:prstGeom>
          <a:ln w="19050">
            <a:solidFill>
              <a:srgbClr val="1E293B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914400" y="3143250"/>
            <a:ext cx="8572500" cy="3590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950" b="1" i="0" u="none">
                <a:solidFill>
                  <a:srgbClr val="94A3B8"/>
                </a:solidFill>
                <a:latin typeface="Arial"/>
              </a:rPr>
              <a:t>LESSON 3 ·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2350"/>
            <a:ext cx="14287500" cy="936117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90000"/>
              </a:lnSpc>
            </a:pPr>
            <a:r>
              <a:rPr sz="6300" b="1" i="0" u="none">
                <a:solidFill>
                  <a:srgbClr val="FFFFFF"/>
                </a:solidFill>
                <a:latin typeface="Arial"/>
              </a:rPr>
              <a:t>Every ERD becomes </a:t>
            </a:r>
            <a:r>
              <a:rPr sz="6300" b="1" i="0" u="none">
                <a:solidFill>
                  <a:srgbClr val="F87171"/>
                </a:solidFill>
                <a:latin typeface="Arial"/>
              </a:rPr>
              <a:t>tables</a:t>
            </a:r>
            <a:r>
              <a:rPr sz="6300" b="1" i="0" u="none">
                <a:solidFill>
                  <a:srgbClr val="FFFFFF"/>
                </a:solidFill>
                <a:latin typeface="Arial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69967"/>
            <a:ext cx="12382500" cy="13335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20000"/>
              </a:lnSpc>
            </a:pPr>
            <a:r>
              <a:rPr sz="2400" b="0" i="0" u="none">
                <a:solidFill>
                  <a:srgbClr val="CBD5E1"/>
                </a:solidFill>
                <a:latin typeface="Calibri"/>
              </a:rPr>
              <a:t>Seven mapping steps turn the diagrams from today into relations, primary keys and foreign keys.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296400"/>
            <a:ext cx="7620000" cy="33147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alibri"/>
              </a:rPr>
              <a:t>ITI · Database Fundamentals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3600" y="9296400"/>
            <a:ext cx="7620000" cy="33147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alibri"/>
              </a:rP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