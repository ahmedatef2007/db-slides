
<file path=[Content_Types].xml><?xml version="1.0" encoding="utf-8"?>
<Types xmlns="http://schemas.openxmlformats.org/package/2006/content-types">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framing slide: the original jumped straight to definitions. Showing the four design phases explains why we draw an ERD before writing CREATE TABLE.</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 DEPENDENT is identified by the dependent's first name (and birth date) together with the EMPLOYEE they belong to. Two employees can each have a son called Ahmed; only Ssn + Name is unique. In Chen notation the partial key is drawn with a dashed underline.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Simple is also called single or atomic. Composite and multi-valued attributes can nest: e.g. a multi-valued composite attribute {AddressPhone(Phone, Address)}.</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If two attributes are underlined separately, then each is a key on its own (candidate keys). If they are joined into one composite attribute that is underlined, the combination is the key. Other composite-key example from the original: (ID, Application_no).</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Relationship: establishes a connection between a pair of entities in an ERD, or a pair of tables in a database. Cardinality ratio and participation together are called the structural constraints of a relationship.</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 a recursive relationship the same entity type plays two different roles, so we label the lines with role names (supervisor, supervisee). Binary relationships are by far the most common.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Read each side: 'one employee manages ONE department' (the number next to DEPARTMENT), 'one department is managed by ONE employee' (the number next to EMPLOYEE).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Synonyms: total = full = mandatory (existence dependency); partial = optional. The double line is always drawn on the side of the entity that MUST participate.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Formal constraint: (min,max) means each entity participates in at least min and at most max relationship instances. min = 0 means partial participation, min &gt;= 1 means total. Careful: (min,max) is written next to the entity it describes, which is the opposite side from the 1:N labels on the previous slides.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Completes an idea that the original showed only inside the COMPANY ERD (Hours, StartDate).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Guidelines: a relationship between two entities is a line through a diamond. Verbs name relationships (e.g. 'addresses LOCATE businesses'). Attribute lists grow as you go. Select (or assign) one unique identifier per entity.</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students will meet crow's foot in industry and in most online tools. The circle = minimum 0, the bar = minimum/maximum 1, the crow's foot = many.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diagram: the same COMPANY relationships drawn the way dbdiagram.io, draw.io or MySQL Workbench draw them. The symbol next to an entity tells how many of THAT entity relate to one instance on the other side: o&lt; next to EMPLOYEE = a department has zero or many employees; || next to DEPARTMENT = an employee has exactly one department.</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method slide (the eighth card, review, is the habit that catches most errors). Students apply it to every case study that follows.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Ask students to underline nouns (entities), circle verbs (relationships), and highlight 'unique' (keys) before moving on.</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Redrawn from the original figure (Elmasri &amp; Navathe). Some attributes are omitted to keep the diagram readable: EMPLOYEE also has Bdate, Address, Sex and a composite Name (Fname, Minit, Lname); DEPARTMENT has the derived attribute NumberOfEmployees; PROJECT has Name; DEPENDENT has Sex, BirthDate, Relationship. Walk the relationships aloud: WORKS_FOR N:1 (both total), MANAGES 1:1 (department total), CONTROLS 1:N (project total), WORKS_ON M:N with Hours (both total), SUPERVISION 1:N recursive (partial), DEPENDENTS_OF identifying 1:N.</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makes the reasoning behind every symbol explicit, which is what students struggle with in the case studies.</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collecting the mistakes most often seen when grading ERD labs.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Hints: the narrative says the model name is unique, so Name is the key (Lesson 3 uses name as the PK). If only the combination were unique (Corolla GL, Corolla XL), the key would be the composite (Name, Suffix), as on the keys slide. PART: Id code key, Images multi-valued. MODEL-PART is M:N (uses). FACTORY key = City; Computer system is composite (OS, DBMS, Internet). PRODUCED_AT: N models : 1 factory, model total. 'Parts made in the same factory as the model' needs no ternary: each model has one factory, so the factory of a part follows from its models (Lesson 3 shows the tables).</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Unique keys are not specified in the narrative: students must propose surrogate keys (e.g. Route_No) and say so as an assumption.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Hints: BUS N:1 ROUTE. ROUTE M:N TOWN; Stations multi-valued in TOWN. Allocation history: DRIVER M:N ROUTE with attributes FromDate, ToDate (the 'changes' sentence turns a 1:N into M:N over time).</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Hints: Phones multi-valued; last transaction date composite (Day, Month, Year) and arguably derived from transactions. TRANSACTION relates CUSTOMER (or ACCOUNT), BRANCH: discuss whether it is an entity with two 1:N relationships or a ternary relationship.</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dbdiagram.io/" TargetMode="External"/><Relationship Id="rId3" Type="http://schemas.openxmlformats.org/officeDocument/2006/relationships/hyperlink" Target="https://app.diagrams.net/" TargetMode="External"/><Relationship Id="rId4" Type="http://schemas.openxmlformats.org/officeDocument/2006/relationships/hyperlink" Target="https://www.lucidchart.com/pages/er-diagrams" TargetMode="External"/><Relationship Id="rId5" Type="http://schemas.openxmlformats.org/officeDocument/2006/relationships/hyperlink" Target="https://15445.courses.cs.cmu.edu/"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838200"/>
            <a:ext cx="133350" cy="495300"/>
          </a:xfrm>
          <a:prstGeom prst="rect">
            <a:avLst/>
          </a:prstGeom>
          <a:solidFill>
            <a:srgbClr val="C8102E"/>
          </a:solidFill>
          <a:ln>
            <a:noFill/>
          </a:ln>
        </p:spPr>
        <p:txBody>
          <a:bodyPr rtlCol="0" anchor="ctr" lIns="0" rIns="0" tIns="0" bIns="0"/>
          <a:lstStyle/>
          <a:p>
            <a:pPr algn="ctr"/>
          </a:p>
        </p:txBody>
      </p:sp>
      <p:sp>
        <p:nvSpPr>
          <p:cNvPr id="3" name="TextBox 2"/>
          <p:cNvSpPr txBox="1"/>
          <p:nvPr/>
        </p:nvSpPr>
        <p:spPr>
          <a:xfrm>
            <a:off x="1238250" y="952500"/>
            <a:ext cx="13335000" cy="342900"/>
          </a:xfrm>
          <a:prstGeom prst="rect">
            <a:avLst/>
          </a:prstGeom>
          <a:noFill/>
        </p:spPr>
        <p:txBody>
          <a:bodyPr wrap="square" lIns="0" rIns="0" tIns="0" bIns="0" anchor="t"/>
          <a:lstStyle/>
          <a:p>
            <a:pPr algn="l">
              <a:lnSpc>
                <a:spcPct val="111800"/>
              </a:lnSpc>
            </a:pPr>
            <a:r>
              <a:rPr sz="1800" b="1" i="0" u="none">
                <a:solidFill>
                  <a:srgbClr val="64748B"/>
                </a:solidFill>
                <a:latin typeface="Arial"/>
              </a:rPr>
              <a:t>ITI · DATABASE FUNDAMENTALS · LESSON 2</a:t>
            </a:r>
          </a:p>
        </p:txBody>
      </p:sp>
      <p:sp>
        <p:nvSpPr>
          <p:cNvPr id="4" name="TextBox 3"/>
          <p:cNvSpPr txBox="1"/>
          <p:nvPr/>
        </p:nvSpPr>
        <p:spPr>
          <a:xfrm>
            <a:off x="914400" y="3143250"/>
            <a:ext cx="16459200" cy="2857500"/>
          </a:xfrm>
          <a:prstGeom prst="rect">
            <a:avLst/>
          </a:prstGeom>
          <a:noFill/>
        </p:spPr>
        <p:txBody>
          <a:bodyPr wrap="square" lIns="0" rIns="0" tIns="0" bIns="0" anchor="ctr"/>
          <a:lstStyle/>
          <a:p>
            <a:pPr>
              <a:lnSpc>
                <a:spcPct val="95000"/>
              </a:lnSpc>
            </a:pPr>
            <a:r>
              <a:rPr sz="7500" b="1" i="0" u="none">
                <a:solidFill>
                  <a:srgbClr val="0F172A"/>
                </a:solidFill>
                <a:latin typeface="Arial"/>
              </a:rPr>
              <a:t>Entity Relationship </a:t>
            </a:r>
            <a:r>
              <a:rPr sz="7500" b="1" i="0" u="none">
                <a:solidFill>
                  <a:srgbClr val="C8102E"/>
                </a:solidFill>
                <a:latin typeface="Arial"/>
              </a:rPr>
              <a:t>Diagrams</a:t>
            </a:r>
          </a:p>
        </p:txBody>
      </p:sp>
      <p:sp>
        <p:nvSpPr>
          <p:cNvPr id="5" name="TextBox 4"/>
          <p:cNvSpPr txBox="1"/>
          <p:nvPr/>
        </p:nvSpPr>
        <p:spPr>
          <a:xfrm>
            <a:off x="914400" y="6191250"/>
            <a:ext cx="14287500" cy="571500"/>
          </a:xfrm>
          <a:prstGeom prst="rect">
            <a:avLst/>
          </a:prstGeom>
          <a:noFill/>
        </p:spPr>
        <p:txBody>
          <a:bodyPr wrap="square" lIns="0" rIns="0" tIns="0" bIns="0" anchor="t"/>
          <a:lstStyle/>
          <a:p>
            <a:pPr algn="l">
              <a:lnSpc>
                <a:spcPct val="111800"/>
              </a:lnSpc>
            </a:pPr>
            <a:r>
              <a:rPr sz="2550" b="0" i="0" u="none">
                <a:solidFill>
                  <a:srgbClr val="334155"/>
                </a:solidFill>
                <a:latin typeface="Calibri"/>
              </a:rPr>
              <a:t>Turning a business narrative into a picture of entities, attributes and relationships.</a:t>
            </a:r>
          </a:p>
        </p:txBody>
      </p:sp>
      <p:sp>
        <p:nvSpPr>
          <p:cNvPr id="6" name="TextBox 5"/>
          <p:cNvSpPr txBox="1"/>
          <p:nvPr/>
        </p:nvSpPr>
        <p:spPr>
          <a:xfrm>
            <a:off x="914400" y="8877300"/>
            <a:ext cx="8572500" cy="359092"/>
          </a:xfrm>
          <a:prstGeom prst="rect">
            <a:avLst/>
          </a:prstGeom>
          <a:noFill/>
        </p:spPr>
        <p:txBody>
          <a:bodyPr wrap="square" lIns="0" rIns="0" tIns="0" bIns="0" anchor="t"/>
          <a:lstStyle/>
          <a:p>
            <a:pPr algn="l">
              <a:lnSpc>
                <a:spcPct val="111800"/>
              </a:lnSpc>
            </a:pPr>
            <a:r>
              <a:rPr sz="1950" b="1" i="0" u="none">
                <a:solidFill>
                  <a:srgbClr val="0F172A"/>
                </a:solidFill>
                <a:latin typeface="Arial"/>
              </a:rPr>
              <a:t>Lecturer: Rana Salah</a:t>
            </a:r>
          </a:p>
        </p:txBody>
      </p:sp>
      <p:sp>
        <p:nvSpPr>
          <p:cNvPr id="7" name="TextBox 6"/>
          <p:cNvSpPr txBox="1"/>
          <p:nvPr/>
        </p:nvSpPr>
        <p:spPr>
          <a:xfrm>
            <a:off x="914400" y="9277350"/>
            <a:ext cx="8572500" cy="359092"/>
          </a:xfrm>
          <a:prstGeom prst="rect">
            <a:avLst/>
          </a:prstGeom>
          <a:noFill/>
        </p:spPr>
        <p:txBody>
          <a:bodyPr wrap="square" lIns="0" rIns="0" tIns="0" bIns="0" anchor="t"/>
          <a:lstStyle/>
          <a:p>
            <a:pPr algn="l">
              <a:lnSpc>
                <a:spcPct val="111800"/>
              </a:lnSpc>
            </a:pPr>
            <a:r>
              <a:rPr sz="1950" b="0" i="0" u="none">
                <a:solidFill>
                  <a:srgbClr val="334155"/>
                </a:solidFill>
                <a:latin typeface="Calibri"/>
              </a:rPr>
              <a:t>rsalah@mcit.gov.eg · Room 3005</a:t>
            </a:r>
          </a:p>
        </p:txBody>
      </p:sp>
      <p:sp>
        <p:nvSpPr>
          <p:cNvPr id="8" name="TextBox 7"/>
          <p:cNvSpPr txBox="1"/>
          <p:nvPr/>
        </p:nvSpPr>
        <p:spPr>
          <a:xfrm>
            <a:off x="8801100" y="8934450"/>
            <a:ext cx="8572500" cy="331470"/>
          </a:xfrm>
          <a:prstGeom prst="rect">
            <a:avLst/>
          </a:prstGeom>
          <a:noFill/>
        </p:spPr>
        <p:txBody>
          <a:bodyPr wrap="square" lIns="0" rIns="0" tIns="0" bIns="0" anchor="t"/>
          <a:lstStyle/>
          <a:p>
            <a:pPr algn="r">
              <a:lnSpc>
                <a:spcPct val="111800"/>
              </a:lnSpc>
            </a:pPr>
            <a:r>
              <a:rPr sz="1800" b="0" i="0" u="none">
                <a:solidFill>
                  <a:srgbClr val="64748B"/>
                </a:solidFill>
                <a:latin typeface="Calibri"/>
              </a:rPr>
              <a:t>Based on original slides by</a:t>
            </a:r>
          </a:p>
        </p:txBody>
      </p:sp>
      <p:sp>
        <p:nvSpPr>
          <p:cNvPr id="9" name="TextBox 8"/>
          <p:cNvSpPr txBox="1"/>
          <p:nvPr/>
        </p:nvSpPr>
        <p:spPr>
          <a:xfrm>
            <a:off x="8801100" y="9296400"/>
            <a:ext cx="8572500" cy="331470"/>
          </a:xfrm>
          <a:prstGeom prst="rect">
            <a:avLst/>
          </a:prstGeom>
          <a:noFill/>
        </p:spPr>
        <p:txBody>
          <a:bodyPr wrap="square" lIns="0" rIns="0" tIns="0" bIns="0" anchor="t"/>
          <a:lstStyle/>
          <a:p>
            <a:pPr algn="r">
              <a:lnSpc>
                <a:spcPct val="111800"/>
              </a:lnSpc>
            </a:pPr>
            <a:r>
              <a:rPr sz="1800" b="0" i="0" u="none">
                <a:solidFill>
                  <a:srgbClr val="334155"/>
                </a:solidFill>
                <a:latin typeface="Calibri"/>
              </a:rPr>
              <a:t>Shahinaz S. Azab · edited by Mona Saleh · Rana Salah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02 · AGENDA</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02/40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this lesson covers</a:t>
            </a:r>
          </a:p>
        </p:txBody>
      </p:sp>
      <p:sp>
        <p:nvSpPr>
          <p:cNvPr id="6" name="TextBox 5"/>
          <p:cNvSpPr txBox="1"/>
          <p:nvPr/>
        </p:nvSpPr>
        <p:spPr>
          <a:xfrm>
            <a:off x="9144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676400" y="28575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Modeling basics</a:t>
            </a:r>
          </a:p>
        </p:txBody>
      </p:sp>
      <p:sp>
        <p:nvSpPr>
          <p:cNvPr id="8" name="TextBox 7"/>
          <p:cNvSpPr txBox="1"/>
          <p:nvPr/>
        </p:nvSpPr>
        <p:spPr>
          <a:xfrm>
            <a:off x="1676400" y="33147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What an ERD is for, and its building blocks: entities (strong and weak), instances and attributes.</a:t>
            </a:r>
          </a:p>
        </p:txBody>
      </p:sp>
      <p:cxnSp>
        <p:nvCxnSpPr>
          <p:cNvPr id="9" name="Connector 8"/>
          <p:cNvCxnSpPr/>
          <p:nvPr/>
        </p:nvCxnSpPr>
        <p:spPr>
          <a:xfrm>
            <a:off x="914400" y="4114800"/>
            <a:ext cx="7848600" cy="0"/>
          </a:xfrm>
          <a:prstGeom prst="line">
            <a:avLst/>
          </a:prstGeom>
          <a:ln w="14287">
            <a:solidFill>
              <a:srgbClr val="E2E8F0"/>
            </a:solidFill>
          </a:ln>
        </p:spPr>
      </p:cxnSp>
      <p:sp>
        <p:nvSpPr>
          <p:cNvPr id="10" name="TextBox 9"/>
          <p:cNvSpPr txBox="1"/>
          <p:nvPr/>
        </p:nvSpPr>
        <p:spPr>
          <a:xfrm>
            <a:off x="9144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1" name="TextBox 10"/>
          <p:cNvSpPr txBox="1"/>
          <p:nvPr/>
        </p:nvSpPr>
        <p:spPr>
          <a:xfrm>
            <a:off x="1676400" y="42862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Attributes &amp; keys</a:t>
            </a:r>
          </a:p>
        </p:txBody>
      </p:sp>
      <p:sp>
        <p:nvSpPr>
          <p:cNvPr id="12" name="TextBox 11"/>
          <p:cNvSpPr txBox="1"/>
          <p:nvPr/>
        </p:nvSpPr>
        <p:spPr>
          <a:xfrm>
            <a:off x="1676400" y="47434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Five kinds of attributes, and how keys identify each instance.</a:t>
            </a:r>
          </a:p>
        </p:txBody>
      </p:sp>
      <p:cxnSp>
        <p:nvCxnSpPr>
          <p:cNvPr id="13" name="Connector 12"/>
          <p:cNvCxnSpPr/>
          <p:nvPr/>
        </p:nvCxnSpPr>
        <p:spPr>
          <a:xfrm>
            <a:off x="914400" y="5543550"/>
            <a:ext cx="7848600" cy="0"/>
          </a:xfrm>
          <a:prstGeom prst="line">
            <a:avLst/>
          </a:prstGeom>
          <a:ln w="14287">
            <a:solidFill>
              <a:srgbClr val="E2E8F0"/>
            </a:solidFill>
          </a:ln>
        </p:spPr>
      </p:cxnSp>
      <p:sp>
        <p:nvSpPr>
          <p:cNvPr id="14" name="TextBox 13"/>
          <p:cNvSpPr txBox="1"/>
          <p:nvPr/>
        </p:nvSpPr>
        <p:spPr>
          <a:xfrm>
            <a:off x="914400" y="57150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5" name="TextBox 14"/>
          <p:cNvSpPr txBox="1"/>
          <p:nvPr/>
        </p:nvSpPr>
        <p:spPr>
          <a:xfrm>
            <a:off x="1676400" y="57150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Relationships</a:t>
            </a:r>
          </a:p>
        </p:txBody>
      </p:sp>
      <p:sp>
        <p:nvSpPr>
          <p:cNvPr id="16" name="TextBox 15"/>
          <p:cNvSpPr txBox="1"/>
          <p:nvPr/>
        </p:nvSpPr>
        <p:spPr>
          <a:xfrm>
            <a:off x="1676400" y="61722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How entities connect: degree, cardinality ratio and participation, drawn in Chen and crow's foot notation.</a:t>
            </a:r>
          </a:p>
        </p:txBody>
      </p:sp>
      <p:cxnSp>
        <p:nvCxnSpPr>
          <p:cNvPr id="17" name="Connector 16"/>
          <p:cNvCxnSpPr/>
          <p:nvPr/>
        </p:nvCxnSpPr>
        <p:spPr>
          <a:xfrm>
            <a:off x="914400" y="6972300"/>
            <a:ext cx="7848600" cy="0"/>
          </a:xfrm>
          <a:prstGeom prst="line">
            <a:avLst/>
          </a:prstGeom>
          <a:ln w="14287">
            <a:solidFill>
              <a:srgbClr val="E2E8F0"/>
            </a:solidFill>
          </a:ln>
        </p:spPr>
      </p:cxnSp>
      <p:sp>
        <p:nvSpPr>
          <p:cNvPr id="18" name="TextBox 17"/>
          <p:cNvSpPr txBox="1"/>
          <p:nvPr/>
        </p:nvSpPr>
        <p:spPr>
          <a:xfrm>
            <a:off x="95250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9" name="TextBox 18"/>
          <p:cNvSpPr txBox="1"/>
          <p:nvPr/>
        </p:nvSpPr>
        <p:spPr>
          <a:xfrm>
            <a:off x="10287000" y="28575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Building an ERD</a:t>
            </a:r>
          </a:p>
        </p:txBody>
      </p:sp>
      <p:sp>
        <p:nvSpPr>
          <p:cNvPr id="20" name="TextBox 19"/>
          <p:cNvSpPr txBox="1"/>
          <p:nvPr/>
        </p:nvSpPr>
        <p:spPr>
          <a:xfrm>
            <a:off x="10287000" y="33147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A repeatable method, applied to the COMPANY database, and the mistakes to avoid.</a:t>
            </a:r>
          </a:p>
        </p:txBody>
      </p:sp>
      <p:cxnSp>
        <p:nvCxnSpPr>
          <p:cNvPr id="21" name="Connector 20"/>
          <p:cNvCxnSpPr/>
          <p:nvPr/>
        </p:nvCxnSpPr>
        <p:spPr>
          <a:xfrm>
            <a:off x="9525000" y="4114800"/>
            <a:ext cx="7848600" cy="0"/>
          </a:xfrm>
          <a:prstGeom prst="line">
            <a:avLst/>
          </a:prstGeom>
          <a:ln w="14287">
            <a:solidFill>
              <a:srgbClr val="E2E8F0"/>
            </a:solidFill>
          </a:ln>
        </p:spPr>
      </p:cxnSp>
      <p:sp>
        <p:nvSpPr>
          <p:cNvPr id="22" name="TextBox 21"/>
          <p:cNvSpPr txBox="1"/>
          <p:nvPr/>
        </p:nvSpPr>
        <p:spPr>
          <a:xfrm>
            <a:off x="95250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23" name="TextBox 22"/>
          <p:cNvSpPr txBox="1"/>
          <p:nvPr/>
        </p:nvSpPr>
        <p:spPr>
          <a:xfrm>
            <a:off x="10287000" y="42862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Case studies</a:t>
            </a:r>
          </a:p>
        </p:txBody>
      </p:sp>
      <p:sp>
        <p:nvSpPr>
          <p:cNvPr id="24" name="TextBox 23"/>
          <p:cNvSpPr txBox="1"/>
          <p:nvPr/>
        </p:nvSpPr>
        <p:spPr>
          <a:xfrm>
            <a:off x="10287000" y="47434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Practice the method on three narratives: a car manufacturer, a bus company and a bank.</a:t>
            </a:r>
          </a:p>
        </p:txBody>
      </p:sp>
      <p:cxnSp>
        <p:nvCxnSpPr>
          <p:cNvPr id="25" name="Connector 24"/>
          <p:cNvCxnSpPr/>
          <p:nvPr/>
        </p:nvCxnSpPr>
        <p:spPr>
          <a:xfrm>
            <a:off x="9525000" y="5543550"/>
            <a:ext cx="7848600" cy="0"/>
          </a:xfrm>
          <a:prstGeom prst="line">
            <a:avLst/>
          </a:prstGeom>
          <a:ln w="14287">
            <a:solidFill>
              <a:srgbClr val="E2E8F0"/>
            </a:solidFill>
          </a:ln>
        </p:spPr>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LESSON 2</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03/40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By the end of this lesson you can</a:t>
            </a:r>
          </a:p>
        </p:txBody>
      </p:sp>
      <p:sp>
        <p:nvSpPr>
          <p:cNvPr id="6" name="Rectangle 5"/>
          <p:cNvSpPr/>
          <p:nvPr/>
        </p:nvSpPr>
        <p:spPr>
          <a:xfrm>
            <a:off x="91440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01</a:t>
            </a:r>
          </a:p>
        </p:txBody>
      </p:sp>
      <p:sp>
        <p:nvSpPr>
          <p:cNvPr id="8" name="TextBox 7"/>
          <p:cNvSpPr txBox="1"/>
          <p:nvPr/>
        </p:nvSpPr>
        <p:spPr>
          <a:xfrm>
            <a:off x="131445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Explain where the ERD sits in the </a:t>
            </a:r>
            <a:r>
              <a:rPr sz="2898" b="1" i="0" u="none">
                <a:solidFill>
                  <a:srgbClr val="334155"/>
                </a:solidFill>
                <a:latin typeface="Calibri"/>
              </a:rPr>
              <a:t>design process</a:t>
            </a:r>
          </a:p>
        </p:txBody>
      </p:sp>
      <p:sp>
        <p:nvSpPr>
          <p:cNvPr id="9" name="Rectangle 8"/>
          <p:cNvSpPr/>
          <p:nvPr/>
        </p:nvSpPr>
        <p:spPr>
          <a:xfrm>
            <a:off x="650748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02</a:t>
            </a:r>
          </a:p>
        </p:txBody>
      </p:sp>
      <p:sp>
        <p:nvSpPr>
          <p:cNvPr id="11" name="TextBox 10"/>
          <p:cNvSpPr txBox="1"/>
          <p:nvPr/>
        </p:nvSpPr>
        <p:spPr>
          <a:xfrm>
            <a:off x="690753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Identify </a:t>
            </a:r>
            <a:r>
              <a:rPr sz="2898" b="1" i="0" u="none">
                <a:solidFill>
                  <a:srgbClr val="334155"/>
                </a:solidFill>
                <a:latin typeface="Calibri"/>
              </a:rPr>
              <a:t>entities</a:t>
            </a:r>
            <a:r>
              <a:rPr sz="2898" b="0" i="0" u="none">
                <a:solidFill>
                  <a:srgbClr val="334155"/>
                </a:solidFill>
                <a:latin typeface="Calibri"/>
              </a:rPr>
              <a:t>, strong and weak</a:t>
            </a:r>
          </a:p>
        </p:txBody>
      </p:sp>
      <p:sp>
        <p:nvSpPr>
          <p:cNvPr id="12" name="Rectangle 11"/>
          <p:cNvSpPr/>
          <p:nvPr/>
        </p:nvSpPr>
        <p:spPr>
          <a:xfrm>
            <a:off x="1210056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03</a:t>
            </a:r>
          </a:p>
        </p:txBody>
      </p:sp>
      <p:sp>
        <p:nvSpPr>
          <p:cNvPr id="14" name="TextBox 13"/>
          <p:cNvSpPr txBox="1"/>
          <p:nvPr/>
        </p:nvSpPr>
        <p:spPr>
          <a:xfrm>
            <a:off x="1250061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Classify </a:t>
            </a:r>
            <a:r>
              <a:rPr sz="2898" b="1" i="0" u="none">
                <a:solidFill>
                  <a:srgbClr val="334155"/>
                </a:solidFill>
                <a:latin typeface="Calibri"/>
              </a:rPr>
              <a:t>attributes</a:t>
            </a:r>
            <a:r>
              <a:rPr sz="2898" b="0" i="0" u="none">
                <a:solidFill>
                  <a:srgbClr val="334155"/>
                </a:solidFill>
                <a:latin typeface="Calibri"/>
              </a:rPr>
              <a:t> and choose </a:t>
            </a:r>
            <a:r>
              <a:rPr sz="2898" b="1" i="0" u="none">
                <a:solidFill>
                  <a:srgbClr val="334155"/>
                </a:solidFill>
                <a:latin typeface="Calibri"/>
              </a:rPr>
              <a:t>keys</a:t>
            </a:r>
          </a:p>
        </p:txBody>
      </p:sp>
      <p:sp>
        <p:nvSpPr>
          <p:cNvPr id="15" name="Rectangle 14"/>
          <p:cNvSpPr/>
          <p:nvPr/>
        </p:nvSpPr>
        <p:spPr>
          <a:xfrm>
            <a:off x="91440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04</a:t>
            </a:r>
          </a:p>
        </p:txBody>
      </p:sp>
      <p:sp>
        <p:nvSpPr>
          <p:cNvPr id="17" name="TextBox 16"/>
          <p:cNvSpPr txBox="1"/>
          <p:nvPr/>
        </p:nvSpPr>
        <p:spPr>
          <a:xfrm>
            <a:off x="1314450" y="618824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Describe relationships by </a:t>
            </a:r>
            <a:r>
              <a:rPr sz="2898" b="1" i="0" u="none">
                <a:solidFill>
                  <a:srgbClr val="334155"/>
                </a:solidFill>
                <a:latin typeface="Calibri"/>
              </a:rPr>
              <a:t>degree, cardinality, participation</a:t>
            </a:r>
          </a:p>
        </p:txBody>
      </p:sp>
      <p:sp>
        <p:nvSpPr>
          <p:cNvPr id="18" name="Rectangle 17"/>
          <p:cNvSpPr/>
          <p:nvPr/>
        </p:nvSpPr>
        <p:spPr>
          <a:xfrm>
            <a:off x="650748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05</a:t>
            </a:r>
          </a:p>
        </p:txBody>
      </p:sp>
      <p:sp>
        <p:nvSpPr>
          <p:cNvPr id="20" name="TextBox 19"/>
          <p:cNvSpPr txBox="1"/>
          <p:nvPr/>
        </p:nvSpPr>
        <p:spPr>
          <a:xfrm>
            <a:off x="6907530" y="618824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Read and draw </a:t>
            </a:r>
            <a:r>
              <a:rPr sz="2898" b="1" i="0" u="none">
                <a:solidFill>
                  <a:srgbClr val="334155"/>
                </a:solidFill>
                <a:latin typeface="Calibri"/>
              </a:rPr>
              <a:t>Chen</a:t>
            </a:r>
            <a:r>
              <a:rPr sz="2898" b="0" i="0" u="none">
                <a:solidFill>
                  <a:srgbClr val="334155"/>
                </a:solidFill>
                <a:latin typeface="Calibri"/>
              </a:rPr>
              <a:t> notation, and read </a:t>
            </a:r>
            <a:r>
              <a:rPr sz="2898" b="1" i="0" u="none">
                <a:solidFill>
                  <a:srgbClr val="334155"/>
                </a:solidFill>
                <a:latin typeface="Calibri"/>
              </a:rPr>
              <a:t>crow's foot</a:t>
            </a:r>
          </a:p>
        </p:txBody>
      </p:sp>
      <p:sp>
        <p:nvSpPr>
          <p:cNvPr id="21" name="Rectangle 20"/>
          <p:cNvSpPr/>
          <p:nvPr/>
        </p:nvSpPr>
        <p:spPr>
          <a:xfrm>
            <a:off x="1210056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06</a:t>
            </a:r>
          </a:p>
        </p:txBody>
      </p:sp>
      <p:sp>
        <p:nvSpPr>
          <p:cNvPr id="23" name="TextBox 22"/>
          <p:cNvSpPr txBox="1"/>
          <p:nvPr/>
        </p:nvSpPr>
        <p:spPr>
          <a:xfrm>
            <a:off x="12500610" y="618824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Build an ERD from a </a:t>
            </a:r>
            <a:r>
              <a:rPr sz="2898" b="1" i="0" u="none">
                <a:solidFill>
                  <a:srgbClr val="334155"/>
                </a:solidFill>
                <a:latin typeface="Calibri"/>
              </a:rPr>
              <a:t>narrative</a:t>
            </a:r>
            <a:r>
              <a:rPr sz="2898" b="0" i="0" u="none">
                <a:solidFill>
                  <a:srgbClr val="334155"/>
                </a:solidFill>
                <a:latin typeface="Calibri"/>
              </a:rPr>
              <a:t>, step by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01</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04/40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01</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Modeling basics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What an ERD is for, and its building blocks: entities (strong and weak), instances and attributes.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MODELING BASICS</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05/40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Where the ERD fits</a:t>
            </a:r>
          </a:p>
        </p:txBody>
      </p:sp>
      <p:sp>
        <p:nvSpPr>
          <p:cNvPr id="6" name="TextBox 5"/>
          <p:cNvSpPr txBox="1"/>
          <p:nvPr/>
        </p:nvSpPr>
        <p:spPr>
          <a:xfrm>
            <a:off x="914400" y="2482024"/>
            <a:ext cx="164592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An </a:t>
            </a:r>
            <a:r>
              <a:rPr sz="3091" b="1" i="0" u="none">
                <a:solidFill>
                  <a:srgbClr val="334155"/>
                </a:solidFill>
                <a:latin typeface="Calibri"/>
              </a:rPr>
              <a:t>Entity Relationship Diagram</a:t>
            </a:r>
            <a:r>
              <a:rPr sz="3091" b="0" i="0" u="none">
                <a:solidFill>
                  <a:srgbClr val="334155"/>
                </a:solidFill>
                <a:latin typeface="Calibri"/>
              </a:rPr>
              <a:t> identifies the information a business needs by showing the relevant </a:t>
            </a:r>
            <a:r>
              <a:rPr sz="3091" b="1" i="0" u="none">
                <a:solidFill>
                  <a:srgbClr val="334155"/>
                </a:solidFill>
                <a:latin typeface="Calibri"/>
              </a:rPr>
              <a:t>entities</a:t>
            </a:r>
            <a:r>
              <a:rPr sz="3091" b="0" i="0" u="none">
                <a:solidFill>
                  <a:srgbClr val="334155"/>
                </a:solidFill>
                <a:latin typeface="Calibri"/>
              </a:rPr>
              <a:t> and the </a:t>
            </a:r>
            <a:r>
              <a:rPr sz="3091" b="1" i="0" u="none">
                <a:solidFill>
                  <a:srgbClr val="334155"/>
                </a:solidFill>
                <a:latin typeface="Calibri"/>
              </a:rPr>
              <a:t>relationships</a:t>
            </a:r>
            <a:r>
              <a:rPr sz="3091" b="0" i="0" u="none">
                <a:solidFill>
                  <a:srgbClr val="334155"/>
                </a:solidFill>
                <a:latin typeface="Calibri"/>
              </a:rPr>
              <a:t> between them.</a:t>
            </a:r>
          </a:p>
        </p:txBody>
      </p:sp>
      <p:sp>
        <p:nvSpPr>
          <p:cNvPr id="7" name="Rectangle 6"/>
          <p:cNvSpPr/>
          <p:nvPr/>
        </p:nvSpPr>
        <p:spPr>
          <a:xfrm>
            <a:off x="914400" y="4015016"/>
            <a:ext cx="3337560" cy="2968424"/>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4415066"/>
            <a:ext cx="2537460" cy="499468"/>
          </a:xfrm>
          <a:prstGeom prst="rect">
            <a:avLst/>
          </a:prstGeom>
          <a:noFill/>
        </p:spPr>
        <p:txBody>
          <a:bodyPr wrap="square" lIns="0" rIns="0" tIns="0" bIns="0" anchor="t"/>
          <a:lstStyle/>
          <a:p>
            <a:pPr algn="l">
              <a:lnSpc>
                <a:spcPct val="103200"/>
              </a:lnSpc>
            </a:pPr>
            <a:r>
              <a:rPr sz="2913" b="1" i="0" u="none">
                <a:solidFill>
                  <a:srgbClr val="0F172A"/>
                </a:solidFill>
                <a:latin typeface="Arial"/>
              </a:rPr>
              <a:t>Requirements</a:t>
            </a:r>
          </a:p>
        </p:txBody>
      </p:sp>
      <p:sp>
        <p:nvSpPr>
          <p:cNvPr id="9" name="TextBox 8"/>
          <p:cNvSpPr txBox="1"/>
          <p:nvPr/>
        </p:nvSpPr>
        <p:spPr>
          <a:xfrm>
            <a:off x="1314450" y="5074554"/>
            <a:ext cx="253746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Interview users; write the narrative</a:t>
            </a:r>
          </a:p>
        </p:txBody>
      </p:sp>
      <p:sp>
        <p:nvSpPr>
          <p:cNvPr id="10" name="Right Arrow 9"/>
          <p:cNvSpPr/>
          <p:nvPr/>
        </p:nvSpPr>
        <p:spPr>
          <a:xfrm>
            <a:off x="4541520" y="5308728"/>
            <a:ext cx="457200" cy="381000"/>
          </a:xfrm>
          <a:prstGeom prst="rightArrow">
            <a:avLst/>
          </a:prstGeom>
          <a:solidFill>
            <a:srgbClr val="E2E8F0"/>
          </a:solidFill>
          <a:ln>
            <a:noFill/>
          </a:ln>
        </p:spPr>
        <p:txBody>
          <a:bodyPr rtlCol="0" anchor="ctr" lIns="0" rIns="0" tIns="0" bIns="0"/>
          <a:lstStyle/>
          <a:p>
            <a:pPr algn="ctr"/>
          </a:p>
        </p:txBody>
      </p:sp>
      <p:sp>
        <p:nvSpPr>
          <p:cNvPr id="11" name="Rectangle 10"/>
          <p:cNvSpPr/>
          <p:nvPr/>
        </p:nvSpPr>
        <p:spPr>
          <a:xfrm>
            <a:off x="5288279" y="4015016"/>
            <a:ext cx="3337560" cy="2968424"/>
          </a:xfrm>
          <a:prstGeom prst="rect">
            <a:avLst/>
          </a:prstGeom>
          <a:solidFill>
            <a:srgbClr val="FDECEF"/>
          </a:solidFill>
          <a:ln w="14287">
            <a:solidFill>
              <a:srgbClr val="F5C2CB"/>
            </a:solidFill>
          </a:ln>
        </p:spPr>
        <p:txBody>
          <a:bodyPr rtlCol="0" anchor="ctr" lIns="0" rIns="0" tIns="0" bIns="0"/>
          <a:lstStyle/>
          <a:p>
            <a:pPr algn="ctr"/>
          </a:p>
        </p:txBody>
      </p:sp>
      <p:sp>
        <p:nvSpPr>
          <p:cNvPr id="12" name="TextBox 11"/>
          <p:cNvSpPr txBox="1"/>
          <p:nvPr/>
        </p:nvSpPr>
        <p:spPr>
          <a:xfrm>
            <a:off x="5688329" y="4415066"/>
            <a:ext cx="2537460" cy="1063652"/>
          </a:xfrm>
          <a:prstGeom prst="rect">
            <a:avLst/>
          </a:prstGeom>
          <a:noFill/>
        </p:spPr>
        <p:txBody>
          <a:bodyPr wrap="square" lIns="0" rIns="0" tIns="0" bIns="0" anchor="t"/>
          <a:lstStyle/>
          <a:p>
            <a:pPr algn="l">
              <a:lnSpc>
                <a:spcPct val="103200"/>
              </a:lnSpc>
            </a:pPr>
            <a:r>
              <a:rPr sz="3284" b="1" i="0" u="none">
                <a:solidFill>
                  <a:srgbClr val="C8102E"/>
                </a:solidFill>
                <a:latin typeface="Arial"/>
              </a:rPr>
              <a:t>Conceptual design</a:t>
            </a:r>
          </a:p>
        </p:txBody>
      </p:sp>
      <p:sp>
        <p:nvSpPr>
          <p:cNvPr id="13" name="TextBox 12"/>
          <p:cNvSpPr txBox="1"/>
          <p:nvPr/>
        </p:nvSpPr>
        <p:spPr>
          <a:xfrm>
            <a:off x="5688329" y="5638739"/>
            <a:ext cx="253746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ERD (this lesson)</a:t>
            </a:r>
          </a:p>
        </p:txBody>
      </p:sp>
      <p:sp>
        <p:nvSpPr>
          <p:cNvPr id="14" name="Right Arrow 13"/>
          <p:cNvSpPr/>
          <p:nvPr/>
        </p:nvSpPr>
        <p:spPr>
          <a:xfrm>
            <a:off x="8915399" y="5308728"/>
            <a:ext cx="457200" cy="381000"/>
          </a:xfrm>
          <a:prstGeom prst="rightArrow">
            <a:avLst/>
          </a:prstGeom>
          <a:solidFill>
            <a:srgbClr val="E2E8F0"/>
          </a:solidFill>
          <a:ln>
            <a:noFill/>
          </a:ln>
        </p:spPr>
        <p:txBody>
          <a:bodyPr rtlCol="0" anchor="ctr" lIns="0" rIns="0" tIns="0" bIns="0"/>
          <a:lstStyle/>
          <a:p>
            <a:pPr algn="ctr"/>
          </a:p>
        </p:txBody>
      </p:sp>
      <p:sp>
        <p:nvSpPr>
          <p:cNvPr id="15" name="Rectangle 14"/>
          <p:cNvSpPr/>
          <p:nvPr/>
        </p:nvSpPr>
        <p:spPr>
          <a:xfrm>
            <a:off x="9662159" y="4015016"/>
            <a:ext cx="3337560" cy="2968424"/>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0062209" y="4415066"/>
            <a:ext cx="253746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Logical design</a:t>
            </a:r>
          </a:p>
        </p:txBody>
      </p:sp>
      <p:sp>
        <p:nvSpPr>
          <p:cNvPr id="17" name="TextBox 16"/>
          <p:cNvSpPr txBox="1"/>
          <p:nvPr/>
        </p:nvSpPr>
        <p:spPr>
          <a:xfrm>
            <a:off x="10062209" y="5638739"/>
            <a:ext cx="253746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Tables, keys (Lesson 3)</a:t>
            </a:r>
          </a:p>
        </p:txBody>
      </p:sp>
      <p:sp>
        <p:nvSpPr>
          <p:cNvPr id="18" name="Right Arrow 17"/>
          <p:cNvSpPr/>
          <p:nvPr/>
        </p:nvSpPr>
        <p:spPr>
          <a:xfrm>
            <a:off x="13289279" y="5308728"/>
            <a:ext cx="457200" cy="381000"/>
          </a:xfrm>
          <a:prstGeom prst="rightArrow">
            <a:avLst/>
          </a:prstGeom>
          <a:solidFill>
            <a:srgbClr val="E2E8F0"/>
          </a:solidFill>
          <a:ln>
            <a:noFill/>
          </a:ln>
        </p:spPr>
        <p:txBody>
          <a:bodyPr rtlCol="0" anchor="ctr" lIns="0" rIns="0" tIns="0" bIns="0"/>
          <a:lstStyle/>
          <a:p>
            <a:pPr algn="ctr"/>
          </a:p>
        </p:txBody>
      </p:sp>
      <p:sp>
        <p:nvSpPr>
          <p:cNvPr id="19" name="Rectangle 18"/>
          <p:cNvSpPr/>
          <p:nvPr/>
        </p:nvSpPr>
        <p:spPr>
          <a:xfrm>
            <a:off x="14036040" y="4015016"/>
            <a:ext cx="3337560" cy="2968424"/>
          </a:xfrm>
          <a:prstGeom prst="rect">
            <a:avLst/>
          </a:prstGeom>
          <a:solidFill>
            <a:srgbClr val="FFFFFF"/>
          </a:solidFill>
          <a:ln w="14287">
            <a:solidFill>
              <a:srgbClr val="E2E8F0"/>
            </a:solidFill>
          </a:ln>
        </p:spPr>
        <p:txBody>
          <a:bodyPr rtlCol="0" anchor="ctr" lIns="0" rIns="0" tIns="0" bIns="0"/>
          <a:lstStyle/>
          <a:p>
            <a:pPr algn="ctr"/>
          </a:p>
        </p:txBody>
      </p:sp>
      <p:sp>
        <p:nvSpPr>
          <p:cNvPr id="20" name="TextBox 19"/>
          <p:cNvSpPr txBox="1"/>
          <p:nvPr/>
        </p:nvSpPr>
        <p:spPr>
          <a:xfrm>
            <a:off x="14436090" y="4415066"/>
            <a:ext cx="253746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Physical design</a:t>
            </a:r>
          </a:p>
        </p:txBody>
      </p:sp>
      <p:sp>
        <p:nvSpPr>
          <p:cNvPr id="21" name="TextBox 20"/>
          <p:cNvSpPr txBox="1"/>
          <p:nvPr/>
        </p:nvSpPr>
        <p:spPr>
          <a:xfrm>
            <a:off x="14436090" y="5638739"/>
            <a:ext cx="253746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SQL, indexes (Lesson 4)</a:t>
            </a:r>
          </a:p>
        </p:txBody>
      </p:sp>
      <p:sp>
        <p:nvSpPr>
          <p:cNvPr id="22" name="Rectangle 21"/>
          <p:cNvSpPr/>
          <p:nvPr/>
        </p:nvSpPr>
        <p:spPr>
          <a:xfrm>
            <a:off x="914400" y="7436830"/>
            <a:ext cx="16459200" cy="1478051"/>
          </a:xfrm>
          <a:prstGeom prst="rect">
            <a:avLst/>
          </a:prstGeom>
          <a:solidFill>
            <a:srgbClr val="E6F4F4"/>
          </a:solidFill>
          <a:ln>
            <a:noFill/>
          </a:ln>
        </p:spPr>
        <p:txBody>
          <a:bodyPr rtlCol="0" anchor="ctr" lIns="0" rIns="0" tIns="0" bIns="0"/>
          <a:lstStyle/>
          <a:p>
            <a:pPr algn="ctr"/>
          </a:p>
        </p:txBody>
      </p:sp>
      <p:sp>
        <p:nvSpPr>
          <p:cNvPr id="23" name="Rectangle 22"/>
          <p:cNvSpPr/>
          <p:nvPr/>
        </p:nvSpPr>
        <p:spPr>
          <a:xfrm>
            <a:off x="914400" y="7436830"/>
            <a:ext cx="47625" cy="1478051"/>
          </a:xfrm>
          <a:prstGeom prst="rect">
            <a:avLst/>
          </a:prstGeom>
          <a:solidFill>
            <a:srgbClr val="0E8A8A"/>
          </a:solidFill>
          <a:ln>
            <a:noFill/>
          </a:ln>
        </p:spPr>
        <p:txBody>
          <a:bodyPr rtlCol="0" anchor="ctr" lIns="0" rIns="0" tIns="0" bIns="0"/>
          <a:lstStyle/>
          <a:p>
            <a:pPr algn="ctr"/>
          </a:p>
        </p:txBody>
      </p:sp>
      <p:sp>
        <p:nvSpPr>
          <p:cNvPr id="24" name="TextBox 23"/>
          <p:cNvSpPr txBox="1"/>
          <p:nvPr/>
        </p:nvSpPr>
        <p:spPr>
          <a:xfrm>
            <a:off x="1341120" y="7703530"/>
            <a:ext cx="15605760" cy="944651"/>
          </a:xfrm>
          <a:prstGeom prst="rect">
            <a:avLst/>
          </a:prstGeom>
          <a:noFill/>
        </p:spPr>
        <p:txBody>
          <a:bodyPr wrap="square" lIns="0" rIns="0" tIns="0" bIns="0"/>
          <a:lstStyle/>
          <a:p>
            <a:pPr>
              <a:lnSpc>
                <a:spcPct val="112000"/>
              </a:lnSpc>
            </a:pPr>
            <a:r>
              <a:rPr sz="2704" b="0" i="0" u="none">
                <a:solidFill>
                  <a:srgbClr val="0F172A"/>
                </a:solidFill>
                <a:latin typeface="Calibri"/>
              </a:rPr>
              <a:t>The ERD is a </a:t>
            </a:r>
            <a:r>
              <a:rPr sz="2704" b="1" i="0" u="none">
                <a:solidFill>
                  <a:srgbClr val="0F172A"/>
                </a:solidFill>
                <a:latin typeface="Calibri"/>
              </a:rPr>
              <a:t>conceptual</a:t>
            </a:r>
            <a:r>
              <a:rPr sz="2704" b="0" i="0" u="none">
                <a:solidFill>
                  <a:srgbClr val="0F172A"/>
                </a:solidFill>
                <a:latin typeface="Calibri"/>
              </a:rPr>
              <a:t> model: no tables, data types or SQL yet. It is a shared language between designers and the business.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MODELING BASICS</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06/40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Four questions every data model answers</a:t>
            </a:r>
          </a:p>
        </p:txBody>
      </p:sp>
      <p:sp>
        <p:nvSpPr>
          <p:cNvPr id="6" name="Rectangle 5"/>
          <p:cNvSpPr/>
          <p:nvPr/>
        </p:nvSpPr>
        <p:spPr>
          <a:xfrm>
            <a:off x="914400" y="2482024"/>
            <a:ext cx="8069580" cy="3122310"/>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2694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1</a:t>
            </a:r>
          </a:p>
        </p:txBody>
      </p:sp>
      <p:sp>
        <p:nvSpPr>
          <p:cNvPr id="8" name="TextBox 7"/>
          <p:cNvSpPr txBox="1"/>
          <p:nvPr/>
        </p:nvSpPr>
        <p:spPr>
          <a:xfrm>
            <a:off x="1314450" y="3469027"/>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Which entities?</a:t>
            </a:r>
          </a:p>
        </p:txBody>
      </p:sp>
      <p:sp>
        <p:nvSpPr>
          <p:cNvPr id="9" name="TextBox 8"/>
          <p:cNvSpPr txBox="1"/>
          <p:nvPr/>
        </p:nvSpPr>
        <p:spPr>
          <a:xfrm>
            <a:off x="1314450" y="4192158"/>
            <a:ext cx="726948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What things does the business need to describe?</a:t>
            </a:r>
          </a:p>
        </p:txBody>
      </p:sp>
      <p:sp>
        <p:nvSpPr>
          <p:cNvPr id="10" name="Rectangle 9"/>
          <p:cNvSpPr/>
          <p:nvPr/>
        </p:nvSpPr>
        <p:spPr>
          <a:xfrm>
            <a:off x="9304020" y="2482024"/>
            <a:ext cx="8069580" cy="3122310"/>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9704070" y="2882074"/>
            <a:ext cx="72694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2</a:t>
            </a:r>
          </a:p>
        </p:txBody>
      </p:sp>
      <p:sp>
        <p:nvSpPr>
          <p:cNvPr id="12" name="TextBox 11"/>
          <p:cNvSpPr txBox="1"/>
          <p:nvPr/>
        </p:nvSpPr>
        <p:spPr>
          <a:xfrm>
            <a:off x="9704070" y="3469027"/>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Which attributes?</a:t>
            </a:r>
          </a:p>
        </p:txBody>
      </p:sp>
      <p:sp>
        <p:nvSpPr>
          <p:cNvPr id="13" name="TextBox 12"/>
          <p:cNvSpPr txBox="1"/>
          <p:nvPr/>
        </p:nvSpPr>
        <p:spPr>
          <a:xfrm>
            <a:off x="9704070" y="4192158"/>
            <a:ext cx="726948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What facts must be recorded about each entity?</a:t>
            </a:r>
          </a:p>
        </p:txBody>
      </p:sp>
      <p:sp>
        <p:nvSpPr>
          <p:cNvPr id="14" name="Rectangle 13"/>
          <p:cNvSpPr/>
          <p:nvPr/>
        </p:nvSpPr>
        <p:spPr>
          <a:xfrm>
            <a:off x="914400" y="5924374"/>
            <a:ext cx="8069580" cy="3122310"/>
          </a:xfrm>
          <a:prstGeom prst="rect">
            <a:avLst/>
          </a:prstGeom>
          <a:solidFill>
            <a:srgbClr val="FFFFFF"/>
          </a:solidFill>
          <a:ln w="14287">
            <a:solidFill>
              <a:srgbClr val="E2E8F0"/>
            </a:solidFill>
          </a:ln>
        </p:spPr>
        <p:txBody>
          <a:bodyPr rtlCol="0" anchor="ctr" lIns="0" rIns="0" tIns="0" bIns="0"/>
          <a:lstStyle/>
          <a:p>
            <a:pPr algn="ctr"/>
          </a:p>
        </p:txBody>
      </p:sp>
      <p:sp>
        <p:nvSpPr>
          <p:cNvPr id="15" name="TextBox 14"/>
          <p:cNvSpPr txBox="1"/>
          <p:nvPr/>
        </p:nvSpPr>
        <p:spPr>
          <a:xfrm>
            <a:off x="1314450" y="6324424"/>
            <a:ext cx="72694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3</a:t>
            </a:r>
          </a:p>
        </p:txBody>
      </p:sp>
      <p:sp>
        <p:nvSpPr>
          <p:cNvPr id="16" name="TextBox 15"/>
          <p:cNvSpPr txBox="1"/>
          <p:nvPr/>
        </p:nvSpPr>
        <p:spPr>
          <a:xfrm>
            <a:off x="1314450" y="6911378"/>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Which key?</a:t>
            </a:r>
          </a:p>
        </p:txBody>
      </p:sp>
      <p:sp>
        <p:nvSpPr>
          <p:cNvPr id="17" name="TextBox 16"/>
          <p:cNvSpPr txBox="1"/>
          <p:nvPr/>
        </p:nvSpPr>
        <p:spPr>
          <a:xfrm>
            <a:off x="1314450" y="7634508"/>
            <a:ext cx="726948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Which attribute(s) uniquely identify one occurrence?</a:t>
            </a:r>
          </a:p>
        </p:txBody>
      </p:sp>
      <p:sp>
        <p:nvSpPr>
          <p:cNvPr id="18" name="Rectangle 17"/>
          <p:cNvSpPr/>
          <p:nvPr/>
        </p:nvSpPr>
        <p:spPr>
          <a:xfrm>
            <a:off x="9304020" y="5924374"/>
            <a:ext cx="8069580" cy="3122310"/>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9704070" y="6324424"/>
            <a:ext cx="72694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4</a:t>
            </a:r>
          </a:p>
        </p:txBody>
      </p:sp>
      <p:sp>
        <p:nvSpPr>
          <p:cNvPr id="20" name="TextBox 19"/>
          <p:cNvSpPr txBox="1"/>
          <p:nvPr/>
        </p:nvSpPr>
        <p:spPr>
          <a:xfrm>
            <a:off x="9704070" y="6911378"/>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Which relationships?</a:t>
            </a:r>
          </a:p>
        </p:txBody>
      </p:sp>
      <p:sp>
        <p:nvSpPr>
          <p:cNvPr id="21" name="TextBox 20"/>
          <p:cNvSpPr txBox="1"/>
          <p:nvPr/>
        </p:nvSpPr>
        <p:spPr>
          <a:xfrm>
            <a:off x="9704070" y="7634508"/>
            <a:ext cx="726948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How are the entities associated with each other?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MODELING BASICS</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07/40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Entities, instances, attributes</a:t>
            </a:r>
          </a:p>
        </p:txBody>
      </p:sp>
      <p:sp>
        <p:nvSpPr>
          <p:cNvPr id="6" name="Rectangle 5"/>
          <p:cNvSpPr/>
          <p:nvPr/>
        </p:nvSpPr>
        <p:spPr>
          <a:xfrm>
            <a:off x="914400" y="2482024"/>
            <a:ext cx="5288279" cy="3397114"/>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5875" y="2853499"/>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Entity</a:t>
            </a:r>
          </a:p>
        </p:txBody>
      </p:sp>
      <p:sp>
        <p:nvSpPr>
          <p:cNvPr id="8" name="TextBox 7"/>
          <p:cNvSpPr txBox="1"/>
          <p:nvPr/>
        </p:nvSpPr>
        <p:spPr>
          <a:xfrm>
            <a:off x="1285875" y="3524977"/>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A thing in the real world with an independent existence.</a:t>
            </a:r>
          </a:p>
        </p:txBody>
      </p:sp>
      <p:sp>
        <p:nvSpPr>
          <p:cNvPr id="9" name="TextBox 8"/>
          <p:cNvSpPr txBox="1"/>
          <p:nvPr/>
        </p:nvSpPr>
        <p:spPr>
          <a:xfrm>
            <a:off x="1285875" y="4550744"/>
            <a:ext cx="4545329" cy="956919"/>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Physical: a person, a car</a:t>
            </a:r>
          </a:p>
          <a:p>
            <a:pPr algn="l" marL="350870" indent="-350870">
              <a:lnSpc>
                <a:spcPct val="111800"/>
              </a:lnSpc>
              <a:spcBef>
                <a:spcPts val="627"/>
              </a:spcBef>
              <a:buChar char="•"/>
            </a:pPr>
            <a:r>
              <a:rPr sz="2511" b="0" i="0" u="none">
                <a:solidFill>
                  <a:srgbClr val="334155"/>
                </a:solidFill>
                <a:latin typeface="Calibri"/>
              </a:rPr>
              <a:t>Conceptual: a job, a course</a:t>
            </a:r>
          </a:p>
        </p:txBody>
      </p:sp>
      <p:sp>
        <p:nvSpPr>
          <p:cNvPr id="10" name="Rectangle 9"/>
          <p:cNvSpPr/>
          <p:nvPr/>
        </p:nvSpPr>
        <p:spPr>
          <a:xfrm>
            <a:off x="6499860" y="2482024"/>
            <a:ext cx="5288279" cy="3397114"/>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6871335" y="2853499"/>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Entity instance</a:t>
            </a:r>
          </a:p>
        </p:txBody>
      </p:sp>
      <p:sp>
        <p:nvSpPr>
          <p:cNvPr id="12" name="TextBox 11"/>
          <p:cNvSpPr txBox="1"/>
          <p:nvPr/>
        </p:nvSpPr>
        <p:spPr>
          <a:xfrm>
            <a:off x="6871335" y="3524977"/>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One particular occurrence of an entity.</a:t>
            </a:r>
          </a:p>
        </p:txBody>
      </p:sp>
      <p:sp>
        <p:nvSpPr>
          <p:cNvPr id="13" name="TextBox 12"/>
          <p:cNvSpPr txBox="1"/>
          <p:nvPr/>
        </p:nvSpPr>
        <p:spPr>
          <a:xfrm>
            <a:off x="6871335" y="4550744"/>
            <a:ext cx="4545329" cy="877176"/>
          </a:xfrm>
          <a:prstGeom prst="rect">
            <a:avLst/>
          </a:prstGeom>
          <a:noFill/>
        </p:spPr>
        <p:txBody>
          <a:bodyPr wrap="square" lIns="0" rIns="0" tIns="0" bIns="0" anchor="t"/>
          <a:lstStyle/>
          <a:p>
            <a:pPr algn="l" marL="350870" indent="-350870">
              <a:lnSpc>
                <a:spcPct val="111800"/>
              </a:lnSpc>
              <a:buChar char="•"/>
            </a:pPr>
            <a:r>
              <a:rPr sz="2511" b="0" i="1" u="none">
                <a:solidFill>
                  <a:srgbClr val="334155"/>
                </a:solidFill>
                <a:latin typeface="Calibri"/>
              </a:rPr>
              <a:t>Mai</a:t>
            </a:r>
            <a:r>
              <a:rPr sz="2511" b="0" i="0" u="none">
                <a:solidFill>
                  <a:srgbClr val="334155"/>
                </a:solidFill>
                <a:latin typeface="Calibri"/>
              </a:rPr>
              <a:t>, </a:t>
            </a:r>
            <a:r>
              <a:rPr sz="2511" b="0" i="1" u="none">
                <a:solidFill>
                  <a:srgbClr val="334155"/>
                </a:solidFill>
                <a:latin typeface="Calibri"/>
              </a:rPr>
              <a:t>Ali</a:t>
            </a:r>
            <a:r>
              <a:rPr sz="2511" b="0" i="0" u="none">
                <a:solidFill>
                  <a:srgbClr val="334155"/>
                </a:solidFill>
                <a:latin typeface="Calibri"/>
              </a:rPr>
              <a:t> are instances of STUDENT</a:t>
            </a:r>
          </a:p>
        </p:txBody>
      </p:sp>
      <p:sp>
        <p:nvSpPr>
          <p:cNvPr id="14" name="Rectangle 13"/>
          <p:cNvSpPr/>
          <p:nvPr/>
        </p:nvSpPr>
        <p:spPr>
          <a:xfrm>
            <a:off x="12085320" y="2482024"/>
            <a:ext cx="5288279" cy="3397114"/>
          </a:xfrm>
          <a:prstGeom prst="rect">
            <a:avLst/>
          </a:prstGeom>
          <a:solidFill>
            <a:srgbClr val="FFFFFF"/>
          </a:solidFill>
          <a:ln w="14287">
            <a:solidFill>
              <a:srgbClr val="E2E8F0"/>
            </a:solidFill>
          </a:ln>
        </p:spPr>
        <p:txBody>
          <a:bodyPr rtlCol="0" anchor="ctr" lIns="0" rIns="0" tIns="0" bIns="0"/>
          <a:lstStyle/>
          <a:p>
            <a:pPr algn="ctr"/>
          </a:p>
        </p:txBody>
      </p:sp>
      <p:sp>
        <p:nvSpPr>
          <p:cNvPr id="15" name="TextBox 14"/>
          <p:cNvSpPr txBox="1"/>
          <p:nvPr/>
        </p:nvSpPr>
        <p:spPr>
          <a:xfrm>
            <a:off x="12456795" y="2853499"/>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Attribute</a:t>
            </a:r>
          </a:p>
        </p:txBody>
      </p:sp>
      <p:sp>
        <p:nvSpPr>
          <p:cNvPr id="16" name="TextBox 15"/>
          <p:cNvSpPr txBox="1"/>
          <p:nvPr/>
        </p:nvSpPr>
        <p:spPr>
          <a:xfrm>
            <a:off x="12456795" y="3524977"/>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A property that describes the entity.</a:t>
            </a:r>
          </a:p>
        </p:txBody>
      </p:sp>
      <p:sp>
        <p:nvSpPr>
          <p:cNvPr id="17" name="TextBox 16"/>
          <p:cNvSpPr txBox="1"/>
          <p:nvPr/>
        </p:nvSpPr>
        <p:spPr>
          <a:xfrm>
            <a:off x="12456795" y="4550744"/>
            <a:ext cx="4545329" cy="877176"/>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EMPLOYEE: name, age, address, salary</a:t>
            </a:r>
          </a:p>
        </p:txBody>
      </p:sp>
      <p:graphicFrame>
        <p:nvGraphicFramePr>
          <p:cNvPr id="18" name="Table 17"/>
          <p:cNvGraphicFramePr>
            <a:graphicFrameLocks noGrp="1"/>
          </p:cNvGraphicFramePr>
          <p:nvPr/>
        </p:nvGraphicFramePr>
        <p:xfrm>
          <a:off x="914400" y="6215942"/>
          <a:ext cx="16459200" cy="1750479"/>
        </p:xfrm>
        <a:graphic>
          <a:graphicData uri="http://schemas.openxmlformats.org/drawingml/2006/table">
            <a:tbl>
              <a:tblPr firstRow="0" bandRow="0">
                <a:tableStyleId>{5940675A-B579-460E-94D1-54222C63F5DA}</a:tableStyleId>
              </a:tblPr>
              <a:tblGrid>
                <a:gridCol w="3621024"/>
                <a:gridCol w="4279392"/>
                <a:gridCol w="5596128"/>
                <a:gridCol w="2962656"/>
              </a:tblGrid>
              <a:tr h="583493">
                <a:tc>
                  <a:txBody>
                    <a:bodyPr/>
                    <a:lstStyle/>
                    <a:p>
                      <a:r>
                        <a:rPr sz="2332" b="1" i="0" u="none">
                          <a:solidFill>
                            <a:srgbClr val="FFFFFF"/>
                          </a:solidFill>
                          <a:latin typeface="Arial"/>
                        </a:rPr>
                        <a:t>SSN</a:t>
                      </a:r>
                    </a:p>
                  </a:txBody>
                  <a:tcPr marL="148094" marR="148094" marT="88856" marB="88856"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1" i="0" u="none">
                          <a:solidFill>
                            <a:srgbClr val="FFFFFF"/>
                          </a:solidFill>
                          <a:latin typeface="Arial"/>
                        </a:rPr>
                        <a:t>Name</a:t>
                      </a:r>
                    </a:p>
                  </a:txBody>
                  <a:tcPr marL="148094" marR="148094" marT="88856" marB="88856"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1" i="0" u="none">
                          <a:solidFill>
                            <a:srgbClr val="FFFFFF"/>
                          </a:solidFill>
                          <a:latin typeface="Arial"/>
                        </a:rPr>
                        <a:t>Address</a:t>
                      </a:r>
                    </a:p>
                  </a:txBody>
                  <a:tcPr marL="148094" marR="148094" marT="88856" marB="88856"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1" i="0" u="none">
                          <a:solidFill>
                            <a:srgbClr val="FFFFFF"/>
                          </a:solidFill>
                          <a:latin typeface="Arial"/>
                        </a:rPr>
                        <a:t>Salary</a:t>
                      </a:r>
                    </a:p>
                  </a:txBody>
                  <a:tcPr marL="148094" marR="148094" marT="88856" marB="88856"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3493">
                <a:tc>
                  <a:txBody>
                    <a:bodyPr/>
                    <a:lstStyle/>
                    <a:p>
                      <a:r>
                        <a:rPr sz="2332" b="0" i="0" u="none">
                          <a:solidFill>
                            <a:srgbClr val="334155"/>
                          </a:solidFill>
                          <a:latin typeface="Calibri"/>
                        </a:rPr>
                        <a:t>123456789</a:t>
                      </a:r>
                    </a:p>
                  </a:txBody>
                  <a:tcPr marL="148094" marR="148094" marT="88856" marB="88856"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John Smith</a:t>
                      </a:r>
                    </a:p>
                  </a:txBody>
                  <a:tcPr marL="148094" marR="148094" marT="88856" marB="88856"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731 Fondren, Houston</a:t>
                      </a:r>
                    </a:p>
                  </a:txBody>
                  <a:tcPr marL="148094" marR="148094" marT="88856" marB="88856"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30000</a:t>
                      </a:r>
                    </a:p>
                  </a:txBody>
                  <a:tcPr marL="148094" marR="148094" marT="88856" marB="88856"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3493">
                <a:tc>
                  <a:txBody>
                    <a:bodyPr/>
                    <a:lstStyle/>
                    <a:p>
                      <a:r>
                        <a:rPr sz="2332" b="0" i="0" u="none">
                          <a:solidFill>
                            <a:srgbClr val="334155"/>
                          </a:solidFill>
                          <a:latin typeface="Calibri"/>
                        </a:rPr>
                        <a:t>333445555</a:t>
                      </a:r>
                    </a:p>
                  </a:txBody>
                  <a:tcPr marL="148094" marR="148094" marT="88856" marB="88856"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Franklin Wong</a:t>
                      </a:r>
                    </a:p>
                  </a:txBody>
                  <a:tcPr marL="148094" marR="148094" marT="88856" marB="88856"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638 Voss, Houston</a:t>
                      </a:r>
                    </a:p>
                  </a:txBody>
                  <a:tcPr marL="148094" marR="148094" marT="88856" marB="88856"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40000</a:t>
                      </a:r>
                    </a:p>
                  </a:txBody>
                  <a:tcPr marL="148094" marR="148094" marT="88856" marB="88856"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9" name="TextBox 18"/>
          <p:cNvSpPr txBox="1"/>
          <p:nvPr/>
        </p:nvSpPr>
        <p:spPr>
          <a:xfrm>
            <a:off x="914400" y="8303225"/>
            <a:ext cx="16459200" cy="396438"/>
          </a:xfrm>
          <a:prstGeom prst="rect">
            <a:avLst/>
          </a:prstGeom>
          <a:noFill/>
        </p:spPr>
        <p:txBody>
          <a:bodyPr wrap="square" lIns="0" rIns="0" tIns="0" bIns="0" anchor="t"/>
          <a:lstStyle/>
          <a:p>
            <a:pPr algn="l">
              <a:lnSpc>
                <a:spcPct val="111800"/>
              </a:lnSpc>
            </a:pPr>
            <a:r>
              <a:rPr sz="2152" b="0" i="0" u="none">
                <a:solidFill>
                  <a:srgbClr val="64748B"/>
                </a:solidFill>
                <a:latin typeface="Calibri"/>
              </a:rPr>
              <a:t>Entity type </a:t>
            </a:r>
            <a:r>
              <a:rPr sz="2152" b="1" i="0" u="none">
                <a:solidFill>
                  <a:srgbClr val="64748B"/>
                </a:solidFill>
                <a:latin typeface="Calibri"/>
              </a:rPr>
              <a:t>EMPLOYEE</a:t>
            </a:r>
            <a:r>
              <a:rPr sz="2152" b="0" i="0" u="none">
                <a:solidFill>
                  <a:srgbClr val="64748B"/>
                </a:solidFill>
                <a:latin typeface="Calibri"/>
              </a:rPr>
              <a:t> (the set) · each row = one </a:t>
            </a:r>
            <a:r>
              <a:rPr sz="2152" b="1" i="0" u="none">
                <a:solidFill>
                  <a:srgbClr val="64748B"/>
                </a:solidFill>
                <a:latin typeface="Calibri"/>
              </a:rPr>
              <a:t>instance</a:t>
            </a:r>
            <a:r>
              <a:rPr sz="2152" b="0" i="0" u="none">
                <a:solidFill>
                  <a:srgbClr val="64748B"/>
                </a:solidFill>
                <a:latin typeface="Calibri"/>
              </a:rPr>
              <a:t> · each column = one </a:t>
            </a:r>
            <a:r>
              <a:rPr sz="2152" b="1" i="0" u="none">
                <a:solidFill>
                  <a:srgbClr val="64748B"/>
                </a:solidFill>
                <a:latin typeface="Calibri"/>
              </a:rPr>
              <a:t>attribute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MODELING BASICS</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08/40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Strong vs weak entity types</a:t>
            </a:r>
          </a:p>
        </p:txBody>
      </p:sp>
      <p:cxnSp>
        <p:nvCxnSpPr>
          <p:cNvPr id="6" name="Connector 5"/>
          <p:cNvCxnSpPr/>
          <p:nvPr/>
        </p:nvCxnSpPr>
        <p:spPr>
          <a:xfrm>
            <a:off x="5334000" y="4953000"/>
            <a:ext cx="2381250" cy="0"/>
          </a:xfrm>
          <a:prstGeom prst="line">
            <a:avLst/>
          </a:prstGeom>
          <a:ln w="23812">
            <a:solidFill>
              <a:srgbClr val="0F172A"/>
            </a:solidFill>
          </a:ln>
        </p:spPr>
      </p:cxnSp>
      <p:cxnSp>
        <p:nvCxnSpPr>
          <p:cNvPr id="7" name="Connector 6"/>
          <p:cNvCxnSpPr/>
          <p:nvPr/>
        </p:nvCxnSpPr>
        <p:spPr>
          <a:xfrm>
            <a:off x="10572750" y="5000625"/>
            <a:ext cx="2286000" cy="0"/>
          </a:xfrm>
          <a:prstGeom prst="line">
            <a:avLst/>
          </a:prstGeom>
          <a:ln w="23812">
            <a:solidFill>
              <a:srgbClr val="0F172A"/>
            </a:solidFill>
          </a:ln>
        </p:spPr>
      </p:cxnSp>
      <p:cxnSp>
        <p:nvCxnSpPr>
          <p:cNvPr id="8" name="Connector 7"/>
          <p:cNvCxnSpPr/>
          <p:nvPr/>
        </p:nvCxnSpPr>
        <p:spPr>
          <a:xfrm>
            <a:off x="10572750" y="4905375"/>
            <a:ext cx="2286000" cy="0"/>
          </a:xfrm>
          <a:prstGeom prst="line">
            <a:avLst/>
          </a:prstGeom>
          <a:ln w="23812">
            <a:solidFill>
              <a:srgbClr val="0F172A"/>
            </a:solidFill>
          </a:ln>
        </p:spPr>
      </p:cxnSp>
      <p:cxnSp>
        <p:nvCxnSpPr>
          <p:cNvPr id="9" name="Connector 8"/>
          <p:cNvCxnSpPr/>
          <p:nvPr/>
        </p:nvCxnSpPr>
        <p:spPr>
          <a:xfrm>
            <a:off x="4095750" y="3638550"/>
            <a:ext cx="0" cy="895350"/>
          </a:xfrm>
          <a:prstGeom prst="line">
            <a:avLst/>
          </a:prstGeom>
          <a:ln w="23812">
            <a:solidFill>
              <a:srgbClr val="0F172A"/>
            </a:solidFill>
          </a:ln>
        </p:spPr>
      </p:cxnSp>
      <p:cxnSp>
        <p:nvCxnSpPr>
          <p:cNvPr id="10" name="Connector 9"/>
          <p:cNvCxnSpPr/>
          <p:nvPr/>
        </p:nvCxnSpPr>
        <p:spPr>
          <a:xfrm flipH="1">
            <a:off x="13239750" y="5372100"/>
            <a:ext cx="285750" cy="1181100"/>
          </a:xfrm>
          <a:prstGeom prst="line">
            <a:avLst/>
          </a:prstGeom>
          <a:ln w="23812">
            <a:solidFill>
              <a:srgbClr val="0F172A"/>
            </a:solidFill>
          </a:ln>
        </p:spPr>
      </p:cxnSp>
      <p:cxnSp>
        <p:nvCxnSpPr>
          <p:cNvPr id="11" name="Connector 10"/>
          <p:cNvCxnSpPr/>
          <p:nvPr/>
        </p:nvCxnSpPr>
        <p:spPr>
          <a:xfrm>
            <a:off x="14859000" y="5372100"/>
            <a:ext cx="952500" cy="1181100"/>
          </a:xfrm>
          <a:prstGeom prst="line">
            <a:avLst/>
          </a:prstGeom>
          <a:ln w="23812">
            <a:solidFill>
              <a:srgbClr val="0F172A"/>
            </a:solidFill>
          </a:ln>
        </p:spPr>
      </p:cxnSp>
      <p:sp>
        <p:nvSpPr>
          <p:cNvPr id="12" name="Rectangle 11"/>
          <p:cNvSpPr/>
          <p:nvPr/>
        </p:nvSpPr>
        <p:spPr>
          <a:xfrm>
            <a:off x="2857500" y="4533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3" name="Diamond 12"/>
          <p:cNvSpPr/>
          <p:nvPr/>
        </p:nvSpPr>
        <p:spPr>
          <a:xfrm>
            <a:off x="7715250" y="4286250"/>
            <a:ext cx="2857500" cy="1333500"/>
          </a:xfrm>
          <a:prstGeom prst="diamond">
            <a:avLst/>
          </a:prstGeom>
          <a:solidFill>
            <a:srgbClr val="FDECEF"/>
          </a:solidFill>
          <a:ln w="66675" cmpd="dbl">
            <a:solidFill>
              <a:srgbClr val="C8102E"/>
            </a:solidFill>
          </a:ln>
        </p:spPr>
        <p:txBody>
          <a:bodyPr rtlCol="0" anchor="ctr" lIns="0" rIns="0" tIns="0" bIns="0" wrap="none"/>
          <a:lstStyle/>
          <a:p>
            <a:pPr algn="ctr"/>
            <a:r>
              <a:rPr sz="1656" b="1" i="0" u="none">
                <a:solidFill>
                  <a:srgbClr val="0F172A"/>
                </a:solidFill>
                <a:latin typeface="Arial"/>
              </a:rPr>
              <a:t>DEPENDENTS_OF</a:t>
            </a:r>
          </a:p>
        </p:txBody>
      </p:sp>
      <p:sp>
        <p:nvSpPr>
          <p:cNvPr id="14" name="Rectangle 13"/>
          <p:cNvSpPr/>
          <p:nvPr/>
        </p:nvSpPr>
        <p:spPr>
          <a:xfrm>
            <a:off x="12858750" y="4533900"/>
            <a:ext cx="2667000" cy="838200"/>
          </a:xfrm>
          <a:prstGeom prst="rect">
            <a:avLst/>
          </a:prstGeom>
          <a:solidFill>
            <a:srgbClr val="FFFFFF"/>
          </a:solidFill>
          <a:ln w="66675" cmpd="dbl">
            <a:solidFill>
              <a:srgbClr val="0F172A"/>
            </a:solidFill>
          </a:ln>
        </p:spPr>
        <p:txBody>
          <a:bodyPr rtlCol="0" anchor="ctr" lIns="0" rIns="0" tIns="0" bIns="0" wrap="none"/>
          <a:lstStyle/>
          <a:p>
            <a:pPr algn="ctr"/>
            <a:r>
              <a:rPr sz="1932" b="1" i="0" u="none">
                <a:solidFill>
                  <a:srgbClr val="0F172A"/>
                </a:solidFill>
                <a:latin typeface="Arial"/>
              </a:rPr>
              <a:t>DEPENDENT</a:t>
            </a:r>
          </a:p>
        </p:txBody>
      </p:sp>
      <p:sp>
        <p:nvSpPr>
          <p:cNvPr id="15" name="Oval 14"/>
          <p:cNvSpPr/>
          <p:nvPr/>
        </p:nvSpPr>
        <p:spPr>
          <a:xfrm>
            <a:off x="3238500" y="302895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16" name="Oval 15"/>
          <p:cNvSpPr/>
          <p:nvPr/>
        </p:nvSpPr>
        <p:spPr>
          <a:xfrm>
            <a:off x="11811000" y="6553200"/>
            <a:ext cx="2667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 (partial key)</a:t>
            </a:r>
          </a:p>
        </p:txBody>
      </p:sp>
      <p:sp>
        <p:nvSpPr>
          <p:cNvPr id="17" name="Oval 16"/>
          <p:cNvSpPr/>
          <p:nvPr/>
        </p:nvSpPr>
        <p:spPr>
          <a:xfrm>
            <a:off x="15049500" y="6553200"/>
            <a:ext cx="1905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BirthDate</a:t>
            </a:r>
          </a:p>
        </p:txBody>
      </p:sp>
      <p:sp>
        <p:nvSpPr>
          <p:cNvPr id="18" name="TextBox 17"/>
          <p:cNvSpPr txBox="1"/>
          <p:nvPr/>
        </p:nvSpPr>
        <p:spPr>
          <a:xfrm>
            <a:off x="5524500" y="45020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19" name="TextBox 18"/>
          <p:cNvSpPr txBox="1"/>
          <p:nvPr/>
        </p:nvSpPr>
        <p:spPr>
          <a:xfrm>
            <a:off x="12287250" y="45020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20" name="TextBox 19"/>
          <p:cNvSpPr txBox="1"/>
          <p:nvPr/>
        </p:nvSpPr>
        <p:spPr>
          <a:xfrm>
            <a:off x="1219200" y="6096000"/>
            <a:ext cx="7810500" cy="922743"/>
          </a:xfrm>
          <a:prstGeom prst="rect">
            <a:avLst/>
          </a:prstGeom>
          <a:noFill/>
        </p:spPr>
        <p:txBody>
          <a:bodyPr wrap="square" lIns="0" rIns="0" tIns="0" bIns="0" anchor="t"/>
          <a:lstStyle/>
          <a:p>
            <a:pPr algn="l">
              <a:lnSpc>
                <a:spcPct val="111800"/>
              </a:lnSpc>
            </a:pPr>
            <a:r>
              <a:rPr sz="1794" b="0" i="0" u="none">
                <a:solidFill>
                  <a:srgbClr val="334155"/>
                </a:solidFill>
                <a:latin typeface="Calibri"/>
              </a:rPr>
              <a:t>A </a:t>
            </a:r>
            <a:r>
              <a:rPr sz="1794" b="1" i="0" u="none">
                <a:solidFill>
                  <a:srgbClr val="334155"/>
                </a:solidFill>
                <a:latin typeface="Calibri"/>
              </a:rPr>
              <a:t>weak entity</a:t>
            </a:r>
            <a:r>
              <a:rPr sz="1794" b="0" i="0" u="none">
                <a:solidFill>
                  <a:srgbClr val="334155"/>
                </a:solidFill>
                <a:latin typeface="Calibri"/>
              </a:rPr>
              <a:t> has no key of its own. It is identified by its </a:t>
            </a:r>
            <a:r>
              <a:rPr sz="1794" b="1" i="0" u="none">
                <a:solidFill>
                  <a:srgbClr val="334155"/>
                </a:solidFill>
                <a:latin typeface="Calibri"/>
              </a:rPr>
              <a:t>owner</a:t>
            </a:r>
            <a:r>
              <a:rPr sz="1794" b="0" i="0" u="none">
                <a:solidFill>
                  <a:srgbClr val="334155"/>
                </a:solidFill>
                <a:latin typeface="Calibri"/>
              </a:rPr>
              <a:t> (EMPLOYEE) + its </a:t>
            </a:r>
            <a:r>
              <a:rPr sz="1794" b="1" i="0" u="none">
                <a:solidFill>
                  <a:srgbClr val="334155"/>
                </a:solidFill>
                <a:latin typeface="Calibri"/>
              </a:rPr>
              <a:t>partial key</a:t>
            </a:r>
            <a:r>
              <a:rPr sz="1794" b="0" i="0" u="none">
                <a:solidFill>
                  <a:srgbClr val="334155"/>
                </a:solidFill>
                <a:latin typeface="Calibri"/>
              </a:rPr>
              <a:t> (Name), through an </a:t>
            </a:r>
            <a:r>
              <a:rPr sz="1794" b="1" i="0" u="none">
                <a:solidFill>
                  <a:srgbClr val="334155"/>
                </a:solidFill>
                <a:latin typeface="Calibri"/>
              </a:rPr>
              <a:t>identifying relationship</a:t>
            </a:r>
            <a:r>
              <a:rPr sz="1794" b="0" i="0" u="none">
                <a:solidFill>
                  <a:srgbClr val="334155"/>
                </a:solidFill>
                <a:latin typeface="Calibri"/>
              </a:rPr>
              <a:t> (double diamond). Its participation is always </a:t>
            </a:r>
            <a:r>
              <a:rPr sz="1794" b="1" i="0" u="none">
                <a:solidFill>
                  <a:srgbClr val="334155"/>
                </a:solidFill>
                <a:latin typeface="Calibri"/>
              </a:rPr>
              <a:t>total</a:t>
            </a:r>
            <a:r>
              <a:rPr sz="1794" b="0" i="0" u="none">
                <a:solidFill>
                  <a:srgbClr val="334155"/>
                </a:solidFill>
                <a:latin typeface="Calibri"/>
              </a:rPr>
              <a:t> (double 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02</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09/40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02</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Attributes &amp; keys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Five kinds of attributes, and how keys identify each instance.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ATTRIBUTES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10/40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Attribute types on one entity</a:t>
            </a:r>
          </a:p>
        </p:txBody>
      </p:sp>
      <p:cxnSp>
        <p:nvCxnSpPr>
          <p:cNvPr id="6" name="Connector 5"/>
          <p:cNvCxnSpPr/>
          <p:nvPr/>
        </p:nvCxnSpPr>
        <p:spPr>
          <a:xfrm>
            <a:off x="4953000" y="4305300"/>
            <a:ext cx="2286000" cy="800100"/>
          </a:xfrm>
          <a:prstGeom prst="line">
            <a:avLst/>
          </a:prstGeom>
          <a:ln w="23812">
            <a:solidFill>
              <a:srgbClr val="0F172A"/>
            </a:solidFill>
          </a:ln>
        </p:spPr>
      </p:cxnSp>
      <p:cxnSp>
        <p:nvCxnSpPr>
          <p:cNvPr id="7" name="Connector 6"/>
          <p:cNvCxnSpPr/>
          <p:nvPr/>
        </p:nvCxnSpPr>
        <p:spPr>
          <a:xfrm>
            <a:off x="8191500" y="4305300"/>
            <a:ext cx="0" cy="800100"/>
          </a:xfrm>
          <a:prstGeom prst="line">
            <a:avLst/>
          </a:prstGeom>
          <a:ln w="23812">
            <a:solidFill>
              <a:srgbClr val="0F172A"/>
            </a:solidFill>
          </a:ln>
        </p:spPr>
      </p:cxnSp>
      <p:cxnSp>
        <p:nvCxnSpPr>
          <p:cNvPr id="8" name="Connector 7"/>
          <p:cNvCxnSpPr/>
          <p:nvPr/>
        </p:nvCxnSpPr>
        <p:spPr>
          <a:xfrm>
            <a:off x="6858000" y="3257550"/>
            <a:ext cx="952500" cy="495300"/>
          </a:xfrm>
          <a:prstGeom prst="line">
            <a:avLst/>
          </a:prstGeom>
          <a:ln w="23812">
            <a:solidFill>
              <a:srgbClr val="0F172A"/>
            </a:solidFill>
          </a:ln>
        </p:spPr>
      </p:cxnSp>
      <p:cxnSp>
        <p:nvCxnSpPr>
          <p:cNvPr id="9" name="Connector 8"/>
          <p:cNvCxnSpPr/>
          <p:nvPr/>
        </p:nvCxnSpPr>
        <p:spPr>
          <a:xfrm flipH="1">
            <a:off x="8572500" y="3257550"/>
            <a:ext cx="952500" cy="495300"/>
          </a:xfrm>
          <a:prstGeom prst="line">
            <a:avLst/>
          </a:prstGeom>
          <a:ln w="23812">
            <a:solidFill>
              <a:srgbClr val="0F172A"/>
            </a:solidFill>
          </a:ln>
        </p:spPr>
      </p:cxnSp>
      <p:cxnSp>
        <p:nvCxnSpPr>
          <p:cNvPr id="10" name="Connector 9"/>
          <p:cNvCxnSpPr/>
          <p:nvPr/>
        </p:nvCxnSpPr>
        <p:spPr>
          <a:xfrm flipH="1">
            <a:off x="9334500" y="4495800"/>
            <a:ext cx="2286000" cy="609600"/>
          </a:xfrm>
          <a:prstGeom prst="line">
            <a:avLst/>
          </a:prstGeom>
          <a:ln w="23812">
            <a:solidFill>
              <a:srgbClr val="0F172A"/>
            </a:solidFill>
          </a:ln>
        </p:spPr>
      </p:cxnSp>
      <p:cxnSp>
        <p:nvCxnSpPr>
          <p:cNvPr id="11" name="Connector 10"/>
          <p:cNvCxnSpPr/>
          <p:nvPr/>
        </p:nvCxnSpPr>
        <p:spPr>
          <a:xfrm flipV="1">
            <a:off x="4953000" y="5943600"/>
            <a:ext cx="2286000" cy="990600"/>
          </a:xfrm>
          <a:prstGeom prst="line">
            <a:avLst/>
          </a:prstGeom>
          <a:ln w="23812">
            <a:solidFill>
              <a:srgbClr val="0F172A"/>
            </a:solidFill>
          </a:ln>
        </p:spPr>
      </p:cxnSp>
      <p:cxnSp>
        <p:nvCxnSpPr>
          <p:cNvPr id="12" name="Connector 11"/>
          <p:cNvCxnSpPr/>
          <p:nvPr/>
        </p:nvCxnSpPr>
        <p:spPr>
          <a:xfrm flipV="1">
            <a:off x="8191500" y="5943600"/>
            <a:ext cx="0" cy="1276350"/>
          </a:xfrm>
          <a:prstGeom prst="line">
            <a:avLst/>
          </a:prstGeom>
          <a:ln w="23812">
            <a:solidFill>
              <a:srgbClr val="0F172A"/>
            </a:solidFill>
          </a:ln>
        </p:spPr>
      </p:cxnSp>
      <p:cxnSp>
        <p:nvCxnSpPr>
          <p:cNvPr id="13" name="Connector 12"/>
          <p:cNvCxnSpPr/>
          <p:nvPr/>
        </p:nvCxnSpPr>
        <p:spPr>
          <a:xfrm flipH="1" flipV="1">
            <a:off x="9144000" y="5943600"/>
            <a:ext cx="2476500" cy="990600"/>
          </a:xfrm>
          <a:prstGeom prst="line">
            <a:avLst/>
          </a:prstGeom>
          <a:ln w="23812">
            <a:solidFill>
              <a:srgbClr val="0F172A"/>
            </a:solidFill>
          </a:ln>
        </p:spPr>
      </p:cxnSp>
      <p:sp>
        <p:nvSpPr>
          <p:cNvPr id="14" name="Rectangle 13"/>
          <p:cNvSpPr/>
          <p:nvPr/>
        </p:nvSpPr>
        <p:spPr>
          <a:xfrm>
            <a:off x="6858000" y="5105400"/>
            <a:ext cx="2667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5" name="Oval 14"/>
          <p:cNvSpPr/>
          <p:nvPr/>
        </p:nvSpPr>
        <p:spPr>
          <a:xfrm>
            <a:off x="4095750" y="369570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16" name="Oval 15"/>
          <p:cNvSpPr/>
          <p:nvPr/>
        </p:nvSpPr>
        <p:spPr>
          <a:xfrm>
            <a:off x="7334250" y="369570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a:t>
            </a:r>
          </a:p>
        </p:txBody>
      </p:sp>
      <p:sp>
        <p:nvSpPr>
          <p:cNvPr id="17" name="Oval 16"/>
          <p:cNvSpPr/>
          <p:nvPr/>
        </p:nvSpPr>
        <p:spPr>
          <a:xfrm>
            <a:off x="5905500" y="2647950"/>
            <a:ext cx="1524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Fname</a:t>
            </a:r>
          </a:p>
        </p:txBody>
      </p:sp>
      <p:sp>
        <p:nvSpPr>
          <p:cNvPr id="18" name="Oval 17"/>
          <p:cNvSpPr/>
          <p:nvPr/>
        </p:nvSpPr>
        <p:spPr>
          <a:xfrm>
            <a:off x="8953500" y="2647950"/>
            <a:ext cx="1524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Lname</a:t>
            </a:r>
          </a:p>
        </p:txBody>
      </p:sp>
      <p:sp>
        <p:nvSpPr>
          <p:cNvPr id="19" name="Oval 18"/>
          <p:cNvSpPr/>
          <p:nvPr/>
        </p:nvSpPr>
        <p:spPr>
          <a:xfrm>
            <a:off x="10763250" y="3886200"/>
            <a:ext cx="1714500" cy="609600"/>
          </a:xfrm>
          <a:prstGeom prst="ellipse">
            <a:avLst/>
          </a:prstGeom>
          <a:solidFill>
            <a:srgbClr val="E6F4F4"/>
          </a:solidFill>
          <a:ln w="57150" cmpd="dbl">
            <a:solidFill>
              <a:srgbClr val="0E8A8A"/>
            </a:solidFill>
          </a:ln>
        </p:spPr>
        <p:txBody>
          <a:bodyPr rtlCol="0" anchor="ctr" lIns="0" rIns="0" tIns="0" bIns="0" wrap="none"/>
          <a:lstStyle/>
          <a:p>
            <a:pPr algn="ctr"/>
            <a:r>
              <a:rPr sz="1656" b="0" i="0" u="none">
                <a:solidFill>
                  <a:srgbClr val="0F172A"/>
                </a:solidFill>
                <a:latin typeface="Calibri"/>
              </a:rPr>
              <a:t>Phones</a:t>
            </a:r>
          </a:p>
        </p:txBody>
      </p:sp>
      <p:sp>
        <p:nvSpPr>
          <p:cNvPr id="20" name="Oval 19"/>
          <p:cNvSpPr/>
          <p:nvPr/>
        </p:nvSpPr>
        <p:spPr>
          <a:xfrm>
            <a:off x="4095750" y="693420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Salary</a:t>
            </a:r>
          </a:p>
        </p:txBody>
      </p:sp>
      <p:sp>
        <p:nvSpPr>
          <p:cNvPr id="21" name="Oval 20"/>
          <p:cNvSpPr/>
          <p:nvPr/>
        </p:nvSpPr>
        <p:spPr>
          <a:xfrm>
            <a:off x="7239000" y="7219950"/>
            <a:ext cx="1905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BirthDate</a:t>
            </a:r>
          </a:p>
        </p:txBody>
      </p:sp>
      <p:sp>
        <p:nvSpPr>
          <p:cNvPr id="22" name="Oval 21"/>
          <p:cNvSpPr/>
          <p:nvPr/>
        </p:nvSpPr>
        <p:spPr>
          <a:xfrm>
            <a:off x="10763250" y="6934200"/>
            <a:ext cx="1714500" cy="609600"/>
          </a:xfrm>
          <a:prstGeom prst="ellipse">
            <a:avLst/>
          </a:prstGeom>
          <a:solidFill>
            <a:srgbClr val="E6F4F4"/>
          </a:solidFill>
          <a:ln w="19050">
            <a:solidFill>
              <a:srgbClr val="0E8A8A"/>
            </a:solidFill>
            <a:prstDash val="dash"/>
          </a:ln>
        </p:spPr>
        <p:txBody>
          <a:bodyPr rtlCol="0" anchor="ctr" lIns="0" rIns="0" tIns="0" bIns="0" wrap="none"/>
          <a:lstStyle/>
          <a:p>
            <a:pPr algn="ctr"/>
            <a:r>
              <a:rPr sz="1656" b="0" i="0" u="none">
                <a:solidFill>
                  <a:srgbClr val="0F172A"/>
                </a:solidFill>
                <a:latin typeface="Calibri"/>
              </a:rPr>
              <a:t>Age</a:t>
            </a:r>
          </a:p>
        </p:txBody>
      </p:sp>
      <p:sp>
        <p:nvSpPr>
          <p:cNvPr id="23" name="Rectangle 22"/>
          <p:cNvSpPr/>
          <p:nvPr/>
        </p:nvSpPr>
        <p:spPr>
          <a:xfrm>
            <a:off x="13525500" y="2857500"/>
            <a:ext cx="3543300" cy="3274009"/>
          </a:xfrm>
          <a:prstGeom prst="rect">
            <a:avLst/>
          </a:prstGeom>
          <a:solidFill>
            <a:srgbClr val="FFFFFF"/>
          </a:solidFill>
          <a:ln w="14287">
            <a:solidFill>
              <a:srgbClr val="E2E8F0"/>
            </a:solidFill>
          </a:ln>
        </p:spPr>
        <p:txBody>
          <a:bodyPr rtlCol="0" anchor="ctr" lIns="0" rIns="0" tIns="0" bIns="0"/>
          <a:lstStyle/>
          <a:p>
            <a:pPr algn="ctr"/>
          </a:p>
        </p:txBody>
      </p:sp>
      <p:sp>
        <p:nvSpPr>
          <p:cNvPr id="24" name="TextBox 23"/>
          <p:cNvSpPr txBox="1"/>
          <p:nvPr/>
        </p:nvSpPr>
        <p:spPr>
          <a:xfrm>
            <a:off x="13811250" y="3143250"/>
            <a:ext cx="2971800" cy="2702509"/>
          </a:xfrm>
          <a:prstGeom prst="rect">
            <a:avLst/>
          </a:prstGeom>
          <a:noFill/>
        </p:spPr>
        <p:txBody>
          <a:bodyPr wrap="square" lIns="0" rIns="0" tIns="0" bIns="0" anchor="t"/>
          <a:lstStyle/>
          <a:p>
            <a:pPr algn="l" marL="231343" indent="-231343">
              <a:lnSpc>
                <a:spcPct val="111800"/>
              </a:lnSpc>
              <a:buChar char="•"/>
            </a:pPr>
            <a:r>
              <a:rPr sz="1656" b="1" i="0" u="none">
                <a:solidFill>
                  <a:srgbClr val="334155"/>
                </a:solidFill>
                <a:latin typeface="Calibri"/>
              </a:rPr>
              <a:t>Ssn</a:t>
            </a:r>
            <a:r>
              <a:rPr sz="1656" b="0" i="0" u="none">
                <a:solidFill>
                  <a:srgbClr val="334155"/>
                </a:solidFill>
                <a:latin typeface="Calibri"/>
              </a:rPr>
              <a:t>: key (underlined)</a:t>
            </a:r>
          </a:p>
          <a:p>
            <a:pPr algn="l" marL="231343" indent="-231343">
              <a:lnSpc>
                <a:spcPct val="111800"/>
              </a:lnSpc>
              <a:spcBef>
                <a:spcPts val="414"/>
              </a:spcBef>
              <a:buChar char="•"/>
            </a:pPr>
            <a:r>
              <a:rPr sz="1656" b="1" i="0" u="none">
                <a:solidFill>
                  <a:srgbClr val="334155"/>
                </a:solidFill>
                <a:latin typeface="Calibri"/>
              </a:rPr>
              <a:t>Name</a:t>
            </a:r>
            <a:r>
              <a:rPr sz="1656" b="0" i="0" u="none">
                <a:solidFill>
                  <a:srgbClr val="334155"/>
                </a:solidFill>
                <a:latin typeface="Calibri"/>
              </a:rPr>
              <a:t>: composite → Fname, Lname</a:t>
            </a:r>
          </a:p>
          <a:p>
            <a:pPr algn="l" marL="231343" indent="-231343">
              <a:lnSpc>
                <a:spcPct val="111800"/>
              </a:lnSpc>
              <a:spcBef>
                <a:spcPts val="414"/>
              </a:spcBef>
              <a:buChar char="•"/>
            </a:pPr>
            <a:r>
              <a:rPr sz="1656" b="1" i="0" u="none">
                <a:solidFill>
                  <a:srgbClr val="334155"/>
                </a:solidFill>
                <a:latin typeface="Calibri"/>
              </a:rPr>
              <a:t>Phones</a:t>
            </a:r>
            <a:r>
              <a:rPr sz="1656" b="0" i="0" u="none">
                <a:solidFill>
                  <a:srgbClr val="334155"/>
                </a:solidFill>
                <a:latin typeface="Calibri"/>
              </a:rPr>
              <a:t>: multi-valued (double)</a:t>
            </a:r>
          </a:p>
          <a:p>
            <a:pPr algn="l" marL="231343" indent="-231343">
              <a:lnSpc>
                <a:spcPct val="111800"/>
              </a:lnSpc>
              <a:spcBef>
                <a:spcPts val="414"/>
              </a:spcBef>
              <a:buChar char="•"/>
            </a:pPr>
            <a:r>
              <a:rPr sz="1656" b="1" i="0" u="none">
                <a:solidFill>
                  <a:srgbClr val="334155"/>
                </a:solidFill>
                <a:latin typeface="Calibri"/>
              </a:rPr>
              <a:t>Age</a:t>
            </a:r>
            <a:r>
              <a:rPr sz="1656" b="0" i="0" u="none">
                <a:solidFill>
                  <a:srgbClr val="334155"/>
                </a:solidFill>
                <a:latin typeface="Calibri"/>
              </a:rPr>
              <a:t>: derived from BirthDate (dashed)</a:t>
            </a:r>
          </a:p>
          <a:p>
            <a:pPr algn="l" marL="231343" indent="-231343">
              <a:lnSpc>
                <a:spcPct val="111800"/>
              </a:lnSpc>
              <a:spcBef>
                <a:spcPts val="414"/>
              </a:spcBef>
              <a:buChar char="•"/>
            </a:pPr>
            <a:r>
              <a:rPr sz="1656" b="1" i="0" u="none">
                <a:solidFill>
                  <a:srgbClr val="334155"/>
                </a:solidFill>
                <a:latin typeface="Calibri"/>
              </a:rPr>
              <a:t>Salary</a:t>
            </a:r>
            <a:r>
              <a:rPr sz="1656" b="0" i="0" u="none">
                <a:solidFill>
                  <a:srgbClr val="334155"/>
                </a:solidFill>
                <a:latin typeface="Calibri"/>
              </a:rPr>
              <a:t>: simple, single-valued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ATTRIBUTES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11/40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Attribute types</a:t>
            </a:r>
          </a:p>
        </p:txBody>
      </p:sp>
      <p:graphicFrame>
        <p:nvGraphicFramePr>
          <p:cNvPr id="6" name="Table 5"/>
          <p:cNvGraphicFramePr>
            <a:graphicFrameLocks noGrp="1"/>
          </p:cNvGraphicFramePr>
          <p:nvPr/>
        </p:nvGraphicFramePr>
        <p:xfrm>
          <a:off x="914400" y="2482024"/>
          <a:ext cx="16459200" cy="4937703"/>
        </p:xfrm>
        <a:graphic>
          <a:graphicData uri="http://schemas.openxmlformats.org/drawingml/2006/table">
            <a:tbl>
              <a:tblPr firstRow="0" bandRow="0">
                <a:tableStyleId>{5940675A-B579-460E-94D1-54222C63F5DA}</a:tableStyleId>
              </a:tblPr>
              <a:tblGrid>
                <a:gridCol w="2962656"/>
                <a:gridCol w="5266944"/>
                <a:gridCol w="5266944"/>
                <a:gridCol w="2962656"/>
              </a:tblGrid>
              <a:tr h="628377">
                <a:tc>
                  <a:txBody>
                    <a:bodyPr/>
                    <a:lstStyle/>
                    <a:p>
                      <a:r>
                        <a:rPr sz="2511" b="1" i="0" u="none">
                          <a:solidFill>
                            <a:srgbClr val="FFFFFF"/>
                          </a:solidFill>
                          <a:latin typeface="Arial"/>
                        </a:rPr>
                        <a:t>Type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Meaning</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Example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Chen symbol</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Simple (atomic)</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Cannot be divided; one value per instance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Salary</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Ellipse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Composite</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Made of smaller parts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Name = Fname + Lname; Address = Street + City</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Ellipse with sub-ellipses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Multi-valued</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A set of values for one instance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Phones, Locations, Images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Double ellipse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Derived</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Calculated from other attributes or entities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Age from BirthDate; NumberOfEmployees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Dashed ellipse</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Key</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Unique for each instance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Ssn, Student_ID</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Underlined name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7873119"/>
            <a:ext cx="16459200" cy="1478051"/>
          </a:xfrm>
          <a:prstGeom prst="rect">
            <a:avLst/>
          </a:prstGeom>
          <a:solidFill>
            <a:srgbClr val="E6F4F4"/>
          </a:solidFill>
          <a:ln>
            <a:noFill/>
          </a:ln>
        </p:spPr>
        <p:txBody>
          <a:bodyPr rtlCol="0" anchor="ctr" lIns="0" rIns="0" tIns="0" bIns="0"/>
          <a:lstStyle/>
          <a:p>
            <a:pPr algn="ctr"/>
          </a:p>
        </p:txBody>
      </p:sp>
      <p:sp>
        <p:nvSpPr>
          <p:cNvPr id="8" name="Rectangle 7"/>
          <p:cNvSpPr/>
          <p:nvPr/>
        </p:nvSpPr>
        <p:spPr>
          <a:xfrm>
            <a:off x="914400" y="7873119"/>
            <a:ext cx="47625" cy="1478051"/>
          </a:xfrm>
          <a:prstGeom prst="rect">
            <a:avLst/>
          </a:prstGeom>
          <a:solidFill>
            <a:srgbClr val="0E8A8A"/>
          </a:solidFill>
          <a:ln>
            <a:noFill/>
          </a:ln>
        </p:spPr>
        <p:txBody>
          <a:bodyPr rtlCol="0" anchor="ctr" lIns="0" rIns="0" tIns="0" bIns="0"/>
          <a:lstStyle/>
          <a:p>
            <a:pPr algn="ctr"/>
          </a:p>
        </p:txBody>
      </p:sp>
      <p:sp>
        <p:nvSpPr>
          <p:cNvPr id="9" name="TextBox 8"/>
          <p:cNvSpPr txBox="1"/>
          <p:nvPr/>
        </p:nvSpPr>
        <p:spPr>
          <a:xfrm>
            <a:off x="1341120" y="8139819"/>
            <a:ext cx="15605760" cy="944651"/>
          </a:xfrm>
          <a:prstGeom prst="rect">
            <a:avLst/>
          </a:prstGeom>
          <a:noFill/>
        </p:spPr>
        <p:txBody>
          <a:bodyPr wrap="square" lIns="0" rIns="0" tIns="0" bIns="0"/>
          <a:lstStyle/>
          <a:p>
            <a:pPr>
              <a:lnSpc>
                <a:spcPct val="112000"/>
              </a:lnSpc>
            </a:pPr>
            <a:r>
              <a:rPr sz="2704" b="1" i="0" u="none">
                <a:solidFill>
                  <a:srgbClr val="0E8A8A"/>
                </a:solidFill>
                <a:latin typeface="Arial"/>
              </a:rPr>
              <a:t>Tip: </a:t>
            </a:r>
            <a:r>
              <a:rPr sz="2704" b="0" i="0" u="none">
                <a:solidFill>
                  <a:srgbClr val="0F172A"/>
                </a:solidFill>
                <a:latin typeface="Calibri"/>
              </a:rPr>
              <a:t>Store </a:t>
            </a:r>
            <a:r>
              <a:rPr sz="2704" b="1" i="0" u="none">
                <a:solidFill>
                  <a:srgbClr val="0F172A"/>
                </a:solidFill>
                <a:latin typeface="Calibri"/>
              </a:rPr>
              <a:t>BirthDate</a:t>
            </a:r>
            <a:r>
              <a:rPr sz="2704" b="0" i="0" u="none">
                <a:solidFill>
                  <a:srgbClr val="0F172A"/>
                </a:solidFill>
                <a:latin typeface="Calibri"/>
              </a:rPr>
              <a:t>, not Age: a derived attribute is computed when needed, so it never goes stale.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04927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KEYS</a:t>
            </a:r>
          </a:p>
        </p:txBody>
      </p:sp>
      <p:cxnSp>
        <p:nvCxnSpPr>
          <p:cNvPr id="3" name="Connector 2"/>
          <p:cNvCxnSpPr/>
          <p:nvPr/>
        </p:nvCxnSpPr>
        <p:spPr>
          <a:xfrm>
            <a:off x="2039874" y="981075"/>
            <a:ext cx="14486001"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12/40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Key attributes</a:t>
            </a:r>
          </a:p>
        </p:txBody>
      </p:sp>
      <p:cxnSp>
        <p:nvCxnSpPr>
          <p:cNvPr id="6" name="Connector 5"/>
          <p:cNvCxnSpPr/>
          <p:nvPr/>
        </p:nvCxnSpPr>
        <p:spPr>
          <a:xfrm>
            <a:off x="3810000" y="4114800"/>
            <a:ext cx="0" cy="838200"/>
          </a:xfrm>
          <a:prstGeom prst="line">
            <a:avLst/>
          </a:prstGeom>
          <a:ln w="23812">
            <a:solidFill>
              <a:srgbClr val="0F172A"/>
            </a:solidFill>
          </a:ln>
        </p:spPr>
      </p:cxnSp>
      <p:cxnSp>
        <p:nvCxnSpPr>
          <p:cNvPr id="7" name="Connector 6"/>
          <p:cNvCxnSpPr/>
          <p:nvPr/>
        </p:nvCxnSpPr>
        <p:spPr>
          <a:xfrm>
            <a:off x="9144000" y="4114800"/>
            <a:ext cx="0" cy="838200"/>
          </a:xfrm>
          <a:prstGeom prst="line">
            <a:avLst/>
          </a:prstGeom>
          <a:ln w="23812">
            <a:solidFill>
              <a:srgbClr val="0F172A"/>
            </a:solidFill>
          </a:ln>
        </p:spPr>
      </p:cxnSp>
      <p:cxnSp>
        <p:nvCxnSpPr>
          <p:cNvPr id="8" name="Connector 7"/>
          <p:cNvCxnSpPr/>
          <p:nvPr/>
        </p:nvCxnSpPr>
        <p:spPr>
          <a:xfrm>
            <a:off x="8286750" y="3105150"/>
            <a:ext cx="476250" cy="419100"/>
          </a:xfrm>
          <a:prstGeom prst="line">
            <a:avLst/>
          </a:prstGeom>
          <a:ln w="23812">
            <a:solidFill>
              <a:srgbClr val="0F172A"/>
            </a:solidFill>
          </a:ln>
        </p:spPr>
      </p:cxnSp>
      <p:cxnSp>
        <p:nvCxnSpPr>
          <p:cNvPr id="9" name="Connector 8"/>
          <p:cNvCxnSpPr/>
          <p:nvPr/>
        </p:nvCxnSpPr>
        <p:spPr>
          <a:xfrm flipH="1">
            <a:off x="9525000" y="3105150"/>
            <a:ext cx="476250" cy="419100"/>
          </a:xfrm>
          <a:prstGeom prst="line">
            <a:avLst/>
          </a:prstGeom>
          <a:ln w="23812">
            <a:solidFill>
              <a:srgbClr val="0F172A"/>
            </a:solidFill>
          </a:ln>
        </p:spPr>
      </p:cxnSp>
      <p:cxnSp>
        <p:nvCxnSpPr>
          <p:cNvPr id="10" name="Connector 9"/>
          <p:cNvCxnSpPr/>
          <p:nvPr/>
        </p:nvCxnSpPr>
        <p:spPr>
          <a:xfrm>
            <a:off x="13620750" y="4114800"/>
            <a:ext cx="476250" cy="838200"/>
          </a:xfrm>
          <a:prstGeom prst="line">
            <a:avLst/>
          </a:prstGeom>
          <a:ln w="23812">
            <a:solidFill>
              <a:srgbClr val="0F172A"/>
            </a:solidFill>
          </a:ln>
        </p:spPr>
      </p:cxnSp>
      <p:cxnSp>
        <p:nvCxnSpPr>
          <p:cNvPr id="11" name="Connector 10"/>
          <p:cNvCxnSpPr/>
          <p:nvPr/>
        </p:nvCxnSpPr>
        <p:spPr>
          <a:xfrm flipH="1">
            <a:off x="14859000" y="4114800"/>
            <a:ext cx="571500" cy="838200"/>
          </a:xfrm>
          <a:prstGeom prst="line">
            <a:avLst/>
          </a:prstGeom>
          <a:ln w="23812">
            <a:solidFill>
              <a:srgbClr val="0F172A"/>
            </a:solidFill>
          </a:ln>
        </p:spPr>
      </p:cxnSp>
      <p:sp>
        <p:nvSpPr>
          <p:cNvPr id="12" name="Rectangle 11"/>
          <p:cNvSpPr/>
          <p:nvPr/>
        </p:nvSpPr>
        <p:spPr>
          <a:xfrm>
            <a:off x="2667000" y="4953000"/>
            <a:ext cx="2286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3" name="Oval 12"/>
          <p:cNvSpPr/>
          <p:nvPr/>
        </p:nvSpPr>
        <p:spPr>
          <a:xfrm>
            <a:off x="3048000" y="3505200"/>
            <a:ext cx="152400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14" name="Rectangle 13"/>
          <p:cNvSpPr/>
          <p:nvPr/>
        </p:nvSpPr>
        <p:spPr>
          <a:xfrm>
            <a:off x="8001000" y="4953000"/>
            <a:ext cx="2286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MODEL</a:t>
            </a:r>
          </a:p>
        </p:txBody>
      </p:sp>
      <p:sp>
        <p:nvSpPr>
          <p:cNvPr id="15" name="Oval 14"/>
          <p:cNvSpPr/>
          <p:nvPr/>
        </p:nvSpPr>
        <p:spPr>
          <a:xfrm>
            <a:off x="7953375" y="3505200"/>
            <a:ext cx="238125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(Name, Suffix)</a:t>
            </a:r>
          </a:p>
        </p:txBody>
      </p:sp>
      <p:sp>
        <p:nvSpPr>
          <p:cNvPr id="16" name="Oval 15"/>
          <p:cNvSpPr/>
          <p:nvPr/>
        </p:nvSpPr>
        <p:spPr>
          <a:xfrm>
            <a:off x="7191375" y="2590800"/>
            <a:ext cx="14287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a:t>
            </a:r>
          </a:p>
        </p:txBody>
      </p:sp>
      <p:sp>
        <p:nvSpPr>
          <p:cNvPr id="17" name="Oval 16"/>
          <p:cNvSpPr/>
          <p:nvPr/>
        </p:nvSpPr>
        <p:spPr>
          <a:xfrm>
            <a:off x="9667875" y="2590800"/>
            <a:ext cx="14287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Suffix</a:t>
            </a:r>
          </a:p>
        </p:txBody>
      </p:sp>
      <p:sp>
        <p:nvSpPr>
          <p:cNvPr id="18" name="Rectangle 17"/>
          <p:cNvSpPr/>
          <p:nvPr/>
        </p:nvSpPr>
        <p:spPr>
          <a:xfrm>
            <a:off x="13335000" y="4953000"/>
            <a:ext cx="2286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9" name="Oval 18"/>
          <p:cNvSpPr/>
          <p:nvPr/>
        </p:nvSpPr>
        <p:spPr>
          <a:xfrm>
            <a:off x="12715875" y="3505200"/>
            <a:ext cx="142875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20" name="Oval 19"/>
          <p:cNvSpPr/>
          <p:nvPr/>
        </p:nvSpPr>
        <p:spPr>
          <a:xfrm>
            <a:off x="14811375" y="3505200"/>
            <a:ext cx="161925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Email</a:t>
            </a:r>
          </a:p>
        </p:txBody>
      </p:sp>
      <p:sp>
        <p:nvSpPr>
          <p:cNvPr id="21" name="TextBox 20"/>
          <p:cNvSpPr txBox="1"/>
          <p:nvPr/>
        </p:nvSpPr>
        <p:spPr>
          <a:xfrm>
            <a:off x="1238250" y="6000750"/>
            <a:ext cx="5143500" cy="355777"/>
          </a:xfrm>
          <a:prstGeom prst="rect">
            <a:avLst/>
          </a:prstGeom>
          <a:noFill/>
        </p:spPr>
        <p:txBody>
          <a:bodyPr wrap="square" lIns="0" rIns="0" tIns="0" bIns="0" anchor="t"/>
          <a:lstStyle/>
          <a:p>
            <a:pPr algn="ctr">
              <a:lnSpc>
                <a:spcPct val="111800"/>
              </a:lnSpc>
            </a:pPr>
            <a:r>
              <a:rPr sz="1932" b="1" i="0" u="none">
                <a:solidFill>
                  <a:srgbClr val="C8102E"/>
                </a:solidFill>
                <a:latin typeface="Calibri"/>
              </a:rPr>
              <a:t>Simple key</a:t>
            </a:r>
          </a:p>
        </p:txBody>
      </p:sp>
      <p:sp>
        <p:nvSpPr>
          <p:cNvPr id="22" name="TextBox 21"/>
          <p:cNvSpPr txBox="1"/>
          <p:nvPr/>
        </p:nvSpPr>
        <p:spPr>
          <a:xfrm>
            <a:off x="1238250" y="6419850"/>
            <a:ext cx="5143500" cy="304952"/>
          </a:xfrm>
          <a:prstGeom prst="rect">
            <a:avLst/>
          </a:prstGeom>
          <a:noFill/>
        </p:spPr>
        <p:txBody>
          <a:bodyPr wrap="square" lIns="0" rIns="0" tIns="0" bIns="0" anchor="t"/>
          <a:lstStyle/>
          <a:p>
            <a:pPr algn="ctr">
              <a:lnSpc>
                <a:spcPct val="111800"/>
              </a:lnSpc>
            </a:pPr>
            <a:r>
              <a:rPr sz="1656" b="0" i="0" u="none">
                <a:solidFill>
                  <a:srgbClr val="334155"/>
                </a:solidFill>
                <a:latin typeface="Calibri"/>
              </a:rPr>
              <a:t>One attribute is unique</a:t>
            </a:r>
          </a:p>
        </p:txBody>
      </p:sp>
      <p:sp>
        <p:nvSpPr>
          <p:cNvPr id="23" name="TextBox 22"/>
          <p:cNvSpPr txBox="1"/>
          <p:nvPr/>
        </p:nvSpPr>
        <p:spPr>
          <a:xfrm>
            <a:off x="6572250" y="6000750"/>
            <a:ext cx="5143500" cy="355777"/>
          </a:xfrm>
          <a:prstGeom prst="rect">
            <a:avLst/>
          </a:prstGeom>
          <a:noFill/>
        </p:spPr>
        <p:txBody>
          <a:bodyPr wrap="square" lIns="0" rIns="0" tIns="0" bIns="0" anchor="t"/>
          <a:lstStyle/>
          <a:p>
            <a:pPr algn="ctr">
              <a:lnSpc>
                <a:spcPct val="111800"/>
              </a:lnSpc>
            </a:pPr>
            <a:r>
              <a:rPr sz="1932" b="1" i="0" u="none">
                <a:solidFill>
                  <a:srgbClr val="C8102E"/>
                </a:solidFill>
                <a:latin typeface="Calibri"/>
              </a:rPr>
              <a:t>Composite key</a:t>
            </a:r>
          </a:p>
        </p:txBody>
      </p:sp>
      <p:sp>
        <p:nvSpPr>
          <p:cNvPr id="24" name="TextBox 23"/>
          <p:cNvSpPr txBox="1"/>
          <p:nvPr/>
        </p:nvSpPr>
        <p:spPr>
          <a:xfrm>
            <a:off x="6572250" y="6419850"/>
            <a:ext cx="5143500" cy="304952"/>
          </a:xfrm>
          <a:prstGeom prst="rect">
            <a:avLst/>
          </a:prstGeom>
          <a:noFill/>
        </p:spPr>
        <p:txBody>
          <a:bodyPr wrap="square" lIns="0" rIns="0" tIns="0" bIns="0" anchor="t"/>
          <a:lstStyle/>
          <a:p>
            <a:pPr algn="ctr">
              <a:lnSpc>
                <a:spcPct val="111800"/>
              </a:lnSpc>
            </a:pPr>
            <a:r>
              <a:rPr sz="1656" b="0" i="0" u="none">
                <a:solidFill>
                  <a:srgbClr val="334155"/>
                </a:solidFill>
                <a:latin typeface="Calibri"/>
              </a:rPr>
              <a:t>The combination is unique; no part alone is</a:t>
            </a:r>
          </a:p>
        </p:txBody>
      </p:sp>
      <p:sp>
        <p:nvSpPr>
          <p:cNvPr id="25" name="TextBox 24"/>
          <p:cNvSpPr txBox="1"/>
          <p:nvPr/>
        </p:nvSpPr>
        <p:spPr>
          <a:xfrm>
            <a:off x="11906250" y="6000750"/>
            <a:ext cx="5143500" cy="355777"/>
          </a:xfrm>
          <a:prstGeom prst="rect">
            <a:avLst/>
          </a:prstGeom>
          <a:noFill/>
        </p:spPr>
        <p:txBody>
          <a:bodyPr wrap="square" lIns="0" rIns="0" tIns="0" bIns="0" anchor="t"/>
          <a:lstStyle/>
          <a:p>
            <a:pPr algn="ctr">
              <a:lnSpc>
                <a:spcPct val="111800"/>
              </a:lnSpc>
            </a:pPr>
            <a:r>
              <a:rPr sz="1932" b="1" i="0" u="none">
                <a:solidFill>
                  <a:srgbClr val="C8102E"/>
                </a:solidFill>
                <a:latin typeface="Calibri"/>
              </a:rPr>
              <a:t>Candidate keys</a:t>
            </a:r>
          </a:p>
        </p:txBody>
      </p:sp>
      <p:sp>
        <p:nvSpPr>
          <p:cNvPr id="26" name="TextBox 25"/>
          <p:cNvSpPr txBox="1"/>
          <p:nvPr/>
        </p:nvSpPr>
        <p:spPr>
          <a:xfrm>
            <a:off x="11906250" y="6419850"/>
            <a:ext cx="5143500" cy="304952"/>
          </a:xfrm>
          <a:prstGeom prst="rect">
            <a:avLst/>
          </a:prstGeom>
          <a:noFill/>
        </p:spPr>
        <p:txBody>
          <a:bodyPr wrap="square" lIns="0" rIns="0" tIns="0" bIns="0" anchor="t"/>
          <a:lstStyle/>
          <a:p>
            <a:pPr algn="ctr">
              <a:lnSpc>
                <a:spcPct val="111800"/>
              </a:lnSpc>
            </a:pPr>
            <a:r>
              <a:rPr sz="1656" b="0" i="0" u="none">
                <a:solidFill>
                  <a:srgbClr val="334155"/>
                </a:solidFill>
                <a:latin typeface="Calibri"/>
              </a:rPr>
              <a:t>More than one key; each underlined separately</a:t>
            </a:r>
          </a:p>
        </p:txBody>
      </p:sp>
      <p:sp>
        <p:nvSpPr>
          <p:cNvPr id="27" name="Rectangle 26"/>
          <p:cNvSpPr/>
          <p:nvPr/>
        </p:nvSpPr>
        <p:spPr>
          <a:xfrm>
            <a:off x="1219200" y="7239000"/>
            <a:ext cx="15849600" cy="1007554"/>
          </a:xfrm>
          <a:prstGeom prst="rect">
            <a:avLst/>
          </a:prstGeom>
          <a:solidFill>
            <a:srgbClr val="FEF3C7"/>
          </a:solidFill>
          <a:ln>
            <a:noFill/>
          </a:ln>
        </p:spPr>
        <p:txBody>
          <a:bodyPr rtlCol="0" anchor="ctr" lIns="0" rIns="0" tIns="0" bIns="0"/>
          <a:lstStyle/>
          <a:p>
            <a:pPr algn="ctr"/>
          </a:p>
        </p:txBody>
      </p:sp>
      <p:sp>
        <p:nvSpPr>
          <p:cNvPr id="28" name="Rectangle 27"/>
          <p:cNvSpPr/>
          <p:nvPr/>
        </p:nvSpPr>
        <p:spPr>
          <a:xfrm>
            <a:off x="1219200" y="7239000"/>
            <a:ext cx="47625" cy="1007554"/>
          </a:xfrm>
          <a:prstGeom prst="rect">
            <a:avLst/>
          </a:prstGeom>
          <a:solidFill>
            <a:srgbClr val="B45309"/>
          </a:solidFill>
          <a:ln>
            <a:noFill/>
          </a:ln>
        </p:spPr>
        <p:txBody>
          <a:bodyPr rtlCol="0" anchor="ctr" lIns="0" rIns="0" tIns="0" bIns="0"/>
          <a:lstStyle/>
          <a:p>
            <a:pPr algn="ctr"/>
          </a:p>
        </p:txBody>
      </p:sp>
      <p:sp>
        <p:nvSpPr>
          <p:cNvPr id="29" name="TextBox 28"/>
          <p:cNvSpPr txBox="1"/>
          <p:nvPr/>
        </p:nvSpPr>
        <p:spPr>
          <a:xfrm>
            <a:off x="1524000" y="7429500"/>
            <a:ext cx="15240000" cy="626554"/>
          </a:xfrm>
          <a:prstGeom prst="rect">
            <a:avLst/>
          </a:prstGeom>
          <a:noFill/>
        </p:spPr>
        <p:txBody>
          <a:bodyPr wrap="square" lIns="0" rIns="0" tIns="0" bIns="0"/>
          <a:lstStyle/>
          <a:p>
            <a:pPr>
              <a:lnSpc>
                <a:spcPct val="112000"/>
              </a:lnSpc>
            </a:pPr>
            <a:r>
              <a:rPr sz="1794" b="1" i="0" u="none">
                <a:solidFill>
                  <a:srgbClr val="B45309"/>
                </a:solidFill>
                <a:latin typeface="Arial"/>
              </a:rPr>
              <a:t>Note: </a:t>
            </a:r>
            <a:r>
              <a:rPr sz="1794" b="0" i="0" u="none">
                <a:solidFill>
                  <a:srgbClr val="0F172A"/>
                </a:solidFill>
                <a:latin typeface="Calibri"/>
              </a:rPr>
              <a:t>There is </a:t>
            </a:r>
            <a:r>
              <a:rPr sz="1794" b="1" i="0" u="none">
                <a:solidFill>
                  <a:srgbClr val="0F172A"/>
                </a:solidFill>
                <a:latin typeface="Calibri"/>
              </a:rPr>
              <a:t>no primary key in an ERD</a:t>
            </a:r>
            <a:r>
              <a:rPr sz="1794" b="0" i="0" u="none">
                <a:solidFill>
                  <a:srgbClr val="0F172A"/>
                </a:solidFill>
                <a:latin typeface="Calibri"/>
              </a:rPr>
              <a:t>. We pick one candidate key as the primary key later, during mapping (Lesson 3). An entity type with </a:t>
            </a:r>
            <a:r>
              <a:rPr sz="1794" b="1" i="0" u="none">
                <a:solidFill>
                  <a:srgbClr val="0F172A"/>
                </a:solidFill>
                <a:latin typeface="Calibri"/>
              </a:rPr>
              <a:t>no key</a:t>
            </a:r>
            <a:r>
              <a:rPr sz="1794" b="0" i="0" u="none">
                <a:solidFill>
                  <a:srgbClr val="0F172A"/>
                </a:solidFill>
                <a:latin typeface="Calibri"/>
              </a:rPr>
              <a:t> of its own is a </a:t>
            </a:r>
            <a:r>
              <a:rPr sz="1794" b="1" i="0" u="none">
                <a:solidFill>
                  <a:srgbClr val="0F172A"/>
                </a:solidFill>
                <a:latin typeface="Calibri"/>
              </a:rPr>
              <a:t>weak entity</a:t>
            </a:r>
            <a:r>
              <a:rPr sz="1794" b="0" i="0" u="none">
                <a:solidFill>
                  <a:srgbClr val="0F172A"/>
                </a:solidFill>
                <a:latin typeface="Calibri"/>
              </a:rPr>
              <a:t> type.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03</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13/40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03</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Relationships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How entities connect: degree, cardinality ratio and participation, drawn in Chen and crow's foot notation.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14/40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Describing a relationship</a:t>
            </a:r>
          </a:p>
        </p:txBody>
      </p:sp>
      <p:sp>
        <p:nvSpPr>
          <p:cNvPr id="6" name="TextBox 5"/>
          <p:cNvSpPr txBox="1"/>
          <p:nvPr/>
        </p:nvSpPr>
        <p:spPr>
          <a:xfrm>
            <a:off x="914400" y="2482024"/>
            <a:ext cx="16459200" cy="569244"/>
          </a:xfrm>
          <a:prstGeom prst="rect">
            <a:avLst/>
          </a:prstGeom>
          <a:noFill/>
        </p:spPr>
        <p:txBody>
          <a:bodyPr wrap="square" lIns="0" rIns="0" tIns="0" bIns="0" anchor="t"/>
          <a:lstStyle/>
          <a:p>
            <a:pPr algn="l">
              <a:lnSpc>
                <a:spcPct val="111800"/>
              </a:lnSpc>
            </a:pPr>
            <a:r>
              <a:rPr sz="3091" b="0" i="0" u="none">
                <a:solidFill>
                  <a:srgbClr val="334155"/>
                </a:solidFill>
                <a:latin typeface="Calibri"/>
              </a:rPr>
              <a:t>A </a:t>
            </a:r>
            <a:r>
              <a:rPr sz="3091" b="1" i="0" u="none">
                <a:solidFill>
                  <a:srgbClr val="334155"/>
                </a:solidFill>
                <a:latin typeface="Calibri"/>
              </a:rPr>
              <a:t>relationship</a:t>
            </a:r>
            <a:r>
              <a:rPr sz="3091" b="0" i="0" u="none">
                <a:solidFill>
                  <a:srgbClr val="334155"/>
                </a:solidFill>
                <a:latin typeface="Calibri"/>
              </a:rPr>
              <a:t> is an association between entity instances: </a:t>
            </a:r>
            <a:r>
              <a:rPr sz="3091" b="0" i="1" u="none">
                <a:solidFill>
                  <a:srgbClr val="334155"/>
                </a:solidFill>
                <a:latin typeface="Calibri"/>
              </a:rPr>
              <a:t>Ali</a:t>
            </a:r>
            <a:r>
              <a:rPr sz="3091" b="0" i="0" u="none">
                <a:solidFill>
                  <a:srgbClr val="334155"/>
                </a:solidFill>
                <a:latin typeface="Calibri"/>
              </a:rPr>
              <a:t> </a:t>
            </a:r>
            <a:r>
              <a:rPr sz="3091" b="1" i="0" u="none">
                <a:solidFill>
                  <a:srgbClr val="334155"/>
                </a:solidFill>
                <a:latin typeface="Calibri"/>
              </a:rPr>
              <a:t>works for</a:t>
            </a:r>
            <a:r>
              <a:rPr sz="3091" b="0" i="0" u="none">
                <a:solidFill>
                  <a:srgbClr val="334155"/>
                </a:solidFill>
                <a:latin typeface="Calibri"/>
              </a:rPr>
              <a:t> </a:t>
            </a:r>
            <a:r>
              <a:rPr sz="3091" b="0" i="1" u="none">
                <a:solidFill>
                  <a:srgbClr val="334155"/>
                </a:solidFill>
                <a:latin typeface="Calibri"/>
              </a:rPr>
              <a:t>Research</a:t>
            </a:r>
            <a:r>
              <a:rPr sz="3091" b="0" i="0" u="none">
                <a:solidFill>
                  <a:srgbClr val="334155"/>
                </a:solidFill>
                <a:latin typeface="Calibri"/>
              </a:rPr>
              <a:t>.</a:t>
            </a:r>
          </a:p>
        </p:txBody>
      </p:sp>
      <p:sp>
        <p:nvSpPr>
          <p:cNvPr id="7" name="Rectangle 6"/>
          <p:cNvSpPr/>
          <p:nvPr/>
        </p:nvSpPr>
        <p:spPr>
          <a:xfrm>
            <a:off x="914400" y="3504658"/>
            <a:ext cx="5273040" cy="3501397"/>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3904708"/>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How many?</a:t>
            </a:r>
          </a:p>
        </p:txBody>
      </p:sp>
      <p:sp>
        <p:nvSpPr>
          <p:cNvPr id="9" name="TextBox 8"/>
          <p:cNvSpPr txBox="1"/>
          <p:nvPr/>
        </p:nvSpPr>
        <p:spPr>
          <a:xfrm>
            <a:off x="1314450" y="4491662"/>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Degree</a:t>
            </a:r>
          </a:p>
        </p:txBody>
      </p:sp>
      <p:sp>
        <p:nvSpPr>
          <p:cNvPr id="10" name="TextBox 9"/>
          <p:cNvSpPr txBox="1"/>
          <p:nvPr/>
        </p:nvSpPr>
        <p:spPr>
          <a:xfrm>
            <a:off x="1314450" y="5214792"/>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How many entity types take part: unary, binary, ternary…</a:t>
            </a:r>
          </a:p>
        </p:txBody>
      </p:sp>
      <p:sp>
        <p:nvSpPr>
          <p:cNvPr id="11" name="Rectangle 10"/>
          <p:cNvSpPr/>
          <p:nvPr/>
        </p:nvSpPr>
        <p:spPr>
          <a:xfrm>
            <a:off x="6507480" y="3504658"/>
            <a:ext cx="5273040" cy="3501397"/>
          </a:xfrm>
          <a:prstGeom prst="rect">
            <a:avLst/>
          </a:prstGeom>
          <a:solidFill>
            <a:srgbClr val="FFFFFF"/>
          </a:solidFill>
          <a:ln w="14287">
            <a:solidFill>
              <a:srgbClr val="E2E8F0"/>
            </a:solidFill>
          </a:ln>
        </p:spPr>
        <p:txBody>
          <a:bodyPr rtlCol="0" anchor="ctr" lIns="0" rIns="0" tIns="0" bIns="0"/>
          <a:lstStyle/>
          <a:p>
            <a:pPr algn="ctr"/>
          </a:p>
        </p:txBody>
      </p:sp>
      <p:sp>
        <p:nvSpPr>
          <p:cNvPr id="12" name="TextBox 11"/>
          <p:cNvSpPr txBox="1"/>
          <p:nvPr/>
        </p:nvSpPr>
        <p:spPr>
          <a:xfrm>
            <a:off x="6907530" y="3904708"/>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At most?</a:t>
            </a:r>
          </a:p>
        </p:txBody>
      </p:sp>
      <p:sp>
        <p:nvSpPr>
          <p:cNvPr id="13" name="TextBox 12"/>
          <p:cNvSpPr txBox="1"/>
          <p:nvPr/>
        </p:nvSpPr>
        <p:spPr>
          <a:xfrm>
            <a:off x="6907530" y="4491662"/>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Cardinality ratio</a:t>
            </a:r>
          </a:p>
        </p:txBody>
      </p:sp>
      <p:sp>
        <p:nvSpPr>
          <p:cNvPr id="14" name="TextBox 13"/>
          <p:cNvSpPr txBox="1"/>
          <p:nvPr/>
        </p:nvSpPr>
        <p:spPr>
          <a:xfrm>
            <a:off x="6907530" y="5214792"/>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The </a:t>
            </a:r>
            <a:r>
              <a:rPr sz="2704" b="1" i="0" u="none">
                <a:solidFill>
                  <a:srgbClr val="334155"/>
                </a:solidFill>
                <a:latin typeface="Calibri"/>
              </a:rPr>
              <a:t>maximum</a:t>
            </a:r>
            <a:r>
              <a:rPr sz="2704" b="0" i="0" u="none">
                <a:solidFill>
                  <a:srgbClr val="334155"/>
                </a:solidFill>
                <a:latin typeface="Calibri"/>
              </a:rPr>
              <a:t> number of instances an entity can be related to: 1:1, 1:N, M:N.</a:t>
            </a:r>
          </a:p>
        </p:txBody>
      </p:sp>
      <p:sp>
        <p:nvSpPr>
          <p:cNvPr id="15" name="Rectangle 14"/>
          <p:cNvSpPr/>
          <p:nvPr/>
        </p:nvSpPr>
        <p:spPr>
          <a:xfrm>
            <a:off x="12100560" y="3504658"/>
            <a:ext cx="5273040" cy="3501397"/>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500610" y="3904708"/>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At least?</a:t>
            </a:r>
          </a:p>
        </p:txBody>
      </p:sp>
      <p:sp>
        <p:nvSpPr>
          <p:cNvPr id="17" name="TextBox 16"/>
          <p:cNvSpPr txBox="1"/>
          <p:nvPr/>
        </p:nvSpPr>
        <p:spPr>
          <a:xfrm>
            <a:off x="12500610" y="4491662"/>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Participation</a:t>
            </a:r>
          </a:p>
        </p:txBody>
      </p:sp>
      <p:sp>
        <p:nvSpPr>
          <p:cNvPr id="18" name="TextBox 17"/>
          <p:cNvSpPr txBox="1"/>
          <p:nvPr/>
        </p:nvSpPr>
        <p:spPr>
          <a:xfrm>
            <a:off x="12500610" y="5214792"/>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The </a:t>
            </a:r>
            <a:r>
              <a:rPr sz="2704" b="1" i="0" u="none">
                <a:solidFill>
                  <a:srgbClr val="334155"/>
                </a:solidFill>
                <a:latin typeface="Calibri"/>
              </a:rPr>
              <a:t>minimum</a:t>
            </a:r>
            <a:r>
              <a:rPr sz="2704" b="0" i="0" u="none">
                <a:solidFill>
                  <a:srgbClr val="334155"/>
                </a:solidFill>
                <a:latin typeface="Calibri"/>
              </a:rPr>
              <a:t>: must every instance take part (total) or not (partial)?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15/40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Degree of a relationship</a:t>
            </a:r>
          </a:p>
        </p:txBody>
      </p:sp>
      <p:cxnSp>
        <p:nvCxnSpPr>
          <p:cNvPr id="6" name="Connector 5"/>
          <p:cNvCxnSpPr/>
          <p:nvPr/>
        </p:nvCxnSpPr>
        <p:spPr>
          <a:xfrm flipH="1">
            <a:off x="2714625" y="4038600"/>
            <a:ext cx="428625" cy="2057400"/>
          </a:xfrm>
          <a:prstGeom prst="line">
            <a:avLst/>
          </a:prstGeom>
          <a:ln w="23812">
            <a:solidFill>
              <a:srgbClr val="0F172A"/>
            </a:solidFill>
          </a:ln>
        </p:spPr>
      </p:cxnSp>
      <p:cxnSp>
        <p:nvCxnSpPr>
          <p:cNvPr id="7" name="Connector 6"/>
          <p:cNvCxnSpPr/>
          <p:nvPr/>
        </p:nvCxnSpPr>
        <p:spPr>
          <a:xfrm>
            <a:off x="4476750" y="4038600"/>
            <a:ext cx="428625" cy="2057400"/>
          </a:xfrm>
          <a:prstGeom prst="line">
            <a:avLst/>
          </a:prstGeom>
          <a:ln w="23812">
            <a:solidFill>
              <a:srgbClr val="0F172A"/>
            </a:solidFill>
          </a:ln>
        </p:spPr>
      </p:cxnSp>
      <p:cxnSp>
        <p:nvCxnSpPr>
          <p:cNvPr id="8" name="Connector 7"/>
          <p:cNvCxnSpPr/>
          <p:nvPr/>
        </p:nvCxnSpPr>
        <p:spPr>
          <a:xfrm>
            <a:off x="9144000" y="4038600"/>
            <a:ext cx="0" cy="723900"/>
          </a:xfrm>
          <a:prstGeom prst="line">
            <a:avLst/>
          </a:prstGeom>
          <a:ln w="23812">
            <a:solidFill>
              <a:srgbClr val="0F172A"/>
            </a:solidFill>
          </a:ln>
        </p:spPr>
      </p:cxnSp>
      <p:cxnSp>
        <p:nvCxnSpPr>
          <p:cNvPr id="9" name="Connector 8"/>
          <p:cNvCxnSpPr/>
          <p:nvPr/>
        </p:nvCxnSpPr>
        <p:spPr>
          <a:xfrm>
            <a:off x="9144000" y="5905500"/>
            <a:ext cx="0" cy="723900"/>
          </a:xfrm>
          <a:prstGeom prst="line">
            <a:avLst/>
          </a:prstGeom>
          <a:ln w="23812">
            <a:solidFill>
              <a:srgbClr val="0F172A"/>
            </a:solidFill>
          </a:ln>
        </p:spPr>
      </p:cxnSp>
      <p:cxnSp>
        <p:nvCxnSpPr>
          <p:cNvPr id="10" name="Connector 9"/>
          <p:cNvCxnSpPr/>
          <p:nvPr/>
        </p:nvCxnSpPr>
        <p:spPr>
          <a:xfrm>
            <a:off x="14478000" y="4038600"/>
            <a:ext cx="0" cy="771525"/>
          </a:xfrm>
          <a:prstGeom prst="line">
            <a:avLst/>
          </a:prstGeom>
          <a:ln w="23812">
            <a:solidFill>
              <a:srgbClr val="0F172A"/>
            </a:solidFill>
          </a:ln>
        </p:spPr>
      </p:cxnSp>
      <p:cxnSp>
        <p:nvCxnSpPr>
          <p:cNvPr id="11" name="Connector 10"/>
          <p:cNvCxnSpPr/>
          <p:nvPr/>
        </p:nvCxnSpPr>
        <p:spPr>
          <a:xfrm flipH="1">
            <a:off x="13335000" y="5600700"/>
            <a:ext cx="666750" cy="1219200"/>
          </a:xfrm>
          <a:prstGeom prst="line">
            <a:avLst/>
          </a:prstGeom>
          <a:ln w="23812">
            <a:solidFill>
              <a:srgbClr val="0F172A"/>
            </a:solidFill>
          </a:ln>
        </p:spPr>
      </p:cxnSp>
      <p:cxnSp>
        <p:nvCxnSpPr>
          <p:cNvPr id="12" name="Connector 11"/>
          <p:cNvCxnSpPr/>
          <p:nvPr/>
        </p:nvCxnSpPr>
        <p:spPr>
          <a:xfrm>
            <a:off x="14954250" y="5600700"/>
            <a:ext cx="666750" cy="1219200"/>
          </a:xfrm>
          <a:prstGeom prst="line">
            <a:avLst/>
          </a:prstGeom>
          <a:ln w="23812">
            <a:solidFill>
              <a:srgbClr val="0F172A"/>
            </a:solidFill>
          </a:ln>
        </p:spPr>
      </p:cxnSp>
      <p:sp>
        <p:nvSpPr>
          <p:cNvPr id="13" name="Rectangle 12"/>
          <p:cNvSpPr/>
          <p:nvPr/>
        </p:nvSpPr>
        <p:spPr>
          <a:xfrm>
            <a:off x="2667000" y="3200400"/>
            <a:ext cx="2286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4" name="Diamond 13"/>
          <p:cNvSpPr/>
          <p:nvPr/>
        </p:nvSpPr>
        <p:spPr>
          <a:xfrm>
            <a:off x="2714625" y="5524500"/>
            <a:ext cx="2190750" cy="1143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SUPERVISES</a:t>
            </a:r>
          </a:p>
        </p:txBody>
      </p:sp>
      <p:sp>
        <p:nvSpPr>
          <p:cNvPr id="15" name="Rectangle 14"/>
          <p:cNvSpPr/>
          <p:nvPr/>
        </p:nvSpPr>
        <p:spPr>
          <a:xfrm>
            <a:off x="8001000" y="3200400"/>
            <a:ext cx="2286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6" name="Diamond 15"/>
          <p:cNvSpPr/>
          <p:nvPr/>
        </p:nvSpPr>
        <p:spPr>
          <a:xfrm>
            <a:off x="8048625" y="4762500"/>
            <a:ext cx="2190750" cy="1143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WORKS_FOR</a:t>
            </a:r>
          </a:p>
        </p:txBody>
      </p:sp>
      <p:sp>
        <p:nvSpPr>
          <p:cNvPr id="17" name="Rectangle 16"/>
          <p:cNvSpPr/>
          <p:nvPr/>
        </p:nvSpPr>
        <p:spPr>
          <a:xfrm>
            <a:off x="7905750" y="66294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DEPARTMENT</a:t>
            </a:r>
          </a:p>
        </p:txBody>
      </p:sp>
      <p:sp>
        <p:nvSpPr>
          <p:cNvPr id="18" name="Rectangle 17"/>
          <p:cNvSpPr/>
          <p:nvPr/>
        </p:nvSpPr>
        <p:spPr>
          <a:xfrm>
            <a:off x="13335000" y="3200400"/>
            <a:ext cx="2286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SUPPLIER</a:t>
            </a:r>
          </a:p>
        </p:txBody>
      </p:sp>
      <p:sp>
        <p:nvSpPr>
          <p:cNvPr id="19" name="Diamond 18"/>
          <p:cNvSpPr/>
          <p:nvPr/>
        </p:nvSpPr>
        <p:spPr>
          <a:xfrm>
            <a:off x="13525500" y="4810125"/>
            <a:ext cx="190500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SUPPLY</a:t>
            </a:r>
          </a:p>
        </p:txBody>
      </p:sp>
      <p:sp>
        <p:nvSpPr>
          <p:cNvPr id="20" name="Rectangle 19"/>
          <p:cNvSpPr/>
          <p:nvPr/>
        </p:nvSpPr>
        <p:spPr>
          <a:xfrm>
            <a:off x="12192000" y="6819900"/>
            <a:ext cx="1905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PART</a:t>
            </a:r>
          </a:p>
        </p:txBody>
      </p:sp>
      <p:sp>
        <p:nvSpPr>
          <p:cNvPr id="21" name="Rectangle 20"/>
          <p:cNvSpPr/>
          <p:nvPr/>
        </p:nvSpPr>
        <p:spPr>
          <a:xfrm>
            <a:off x="14763750" y="6819900"/>
            <a:ext cx="2095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PROJECT</a:t>
            </a:r>
          </a:p>
        </p:txBody>
      </p:sp>
      <p:sp>
        <p:nvSpPr>
          <p:cNvPr id="22" name="TextBox 21"/>
          <p:cNvSpPr txBox="1"/>
          <p:nvPr/>
        </p:nvSpPr>
        <p:spPr>
          <a:xfrm>
            <a:off x="1571625" y="4800523"/>
            <a:ext cx="142875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supervisor</a:t>
            </a:r>
          </a:p>
        </p:txBody>
      </p:sp>
      <p:sp>
        <p:nvSpPr>
          <p:cNvPr id="23" name="TextBox 22"/>
          <p:cNvSpPr txBox="1"/>
          <p:nvPr/>
        </p:nvSpPr>
        <p:spPr>
          <a:xfrm>
            <a:off x="4667250" y="4800523"/>
            <a:ext cx="142875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supervisee</a:t>
            </a:r>
          </a:p>
        </p:txBody>
      </p:sp>
      <p:sp>
        <p:nvSpPr>
          <p:cNvPr id="24" name="TextBox 23"/>
          <p:cNvSpPr txBox="1"/>
          <p:nvPr/>
        </p:nvSpPr>
        <p:spPr>
          <a:xfrm>
            <a:off x="1333500" y="7962900"/>
            <a:ext cx="4953000" cy="330365"/>
          </a:xfrm>
          <a:prstGeom prst="rect">
            <a:avLst/>
          </a:prstGeom>
          <a:noFill/>
        </p:spPr>
        <p:txBody>
          <a:bodyPr wrap="square" lIns="0" rIns="0" tIns="0" bIns="0" anchor="t"/>
          <a:lstStyle/>
          <a:p>
            <a:pPr algn="ctr">
              <a:lnSpc>
                <a:spcPct val="111800"/>
              </a:lnSpc>
            </a:pPr>
            <a:r>
              <a:rPr sz="1794" b="1" i="0" u="none">
                <a:solidFill>
                  <a:srgbClr val="C8102E"/>
                </a:solidFill>
                <a:latin typeface="Calibri"/>
              </a:rPr>
              <a:t>Unary (recursive): 1 entity type</a:t>
            </a:r>
          </a:p>
        </p:txBody>
      </p:sp>
      <p:sp>
        <p:nvSpPr>
          <p:cNvPr id="25" name="TextBox 24"/>
          <p:cNvSpPr txBox="1"/>
          <p:nvPr/>
        </p:nvSpPr>
        <p:spPr>
          <a:xfrm>
            <a:off x="6667500" y="7962900"/>
            <a:ext cx="4953000" cy="330365"/>
          </a:xfrm>
          <a:prstGeom prst="rect">
            <a:avLst/>
          </a:prstGeom>
          <a:noFill/>
        </p:spPr>
        <p:txBody>
          <a:bodyPr wrap="square" lIns="0" rIns="0" tIns="0" bIns="0" anchor="t"/>
          <a:lstStyle/>
          <a:p>
            <a:pPr algn="ctr">
              <a:lnSpc>
                <a:spcPct val="111800"/>
              </a:lnSpc>
            </a:pPr>
            <a:r>
              <a:rPr sz="1794" b="1" i="0" u="none">
                <a:solidFill>
                  <a:srgbClr val="C8102E"/>
                </a:solidFill>
                <a:latin typeface="Calibri"/>
              </a:rPr>
              <a:t>Binary: 2 entity types</a:t>
            </a:r>
          </a:p>
        </p:txBody>
      </p:sp>
      <p:sp>
        <p:nvSpPr>
          <p:cNvPr id="26" name="TextBox 25"/>
          <p:cNvSpPr txBox="1"/>
          <p:nvPr/>
        </p:nvSpPr>
        <p:spPr>
          <a:xfrm>
            <a:off x="12001500" y="7962900"/>
            <a:ext cx="4953000" cy="330365"/>
          </a:xfrm>
          <a:prstGeom prst="rect">
            <a:avLst/>
          </a:prstGeom>
          <a:noFill/>
        </p:spPr>
        <p:txBody>
          <a:bodyPr wrap="square" lIns="0" rIns="0" tIns="0" bIns="0" anchor="t"/>
          <a:lstStyle/>
          <a:p>
            <a:pPr algn="ctr">
              <a:lnSpc>
                <a:spcPct val="111800"/>
              </a:lnSpc>
            </a:pPr>
            <a:r>
              <a:rPr sz="1794" b="1" i="0" u="none">
                <a:solidFill>
                  <a:srgbClr val="C8102E"/>
                </a:solidFill>
                <a:latin typeface="Calibri"/>
              </a:rPr>
              <a:t>Ternary: 3 entity types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16/40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Cardinality ratio: 1:1, 1:N, M:N</a:t>
            </a:r>
          </a:p>
        </p:txBody>
      </p:sp>
      <p:cxnSp>
        <p:nvCxnSpPr>
          <p:cNvPr id="6" name="Connector 5"/>
          <p:cNvCxnSpPr/>
          <p:nvPr/>
        </p:nvCxnSpPr>
        <p:spPr>
          <a:xfrm>
            <a:off x="4048125" y="3524250"/>
            <a:ext cx="1047750" cy="0"/>
          </a:xfrm>
          <a:prstGeom prst="line">
            <a:avLst/>
          </a:prstGeom>
          <a:ln w="23812">
            <a:solidFill>
              <a:srgbClr val="0F172A"/>
            </a:solidFill>
          </a:ln>
        </p:spPr>
      </p:cxnSp>
      <p:cxnSp>
        <p:nvCxnSpPr>
          <p:cNvPr id="7" name="Connector 6"/>
          <p:cNvCxnSpPr/>
          <p:nvPr/>
        </p:nvCxnSpPr>
        <p:spPr>
          <a:xfrm>
            <a:off x="7096125" y="3524250"/>
            <a:ext cx="1047750" cy="0"/>
          </a:xfrm>
          <a:prstGeom prst="line">
            <a:avLst/>
          </a:prstGeom>
          <a:ln w="23812">
            <a:solidFill>
              <a:srgbClr val="0F172A"/>
            </a:solidFill>
          </a:ln>
        </p:spPr>
      </p:cxnSp>
      <p:cxnSp>
        <p:nvCxnSpPr>
          <p:cNvPr id="8" name="Connector 7"/>
          <p:cNvCxnSpPr/>
          <p:nvPr/>
        </p:nvCxnSpPr>
        <p:spPr>
          <a:xfrm>
            <a:off x="4048125" y="5524500"/>
            <a:ext cx="1047750" cy="0"/>
          </a:xfrm>
          <a:prstGeom prst="line">
            <a:avLst/>
          </a:prstGeom>
          <a:ln w="23812">
            <a:solidFill>
              <a:srgbClr val="0F172A"/>
            </a:solidFill>
          </a:ln>
        </p:spPr>
      </p:cxnSp>
      <p:cxnSp>
        <p:nvCxnSpPr>
          <p:cNvPr id="9" name="Connector 8"/>
          <p:cNvCxnSpPr/>
          <p:nvPr/>
        </p:nvCxnSpPr>
        <p:spPr>
          <a:xfrm>
            <a:off x="7096125" y="5524500"/>
            <a:ext cx="1047750" cy="0"/>
          </a:xfrm>
          <a:prstGeom prst="line">
            <a:avLst/>
          </a:prstGeom>
          <a:ln w="23812">
            <a:solidFill>
              <a:srgbClr val="0F172A"/>
            </a:solidFill>
          </a:ln>
        </p:spPr>
      </p:cxnSp>
      <p:cxnSp>
        <p:nvCxnSpPr>
          <p:cNvPr id="10" name="Connector 9"/>
          <p:cNvCxnSpPr/>
          <p:nvPr/>
        </p:nvCxnSpPr>
        <p:spPr>
          <a:xfrm>
            <a:off x="4048125" y="7524750"/>
            <a:ext cx="1047750" cy="0"/>
          </a:xfrm>
          <a:prstGeom prst="line">
            <a:avLst/>
          </a:prstGeom>
          <a:ln w="23812">
            <a:solidFill>
              <a:srgbClr val="0F172A"/>
            </a:solidFill>
          </a:ln>
        </p:spPr>
      </p:cxnSp>
      <p:cxnSp>
        <p:nvCxnSpPr>
          <p:cNvPr id="11" name="Connector 10"/>
          <p:cNvCxnSpPr/>
          <p:nvPr/>
        </p:nvCxnSpPr>
        <p:spPr>
          <a:xfrm>
            <a:off x="7096125" y="7524750"/>
            <a:ext cx="1047750" cy="0"/>
          </a:xfrm>
          <a:prstGeom prst="line">
            <a:avLst/>
          </a:prstGeom>
          <a:ln w="23812">
            <a:solidFill>
              <a:srgbClr val="0F172A"/>
            </a:solidFill>
          </a:ln>
        </p:spPr>
      </p:cxnSp>
      <p:sp>
        <p:nvSpPr>
          <p:cNvPr id="12" name="Rectangle 11"/>
          <p:cNvSpPr/>
          <p:nvPr/>
        </p:nvSpPr>
        <p:spPr>
          <a:xfrm>
            <a:off x="1666875" y="314325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3" name="Diamond 12"/>
          <p:cNvSpPr/>
          <p:nvPr/>
        </p:nvSpPr>
        <p:spPr>
          <a:xfrm>
            <a:off x="5095875" y="300037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MANAGES</a:t>
            </a:r>
          </a:p>
        </p:txBody>
      </p:sp>
      <p:sp>
        <p:nvSpPr>
          <p:cNvPr id="14" name="Rectangle 13"/>
          <p:cNvSpPr/>
          <p:nvPr/>
        </p:nvSpPr>
        <p:spPr>
          <a:xfrm>
            <a:off x="8143875" y="314325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DEPARTMENT</a:t>
            </a:r>
          </a:p>
        </p:txBody>
      </p:sp>
      <p:sp>
        <p:nvSpPr>
          <p:cNvPr id="15" name="Rectangle 14"/>
          <p:cNvSpPr/>
          <p:nvPr/>
        </p:nvSpPr>
        <p:spPr>
          <a:xfrm>
            <a:off x="1666875" y="51435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DEPARTMENT</a:t>
            </a:r>
          </a:p>
        </p:txBody>
      </p:sp>
      <p:sp>
        <p:nvSpPr>
          <p:cNvPr id="16" name="Diamond 15"/>
          <p:cNvSpPr/>
          <p:nvPr/>
        </p:nvSpPr>
        <p:spPr>
          <a:xfrm>
            <a:off x="5095875" y="500062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HAS</a:t>
            </a:r>
          </a:p>
        </p:txBody>
      </p:sp>
      <p:sp>
        <p:nvSpPr>
          <p:cNvPr id="17" name="Rectangle 16"/>
          <p:cNvSpPr/>
          <p:nvPr/>
        </p:nvSpPr>
        <p:spPr>
          <a:xfrm>
            <a:off x="8143875" y="51435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8" name="Rectangle 17"/>
          <p:cNvSpPr/>
          <p:nvPr/>
        </p:nvSpPr>
        <p:spPr>
          <a:xfrm>
            <a:off x="1666875" y="714375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9" name="Diamond 18"/>
          <p:cNvSpPr/>
          <p:nvPr/>
        </p:nvSpPr>
        <p:spPr>
          <a:xfrm>
            <a:off x="5095875" y="700087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WORKS_ON</a:t>
            </a:r>
          </a:p>
        </p:txBody>
      </p:sp>
      <p:sp>
        <p:nvSpPr>
          <p:cNvPr id="20" name="Rectangle 19"/>
          <p:cNvSpPr/>
          <p:nvPr/>
        </p:nvSpPr>
        <p:spPr>
          <a:xfrm>
            <a:off x="8143875" y="714375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PROJECT</a:t>
            </a:r>
          </a:p>
        </p:txBody>
      </p:sp>
      <p:sp>
        <p:nvSpPr>
          <p:cNvPr id="21" name="TextBox 20"/>
          <p:cNvSpPr txBox="1"/>
          <p:nvPr/>
        </p:nvSpPr>
        <p:spPr>
          <a:xfrm>
            <a:off x="4143375" y="30923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2" name="TextBox 21"/>
          <p:cNvSpPr txBox="1"/>
          <p:nvPr/>
        </p:nvSpPr>
        <p:spPr>
          <a:xfrm>
            <a:off x="7667625" y="30923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3" name="TextBox 22"/>
          <p:cNvSpPr txBox="1"/>
          <p:nvPr/>
        </p:nvSpPr>
        <p:spPr>
          <a:xfrm>
            <a:off x="4143375" y="50926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4" name="TextBox 23"/>
          <p:cNvSpPr txBox="1"/>
          <p:nvPr/>
        </p:nvSpPr>
        <p:spPr>
          <a:xfrm>
            <a:off x="7667625" y="50926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25" name="TextBox 24"/>
          <p:cNvSpPr txBox="1"/>
          <p:nvPr/>
        </p:nvSpPr>
        <p:spPr>
          <a:xfrm>
            <a:off x="4143375" y="70928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M</a:t>
            </a:r>
          </a:p>
        </p:txBody>
      </p:sp>
      <p:sp>
        <p:nvSpPr>
          <p:cNvPr id="26" name="TextBox 25"/>
          <p:cNvSpPr txBox="1"/>
          <p:nvPr/>
        </p:nvSpPr>
        <p:spPr>
          <a:xfrm>
            <a:off x="7667625" y="70928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27" name="TextBox 26"/>
          <p:cNvSpPr txBox="1"/>
          <p:nvPr/>
        </p:nvSpPr>
        <p:spPr>
          <a:xfrm>
            <a:off x="11049000" y="3143250"/>
            <a:ext cx="6019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An employee manages at most one department; a department has at most one manager.</a:t>
            </a:r>
          </a:p>
        </p:txBody>
      </p:sp>
      <p:sp>
        <p:nvSpPr>
          <p:cNvPr id="28" name="TextBox 27"/>
          <p:cNvSpPr txBox="1"/>
          <p:nvPr/>
        </p:nvSpPr>
        <p:spPr>
          <a:xfrm>
            <a:off x="11049000" y="5143500"/>
            <a:ext cx="6019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 department has many employees; an employee belongs to at most one department.</a:t>
            </a:r>
          </a:p>
        </p:txBody>
      </p:sp>
      <p:sp>
        <p:nvSpPr>
          <p:cNvPr id="29" name="TextBox 28"/>
          <p:cNvSpPr txBox="1"/>
          <p:nvPr/>
        </p:nvSpPr>
        <p:spPr>
          <a:xfrm>
            <a:off x="11049000" y="7143750"/>
            <a:ext cx="6019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An employee works on many projects; a project has many employees.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17/40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Participation: total vs partial</a:t>
            </a:r>
          </a:p>
        </p:txBody>
      </p:sp>
      <p:cxnSp>
        <p:nvCxnSpPr>
          <p:cNvPr id="6" name="Connector 5"/>
          <p:cNvCxnSpPr/>
          <p:nvPr/>
        </p:nvCxnSpPr>
        <p:spPr>
          <a:xfrm>
            <a:off x="4048125" y="3810000"/>
            <a:ext cx="1047750" cy="0"/>
          </a:xfrm>
          <a:prstGeom prst="line">
            <a:avLst/>
          </a:prstGeom>
          <a:ln w="23812">
            <a:solidFill>
              <a:srgbClr val="0F172A"/>
            </a:solidFill>
          </a:ln>
        </p:spPr>
      </p:cxnSp>
      <p:cxnSp>
        <p:nvCxnSpPr>
          <p:cNvPr id="7" name="Connector 6"/>
          <p:cNvCxnSpPr/>
          <p:nvPr/>
        </p:nvCxnSpPr>
        <p:spPr>
          <a:xfrm>
            <a:off x="7096125" y="3857625"/>
            <a:ext cx="1047750" cy="0"/>
          </a:xfrm>
          <a:prstGeom prst="line">
            <a:avLst/>
          </a:prstGeom>
          <a:ln w="23812">
            <a:solidFill>
              <a:srgbClr val="0F172A"/>
            </a:solidFill>
          </a:ln>
        </p:spPr>
      </p:cxnSp>
      <p:cxnSp>
        <p:nvCxnSpPr>
          <p:cNvPr id="8" name="Connector 7"/>
          <p:cNvCxnSpPr/>
          <p:nvPr/>
        </p:nvCxnSpPr>
        <p:spPr>
          <a:xfrm>
            <a:off x="7096125" y="3762375"/>
            <a:ext cx="1047750" cy="0"/>
          </a:xfrm>
          <a:prstGeom prst="line">
            <a:avLst/>
          </a:prstGeom>
          <a:ln w="23812">
            <a:solidFill>
              <a:srgbClr val="0F172A"/>
            </a:solidFill>
          </a:ln>
        </p:spPr>
      </p:cxnSp>
      <p:cxnSp>
        <p:nvCxnSpPr>
          <p:cNvPr id="9" name="Connector 8"/>
          <p:cNvCxnSpPr/>
          <p:nvPr/>
        </p:nvCxnSpPr>
        <p:spPr>
          <a:xfrm>
            <a:off x="4048125" y="6858000"/>
            <a:ext cx="1047750" cy="0"/>
          </a:xfrm>
          <a:prstGeom prst="line">
            <a:avLst/>
          </a:prstGeom>
          <a:ln w="23812">
            <a:solidFill>
              <a:srgbClr val="0F172A"/>
            </a:solidFill>
          </a:ln>
        </p:spPr>
      </p:cxnSp>
      <p:cxnSp>
        <p:nvCxnSpPr>
          <p:cNvPr id="10" name="Connector 9"/>
          <p:cNvCxnSpPr/>
          <p:nvPr/>
        </p:nvCxnSpPr>
        <p:spPr>
          <a:xfrm>
            <a:off x="7096125" y="6905625"/>
            <a:ext cx="1047750" cy="0"/>
          </a:xfrm>
          <a:prstGeom prst="line">
            <a:avLst/>
          </a:prstGeom>
          <a:ln w="23812">
            <a:solidFill>
              <a:srgbClr val="0F172A"/>
            </a:solidFill>
          </a:ln>
        </p:spPr>
      </p:cxnSp>
      <p:cxnSp>
        <p:nvCxnSpPr>
          <p:cNvPr id="11" name="Connector 10"/>
          <p:cNvCxnSpPr/>
          <p:nvPr/>
        </p:nvCxnSpPr>
        <p:spPr>
          <a:xfrm>
            <a:off x="7096125" y="6810375"/>
            <a:ext cx="1047750" cy="0"/>
          </a:xfrm>
          <a:prstGeom prst="line">
            <a:avLst/>
          </a:prstGeom>
          <a:ln w="23812">
            <a:solidFill>
              <a:srgbClr val="0F172A"/>
            </a:solidFill>
          </a:ln>
        </p:spPr>
      </p:cxnSp>
      <p:sp>
        <p:nvSpPr>
          <p:cNvPr id="12" name="Rectangle 11"/>
          <p:cNvSpPr/>
          <p:nvPr/>
        </p:nvSpPr>
        <p:spPr>
          <a:xfrm>
            <a:off x="1666875" y="34290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3" name="Diamond 12"/>
          <p:cNvSpPr/>
          <p:nvPr/>
        </p:nvSpPr>
        <p:spPr>
          <a:xfrm>
            <a:off x="5095875" y="328612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MANAGES</a:t>
            </a:r>
          </a:p>
        </p:txBody>
      </p:sp>
      <p:sp>
        <p:nvSpPr>
          <p:cNvPr id="14" name="Rectangle 13"/>
          <p:cNvSpPr/>
          <p:nvPr/>
        </p:nvSpPr>
        <p:spPr>
          <a:xfrm>
            <a:off x="8143875" y="34290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DEPARTMENT</a:t>
            </a:r>
          </a:p>
        </p:txBody>
      </p:sp>
      <p:sp>
        <p:nvSpPr>
          <p:cNvPr id="15" name="Rectangle 14"/>
          <p:cNvSpPr/>
          <p:nvPr/>
        </p:nvSpPr>
        <p:spPr>
          <a:xfrm>
            <a:off x="1666875" y="64770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6" name="Diamond 15"/>
          <p:cNvSpPr/>
          <p:nvPr/>
        </p:nvSpPr>
        <p:spPr>
          <a:xfrm>
            <a:off x="5095875" y="633412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HAS</a:t>
            </a:r>
          </a:p>
        </p:txBody>
      </p:sp>
      <p:sp>
        <p:nvSpPr>
          <p:cNvPr id="17" name="Rectangle 16"/>
          <p:cNvSpPr/>
          <p:nvPr/>
        </p:nvSpPr>
        <p:spPr>
          <a:xfrm>
            <a:off x="8143875" y="64770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CAR</a:t>
            </a:r>
          </a:p>
        </p:txBody>
      </p:sp>
      <p:sp>
        <p:nvSpPr>
          <p:cNvPr id="18" name="TextBox 17"/>
          <p:cNvSpPr txBox="1"/>
          <p:nvPr/>
        </p:nvSpPr>
        <p:spPr>
          <a:xfrm>
            <a:off x="4143375" y="3378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19" name="TextBox 18"/>
          <p:cNvSpPr txBox="1"/>
          <p:nvPr/>
        </p:nvSpPr>
        <p:spPr>
          <a:xfrm>
            <a:off x="7667625" y="3378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0" name="TextBox 19"/>
          <p:cNvSpPr txBox="1"/>
          <p:nvPr/>
        </p:nvSpPr>
        <p:spPr>
          <a:xfrm>
            <a:off x="4143375" y="6426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1" name="TextBox 20"/>
          <p:cNvSpPr txBox="1"/>
          <p:nvPr/>
        </p:nvSpPr>
        <p:spPr>
          <a:xfrm>
            <a:off x="7667625" y="6426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2" name="TextBox 21"/>
          <p:cNvSpPr txBox="1"/>
          <p:nvPr/>
        </p:nvSpPr>
        <p:spPr>
          <a:xfrm>
            <a:off x="11049000" y="3238500"/>
            <a:ext cx="6019800" cy="922743"/>
          </a:xfrm>
          <a:prstGeom prst="rect">
            <a:avLst/>
          </a:prstGeom>
          <a:noFill/>
        </p:spPr>
        <p:txBody>
          <a:bodyPr wrap="square" lIns="0" rIns="0" tIns="0" bIns="0" anchor="t"/>
          <a:lstStyle/>
          <a:p>
            <a:pPr algn="l">
              <a:lnSpc>
                <a:spcPct val="111800"/>
              </a:lnSpc>
            </a:pPr>
            <a:r>
              <a:rPr sz="1794" b="0" i="0" u="none">
                <a:solidFill>
                  <a:srgbClr val="334155"/>
                </a:solidFill>
                <a:latin typeface="Calibri"/>
              </a:rPr>
              <a:t>Not every employee manages a department → </a:t>
            </a:r>
            <a:r>
              <a:rPr sz="1794" b="1" i="0" u="none">
                <a:solidFill>
                  <a:srgbClr val="334155"/>
                </a:solidFill>
                <a:latin typeface="Calibri"/>
              </a:rPr>
              <a:t>partial</a:t>
            </a:r>
            <a:r>
              <a:rPr sz="1794" b="0" i="0" u="none">
                <a:solidFill>
                  <a:srgbClr val="334155"/>
                </a:solidFill>
                <a:latin typeface="Calibri"/>
              </a:rPr>
              <a:t> (single line). Every department must have a manager → </a:t>
            </a:r>
            <a:r>
              <a:rPr sz="1794" b="1" i="0" u="none">
                <a:solidFill>
                  <a:srgbClr val="334155"/>
                </a:solidFill>
                <a:latin typeface="Calibri"/>
              </a:rPr>
              <a:t>total</a:t>
            </a:r>
            <a:r>
              <a:rPr sz="1794" b="0" i="0" u="none">
                <a:solidFill>
                  <a:srgbClr val="334155"/>
                </a:solidFill>
                <a:latin typeface="Calibri"/>
              </a:rPr>
              <a:t> (double line).</a:t>
            </a:r>
          </a:p>
        </p:txBody>
      </p:sp>
      <p:sp>
        <p:nvSpPr>
          <p:cNvPr id="23" name="TextBox 22"/>
          <p:cNvSpPr txBox="1"/>
          <p:nvPr/>
        </p:nvSpPr>
        <p:spPr>
          <a:xfrm>
            <a:off x="11049000" y="6286500"/>
            <a:ext cx="6019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An employee </a:t>
            </a:r>
            <a:r>
              <a:rPr sz="1794" b="1" i="0" u="none">
                <a:solidFill>
                  <a:srgbClr val="334155"/>
                </a:solidFill>
                <a:latin typeface="Calibri"/>
              </a:rPr>
              <a:t>may</a:t>
            </a:r>
            <a:r>
              <a:rPr sz="1794" b="0" i="0" u="none">
                <a:solidFill>
                  <a:srgbClr val="334155"/>
                </a:solidFill>
                <a:latin typeface="Calibri"/>
              </a:rPr>
              <a:t> have a car → </a:t>
            </a:r>
            <a:r>
              <a:rPr sz="1794" b="1" i="0" u="none">
                <a:solidFill>
                  <a:srgbClr val="334155"/>
                </a:solidFill>
                <a:latin typeface="Calibri"/>
              </a:rPr>
              <a:t>partial</a:t>
            </a:r>
            <a:r>
              <a:rPr sz="1794" b="0" i="0" u="none">
                <a:solidFill>
                  <a:srgbClr val="334155"/>
                </a:solidFill>
                <a:latin typeface="Calibri"/>
              </a:rPr>
              <a:t>. A car </a:t>
            </a:r>
            <a:r>
              <a:rPr sz="1794" b="1" i="0" u="none">
                <a:solidFill>
                  <a:srgbClr val="334155"/>
                </a:solidFill>
                <a:latin typeface="Calibri"/>
              </a:rPr>
              <a:t>must</a:t>
            </a:r>
            <a:r>
              <a:rPr sz="1794" b="0" i="0" u="none">
                <a:solidFill>
                  <a:srgbClr val="334155"/>
                </a:solidFill>
                <a:latin typeface="Calibri"/>
              </a:rPr>
              <a:t> be assigned to an employee → </a:t>
            </a:r>
            <a:r>
              <a:rPr sz="1794" b="1" i="0" u="none">
                <a:solidFill>
                  <a:srgbClr val="334155"/>
                </a:solidFill>
                <a:latin typeface="Calibri"/>
              </a:rPr>
              <a:t>total</a:t>
            </a:r>
            <a:r>
              <a:rPr sz="1794" b="0" i="0" u="none">
                <a:solidFill>
                  <a:srgbClr val="334155"/>
                </a:solidFill>
                <a:latin typeface="Calibri"/>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18/40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Structural constraints in (min, max) notation</a:t>
            </a:r>
          </a:p>
        </p:txBody>
      </p:sp>
      <p:cxnSp>
        <p:nvCxnSpPr>
          <p:cNvPr id="6" name="Connector 5"/>
          <p:cNvCxnSpPr/>
          <p:nvPr/>
        </p:nvCxnSpPr>
        <p:spPr>
          <a:xfrm>
            <a:off x="5048250" y="3810000"/>
            <a:ext cx="3048000" cy="0"/>
          </a:xfrm>
          <a:prstGeom prst="line">
            <a:avLst/>
          </a:prstGeom>
          <a:ln w="23812">
            <a:solidFill>
              <a:srgbClr val="0F172A"/>
            </a:solidFill>
          </a:ln>
        </p:spPr>
      </p:cxnSp>
      <p:cxnSp>
        <p:nvCxnSpPr>
          <p:cNvPr id="7" name="Connector 6"/>
          <p:cNvCxnSpPr/>
          <p:nvPr/>
        </p:nvCxnSpPr>
        <p:spPr>
          <a:xfrm>
            <a:off x="10191750" y="3857625"/>
            <a:ext cx="3048000" cy="0"/>
          </a:xfrm>
          <a:prstGeom prst="line">
            <a:avLst/>
          </a:prstGeom>
          <a:ln w="23812">
            <a:solidFill>
              <a:srgbClr val="0F172A"/>
            </a:solidFill>
          </a:ln>
        </p:spPr>
      </p:cxnSp>
      <p:cxnSp>
        <p:nvCxnSpPr>
          <p:cNvPr id="8" name="Connector 7"/>
          <p:cNvCxnSpPr/>
          <p:nvPr/>
        </p:nvCxnSpPr>
        <p:spPr>
          <a:xfrm>
            <a:off x="10191750" y="3762375"/>
            <a:ext cx="3048000" cy="0"/>
          </a:xfrm>
          <a:prstGeom prst="line">
            <a:avLst/>
          </a:prstGeom>
          <a:ln w="23812">
            <a:solidFill>
              <a:srgbClr val="0F172A"/>
            </a:solidFill>
          </a:ln>
        </p:spPr>
      </p:cxnSp>
      <p:sp>
        <p:nvSpPr>
          <p:cNvPr id="9" name="Rectangle 8"/>
          <p:cNvSpPr/>
          <p:nvPr/>
        </p:nvSpPr>
        <p:spPr>
          <a:xfrm>
            <a:off x="2571750" y="3390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DEPARTMENT</a:t>
            </a:r>
          </a:p>
        </p:txBody>
      </p:sp>
      <p:sp>
        <p:nvSpPr>
          <p:cNvPr id="10" name="Diamond 9"/>
          <p:cNvSpPr/>
          <p:nvPr/>
        </p:nvSpPr>
        <p:spPr>
          <a:xfrm>
            <a:off x="8096250" y="3238500"/>
            <a:ext cx="2095500" cy="1143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HIRES</a:t>
            </a:r>
          </a:p>
        </p:txBody>
      </p:sp>
      <p:sp>
        <p:nvSpPr>
          <p:cNvPr id="11" name="Rectangle 10"/>
          <p:cNvSpPr/>
          <p:nvPr/>
        </p:nvSpPr>
        <p:spPr>
          <a:xfrm>
            <a:off x="13239750" y="3390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2" name="TextBox 11"/>
          <p:cNvSpPr txBox="1"/>
          <p:nvPr/>
        </p:nvSpPr>
        <p:spPr>
          <a:xfrm>
            <a:off x="5524500" y="3340017"/>
            <a:ext cx="1143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(0,N)</a:t>
            </a:r>
          </a:p>
        </p:txBody>
      </p:sp>
      <p:sp>
        <p:nvSpPr>
          <p:cNvPr id="13" name="TextBox 12"/>
          <p:cNvSpPr txBox="1"/>
          <p:nvPr/>
        </p:nvSpPr>
        <p:spPr>
          <a:xfrm>
            <a:off x="11620500" y="3340017"/>
            <a:ext cx="1143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(1,1)</a:t>
            </a:r>
          </a:p>
        </p:txBody>
      </p:sp>
      <p:graphicFrame>
        <p:nvGraphicFramePr>
          <p:cNvPr id="14" name="Table 13"/>
          <p:cNvGraphicFramePr>
            <a:graphicFrameLocks noGrp="1"/>
          </p:cNvGraphicFramePr>
          <p:nvPr/>
        </p:nvGraphicFramePr>
        <p:xfrm>
          <a:off x="1219200" y="5143500"/>
          <a:ext cx="15849600" cy="1346520"/>
        </p:xfrm>
        <a:graphic>
          <a:graphicData uri="http://schemas.openxmlformats.org/drawingml/2006/table">
            <a:tbl>
              <a:tblPr firstRow="0" bandRow="0">
                <a:tableStyleId>{5940675A-B579-460E-94D1-54222C63F5DA}</a:tableStyleId>
              </a:tblPr>
              <a:tblGrid>
                <a:gridCol w="4754880"/>
                <a:gridCol w="7290816"/>
                <a:gridCol w="3803904"/>
              </a:tblGrid>
              <a:tr h="448840">
                <a:tc>
                  <a:txBody>
                    <a:bodyPr/>
                    <a:lstStyle/>
                    <a:p>
                      <a:r>
                        <a:rPr sz="1794" b="1" i="0" u="none">
                          <a:solidFill>
                            <a:srgbClr val="FFFFFF"/>
                          </a:solidFill>
                          <a:latin typeface="Arial"/>
                        </a:rPr>
                        <a:t>Pair</a:t>
                      </a:r>
                    </a:p>
                  </a:txBody>
                  <a:tcPr marL="113919" marR="113919" marT="68351" marB="6835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1" i="0" u="none">
                          <a:solidFill>
                            <a:srgbClr val="FFFFFF"/>
                          </a:solidFill>
                          <a:latin typeface="Arial"/>
                        </a:rPr>
                        <a:t>Read it as</a:t>
                      </a:r>
                    </a:p>
                  </a:txBody>
                  <a:tcPr marL="113919" marR="113919" marT="68351" marB="6835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1" i="0" u="none">
                          <a:solidFill>
                            <a:srgbClr val="FFFFFF"/>
                          </a:solidFill>
                          <a:latin typeface="Arial"/>
                        </a:rPr>
                        <a:t>So participation is</a:t>
                      </a:r>
                    </a:p>
                  </a:txBody>
                  <a:tcPr marL="113919" marR="113919" marT="68351" marB="6835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448840">
                <a:tc>
                  <a:txBody>
                    <a:bodyPr/>
                    <a:lstStyle/>
                    <a:p>
                      <a:r>
                        <a:rPr sz="1794" b="0" i="0" u="none">
                          <a:solidFill>
                            <a:srgbClr val="334155"/>
                          </a:solidFill>
                          <a:latin typeface="Calibri"/>
                        </a:rPr>
                        <a:t>(0,N) next to DEPARTMENT</a:t>
                      </a:r>
                    </a:p>
                  </a:txBody>
                  <a:tcPr marL="113919" marR="113919" marT="68351" marB="6835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0" i="0" u="none">
                          <a:solidFill>
                            <a:srgbClr val="334155"/>
                          </a:solidFill>
                          <a:latin typeface="Calibri"/>
                        </a:rPr>
                        <a:t>A department may hire </a:t>
                      </a:r>
                      <a:r>
                        <a:rPr sz="1794" b="1" i="0" u="none">
                          <a:solidFill>
                            <a:srgbClr val="334155"/>
                          </a:solidFill>
                          <a:latin typeface="Calibri"/>
                        </a:rPr>
                        <a:t>zero or more</a:t>
                      </a:r>
                      <a:r>
                        <a:rPr sz="1794" b="0" i="0" u="none">
                          <a:solidFill>
                            <a:srgbClr val="334155"/>
                          </a:solidFill>
                          <a:latin typeface="Calibri"/>
                        </a:rPr>
                        <a:t> employees</a:t>
                      </a:r>
                    </a:p>
                  </a:txBody>
                  <a:tcPr marL="113919" marR="113919" marT="68351" marB="6835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0" i="0" u="none">
                          <a:solidFill>
                            <a:srgbClr val="334155"/>
                          </a:solidFill>
                          <a:latin typeface="Calibri"/>
                        </a:rPr>
                        <a:t>Partial (min = 0)</a:t>
                      </a:r>
                    </a:p>
                  </a:txBody>
                  <a:tcPr marL="113919" marR="113919" marT="68351" marB="6835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448840">
                <a:tc>
                  <a:txBody>
                    <a:bodyPr/>
                    <a:lstStyle/>
                    <a:p>
                      <a:r>
                        <a:rPr sz="1794" b="0" i="0" u="none">
                          <a:solidFill>
                            <a:srgbClr val="334155"/>
                          </a:solidFill>
                          <a:latin typeface="Calibri"/>
                        </a:rPr>
                        <a:t>(1,1) next to EMPLOYEE</a:t>
                      </a:r>
                    </a:p>
                  </a:txBody>
                  <a:tcPr marL="113919" marR="113919" marT="68351" marB="6835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0" i="0" u="none">
                          <a:solidFill>
                            <a:srgbClr val="334155"/>
                          </a:solidFill>
                          <a:latin typeface="Calibri"/>
                        </a:rPr>
                        <a:t>An employee is hired by </a:t>
                      </a:r>
                      <a:r>
                        <a:rPr sz="1794" b="1" i="0" u="none">
                          <a:solidFill>
                            <a:srgbClr val="334155"/>
                          </a:solidFill>
                          <a:latin typeface="Calibri"/>
                        </a:rPr>
                        <a:t>exactly one</a:t>
                      </a:r>
                      <a:r>
                        <a:rPr sz="1794" b="0" i="0" u="none">
                          <a:solidFill>
                            <a:srgbClr val="334155"/>
                          </a:solidFill>
                          <a:latin typeface="Calibri"/>
                        </a:rPr>
                        <a:t> department</a:t>
                      </a:r>
                    </a:p>
                  </a:txBody>
                  <a:tcPr marL="113919" marR="113919" marT="68351" marB="6835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0" i="0" u="none">
                          <a:solidFill>
                            <a:srgbClr val="334155"/>
                          </a:solidFill>
                          <a:latin typeface="Calibri"/>
                        </a:rPr>
                        <a:t>Total (min ≥ 1)</a:t>
                      </a:r>
                    </a:p>
                  </a:txBody>
                  <a:tcPr marL="113919" marR="113919" marT="68351" marB="6835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19/40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Attributes on relationships</a:t>
            </a:r>
          </a:p>
        </p:txBody>
      </p:sp>
      <p:cxnSp>
        <p:nvCxnSpPr>
          <p:cNvPr id="6" name="Connector 5"/>
          <p:cNvCxnSpPr/>
          <p:nvPr/>
        </p:nvCxnSpPr>
        <p:spPr>
          <a:xfrm>
            <a:off x="5048250" y="4048125"/>
            <a:ext cx="2952750" cy="0"/>
          </a:xfrm>
          <a:prstGeom prst="line">
            <a:avLst/>
          </a:prstGeom>
          <a:ln w="23812">
            <a:solidFill>
              <a:srgbClr val="0F172A"/>
            </a:solidFill>
          </a:ln>
        </p:spPr>
      </p:cxnSp>
      <p:cxnSp>
        <p:nvCxnSpPr>
          <p:cNvPr id="7" name="Connector 6"/>
          <p:cNvCxnSpPr/>
          <p:nvPr/>
        </p:nvCxnSpPr>
        <p:spPr>
          <a:xfrm>
            <a:off x="5048250" y="3952875"/>
            <a:ext cx="2952750" cy="0"/>
          </a:xfrm>
          <a:prstGeom prst="line">
            <a:avLst/>
          </a:prstGeom>
          <a:ln w="23812">
            <a:solidFill>
              <a:srgbClr val="0F172A"/>
            </a:solidFill>
          </a:ln>
        </p:spPr>
      </p:cxnSp>
      <p:cxnSp>
        <p:nvCxnSpPr>
          <p:cNvPr id="8" name="Connector 7"/>
          <p:cNvCxnSpPr/>
          <p:nvPr/>
        </p:nvCxnSpPr>
        <p:spPr>
          <a:xfrm>
            <a:off x="10287000" y="4048125"/>
            <a:ext cx="2952750" cy="0"/>
          </a:xfrm>
          <a:prstGeom prst="line">
            <a:avLst/>
          </a:prstGeom>
          <a:ln w="23812">
            <a:solidFill>
              <a:srgbClr val="0F172A"/>
            </a:solidFill>
          </a:ln>
        </p:spPr>
      </p:cxnSp>
      <p:cxnSp>
        <p:nvCxnSpPr>
          <p:cNvPr id="9" name="Connector 8"/>
          <p:cNvCxnSpPr/>
          <p:nvPr/>
        </p:nvCxnSpPr>
        <p:spPr>
          <a:xfrm>
            <a:off x="10287000" y="3952875"/>
            <a:ext cx="2952750" cy="0"/>
          </a:xfrm>
          <a:prstGeom prst="line">
            <a:avLst/>
          </a:prstGeom>
          <a:ln w="23812">
            <a:solidFill>
              <a:srgbClr val="0F172A"/>
            </a:solidFill>
          </a:ln>
        </p:spPr>
      </p:cxnSp>
      <p:cxnSp>
        <p:nvCxnSpPr>
          <p:cNvPr id="10" name="Connector 9"/>
          <p:cNvCxnSpPr/>
          <p:nvPr/>
        </p:nvCxnSpPr>
        <p:spPr>
          <a:xfrm>
            <a:off x="9144000" y="4572000"/>
            <a:ext cx="0" cy="838200"/>
          </a:xfrm>
          <a:prstGeom prst="line">
            <a:avLst/>
          </a:prstGeom>
          <a:ln w="23812">
            <a:solidFill>
              <a:srgbClr val="0F172A"/>
            </a:solidFill>
          </a:ln>
        </p:spPr>
      </p:cxnSp>
      <p:sp>
        <p:nvSpPr>
          <p:cNvPr id="11" name="Rectangle 10"/>
          <p:cNvSpPr/>
          <p:nvPr/>
        </p:nvSpPr>
        <p:spPr>
          <a:xfrm>
            <a:off x="2571750" y="35814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2" name="Diamond 11"/>
          <p:cNvSpPr/>
          <p:nvPr/>
        </p:nvSpPr>
        <p:spPr>
          <a:xfrm>
            <a:off x="8001000" y="3429000"/>
            <a:ext cx="2286000" cy="1143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WORKS_ON</a:t>
            </a:r>
          </a:p>
        </p:txBody>
      </p:sp>
      <p:sp>
        <p:nvSpPr>
          <p:cNvPr id="13" name="Rectangle 12"/>
          <p:cNvSpPr/>
          <p:nvPr/>
        </p:nvSpPr>
        <p:spPr>
          <a:xfrm>
            <a:off x="13239750" y="35814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PROJECT</a:t>
            </a:r>
          </a:p>
        </p:txBody>
      </p:sp>
      <p:sp>
        <p:nvSpPr>
          <p:cNvPr id="14" name="Oval 13"/>
          <p:cNvSpPr/>
          <p:nvPr/>
        </p:nvSpPr>
        <p:spPr>
          <a:xfrm>
            <a:off x="8286750" y="541020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Hours</a:t>
            </a:r>
          </a:p>
        </p:txBody>
      </p:sp>
      <p:sp>
        <p:nvSpPr>
          <p:cNvPr id="15" name="TextBox 14"/>
          <p:cNvSpPr txBox="1"/>
          <p:nvPr/>
        </p:nvSpPr>
        <p:spPr>
          <a:xfrm>
            <a:off x="5238750" y="35305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M</a:t>
            </a:r>
          </a:p>
        </p:txBody>
      </p:sp>
      <p:sp>
        <p:nvSpPr>
          <p:cNvPr id="16" name="TextBox 15"/>
          <p:cNvSpPr txBox="1"/>
          <p:nvPr/>
        </p:nvSpPr>
        <p:spPr>
          <a:xfrm>
            <a:off x="12668250" y="35305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17" name="TextBox 16"/>
          <p:cNvSpPr txBox="1"/>
          <p:nvPr/>
        </p:nvSpPr>
        <p:spPr>
          <a:xfrm>
            <a:off x="1219200" y="6477000"/>
            <a:ext cx="15849600" cy="626554"/>
          </a:xfrm>
          <a:prstGeom prst="rect">
            <a:avLst/>
          </a:prstGeom>
          <a:noFill/>
        </p:spPr>
        <p:txBody>
          <a:bodyPr wrap="square" lIns="0" rIns="0" tIns="0" bIns="0" anchor="t"/>
          <a:lstStyle/>
          <a:p>
            <a:pPr algn="l">
              <a:lnSpc>
                <a:spcPct val="111800"/>
              </a:lnSpc>
            </a:pPr>
            <a:r>
              <a:rPr sz="1794" b="1" i="0" u="none">
                <a:solidFill>
                  <a:srgbClr val="334155"/>
                </a:solidFill>
                <a:latin typeface="Calibri"/>
              </a:rPr>
              <a:t>Hours</a:t>
            </a:r>
            <a:r>
              <a:rPr sz="1794" b="0" i="0" u="none">
                <a:solidFill>
                  <a:srgbClr val="334155"/>
                </a:solidFill>
                <a:latin typeface="Calibri"/>
              </a:rPr>
              <a:t> belongs to the </a:t>
            </a:r>
            <a:r>
              <a:rPr sz="1794" b="0" i="1" u="none">
                <a:solidFill>
                  <a:srgbClr val="334155"/>
                </a:solidFill>
                <a:latin typeface="Calibri"/>
              </a:rPr>
              <a:t>pair</a:t>
            </a:r>
            <a:r>
              <a:rPr sz="1794" b="0" i="0" u="none">
                <a:solidFill>
                  <a:srgbClr val="334155"/>
                </a:solidFill>
                <a:latin typeface="Calibri"/>
              </a:rPr>
              <a:t> (employee, project), not to either entity alone. Relationships can have attributes too: e.g. </a:t>
            </a:r>
            <a:r>
              <a:rPr sz="1794" b="1" i="0" u="none">
                <a:solidFill>
                  <a:srgbClr val="334155"/>
                </a:solidFill>
                <a:latin typeface="Calibri"/>
              </a:rPr>
              <a:t>StartDate</a:t>
            </a:r>
            <a:r>
              <a:rPr sz="1794" b="0" i="0" u="none">
                <a:solidFill>
                  <a:srgbClr val="334155"/>
                </a:solidFill>
                <a:latin typeface="Calibri"/>
              </a:rPr>
              <a:t> on MANAGES. When we map to tables, an M:N attribute goes into the new relationship table; a 1:N attribute can move to the N-side entity.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NOTATION</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20/40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Summary of Chen notation</a:t>
            </a:r>
          </a:p>
        </p:txBody>
      </p:sp>
      <p:cxnSp>
        <p:nvCxnSpPr>
          <p:cNvPr id="6" name="Connector 5"/>
          <p:cNvCxnSpPr/>
          <p:nvPr/>
        </p:nvCxnSpPr>
        <p:spPr>
          <a:xfrm flipH="1">
            <a:off x="2438400" y="7210425"/>
            <a:ext cx="476250" cy="247650"/>
          </a:xfrm>
          <a:prstGeom prst="line">
            <a:avLst/>
          </a:prstGeom>
          <a:ln w="23812">
            <a:solidFill>
              <a:srgbClr val="0F172A"/>
            </a:solidFill>
          </a:ln>
        </p:spPr>
      </p:cxnSp>
      <p:cxnSp>
        <p:nvCxnSpPr>
          <p:cNvPr id="7" name="Connector 6"/>
          <p:cNvCxnSpPr/>
          <p:nvPr/>
        </p:nvCxnSpPr>
        <p:spPr>
          <a:xfrm>
            <a:off x="3486150" y="7210425"/>
            <a:ext cx="476250" cy="247650"/>
          </a:xfrm>
          <a:prstGeom prst="line">
            <a:avLst/>
          </a:prstGeom>
          <a:ln w="23812">
            <a:solidFill>
              <a:srgbClr val="0F172A"/>
            </a:solidFill>
          </a:ln>
        </p:spPr>
      </p:cxnSp>
      <p:cxnSp>
        <p:nvCxnSpPr>
          <p:cNvPr id="8" name="Connector 7"/>
          <p:cNvCxnSpPr/>
          <p:nvPr/>
        </p:nvCxnSpPr>
        <p:spPr>
          <a:xfrm>
            <a:off x="6638925" y="7286625"/>
            <a:ext cx="904875" cy="0"/>
          </a:xfrm>
          <a:prstGeom prst="line">
            <a:avLst/>
          </a:prstGeom>
          <a:ln w="23812">
            <a:solidFill>
              <a:srgbClr val="0F172A"/>
            </a:solidFill>
          </a:ln>
        </p:spPr>
      </p:cxnSp>
      <p:cxnSp>
        <p:nvCxnSpPr>
          <p:cNvPr id="9" name="Connector 8"/>
          <p:cNvCxnSpPr/>
          <p:nvPr/>
        </p:nvCxnSpPr>
        <p:spPr>
          <a:xfrm>
            <a:off x="6638925" y="7191375"/>
            <a:ext cx="904875" cy="0"/>
          </a:xfrm>
          <a:prstGeom prst="line">
            <a:avLst/>
          </a:prstGeom>
          <a:ln w="23812">
            <a:solidFill>
              <a:srgbClr val="0F172A"/>
            </a:solidFill>
          </a:ln>
        </p:spPr>
      </p:cxnSp>
      <p:cxnSp>
        <p:nvCxnSpPr>
          <p:cNvPr id="10" name="Connector 9"/>
          <p:cNvCxnSpPr/>
          <p:nvPr/>
        </p:nvCxnSpPr>
        <p:spPr>
          <a:xfrm>
            <a:off x="10125075" y="7239000"/>
            <a:ext cx="476250" cy="0"/>
          </a:xfrm>
          <a:prstGeom prst="line">
            <a:avLst/>
          </a:prstGeom>
          <a:ln w="23812">
            <a:solidFill>
              <a:srgbClr val="0F172A"/>
            </a:solidFill>
          </a:ln>
        </p:spPr>
      </p:cxnSp>
      <p:cxnSp>
        <p:nvCxnSpPr>
          <p:cNvPr id="11" name="Connector 10"/>
          <p:cNvCxnSpPr/>
          <p:nvPr/>
        </p:nvCxnSpPr>
        <p:spPr>
          <a:xfrm>
            <a:off x="11649075" y="7239000"/>
            <a:ext cx="476250" cy="0"/>
          </a:xfrm>
          <a:prstGeom prst="line">
            <a:avLst/>
          </a:prstGeom>
          <a:ln w="23812">
            <a:solidFill>
              <a:srgbClr val="0F172A"/>
            </a:solidFill>
          </a:ln>
        </p:spPr>
      </p:cxnSp>
      <p:cxnSp>
        <p:nvCxnSpPr>
          <p:cNvPr id="12" name="Connector 11"/>
          <p:cNvCxnSpPr/>
          <p:nvPr/>
        </p:nvCxnSpPr>
        <p:spPr>
          <a:xfrm>
            <a:off x="14420850" y="7239000"/>
            <a:ext cx="1190625" cy="0"/>
          </a:xfrm>
          <a:prstGeom prst="line">
            <a:avLst/>
          </a:prstGeom>
          <a:ln w="23812">
            <a:solidFill>
              <a:srgbClr val="0F172A"/>
            </a:solidFill>
          </a:ln>
        </p:spPr>
      </p:cxnSp>
      <p:sp>
        <p:nvSpPr>
          <p:cNvPr id="13" name="Rectangle 12"/>
          <p:cNvSpPr/>
          <p:nvPr/>
        </p:nvSpPr>
        <p:spPr>
          <a:xfrm>
            <a:off x="2247900" y="2952750"/>
            <a:ext cx="1905000" cy="7620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a:t>
            </a:r>
          </a:p>
        </p:txBody>
      </p:sp>
      <p:sp>
        <p:nvSpPr>
          <p:cNvPr id="14" name="Rectangle 13"/>
          <p:cNvSpPr/>
          <p:nvPr/>
        </p:nvSpPr>
        <p:spPr>
          <a:xfrm>
            <a:off x="6210300" y="2952750"/>
            <a:ext cx="1905000" cy="762000"/>
          </a:xfrm>
          <a:prstGeom prst="rect">
            <a:avLst/>
          </a:prstGeom>
          <a:solidFill>
            <a:srgbClr val="FFFFFF"/>
          </a:solidFill>
          <a:ln w="66675" cmpd="dbl">
            <a:solidFill>
              <a:srgbClr val="0F172A"/>
            </a:solidFill>
          </a:ln>
        </p:spPr>
        <p:txBody>
          <a:bodyPr rtlCol="0" anchor="ctr" lIns="0" rIns="0" tIns="0" bIns="0" wrap="none"/>
          <a:lstStyle/>
          <a:p>
            <a:pPr algn="ctr"/>
            <a:r>
              <a:rPr sz="1932" b="1" i="0" u="none">
                <a:solidFill>
                  <a:srgbClr val="0F172A"/>
                </a:solidFill>
                <a:latin typeface="Arial"/>
              </a:rPr>
              <a:t>E</a:t>
            </a:r>
          </a:p>
        </p:txBody>
      </p:sp>
      <p:sp>
        <p:nvSpPr>
          <p:cNvPr id="15" name="Diamond 14"/>
          <p:cNvSpPr/>
          <p:nvPr/>
        </p:nvSpPr>
        <p:spPr>
          <a:xfrm>
            <a:off x="10315575" y="2857500"/>
            <a:ext cx="161925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16" name="Diamond 15"/>
          <p:cNvSpPr/>
          <p:nvPr/>
        </p:nvSpPr>
        <p:spPr>
          <a:xfrm>
            <a:off x="14277975" y="2857500"/>
            <a:ext cx="1619250" cy="952500"/>
          </a:xfrm>
          <a:prstGeom prst="diamond">
            <a:avLst/>
          </a:prstGeom>
          <a:solidFill>
            <a:srgbClr val="FDECEF"/>
          </a:solidFill>
          <a:ln w="66675" cmpd="dbl">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17" name="Oval 16"/>
          <p:cNvSpPr/>
          <p:nvPr/>
        </p:nvSpPr>
        <p:spPr>
          <a:xfrm>
            <a:off x="2390775" y="4953000"/>
            <a:ext cx="1619250" cy="6667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A</a:t>
            </a:r>
          </a:p>
        </p:txBody>
      </p:sp>
      <p:sp>
        <p:nvSpPr>
          <p:cNvPr id="18" name="Oval 17"/>
          <p:cNvSpPr/>
          <p:nvPr/>
        </p:nvSpPr>
        <p:spPr>
          <a:xfrm>
            <a:off x="6353175" y="4953000"/>
            <a:ext cx="1619250" cy="66675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A</a:t>
            </a:r>
          </a:p>
        </p:txBody>
      </p:sp>
      <p:sp>
        <p:nvSpPr>
          <p:cNvPr id="19" name="Oval 18"/>
          <p:cNvSpPr/>
          <p:nvPr/>
        </p:nvSpPr>
        <p:spPr>
          <a:xfrm>
            <a:off x="10315575" y="4953000"/>
            <a:ext cx="1619250" cy="666750"/>
          </a:xfrm>
          <a:prstGeom prst="ellipse">
            <a:avLst/>
          </a:prstGeom>
          <a:solidFill>
            <a:srgbClr val="E6F4F4"/>
          </a:solidFill>
          <a:ln w="57150" cmpd="dbl">
            <a:solidFill>
              <a:srgbClr val="0E8A8A"/>
            </a:solidFill>
          </a:ln>
        </p:spPr>
        <p:txBody>
          <a:bodyPr rtlCol="0" anchor="ctr" lIns="0" rIns="0" tIns="0" bIns="0" wrap="none"/>
          <a:lstStyle/>
          <a:p>
            <a:pPr algn="ctr"/>
            <a:r>
              <a:rPr sz="1656" b="0" i="0" u="none">
                <a:solidFill>
                  <a:srgbClr val="0F172A"/>
                </a:solidFill>
                <a:latin typeface="Calibri"/>
              </a:rPr>
              <a:t>A</a:t>
            </a:r>
          </a:p>
        </p:txBody>
      </p:sp>
      <p:sp>
        <p:nvSpPr>
          <p:cNvPr id="20" name="Oval 19"/>
          <p:cNvSpPr/>
          <p:nvPr/>
        </p:nvSpPr>
        <p:spPr>
          <a:xfrm>
            <a:off x="14277975" y="4953000"/>
            <a:ext cx="1619250" cy="666750"/>
          </a:xfrm>
          <a:prstGeom prst="ellipse">
            <a:avLst/>
          </a:prstGeom>
          <a:solidFill>
            <a:srgbClr val="E6F4F4"/>
          </a:solidFill>
          <a:ln w="19050">
            <a:solidFill>
              <a:srgbClr val="0E8A8A"/>
            </a:solidFill>
            <a:prstDash val="dash"/>
          </a:ln>
        </p:spPr>
        <p:txBody>
          <a:bodyPr rtlCol="0" anchor="ctr" lIns="0" rIns="0" tIns="0" bIns="0" wrap="none"/>
          <a:lstStyle/>
          <a:p>
            <a:pPr algn="ctr"/>
            <a:r>
              <a:rPr sz="1656" b="0" i="0" u="none">
                <a:solidFill>
                  <a:srgbClr val="0F172A"/>
                </a:solidFill>
                <a:latin typeface="Calibri"/>
              </a:rPr>
              <a:t>A</a:t>
            </a:r>
          </a:p>
        </p:txBody>
      </p:sp>
      <p:sp>
        <p:nvSpPr>
          <p:cNvPr id="21" name="Oval 20"/>
          <p:cNvSpPr/>
          <p:nvPr/>
        </p:nvSpPr>
        <p:spPr>
          <a:xfrm>
            <a:off x="2581275" y="6696075"/>
            <a:ext cx="1238250" cy="5143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A</a:t>
            </a:r>
          </a:p>
        </p:txBody>
      </p:sp>
      <p:sp>
        <p:nvSpPr>
          <p:cNvPr id="22" name="Oval 21"/>
          <p:cNvSpPr/>
          <p:nvPr/>
        </p:nvSpPr>
        <p:spPr>
          <a:xfrm>
            <a:off x="1676400" y="7458075"/>
            <a:ext cx="1143000" cy="4762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A1</a:t>
            </a:r>
          </a:p>
        </p:txBody>
      </p:sp>
      <p:sp>
        <p:nvSpPr>
          <p:cNvPr id="23" name="Oval 22"/>
          <p:cNvSpPr/>
          <p:nvPr/>
        </p:nvSpPr>
        <p:spPr>
          <a:xfrm>
            <a:off x="3581400" y="7458075"/>
            <a:ext cx="1143000" cy="4762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A2</a:t>
            </a:r>
          </a:p>
        </p:txBody>
      </p:sp>
      <p:sp>
        <p:nvSpPr>
          <p:cNvPr id="24" name="Rectangle 23"/>
          <p:cNvSpPr/>
          <p:nvPr/>
        </p:nvSpPr>
        <p:spPr>
          <a:xfrm>
            <a:off x="5591175" y="6934200"/>
            <a:ext cx="1047750" cy="6096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a:t>
            </a:r>
          </a:p>
        </p:txBody>
      </p:sp>
      <p:sp>
        <p:nvSpPr>
          <p:cNvPr id="25" name="Diamond 24"/>
          <p:cNvSpPr/>
          <p:nvPr/>
        </p:nvSpPr>
        <p:spPr>
          <a:xfrm>
            <a:off x="7543800" y="6858000"/>
            <a:ext cx="1143000" cy="762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26" name="Rectangle 25"/>
          <p:cNvSpPr/>
          <p:nvPr/>
        </p:nvSpPr>
        <p:spPr>
          <a:xfrm>
            <a:off x="9267825" y="6953250"/>
            <a:ext cx="857250" cy="5715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E1</a:t>
            </a:r>
          </a:p>
        </p:txBody>
      </p:sp>
      <p:sp>
        <p:nvSpPr>
          <p:cNvPr id="27" name="Diamond 26"/>
          <p:cNvSpPr/>
          <p:nvPr/>
        </p:nvSpPr>
        <p:spPr>
          <a:xfrm>
            <a:off x="10601325" y="6877050"/>
            <a:ext cx="1047750" cy="7239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28" name="Rectangle 27"/>
          <p:cNvSpPr/>
          <p:nvPr/>
        </p:nvSpPr>
        <p:spPr>
          <a:xfrm>
            <a:off x="12125325" y="6953250"/>
            <a:ext cx="857250" cy="5715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E2</a:t>
            </a:r>
          </a:p>
        </p:txBody>
      </p:sp>
      <p:sp>
        <p:nvSpPr>
          <p:cNvPr id="29" name="Rectangle 28"/>
          <p:cNvSpPr/>
          <p:nvPr/>
        </p:nvSpPr>
        <p:spPr>
          <a:xfrm>
            <a:off x="13468350" y="6934200"/>
            <a:ext cx="952500" cy="6096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a:t>
            </a:r>
          </a:p>
        </p:txBody>
      </p:sp>
      <p:sp>
        <p:nvSpPr>
          <p:cNvPr id="30" name="Diamond 29"/>
          <p:cNvSpPr/>
          <p:nvPr/>
        </p:nvSpPr>
        <p:spPr>
          <a:xfrm>
            <a:off x="15611475" y="6877050"/>
            <a:ext cx="1047750" cy="7239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31" name="TextBox 30"/>
          <p:cNvSpPr txBox="1"/>
          <p:nvPr/>
        </p:nvSpPr>
        <p:spPr>
          <a:xfrm>
            <a:off x="10220325" y="6838873"/>
            <a:ext cx="285750" cy="304952"/>
          </a:xfrm>
          <a:prstGeom prst="rect">
            <a:avLst/>
          </a:prstGeom>
          <a:noFill/>
        </p:spPr>
        <p:txBody>
          <a:bodyPr wrap="square" lIns="0" rIns="0" tIns="0" bIns="0" anchor="t"/>
          <a:lstStyle/>
          <a:p>
            <a:pPr algn="ctr">
              <a:lnSpc>
                <a:spcPct val="111800"/>
              </a:lnSpc>
            </a:pPr>
            <a:r>
              <a:rPr sz="1656" b="1" i="0" u="none">
                <a:solidFill>
                  <a:srgbClr val="0F172A"/>
                </a:solidFill>
                <a:latin typeface="Arial"/>
              </a:rPr>
              <a:t>1</a:t>
            </a:r>
          </a:p>
        </p:txBody>
      </p:sp>
      <p:sp>
        <p:nvSpPr>
          <p:cNvPr id="32" name="TextBox 31"/>
          <p:cNvSpPr txBox="1"/>
          <p:nvPr/>
        </p:nvSpPr>
        <p:spPr>
          <a:xfrm>
            <a:off x="11744325" y="6838873"/>
            <a:ext cx="285750" cy="304952"/>
          </a:xfrm>
          <a:prstGeom prst="rect">
            <a:avLst/>
          </a:prstGeom>
          <a:noFill/>
        </p:spPr>
        <p:txBody>
          <a:bodyPr wrap="square" lIns="0" rIns="0" tIns="0" bIns="0" anchor="t"/>
          <a:lstStyle/>
          <a:p>
            <a:pPr algn="ctr">
              <a:lnSpc>
                <a:spcPct val="111800"/>
              </a:lnSpc>
            </a:pPr>
            <a:r>
              <a:rPr sz="1656" b="1" i="0" u="none">
                <a:solidFill>
                  <a:srgbClr val="0F172A"/>
                </a:solidFill>
                <a:latin typeface="Arial"/>
              </a:rPr>
              <a:t>N</a:t>
            </a:r>
          </a:p>
        </p:txBody>
      </p:sp>
      <p:sp>
        <p:nvSpPr>
          <p:cNvPr id="33" name="TextBox 32"/>
          <p:cNvSpPr txBox="1"/>
          <p:nvPr/>
        </p:nvSpPr>
        <p:spPr>
          <a:xfrm>
            <a:off x="14373225" y="6800773"/>
            <a:ext cx="1333500" cy="304952"/>
          </a:xfrm>
          <a:prstGeom prst="rect">
            <a:avLst/>
          </a:prstGeom>
          <a:noFill/>
        </p:spPr>
        <p:txBody>
          <a:bodyPr wrap="square" lIns="0" rIns="0" tIns="0" bIns="0" anchor="t"/>
          <a:lstStyle/>
          <a:p>
            <a:pPr algn="ctr">
              <a:lnSpc>
                <a:spcPct val="111800"/>
              </a:lnSpc>
            </a:pPr>
            <a:r>
              <a:rPr sz="1656" b="1" i="0" u="none">
                <a:solidFill>
                  <a:srgbClr val="0F172A"/>
                </a:solidFill>
                <a:latin typeface="Arial"/>
              </a:rPr>
              <a:t>(min,max)</a:t>
            </a:r>
          </a:p>
        </p:txBody>
      </p:sp>
      <p:sp>
        <p:nvSpPr>
          <p:cNvPr id="34" name="TextBox 33"/>
          <p:cNvSpPr txBox="1"/>
          <p:nvPr/>
        </p:nvSpPr>
        <p:spPr>
          <a:xfrm>
            <a:off x="1295400" y="409575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Entity type</a:t>
            </a:r>
          </a:p>
        </p:txBody>
      </p:sp>
      <p:sp>
        <p:nvSpPr>
          <p:cNvPr id="35" name="TextBox 34"/>
          <p:cNvSpPr txBox="1"/>
          <p:nvPr/>
        </p:nvSpPr>
        <p:spPr>
          <a:xfrm>
            <a:off x="5257800" y="409575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Weak entity type</a:t>
            </a:r>
          </a:p>
        </p:txBody>
      </p:sp>
      <p:sp>
        <p:nvSpPr>
          <p:cNvPr id="36" name="TextBox 35"/>
          <p:cNvSpPr txBox="1"/>
          <p:nvPr/>
        </p:nvSpPr>
        <p:spPr>
          <a:xfrm>
            <a:off x="9220200" y="409575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Relationship type</a:t>
            </a:r>
          </a:p>
        </p:txBody>
      </p:sp>
      <p:sp>
        <p:nvSpPr>
          <p:cNvPr id="37" name="TextBox 36"/>
          <p:cNvSpPr txBox="1"/>
          <p:nvPr/>
        </p:nvSpPr>
        <p:spPr>
          <a:xfrm>
            <a:off x="13182600" y="409575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Identifying relationship</a:t>
            </a:r>
          </a:p>
        </p:txBody>
      </p:sp>
      <p:sp>
        <p:nvSpPr>
          <p:cNvPr id="38" name="TextBox 37"/>
          <p:cNvSpPr txBox="1"/>
          <p:nvPr/>
        </p:nvSpPr>
        <p:spPr>
          <a:xfrm>
            <a:off x="1295400" y="6048375"/>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Attribute</a:t>
            </a:r>
          </a:p>
        </p:txBody>
      </p:sp>
      <p:sp>
        <p:nvSpPr>
          <p:cNvPr id="39" name="TextBox 38"/>
          <p:cNvSpPr txBox="1"/>
          <p:nvPr/>
        </p:nvSpPr>
        <p:spPr>
          <a:xfrm>
            <a:off x="5257800" y="6048375"/>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Key attribute</a:t>
            </a:r>
          </a:p>
        </p:txBody>
      </p:sp>
      <p:sp>
        <p:nvSpPr>
          <p:cNvPr id="40" name="TextBox 39"/>
          <p:cNvSpPr txBox="1"/>
          <p:nvPr/>
        </p:nvSpPr>
        <p:spPr>
          <a:xfrm>
            <a:off x="9220200" y="6048375"/>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Multi-valued attribute</a:t>
            </a:r>
          </a:p>
        </p:txBody>
      </p:sp>
      <p:sp>
        <p:nvSpPr>
          <p:cNvPr id="41" name="TextBox 40"/>
          <p:cNvSpPr txBox="1"/>
          <p:nvPr/>
        </p:nvSpPr>
        <p:spPr>
          <a:xfrm>
            <a:off x="13182600" y="6048375"/>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Derived attribute</a:t>
            </a:r>
          </a:p>
        </p:txBody>
      </p:sp>
      <p:sp>
        <p:nvSpPr>
          <p:cNvPr id="42" name="TextBox 41"/>
          <p:cNvSpPr txBox="1"/>
          <p:nvPr/>
        </p:nvSpPr>
        <p:spPr>
          <a:xfrm>
            <a:off x="1295400" y="800100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Composite attribute</a:t>
            </a:r>
          </a:p>
        </p:txBody>
      </p:sp>
      <p:sp>
        <p:nvSpPr>
          <p:cNvPr id="43" name="TextBox 42"/>
          <p:cNvSpPr txBox="1"/>
          <p:nvPr/>
        </p:nvSpPr>
        <p:spPr>
          <a:xfrm>
            <a:off x="5257800" y="800100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Total participation of E in R</a:t>
            </a:r>
          </a:p>
        </p:txBody>
      </p:sp>
      <p:sp>
        <p:nvSpPr>
          <p:cNvPr id="44" name="TextBox 43"/>
          <p:cNvSpPr txBox="1"/>
          <p:nvPr/>
        </p:nvSpPr>
        <p:spPr>
          <a:xfrm>
            <a:off x="9220200" y="800100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Cardinality 1:N for E1:E2</a:t>
            </a:r>
          </a:p>
        </p:txBody>
      </p:sp>
      <p:sp>
        <p:nvSpPr>
          <p:cNvPr id="45" name="TextBox 44"/>
          <p:cNvSpPr txBox="1"/>
          <p:nvPr/>
        </p:nvSpPr>
        <p:spPr>
          <a:xfrm>
            <a:off x="13182600" y="800100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(min, max) of E in 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NOTATION</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21/40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same ideas in crow's foot notation</a:t>
            </a:r>
          </a:p>
        </p:txBody>
      </p:sp>
      <p:sp>
        <p:nvSpPr>
          <p:cNvPr id="6" name="TextBox 5"/>
          <p:cNvSpPr txBox="1"/>
          <p:nvPr/>
        </p:nvSpPr>
        <p:spPr>
          <a:xfrm>
            <a:off x="914400" y="2482024"/>
            <a:ext cx="164592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Most modern tools (dbdiagram.io, draw.io, MySQL Workbench, Lucidchart) draw </a:t>
            </a:r>
            <a:r>
              <a:rPr sz="2898" b="1" i="0" u="none">
                <a:solidFill>
                  <a:srgbClr val="334155"/>
                </a:solidFill>
                <a:latin typeface="Calibri"/>
              </a:rPr>
              <a:t>crow's foot</a:t>
            </a:r>
            <a:r>
              <a:rPr sz="2898" b="0" i="0" u="none">
                <a:solidFill>
                  <a:srgbClr val="334155"/>
                </a:solidFill>
                <a:latin typeface="Calibri"/>
              </a:rPr>
              <a:t> ERDs: attributes go inside the entity box and the line ends show cardinality.</a:t>
            </a:r>
          </a:p>
        </p:txBody>
      </p:sp>
      <p:graphicFrame>
        <p:nvGraphicFramePr>
          <p:cNvPr id="7" name="Table 6"/>
          <p:cNvGraphicFramePr>
            <a:graphicFrameLocks noGrp="1"/>
          </p:cNvGraphicFramePr>
          <p:nvPr/>
        </p:nvGraphicFramePr>
        <p:xfrm>
          <a:off x="914400" y="3947541"/>
          <a:ext cx="16459200" cy="3383565"/>
        </p:xfrm>
        <a:graphic>
          <a:graphicData uri="http://schemas.openxmlformats.org/drawingml/2006/table">
            <a:tbl>
              <a:tblPr firstRow="0" bandRow="0">
                <a:tableStyleId>{5940675A-B579-460E-94D1-54222C63F5DA}</a:tableStyleId>
              </a:tblPr>
              <a:tblGrid>
                <a:gridCol w="5596128"/>
                <a:gridCol w="5925312"/>
                <a:gridCol w="4937760"/>
              </a:tblGrid>
              <a:tr h="676713">
                <a:tc>
                  <a:txBody>
                    <a:bodyPr/>
                    <a:lstStyle/>
                    <a:p>
                      <a:r>
                        <a:rPr sz="2704" b="1" i="0" u="none">
                          <a:solidFill>
                            <a:srgbClr val="FFFFFF"/>
                          </a:solidFill>
                          <a:latin typeface="Arial"/>
                        </a:rPr>
                        <a:t>Line end</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Meaning</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Chen equivalent</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  (two bars)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Exactly one (mandatory one)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1 + total participation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—o|—  (circle, bar)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Zero or one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1 + partial participation</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—|&lt;   (bar, crow's foot)</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One or many</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 + total participation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—o&lt;   (circle, crow's foot)</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Zero or many</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 + partial participation</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8" name="Rectangle 7"/>
          <p:cNvSpPr/>
          <p:nvPr/>
        </p:nvSpPr>
        <p:spPr>
          <a:xfrm>
            <a:off x="914400" y="7784500"/>
            <a:ext cx="16459200" cy="1478051"/>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914400" y="7784500"/>
            <a:ext cx="47625" cy="1478051"/>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341120" y="8051200"/>
            <a:ext cx="15605760" cy="944651"/>
          </a:xfrm>
          <a:prstGeom prst="rect">
            <a:avLst/>
          </a:prstGeom>
          <a:noFill/>
        </p:spPr>
        <p:txBody>
          <a:bodyPr wrap="square" lIns="0" rIns="0" tIns="0" bIns="0"/>
          <a:lstStyle/>
          <a:p>
            <a:pPr>
              <a:lnSpc>
                <a:spcPct val="112000"/>
              </a:lnSpc>
            </a:pPr>
            <a:r>
              <a:rPr sz="2704" b="0" i="0" u="none">
                <a:solidFill>
                  <a:srgbClr val="0F172A"/>
                </a:solidFill>
                <a:latin typeface="Calibri"/>
              </a:rPr>
              <a:t>Example: DEPARTMENT —||————o&lt; EMPLOYEE reads "each employee belongs to exactly one department; a department has zero or many employees".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NOTATION</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22/40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Crow's foot, drawn</a:t>
            </a:r>
          </a:p>
        </p:txBody>
      </p:sp>
      <p:sp>
        <p:nvSpPr>
          <p:cNvPr id="6" name="Rectangle 5"/>
          <p:cNvSpPr/>
          <p:nvPr/>
        </p:nvSpPr>
        <p:spPr>
          <a:xfrm>
            <a:off x="1428750" y="3238500"/>
            <a:ext cx="3619500" cy="609600"/>
          </a:xfrm>
          <a:prstGeom prst="rect">
            <a:avLst/>
          </a:prstGeom>
          <a:solidFill>
            <a:srgbClr val="0F172A"/>
          </a:solidFill>
          <a:ln>
            <a:noFill/>
          </a:ln>
        </p:spPr>
        <p:txBody>
          <a:bodyPr rtlCol="0" anchor="ctr" lIns="0" rIns="0" tIns="0" bIns="0"/>
          <a:lstStyle/>
          <a:p>
            <a:pPr algn="ctr"/>
            <a:r>
              <a:rPr sz="1794" b="0" i="0" u="none">
                <a:solidFill>
                  <a:srgbClr val="FFFFFF"/>
                </a:solidFill>
                <a:latin typeface="Arial"/>
              </a:rPr>
              <a:t>DEPARTMENT</a:t>
            </a:r>
          </a:p>
        </p:txBody>
      </p:sp>
      <p:sp>
        <p:nvSpPr>
          <p:cNvPr id="7" name="Rectangle 6"/>
          <p:cNvSpPr/>
          <p:nvPr/>
        </p:nvSpPr>
        <p:spPr>
          <a:xfrm>
            <a:off x="1428750" y="3848100"/>
            <a:ext cx="3619500" cy="1714500"/>
          </a:xfrm>
          <a:prstGeom prst="rect">
            <a:avLst/>
          </a:prstGeom>
          <a:solidFill>
            <a:srgbClr val="FFFFFF"/>
          </a:solidFill>
          <a:ln w="19050">
            <a:solidFill>
              <a:srgbClr val="0F172A"/>
            </a:solidFill>
          </a:ln>
        </p:spPr>
        <p:txBody>
          <a:bodyPr rtlCol="0" anchor="ctr" lIns="0" rIns="0" tIns="0" bIns="0"/>
          <a:lstStyle/>
          <a:p>
            <a:pPr algn="ctr"/>
          </a:p>
        </p:txBody>
      </p:sp>
      <p:sp>
        <p:nvSpPr>
          <p:cNvPr id="8" name="TextBox 7"/>
          <p:cNvSpPr txBox="1"/>
          <p:nvPr/>
        </p:nvSpPr>
        <p:spPr>
          <a:xfrm>
            <a:off x="1619250" y="39814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dnumber  PK</a:t>
            </a:r>
          </a:p>
        </p:txBody>
      </p:sp>
      <p:sp>
        <p:nvSpPr>
          <p:cNvPr id="9" name="TextBox 8"/>
          <p:cNvSpPr txBox="1"/>
          <p:nvPr/>
        </p:nvSpPr>
        <p:spPr>
          <a:xfrm>
            <a:off x="1619250" y="44767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dname</a:t>
            </a:r>
          </a:p>
        </p:txBody>
      </p:sp>
      <p:sp>
        <p:nvSpPr>
          <p:cNvPr id="10" name="TextBox 9"/>
          <p:cNvSpPr txBox="1"/>
          <p:nvPr/>
        </p:nvSpPr>
        <p:spPr>
          <a:xfrm>
            <a:off x="1619250" y="49720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mgr_ssn  FK</a:t>
            </a:r>
          </a:p>
        </p:txBody>
      </p:sp>
      <p:sp>
        <p:nvSpPr>
          <p:cNvPr id="11" name="Rectangle 10"/>
          <p:cNvSpPr/>
          <p:nvPr/>
        </p:nvSpPr>
        <p:spPr>
          <a:xfrm>
            <a:off x="7334250" y="3238500"/>
            <a:ext cx="3619500" cy="609600"/>
          </a:xfrm>
          <a:prstGeom prst="rect">
            <a:avLst/>
          </a:prstGeom>
          <a:solidFill>
            <a:srgbClr val="0F172A"/>
          </a:solidFill>
          <a:ln>
            <a:noFill/>
          </a:ln>
        </p:spPr>
        <p:txBody>
          <a:bodyPr rtlCol="0" anchor="ctr" lIns="0" rIns="0" tIns="0" bIns="0"/>
          <a:lstStyle/>
          <a:p>
            <a:pPr algn="ctr"/>
            <a:r>
              <a:rPr sz="1794" b="0" i="0" u="none">
                <a:solidFill>
                  <a:srgbClr val="FFFFFF"/>
                </a:solidFill>
                <a:latin typeface="Arial"/>
              </a:rPr>
              <a:t>EMPLOYEE</a:t>
            </a:r>
          </a:p>
        </p:txBody>
      </p:sp>
      <p:sp>
        <p:nvSpPr>
          <p:cNvPr id="12" name="Rectangle 11"/>
          <p:cNvSpPr/>
          <p:nvPr/>
        </p:nvSpPr>
        <p:spPr>
          <a:xfrm>
            <a:off x="7334250" y="3848100"/>
            <a:ext cx="3619500" cy="1714500"/>
          </a:xfrm>
          <a:prstGeom prst="rect">
            <a:avLst/>
          </a:prstGeom>
          <a:solidFill>
            <a:srgbClr val="FFFFFF"/>
          </a:solidFill>
          <a:ln w="19050">
            <a:solidFill>
              <a:srgbClr val="0F172A"/>
            </a:solidFill>
          </a:ln>
        </p:spPr>
        <p:txBody>
          <a:bodyPr rtlCol="0" anchor="ctr" lIns="0" rIns="0" tIns="0" bIns="0"/>
          <a:lstStyle/>
          <a:p>
            <a:pPr algn="ctr"/>
          </a:p>
        </p:txBody>
      </p:sp>
      <p:sp>
        <p:nvSpPr>
          <p:cNvPr id="13" name="TextBox 12"/>
          <p:cNvSpPr txBox="1"/>
          <p:nvPr/>
        </p:nvSpPr>
        <p:spPr>
          <a:xfrm>
            <a:off x="7524750" y="39814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ssn  PK</a:t>
            </a:r>
          </a:p>
        </p:txBody>
      </p:sp>
      <p:sp>
        <p:nvSpPr>
          <p:cNvPr id="14" name="TextBox 13"/>
          <p:cNvSpPr txBox="1"/>
          <p:nvPr/>
        </p:nvSpPr>
        <p:spPr>
          <a:xfrm>
            <a:off x="7524750" y="44767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fname</a:t>
            </a:r>
          </a:p>
        </p:txBody>
      </p:sp>
      <p:sp>
        <p:nvSpPr>
          <p:cNvPr id="15" name="TextBox 14"/>
          <p:cNvSpPr txBox="1"/>
          <p:nvPr/>
        </p:nvSpPr>
        <p:spPr>
          <a:xfrm>
            <a:off x="7524750" y="49720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dno  FK</a:t>
            </a:r>
          </a:p>
        </p:txBody>
      </p:sp>
      <p:sp>
        <p:nvSpPr>
          <p:cNvPr id="16" name="Rectangle 15"/>
          <p:cNvSpPr/>
          <p:nvPr/>
        </p:nvSpPr>
        <p:spPr>
          <a:xfrm>
            <a:off x="13239750" y="3238500"/>
            <a:ext cx="3619500" cy="609600"/>
          </a:xfrm>
          <a:prstGeom prst="rect">
            <a:avLst/>
          </a:prstGeom>
          <a:solidFill>
            <a:srgbClr val="0F172A"/>
          </a:solidFill>
          <a:ln>
            <a:noFill/>
          </a:ln>
        </p:spPr>
        <p:txBody>
          <a:bodyPr rtlCol="0" anchor="ctr" lIns="0" rIns="0" tIns="0" bIns="0"/>
          <a:lstStyle/>
          <a:p>
            <a:pPr algn="ctr"/>
            <a:r>
              <a:rPr sz="1794" b="0" i="0" u="none">
                <a:solidFill>
                  <a:srgbClr val="FFFFFF"/>
                </a:solidFill>
                <a:latin typeface="Arial"/>
              </a:rPr>
              <a:t>PROJECT</a:t>
            </a:r>
          </a:p>
        </p:txBody>
      </p:sp>
      <p:sp>
        <p:nvSpPr>
          <p:cNvPr id="17" name="Rectangle 16"/>
          <p:cNvSpPr/>
          <p:nvPr/>
        </p:nvSpPr>
        <p:spPr>
          <a:xfrm>
            <a:off x="13239750" y="3848100"/>
            <a:ext cx="3619500" cy="1714500"/>
          </a:xfrm>
          <a:prstGeom prst="rect">
            <a:avLst/>
          </a:prstGeom>
          <a:solidFill>
            <a:srgbClr val="FFFFFF"/>
          </a:solidFill>
          <a:ln w="19050">
            <a:solidFill>
              <a:srgbClr val="0F172A"/>
            </a:solidFill>
          </a:ln>
        </p:spPr>
        <p:txBody>
          <a:bodyPr rtlCol="0" anchor="ctr" lIns="0" rIns="0" tIns="0" bIns="0"/>
          <a:lstStyle/>
          <a:p>
            <a:pPr algn="ctr"/>
          </a:p>
        </p:txBody>
      </p:sp>
      <p:sp>
        <p:nvSpPr>
          <p:cNvPr id="18" name="TextBox 17"/>
          <p:cNvSpPr txBox="1"/>
          <p:nvPr/>
        </p:nvSpPr>
        <p:spPr>
          <a:xfrm>
            <a:off x="13430250" y="39814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pnumber  PK</a:t>
            </a:r>
          </a:p>
        </p:txBody>
      </p:sp>
      <p:sp>
        <p:nvSpPr>
          <p:cNvPr id="19" name="TextBox 18"/>
          <p:cNvSpPr txBox="1"/>
          <p:nvPr/>
        </p:nvSpPr>
        <p:spPr>
          <a:xfrm>
            <a:off x="13430250" y="44767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pname</a:t>
            </a:r>
          </a:p>
        </p:txBody>
      </p:sp>
      <p:sp>
        <p:nvSpPr>
          <p:cNvPr id="20" name="TextBox 19"/>
          <p:cNvSpPr txBox="1"/>
          <p:nvPr/>
        </p:nvSpPr>
        <p:spPr>
          <a:xfrm>
            <a:off x="13430250" y="49720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dnum  FK</a:t>
            </a:r>
          </a:p>
        </p:txBody>
      </p:sp>
      <p:cxnSp>
        <p:nvCxnSpPr>
          <p:cNvPr id="21" name="Connector 20"/>
          <p:cNvCxnSpPr/>
          <p:nvPr/>
        </p:nvCxnSpPr>
        <p:spPr>
          <a:xfrm>
            <a:off x="5048250" y="4476750"/>
            <a:ext cx="2286000" cy="0"/>
          </a:xfrm>
          <a:prstGeom prst="line">
            <a:avLst/>
          </a:prstGeom>
          <a:ln w="28575">
            <a:solidFill>
              <a:srgbClr val="0F172A"/>
            </a:solidFill>
          </a:ln>
        </p:spPr>
      </p:cxnSp>
      <p:cxnSp>
        <p:nvCxnSpPr>
          <p:cNvPr id="22" name="Connector 21"/>
          <p:cNvCxnSpPr/>
          <p:nvPr/>
        </p:nvCxnSpPr>
        <p:spPr>
          <a:xfrm>
            <a:off x="5257800" y="4305300"/>
            <a:ext cx="0" cy="342900"/>
          </a:xfrm>
          <a:prstGeom prst="line">
            <a:avLst/>
          </a:prstGeom>
          <a:ln w="28575">
            <a:solidFill>
              <a:srgbClr val="0F172A"/>
            </a:solidFill>
          </a:ln>
        </p:spPr>
      </p:cxnSp>
      <p:cxnSp>
        <p:nvCxnSpPr>
          <p:cNvPr id="23" name="Connector 22"/>
          <p:cNvCxnSpPr/>
          <p:nvPr/>
        </p:nvCxnSpPr>
        <p:spPr>
          <a:xfrm>
            <a:off x="5391150" y="4305300"/>
            <a:ext cx="0" cy="342900"/>
          </a:xfrm>
          <a:prstGeom prst="line">
            <a:avLst/>
          </a:prstGeom>
          <a:ln w="28575">
            <a:solidFill>
              <a:srgbClr val="0F172A"/>
            </a:solidFill>
          </a:ln>
        </p:spPr>
      </p:cxnSp>
      <p:sp>
        <p:nvSpPr>
          <p:cNvPr id="24" name="Oval 23"/>
          <p:cNvSpPr/>
          <p:nvPr/>
        </p:nvSpPr>
        <p:spPr>
          <a:xfrm>
            <a:off x="6724650" y="4362450"/>
            <a:ext cx="228600" cy="228600"/>
          </a:xfrm>
          <a:prstGeom prst="ellipse">
            <a:avLst/>
          </a:prstGeom>
          <a:solidFill>
            <a:srgbClr val="FFFFFF"/>
          </a:solidFill>
          <a:ln w="28575">
            <a:solidFill>
              <a:srgbClr val="0F172A"/>
            </a:solidFill>
          </a:ln>
        </p:spPr>
        <p:txBody>
          <a:bodyPr rtlCol="0" anchor="ctr" lIns="0" rIns="0" tIns="0" bIns="0"/>
          <a:lstStyle/>
          <a:p>
            <a:pPr algn="ctr"/>
          </a:p>
        </p:txBody>
      </p:sp>
      <p:cxnSp>
        <p:nvCxnSpPr>
          <p:cNvPr id="25" name="Connector 24"/>
          <p:cNvCxnSpPr/>
          <p:nvPr/>
        </p:nvCxnSpPr>
        <p:spPr>
          <a:xfrm flipV="1">
            <a:off x="7010400" y="4286250"/>
            <a:ext cx="323850" cy="190500"/>
          </a:xfrm>
          <a:prstGeom prst="line">
            <a:avLst/>
          </a:prstGeom>
          <a:ln w="28575">
            <a:solidFill>
              <a:srgbClr val="0F172A"/>
            </a:solidFill>
          </a:ln>
        </p:spPr>
      </p:cxnSp>
      <p:cxnSp>
        <p:nvCxnSpPr>
          <p:cNvPr id="26" name="Connector 25"/>
          <p:cNvCxnSpPr/>
          <p:nvPr/>
        </p:nvCxnSpPr>
        <p:spPr>
          <a:xfrm>
            <a:off x="7010400" y="4476750"/>
            <a:ext cx="323850" cy="0"/>
          </a:xfrm>
          <a:prstGeom prst="line">
            <a:avLst/>
          </a:prstGeom>
          <a:ln w="28575">
            <a:solidFill>
              <a:srgbClr val="0F172A"/>
            </a:solidFill>
          </a:ln>
        </p:spPr>
      </p:cxnSp>
      <p:cxnSp>
        <p:nvCxnSpPr>
          <p:cNvPr id="27" name="Connector 26"/>
          <p:cNvCxnSpPr/>
          <p:nvPr/>
        </p:nvCxnSpPr>
        <p:spPr>
          <a:xfrm>
            <a:off x="7010400" y="4476750"/>
            <a:ext cx="323850" cy="190500"/>
          </a:xfrm>
          <a:prstGeom prst="line">
            <a:avLst/>
          </a:prstGeom>
          <a:ln w="28575">
            <a:solidFill>
              <a:srgbClr val="0F172A"/>
            </a:solidFill>
          </a:ln>
        </p:spPr>
      </p:cxnSp>
      <p:cxnSp>
        <p:nvCxnSpPr>
          <p:cNvPr id="28" name="Connector 27"/>
          <p:cNvCxnSpPr/>
          <p:nvPr/>
        </p:nvCxnSpPr>
        <p:spPr>
          <a:xfrm>
            <a:off x="10953750" y="4476750"/>
            <a:ext cx="2286000" cy="0"/>
          </a:xfrm>
          <a:prstGeom prst="line">
            <a:avLst/>
          </a:prstGeom>
          <a:ln w="28575">
            <a:solidFill>
              <a:srgbClr val="0F172A"/>
            </a:solidFill>
          </a:ln>
        </p:spPr>
      </p:cxnSp>
      <p:cxnSp>
        <p:nvCxnSpPr>
          <p:cNvPr id="29" name="Connector 28"/>
          <p:cNvCxnSpPr/>
          <p:nvPr/>
        </p:nvCxnSpPr>
        <p:spPr>
          <a:xfrm>
            <a:off x="11163300" y="4305300"/>
            <a:ext cx="0" cy="342900"/>
          </a:xfrm>
          <a:prstGeom prst="line">
            <a:avLst/>
          </a:prstGeom>
          <a:ln w="28575">
            <a:solidFill>
              <a:srgbClr val="0F172A"/>
            </a:solidFill>
          </a:ln>
        </p:spPr>
      </p:cxnSp>
      <p:cxnSp>
        <p:nvCxnSpPr>
          <p:cNvPr id="30" name="Connector 29"/>
          <p:cNvCxnSpPr/>
          <p:nvPr/>
        </p:nvCxnSpPr>
        <p:spPr>
          <a:xfrm flipH="1" flipV="1">
            <a:off x="10953750" y="4286250"/>
            <a:ext cx="323850" cy="190500"/>
          </a:xfrm>
          <a:prstGeom prst="line">
            <a:avLst/>
          </a:prstGeom>
          <a:ln w="28575">
            <a:solidFill>
              <a:srgbClr val="0F172A"/>
            </a:solidFill>
          </a:ln>
        </p:spPr>
      </p:cxnSp>
      <p:cxnSp>
        <p:nvCxnSpPr>
          <p:cNvPr id="31" name="Connector 30"/>
          <p:cNvCxnSpPr/>
          <p:nvPr/>
        </p:nvCxnSpPr>
        <p:spPr>
          <a:xfrm flipH="1">
            <a:off x="10953750" y="4476750"/>
            <a:ext cx="323850" cy="0"/>
          </a:xfrm>
          <a:prstGeom prst="line">
            <a:avLst/>
          </a:prstGeom>
          <a:ln w="28575">
            <a:solidFill>
              <a:srgbClr val="0F172A"/>
            </a:solidFill>
          </a:ln>
        </p:spPr>
      </p:cxnSp>
      <p:cxnSp>
        <p:nvCxnSpPr>
          <p:cNvPr id="32" name="Connector 31"/>
          <p:cNvCxnSpPr/>
          <p:nvPr/>
        </p:nvCxnSpPr>
        <p:spPr>
          <a:xfrm flipH="1">
            <a:off x="10953750" y="4476750"/>
            <a:ext cx="323850" cy="190500"/>
          </a:xfrm>
          <a:prstGeom prst="line">
            <a:avLst/>
          </a:prstGeom>
          <a:ln w="28575">
            <a:solidFill>
              <a:srgbClr val="0F172A"/>
            </a:solidFill>
          </a:ln>
        </p:spPr>
      </p:cxnSp>
      <p:cxnSp>
        <p:nvCxnSpPr>
          <p:cNvPr id="33" name="Connector 32"/>
          <p:cNvCxnSpPr/>
          <p:nvPr/>
        </p:nvCxnSpPr>
        <p:spPr>
          <a:xfrm>
            <a:off x="13030200" y="4305300"/>
            <a:ext cx="0" cy="342900"/>
          </a:xfrm>
          <a:prstGeom prst="line">
            <a:avLst/>
          </a:prstGeom>
          <a:ln w="28575">
            <a:solidFill>
              <a:srgbClr val="0F172A"/>
            </a:solidFill>
          </a:ln>
        </p:spPr>
      </p:cxnSp>
      <p:cxnSp>
        <p:nvCxnSpPr>
          <p:cNvPr id="34" name="Connector 33"/>
          <p:cNvCxnSpPr/>
          <p:nvPr/>
        </p:nvCxnSpPr>
        <p:spPr>
          <a:xfrm flipV="1">
            <a:off x="12915900" y="4286250"/>
            <a:ext cx="323850" cy="190500"/>
          </a:xfrm>
          <a:prstGeom prst="line">
            <a:avLst/>
          </a:prstGeom>
          <a:ln w="28575">
            <a:solidFill>
              <a:srgbClr val="0F172A"/>
            </a:solidFill>
          </a:ln>
        </p:spPr>
      </p:cxnSp>
      <p:cxnSp>
        <p:nvCxnSpPr>
          <p:cNvPr id="35" name="Connector 34"/>
          <p:cNvCxnSpPr/>
          <p:nvPr/>
        </p:nvCxnSpPr>
        <p:spPr>
          <a:xfrm>
            <a:off x="12915900" y="4476750"/>
            <a:ext cx="323850" cy="0"/>
          </a:xfrm>
          <a:prstGeom prst="line">
            <a:avLst/>
          </a:prstGeom>
          <a:ln w="28575">
            <a:solidFill>
              <a:srgbClr val="0F172A"/>
            </a:solidFill>
          </a:ln>
        </p:spPr>
      </p:cxnSp>
      <p:cxnSp>
        <p:nvCxnSpPr>
          <p:cNvPr id="36" name="Connector 35"/>
          <p:cNvCxnSpPr/>
          <p:nvPr/>
        </p:nvCxnSpPr>
        <p:spPr>
          <a:xfrm>
            <a:off x="12915900" y="4476750"/>
            <a:ext cx="323850" cy="190500"/>
          </a:xfrm>
          <a:prstGeom prst="line">
            <a:avLst/>
          </a:prstGeom>
          <a:ln w="28575">
            <a:solidFill>
              <a:srgbClr val="0F172A"/>
            </a:solidFill>
          </a:ln>
        </p:spPr>
      </p:cxnSp>
      <p:sp>
        <p:nvSpPr>
          <p:cNvPr id="37" name="TextBox 36"/>
          <p:cNvSpPr txBox="1"/>
          <p:nvPr/>
        </p:nvSpPr>
        <p:spPr>
          <a:xfrm>
            <a:off x="5334000" y="3867150"/>
            <a:ext cx="1714500" cy="304952"/>
          </a:xfrm>
          <a:prstGeom prst="rect">
            <a:avLst/>
          </a:prstGeom>
          <a:noFill/>
        </p:spPr>
        <p:txBody>
          <a:bodyPr wrap="square" lIns="0" rIns="0" tIns="0" bIns="0" anchor="t"/>
          <a:lstStyle/>
          <a:p>
            <a:pPr algn="ctr">
              <a:lnSpc>
                <a:spcPct val="111800"/>
              </a:lnSpc>
            </a:pPr>
            <a:r>
              <a:rPr sz="1656" b="0" i="1" u="none">
                <a:solidFill>
                  <a:srgbClr val="64748B"/>
                </a:solidFill>
                <a:latin typeface="Calibri"/>
              </a:rPr>
              <a:t>works for</a:t>
            </a:r>
          </a:p>
        </p:txBody>
      </p:sp>
      <p:sp>
        <p:nvSpPr>
          <p:cNvPr id="38" name="TextBox 37"/>
          <p:cNvSpPr txBox="1"/>
          <p:nvPr/>
        </p:nvSpPr>
        <p:spPr>
          <a:xfrm>
            <a:off x="11239500" y="3867150"/>
            <a:ext cx="1714500" cy="304952"/>
          </a:xfrm>
          <a:prstGeom prst="rect">
            <a:avLst/>
          </a:prstGeom>
          <a:noFill/>
        </p:spPr>
        <p:txBody>
          <a:bodyPr wrap="square" lIns="0" rIns="0" tIns="0" bIns="0" anchor="t"/>
          <a:lstStyle/>
          <a:p>
            <a:pPr algn="ctr">
              <a:lnSpc>
                <a:spcPct val="111800"/>
              </a:lnSpc>
            </a:pPr>
            <a:r>
              <a:rPr sz="1656" b="0" i="1" u="none">
                <a:solidFill>
                  <a:srgbClr val="64748B"/>
                </a:solidFill>
                <a:latin typeface="Calibri"/>
              </a:rPr>
              <a:t>works on</a:t>
            </a:r>
          </a:p>
        </p:txBody>
      </p:sp>
      <p:sp>
        <p:nvSpPr>
          <p:cNvPr id="39" name="Rectangle 38"/>
          <p:cNvSpPr/>
          <p:nvPr/>
        </p:nvSpPr>
        <p:spPr>
          <a:xfrm>
            <a:off x="1219200" y="6667500"/>
            <a:ext cx="7810500" cy="1007554"/>
          </a:xfrm>
          <a:prstGeom prst="rect">
            <a:avLst/>
          </a:prstGeom>
          <a:solidFill>
            <a:srgbClr val="E6F4F4"/>
          </a:solidFill>
          <a:ln>
            <a:noFill/>
          </a:ln>
        </p:spPr>
        <p:txBody>
          <a:bodyPr rtlCol="0" anchor="ctr" lIns="0" rIns="0" tIns="0" bIns="0"/>
          <a:lstStyle/>
          <a:p>
            <a:pPr algn="ctr"/>
          </a:p>
        </p:txBody>
      </p:sp>
      <p:sp>
        <p:nvSpPr>
          <p:cNvPr id="40" name="Rectangle 39"/>
          <p:cNvSpPr/>
          <p:nvPr/>
        </p:nvSpPr>
        <p:spPr>
          <a:xfrm>
            <a:off x="1219200" y="6667500"/>
            <a:ext cx="47625" cy="1007554"/>
          </a:xfrm>
          <a:prstGeom prst="rect">
            <a:avLst/>
          </a:prstGeom>
          <a:solidFill>
            <a:srgbClr val="0E8A8A"/>
          </a:solidFill>
          <a:ln>
            <a:noFill/>
          </a:ln>
        </p:spPr>
        <p:txBody>
          <a:bodyPr rtlCol="0" anchor="ctr" lIns="0" rIns="0" tIns="0" bIns="0"/>
          <a:lstStyle/>
          <a:p>
            <a:pPr algn="ctr"/>
          </a:p>
        </p:txBody>
      </p:sp>
      <p:sp>
        <p:nvSpPr>
          <p:cNvPr id="41" name="TextBox 40"/>
          <p:cNvSpPr txBox="1"/>
          <p:nvPr/>
        </p:nvSpPr>
        <p:spPr>
          <a:xfrm>
            <a:off x="1524000" y="6858000"/>
            <a:ext cx="7200900" cy="626554"/>
          </a:xfrm>
          <a:prstGeom prst="rect">
            <a:avLst/>
          </a:prstGeom>
          <a:noFill/>
        </p:spPr>
        <p:txBody>
          <a:bodyPr wrap="square" lIns="0" rIns="0" tIns="0" bIns="0"/>
          <a:lstStyle/>
          <a:p>
            <a:pPr>
              <a:lnSpc>
                <a:spcPct val="112000"/>
              </a:lnSpc>
            </a:pPr>
            <a:r>
              <a:rPr sz="1794" b="1" i="0" u="none">
                <a:solidFill>
                  <a:srgbClr val="0F172A"/>
                </a:solidFill>
                <a:latin typeface="Calibri"/>
              </a:rPr>
              <a:t>DEPARTMENT ||——o&lt; EMPLOYEE</a:t>
            </a:r>
            <a:r>
              <a:rPr sz="1794" b="0" i="0" u="none">
                <a:solidFill>
                  <a:srgbClr val="0F172A"/>
                </a:solidFill>
                <a:latin typeface="Calibri"/>
              </a:rPr>
              <a:t>: an employee works for exactly one department; a department has zero or many employees.</a:t>
            </a:r>
          </a:p>
        </p:txBody>
      </p:sp>
      <p:sp>
        <p:nvSpPr>
          <p:cNvPr id="42" name="Rectangle 41"/>
          <p:cNvSpPr/>
          <p:nvPr/>
        </p:nvSpPr>
        <p:spPr>
          <a:xfrm>
            <a:off x="9258300" y="6667500"/>
            <a:ext cx="7810500" cy="1303743"/>
          </a:xfrm>
          <a:prstGeom prst="rect">
            <a:avLst/>
          </a:prstGeom>
          <a:solidFill>
            <a:srgbClr val="FEF3C7"/>
          </a:solidFill>
          <a:ln>
            <a:noFill/>
          </a:ln>
        </p:spPr>
        <p:txBody>
          <a:bodyPr rtlCol="0" anchor="ctr" lIns="0" rIns="0" tIns="0" bIns="0"/>
          <a:lstStyle/>
          <a:p>
            <a:pPr algn="ctr"/>
          </a:p>
        </p:txBody>
      </p:sp>
      <p:sp>
        <p:nvSpPr>
          <p:cNvPr id="43" name="Rectangle 42"/>
          <p:cNvSpPr/>
          <p:nvPr/>
        </p:nvSpPr>
        <p:spPr>
          <a:xfrm>
            <a:off x="9258300" y="6667500"/>
            <a:ext cx="47625" cy="1303743"/>
          </a:xfrm>
          <a:prstGeom prst="rect">
            <a:avLst/>
          </a:prstGeom>
          <a:solidFill>
            <a:srgbClr val="B45309"/>
          </a:solidFill>
          <a:ln>
            <a:noFill/>
          </a:ln>
        </p:spPr>
        <p:txBody>
          <a:bodyPr rtlCol="0" anchor="ctr" lIns="0" rIns="0" tIns="0" bIns="0"/>
          <a:lstStyle/>
          <a:p>
            <a:pPr algn="ctr"/>
          </a:p>
        </p:txBody>
      </p:sp>
      <p:sp>
        <p:nvSpPr>
          <p:cNvPr id="44" name="TextBox 43"/>
          <p:cNvSpPr txBox="1"/>
          <p:nvPr/>
        </p:nvSpPr>
        <p:spPr>
          <a:xfrm>
            <a:off x="9563100" y="6858000"/>
            <a:ext cx="7200900" cy="922743"/>
          </a:xfrm>
          <a:prstGeom prst="rect">
            <a:avLst/>
          </a:prstGeom>
          <a:noFill/>
        </p:spPr>
        <p:txBody>
          <a:bodyPr wrap="square" lIns="0" rIns="0" tIns="0" bIns="0"/>
          <a:lstStyle/>
          <a:p>
            <a:pPr>
              <a:lnSpc>
                <a:spcPct val="112000"/>
              </a:lnSpc>
            </a:pPr>
            <a:r>
              <a:rPr sz="1794" b="1" i="0" u="none">
                <a:solidFill>
                  <a:srgbClr val="0F172A"/>
                </a:solidFill>
                <a:latin typeface="Calibri"/>
              </a:rPr>
              <a:t>EMPLOYEE &gt;|——|&lt; PROJECT</a:t>
            </a:r>
            <a:r>
              <a:rPr sz="1794" b="0" i="0" u="none">
                <a:solidFill>
                  <a:srgbClr val="0F172A"/>
                </a:solidFill>
                <a:latin typeface="Calibri"/>
              </a:rPr>
              <a:t>: M:N, both total; it becomes the WORKS_ON junction table. Tools draw logical models, so PK/FK columns appear; a Chen ERD has no FKs.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04</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23/40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04</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Building an ERD</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A repeatable method, applied to the COMPANY database, and the mistakes to avoid.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METHOD</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24/40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From narrative to ERD, step by step</a:t>
            </a:r>
          </a:p>
        </p:txBody>
      </p:sp>
      <p:sp>
        <p:nvSpPr>
          <p:cNvPr id="6" name="Rectangle 5"/>
          <p:cNvSpPr/>
          <p:nvPr/>
        </p:nvSpPr>
        <p:spPr>
          <a:xfrm>
            <a:off x="914400" y="2482024"/>
            <a:ext cx="3891915" cy="3180668"/>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5875" y="2853499"/>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1</a:t>
            </a:r>
          </a:p>
        </p:txBody>
      </p:sp>
      <p:sp>
        <p:nvSpPr>
          <p:cNvPr id="8" name="TextBox 7"/>
          <p:cNvSpPr txBox="1"/>
          <p:nvPr/>
        </p:nvSpPr>
        <p:spPr>
          <a:xfrm>
            <a:off x="1285875" y="3398527"/>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Find entities</a:t>
            </a:r>
          </a:p>
        </p:txBody>
      </p:sp>
      <p:sp>
        <p:nvSpPr>
          <p:cNvPr id="9" name="TextBox 8"/>
          <p:cNvSpPr txBox="1"/>
          <p:nvPr/>
        </p:nvSpPr>
        <p:spPr>
          <a:xfrm>
            <a:off x="1285875" y="4039247"/>
            <a:ext cx="3148965"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Nouns that have their own facts: </a:t>
            </a:r>
            <a:r>
              <a:rPr sz="2332" b="0" i="1" u="none">
                <a:solidFill>
                  <a:srgbClr val="334155"/>
                </a:solidFill>
                <a:latin typeface="Calibri"/>
              </a:rPr>
              <a:t>department, project</a:t>
            </a:r>
          </a:p>
        </p:txBody>
      </p:sp>
      <p:sp>
        <p:nvSpPr>
          <p:cNvPr id="10" name="Rectangle 9"/>
          <p:cNvSpPr/>
          <p:nvPr/>
        </p:nvSpPr>
        <p:spPr>
          <a:xfrm>
            <a:off x="5103495" y="2482024"/>
            <a:ext cx="3891915" cy="3180668"/>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5474970" y="2853499"/>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2</a:t>
            </a:r>
          </a:p>
        </p:txBody>
      </p:sp>
      <p:sp>
        <p:nvSpPr>
          <p:cNvPr id="12" name="TextBox 11"/>
          <p:cNvSpPr txBox="1"/>
          <p:nvPr/>
        </p:nvSpPr>
        <p:spPr>
          <a:xfrm>
            <a:off x="5474970" y="3398527"/>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Find attributes</a:t>
            </a:r>
          </a:p>
        </p:txBody>
      </p:sp>
      <p:sp>
        <p:nvSpPr>
          <p:cNvPr id="13" name="TextBox 12"/>
          <p:cNvSpPr txBox="1"/>
          <p:nvPr/>
        </p:nvSpPr>
        <p:spPr>
          <a:xfrm>
            <a:off x="5474970" y="4039247"/>
            <a:ext cx="3148965" cy="814520"/>
          </a:xfrm>
          <a:prstGeom prst="rect">
            <a:avLst/>
          </a:prstGeom>
          <a:noFill/>
        </p:spPr>
        <p:txBody>
          <a:bodyPr wrap="square" lIns="0" rIns="0" tIns="0" bIns="0" anchor="t"/>
          <a:lstStyle/>
          <a:p>
            <a:pPr algn="l">
              <a:lnSpc>
                <a:spcPct val="111800"/>
              </a:lnSpc>
            </a:pPr>
            <a:r>
              <a:rPr sz="2332" b="0" i="0" u="none">
                <a:solidFill>
                  <a:srgbClr val="334155"/>
                </a:solidFill>
                <a:latin typeface="Calibri"/>
              </a:rPr>
              <a:t>Facts about a noun: </a:t>
            </a:r>
            <a:r>
              <a:rPr sz="2332" b="0" i="1" u="none">
                <a:solidFill>
                  <a:srgbClr val="334155"/>
                </a:solidFill>
                <a:latin typeface="Calibri"/>
              </a:rPr>
              <a:t>name, number, location</a:t>
            </a:r>
          </a:p>
        </p:txBody>
      </p:sp>
      <p:sp>
        <p:nvSpPr>
          <p:cNvPr id="14" name="Rectangle 13"/>
          <p:cNvSpPr/>
          <p:nvPr/>
        </p:nvSpPr>
        <p:spPr>
          <a:xfrm>
            <a:off x="9292590" y="2482024"/>
            <a:ext cx="3891915" cy="3180668"/>
          </a:xfrm>
          <a:prstGeom prst="rect">
            <a:avLst/>
          </a:prstGeom>
          <a:solidFill>
            <a:srgbClr val="FFFFFF"/>
          </a:solidFill>
          <a:ln w="14287">
            <a:solidFill>
              <a:srgbClr val="E2E8F0"/>
            </a:solidFill>
          </a:ln>
        </p:spPr>
        <p:txBody>
          <a:bodyPr rtlCol="0" anchor="ctr" lIns="0" rIns="0" tIns="0" bIns="0"/>
          <a:lstStyle/>
          <a:p>
            <a:pPr algn="ctr"/>
          </a:p>
        </p:txBody>
      </p:sp>
      <p:sp>
        <p:nvSpPr>
          <p:cNvPr id="15" name="TextBox 14"/>
          <p:cNvSpPr txBox="1"/>
          <p:nvPr/>
        </p:nvSpPr>
        <p:spPr>
          <a:xfrm>
            <a:off x="9664065" y="2853499"/>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3</a:t>
            </a:r>
          </a:p>
        </p:txBody>
      </p:sp>
      <p:sp>
        <p:nvSpPr>
          <p:cNvPr id="16" name="TextBox 15"/>
          <p:cNvSpPr txBox="1"/>
          <p:nvPr/>
        </p:nvSpPr>
        <p:spPr>
          <a:xfrm>
            <a:off x="9664065" y="3398527"/>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Pick keys</a:t>
            </a:r>
          </a:p>
        </p:txBody>
      </p:sp>
      <p:sp>
        <p:nvSpPr>
          <p:cNvPr id="17" name="TextBox 16"/>
          <p:cNvSpPr txBox="1"/>
          <p:nvPr/>
        </p:nvSpPr>
        <p:spPr>
          <a:xfrm>
            <a:off x="9664065" y="4039247"/>
            <a:ext cx="3148965" cy="814520"/>
          </a:xfrm>
          <a:prstGeom prst="rect">
            <a:avLst/>
          </a:prstGeom>
          <a:noFill/>
        </p:spPr>
        <p:txBody>
          <a:bodyPr wrap="square" lIns="0" rIns="0" tIns="0" bIns="0" anchor="t"/>
          <a:lstStyle/>
          <a:p>
            <a:pPr algn="l">
              <a:lnSpc>
                <a:spcPct val="111800"/>
              </a:lnSpc>
            </a:pPr>
            <a:r>
              <a:rPr sz="2332" b="0" i="0" u="none">
                <a:solidFill>
                  <a:srgbClr val="334155"/>
                </a:solidFill>
                <a:latin typeface="Calibri"/>
              </a:rPr>
              <a:t>Words like </a:t>
            </a:r>
            <a:r>
              <a:rPr sz="2332" b="0" i="1" u="none">
                <a:solidFill>
                  <a:srgbClr val="334155"/>
                </a:solidFill>
                <a:latin typeface="Calibri"/>
              </a:rPr>
              <a:t>unique</a:t>
            </a:r>
            <a:r>
              <a:rPr sz="2332" b="0" i="0" u="none">
                <a:solidFill>
                  <a:srgbClr val="334155"/>
                </a:solidFill>
                <a:latin typeface="Calibri"/>
              </a:rPr>
              <a:t>, </a:t>
            </a:r>
            <a:r>
              <a:rPr sz="2332" b="0" i="1" u="none">
                <a:solidFill>
                  <a:srgbClr val="334155"/>
                </a:solidFill>
                <a:latin typeface="Calibri"/>
              </a:rPr>
              <a:t>identified by</a:t>
            </a:r>
          </a:p>
        </p:txBody>
      </p:sp>
      <p:sp>
        <p:nvSpPr>
          <p:cNvPr id="18" name="Rectangle 17"/>
          <p:cNvSpPr/>
          <p:nvPr/>
        </p:nvSpPr>
        <p:spPr>
          <a:xfrm>
            <a:off x="13481685" y="2482024"/>
            <a:ext cx="3891915" cy="3180668"/>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13853160" y="2853499"/>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4</a:t>
            </a:r>
          </a:p>
        </p:txBody>
      </p:sp>
      <p:sp>
        <p:nvSpPr>
          <p:cNvPr id="20" name="TextBox 19"/>
          <p:cNvSpPr txBox="1"/>
          <p:nvPr/>
        </p:nvSpPr>
        <p:spPr>
          <a:xfrm>
            <a:off x="13853160" y="3398527"/>
            <a:ext cx="3148965" cy="929579"/>
          </a:xfrm>
          <a:prstGeom prst="rect">
            <a:avLst/>
          </a:prstGeom>
          <a:noFill/>
        </p:spPr>
        <p:txBody>
          <a:bodyPr wrap="square" lIns="0" rIns="0" tIns="0" bIns="0" anchor="t"/>
          <a:lstStyle/>
          <a:p>
            <a:pPr algn="l">
              <a:lnSpc>
                <a:spcPct val="103200"/>
              </a:lnSpc>
            </a:pPr>
            <a:r>
              <a:rPr sz="2870" b="1" i="0" u="none">
                <a:solidFill>
                  <a:srgbClr val="0F172A"/>
                </a:solidFill>
                <a:latin typeface="Arial"/>
              </a:rPr>
              <a:t>Find relationships</a:t>
            </a:r>
          </a:p>
        </p:txBody>
      </p:sp>
      <p:sp>
        <p:nvSpPr>
          <p:cNvPr id="21" name="TextBox 20"/>
          <p:cNvSpPr txBox="1"/>
          <p:nvPr/>
        </p:nvSpPr>
        <p:spPr>
          <a:xfrm>
            <a:off x="13853160" y="4476696"/>
            <a:ext cx="3148965" cy="814520"/>
          </a:xfrm>
          <a:prstGeom prst="rect">
            <a:avLst/>
          </a:prstGeom>
          <a:noFill/>
        </p:spPr>
        <p:txBody>
          <a:bodyPr wrap="square" lIns="0" rIns="0" tIns="0" bIns="0" anchor="t"/>
          <a:lstStyle/>
          <a:p>
            <a:pPr algn="l">
              <a:lnSpc>
                <a:spcPct val="111800"/>
              </a:lnSpc>
            </a:pPr>
            <a:r>
              <a:rPr sz="2332" b="0" i="0" u="none">
                <a:solidFill>
                  <a:srgbClr val="334155"/>
                </a:solidFill>
                <a:latin typeface="Calibri"/>
              </a:rPr>
              <a:t>Verbs linking nouns: </a:t>
            </a:r>
            <a:r>
              <a:rPr sz="2332" b="0" i="1" u="none">
                <a:solidFill>
                  <a:srgbClr val="334155"/>
                </a:solidFill>
                <a:latin typeface="Calibri"/>
              </a:rPr>
              <a:t>controls, works on</a:t>
            </a:r>
          </a:p>
        </p:txBody>
      </p:sp>
      <p:sp>
        <p:nvSpPr>
          <p:cNvPr id="22" name="Rectangle 21"/>
          <p:cNvSpPr/>
          <p:nvPr/>
        </p:nvSpPr>
        <p:spPr>
          <a:xfrm>
            <a:off x="914400" y="5959872"/>
            <a:ext cx="3891915" cy="3565714"/>
          </a:xfrm>
          <a:prstGeom prst="rect">
            <a:avLst/>
          </a:prstGeom>
          <a:solidFill>
            <a:srgbClr val="FFFFFF"/>
          </a:solidFill>
          <a:ln w="14287">
            <a:solidFill>
              <a:srgbClr val="E2E8F0"/>
            </a:solidFill>
          </a:ln>
        </p:spPr>
        <p:txBody>
          <a:bodyPr rtlCol="0" anchor="ctr" lIns="0" rIns="0" tIns="0" bIns="0"/>
          <a:lstStyle/>
          <a:p>
            <a:pPr algn="ctr"/>
          </a:p>
        </p:txBody>
      </p:sp>
      <p:sp>
        <p:nvSpPr>
          <p:cNvPr id="23" name="TextBox 22"/>
          <p:cNvSpPr txBox="1"/>
          <p:nvPr/>
        </p:nvSpPr>
        <p:spPr>
          <a:xfrm>
            <a:off x="1285875" y="6331347"/>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5</a:t>
            </a:r>
          </a:p>
        </p:txBody>
      </p:sp>
      <p:sp>
        <p:nvSpPr>
          <p:cNvPr id="24" name="TextBox 23"/>
          <p:cNvSpPr txBox="1"/>
          <p:nvPr/>
        </p:nvSpPr>
        <p:spPr>
          <a:xfrm>
            <a:off x="1285875" y="6876375"/>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Cardinality</a:t>
            </a:r>
          </a:p>
        </p:txBody>
      </p:sp>
      <p:sp>
        <p:nvSpPr>
          <p:cNvPr id="25" name="TextBox 24"/>
          <p:cNvSpPr txBox="1"/>
          <p:nvPr/>
        </p:nvSpPr>
        <p:spPr>
          <a:xfrm>
            <a:off x="1285875" y="7517095"/>
            <a:ext cx="3148965" cy="814520"/>
          </a:xfrm>
          <a:prstGeom prst="rect">
            <a:avLst/>
          </a:prstGeom>
          <a:noFill/>
        </p:spPr>
        <p:txBody>
          <a:bodyPr wrap="square" lIns="0" rIns="0" tIns="0" bIns="0" anchor="t"/>
          <a:lstStyle/>
          <a:p>
            <a:pPr algn="l">
              <a:lnSpc>
                <a:spcPct val="111800"/>
              </a:lnSpc>
            </a:pPr>
            <a:r>
              <a:rPr sz="2332" b="0" i="1" u="none">
                <a:solidFill>
                  <a:srgbClr val="334155"/>
                </a:solidFill>
                <a:latin typeface="Calibri"/>
              </a:rPr>
              <a:t>one</a:t>
            </a:r>
            <a:r>
              <a:rPr sz="2332" b="0" i="0" u="none">
                <a:solidFill>
                  <a:srgbClr val="334155"/>
                </a:solidFill>
                <a:latin typeface="Calibri"/>
              </a:rPr>
              <a:t>, </a:t>
            </a:r>
            <a:r>
              <a:rPr sz="2332" b="0" i="1" u="none">
                <a:solidFill>
                  <a:srgbClr val="334155"/>
                </a:solidFill>
                <a:latin typeface="Calibri"/>
              </a:rPr>
              <a:t>several</a:t>
            </a:r>
            <a:r>
              <a:rPr sz="2332" b="0" i="0" u="none">
                <a:solidFill>
                  <a:srgbClr val="334155"/>
                </a:solidFill>
                <a:latin typeface="Calibri"/>
              </a:rPr>
              <a:t>, </a:t>
            </a:r>
            <a:r>
              <a:rPr sz="2332" b="0" i="1" u="none">
                <a:solidFill>
                  <a:srgbClr val="334155"/>
                </a:solidFill>
                <a:latin typeface="Calibri"/>
              </a:rPr>
              <a:t>many</a:t>
            </a:r>
            <a:r>
              <a:rPr sz="2332" b="0" i="0" u="none">
                <a:solidFill>
                  <a:srgbClr val="334155"/>
                </a:solidFill>
                <a:latin typeface="Calibri"/>
              </a:rPr>
              <a:t>, </a:t>
            </a:r>
            <a:r>
              <a:rPr sz="2332" b="0" i="1" u="none">
                <a:solidFill>
                  <a:srgbClr val="334155"/>
                </a:solidFill>
                <a:latin typeface="Calibri"/>
              </a:rPr>
              <a:t>a number of</a:t>
            </a:r>
          </a:p>
        </p:txBody>
      </p:sp>
      <p:sp>
        <p:nvSpPr>
          <p:cNvPr id="26" name="Rectangle 25"/>
          <p:cNvSpPr/>
          <p:nvPr/>
        </p:nvSpPr>
        <p:spPr>
          <a:xfrm>
            <a:off x="5103495" y="5959872"/>
            <a:ext cx="3891915" cy="3565714"/>
          </a:xfrm>
          <a:prstGeom prst="rect">
            <a:avLst/>
          </a:prstGeom>
          <a:solidFill>
            <a:srgbClr val="FFFFFF"/>
          </a:solidFill>
          <a:ln w="14287">
            <a:solidFill>
              <a:srgbClr val="E2E8F0"/>
            </a:solidFill>
          </a:ln>
        </p:spPr>
        <p:txBody>
          <a:bodyPr rtlCol="0" anchor="ctr" lIns="0" rIns="0" tIns="0" bIns="0"/>
          <a:lstStyle/>
          <a:p>
            <a:pPr algn="ctr"/>
          </a:p>
        </p:txBody>
      </p:sp>
      <p:sp>
        <p:nvSpPr>
          <p:cNvPr id="27" name="TextBox 26"/>
          <p:cNvSpPr txBox="1"/>
          <p:nvPr/>
        </p:nvSpPr>
        <p:spPr>
          <a:xfrm>
            <a:off x="5474970" y="6331347"/>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6</a:t>
            </a:r>
          </a:p>
        </p:txBody>
      </p:sp>
      <p:sp>
        <p:nvSpPr>
          <p:cNvPr id="28" name="TextBox 27"/>
          <p:cNvSpPr txBox="1"/>
          <p:nvPr/>
        </p:nvSpPr>
        <p:spPr>
          <a:xfrm>
            <a:off x="5474970" y="6876375"/>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Participation</a:t>
            </a:r>
          </a:p>
        </p:txBody>
      </p:sp>
      <p:sp>
        <p:nvSpPr>
          <p:cNvPr id="29" name="TextBox 28"/>
          <p:cNvSpPr txBox="1"/>
          <p:nvPr/>
        </p:nvSpPr>
        <p:spPr>
          <a:xfrm>
            <a:off x="5474970" y="7517095"/>
            <a:ext cx="3148965" cy="814520"/>
          </a:xfrm>
          <a:prstGeom prst="rect">
            <a:avLst/>
          </a:prstGeom>
          <a:noFill/>
        </p:spPr>
        <p:txBody>
          <a:bodyPr wrap="square" lIns="0" rIns="0" tIns="0" bIns="0" anchor="t"/>
          <a:lstStyle/>
          <a:p>
            <a:pPr algn="l">
              <a:lnSpc>
                <a:spcPct val="111800"/>
              </a:lnSpc>
            </a:pPr>
            <a:r>
              <a:rPr sz="2332" b="0" i="1" u="none">
                <a:solidFill>
                  <a:srgbClr val="334155"/>
                </a:solidFill>
                <a:latin typeface="Calibri"/>
              </a:rPr>
              <a:t>must</a:t>
            </a:r>
            <a:r>
              <a:rPr sz="2332" b="0" i="0" u="none">
                <a:solidFill>
                  <a:srgbClr val="334155"/>
                </a:solidFill>
                <a:latin typeface="Calibri"/>
              </a:rPr>
              <a:t> → total; </a:t>
            </a:r>
            <a:r>
              <a:rPr sz="2332" b="0" i="1" u="none">
                <a:solidFill>
                  <a:srgbClr val="334155"/>
                </a:solidFill>
                <a:latin typeface="Calibri"/>
              </a:rPr>
              <a:t>may</a:t>
            </a:r>
            <a:r>
              <a:rPr sz="2332" b="0" i="0" u="none">
                <a:solidFill>
                  <a:srgbClr val="334155"/>
                </a:solidFill>
                <a:latin typeface="Calibri"/>
              </a:rPr>
              <a:t> → partial</a:t>
            </a:r>
          </a:p>
        </p:txBody>
      </p:sp>
      <p:sp>
        <p:nvSpPr>
          <p:cNvPr id="30" name="Rectangle 29"/>
          <p:cNvSpPr/>
          <p:nvPr/>
        </p:nvSpPr>
        <p:spPr>
          <a:xfrm>
            <a:off x="9292590" y="5959872"/>
            <a:ext cx="3891915" cy="3565714"/>
          </a:xfrm>
          <a:prstGeom prst="rect">
            <a:avLst/>
          </a:prstGeom>
          <a:solidFill>
            <a:srgbClr val="FFFFFF"/>
          </a:solidFill>
          <a:ln w="14287">
            <a:solidFill>
              <a:srgbClr val="E2E8F0"/>
            </a:solidFill>
          </a:ln>
        </p:spPr>
        <p:txBody>
          <a:bodyPr rtlCol="0" anchor="ctr" lIns="0" rIns="0" tIns="0" bIns="0"/>
          <a:lstStyle/>
          <a:p>
            <a:pPr algn="ctr"/>
          </a:p>
        </p:txBody>
      </p:sp>
      <p:sp>
        <p:nvSpPr>
          <p:cNvPr id="31" name="TextBox 30"/>
          <p:cNvSpPr txBox="1"/>
          <p:nvPr/>
        </p:nvSpPr>
        <p:spPr>
          <a:xfrm>
            <a:off x="9664065" y="6331347"/>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7</a:t>
            </a:r>
          </a:p>
        </p:txBody>
      </p:sp>
      <p:sp>
        <p:nvSpPr>
          <p:cNvPr id="32" name="TextBox 31"/>
          <p:cNvSpPr txBox="1"/>
          <p:nvPr/>
        </p:nvSpPr>
        <p:spPr>
          <a:xfrm>
            <a:off x="9664065" y="6876375"/>
            <a:ext cx="3148965" cy="929579"/>
          </a:xfrm>
          <a:prstGeom prst="rect">
            <a:avLst/>
          </a:prstGeom>
          <a:noFill/>
        </p:spPr>
        <p:txBody>
          <a:bodyPr wrap="square" lIns="0" rIns="0" tIns="0" bIns="0" anchor="t"/>
          <a:lstStyle/>
          <a:p>
            <a:pPr algn="l">
              <a:lnSpc>
                <a:spcPct val="103200"/>
              </a:lnSpc>
            </a:pPr>
            <a:r>
              <a:rPr sz="2870" b="1" i="0" u="none">
                <a:solidFill>
                  <a:srgbClr val="0F172A"/>
                </a:solidFill>
                <a:latin typeface="Arial"/>
              </a:rPr>
              <a:t>Weak entities &amp; extras</a:t>
            </a:r>
          </a:p>
        </p:txBody>
      </p:sp>
      <p:sp>
        <p:nvSpPr>
          <p:cNvPr id="33" name="TextBox 32"/>
          <p:cNvSpPr txBox="1"/>
          <p:nvPr/>
        </p:nvSpPr>
        <p:spPr>
          <a:xfrm>
            <a:off x="9664065" y="7954544"/>
            <a:ext cx="3148965"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No own key? Relationship attributes like </a:t>
            </a:r>
            <a:r>
              <a:rPr sz="2332" b="0" i="1" u="none">
                <a:solidFill>
                  <a:srgbClr val="334155"/>
                </a:solidFill>
                <a:latin typeface="Calibri"/>
              </a:rPr>
              <a:t>hours</a:t>
            </a:r>
            <a:r>
              <a:rPr sz="2332" b="0" i="0" u="none">
                <a:solidFill>
                  <a:srgbClr val="334155"/>
                </a:solidFill>
                <a:latin typeface="Calibri"/>
              </a:rPr>
              <a:t>?</a:t>
            </a:r>
          </a:p>
        </p:txBody>
      </p:sp>
      <p:sp>
        <p:nvSpPr>
          <p:cNvPr id="34" name="Rectangle 33"/>
          <p:cNvSpPr/>
          <p:nvPr/>
        </p:nvSpPr>
        <p:spPr>
          <a:xfrm>
            <a:off x="13481685" y="5959872"/>
            <a:ext cx="3891915" cy="3565714"/>
          </a:xfrm>
          <a:prstGeom prst="rect">
            <a:avLst/>
          </a:prstGeom>
          <a:solidFill>
            <a:srgbClr val="FFFFFF"/>
          </a:solidFill>
          <a:ln w="14287">
            <a:solidFill>
              <a:srgbClr val="E2E8F0"/>
            </a:solidFill>
          </a:ln>
        </p:spPr>
        <p:txBody>
          <a:bodyPr rtlCol="0" anchor="ctr" lIns="0" rIns="0" tIns="0" bIns="0"/>
          <a:lstStyle/>
          <a:p>
            <a:pPr algn="ctr"/>
          </a:p>
        </p:txBody>
      </p:sp>
      <p:sp>
        <p:nvSpPr>
          <p:cNvPr id="35" name="TextBox 34"/>
          <p:cNvSpPr txBox="1"/>
          <p:nvPr/>
        </p:nvSpPr>
        <p:spPr>
          <a:xfrm>
            <a:off x="13853160" y="6331347"/>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8</a:t>
            </a:r>
          </a:p>
        </p:txBody>
      </p:sp>
      <p:sp>
        <p:nvSpPr>
          <p:cNvPr id="36" name="TextBox 35"/>
          <p:cNvSpPr txBox="1"/>
          <p:nvPr/>
        </p:nvSpPr>
        <p:spPr>
          <a:xfrm>
            <a:off x="13853160" y="6876375"/>
            <a:ext cx="3148965" cy="929579"/>
          </a:xfrm>
          <a:prstGeom prst="rect">
            <a:avLst/>
          </a:prstGeom>
          <a:noFill/>
        </p:spPr>
        <p:txBody>
          <a:bodyPr wrap="square" lIns="0" rIns="0" tIns="0" bIns="0" anchor="t"/>
          <a:lstStyle/>
          <a:p>
            <a:pPr algn="l">
              <a:lnSpc>
                <a:spcPct val="103200"/>
              </a:lnSpc>
            </a:pPr>
            <a:r>
              <a:rPr sz="2870" b="1" i="0" u="none">
                <a:solidFill>
                  <a:srgbClr val="0F172A"/>
                </a:solidFill>
                <a:latin typeface="Arial"/>
              </a:rPr>
              <a:t>Review with users</a:t>
            </a:r>
          </a:p>
        </p:txBody>
      </p:sp>
      <p:sp>
        <p:nvSpPr>
          <p:cNvPr id="37" name="TextBox 36"/>
          <p:cNvSpPr txBox="1"/>
          <p:nvPr/>
        </p:nvSpPr>
        <p:spPr>
          <a:xfrm>
            <a:off x="13853160" y="7954544"/>
            <a:ext cx="3148965" cy="814520"/>
          </a:xfrm>
          <a:prstGeom prst="rect">
            <a:avLst/>
          </a:prstGeom>
          <a:noFill/>
        </p:spPr>
        <p:txBody>
          <a:bodyPr wrap="square" lIns="0" rIns="0" tIns="0" bIns="0" anchor="t"/>
          <a:lstStyle/>
          <a:p>
            <a:pPr algn="l">
              <a:lnSpc>
                <a:spcPct val="111800"/>
              </a:lnSpc>
            </a:pPr>
            <a:r>
              <a:rPr sz="2332" b="0" i="0" u="none">
                <a:solidFill>
                  <a:srgbClr val="334155"/>
                </a:solidFill>
                <a:latin typeface="Calibri"/>
              </a:rPr>
              <a:t>Read every relationship aloud as a sentence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COMPANY CASE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25/40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COMPANY database: requirements (1/2)</a:t>
            </a:r>
          </a:p>
        </p:txBody>
      </p:sp>
      <p:sp>
        <p:nvSpPr>
          <p:cNvPr id="6" name="Rectangle 5"/>
          <p:cNvSpPr/>
          <p:nvPr/>
        </p:nvSpPr>
        <p:spPr>
          <a:xfrm>
            <a:off x="914400" y="2482024"/>
            <a:ext cx="16459200" cy="2900415"/>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2100315"/>
          </a:xfrm>
          <a:prstGeom prst="rect">
            <a:avLst/>
          </a:prstGeom>
          <a:noFill/>
        </p:spPr>
        <p:txBody>
          <a:bodyPr wrap="square" lIns="0" rIns="0" tIns="0" bIns="0" anchor="t"/>
          <a:lstStyle/>
          <a:p>
            <a:pPr algn="l">
              <a:lnSpc>
                <a:spcPct val="111800"/>
              </a:lnSpc>
            </a:pPr>
            <a:r>
              <a:rPr sz="3091" b="0" i="0" u="none">
                <a:solidFill>
                  <a:srgbClr val="334155"/>
                </a:solidFill>
                <a:latin typeface="Calibri"/>
              </a:rPr>
              <a:t>A company is organized into </a:t>
            </a:r>
            <a:r>
              <a:rPr sz="3091" b="1" i="0" u="none">
                <a:solidFill>
                  <a:srgbClr val="334155"/>
                </a:solidFill>
                <a:latin typeface="Calibri"/>
              </a:rPr>
              <a:t>departments</a:t>
            </a:r>
            <a:r>
              <a:rPr sz="3091" b="0" i="0" u="none">
                <a:solidFill>
                  <a:srgbClr val="334155"/>
                </a:solidFill>
                <a:latin typeface="Calibri"/>
              </a:rPr>
              <a:t>. Each department has a </a:t>
            </a:r>
            <a:r>
              <a:rPr sz="3091" b="0" i="1" u="none">
                <a:solidFill>
                  <a:srgbClr val="334155"/>
                </a:solidFill>
                <a:latin typeface="Calibri"/>
              </a:rPr>
              <a:t>unique name</a:t>
            </a:r>
            <a:r>
              <a:rPr sz="3091" b="0" i="0" u="none">
                <a:solidFill>
                  <a:srgbClr val="334155"/>
                </a:solidFill>
                <a:latin typeface="Calibri"/>
              </a:rPr>
              <a:t>, a </a:t>
            </a:r>
            <a:r>
              <a:rPr sz="3091" b="0" i="1" u="none">
                <a:solidFill>
                  <a:srgbClr val="334155"/>
                </a:solidFill>
                <a:latin typeface="Calibri"/>
              </a:rPr>
              <a:t>unique number</a:t>
            </a:r>
            <a:r>
              <a:rPr sz="3091" b="0" i="0" u="none">
                <a:solidFill>
                  <a:srgbClr val="334155"/>
                </a:solidFill>
                <a:latin typeface="Calibri"/>
              </a:rPr>
              <a:t>, and a particular employee who </a:t>
            </a:r>
            <a:r>
              <a:rPr sz="3091" b="1" i="0" u="none">
                <a:solidFill>
                  <a:srgbClr val="334155"/>
                </a:solidFill>
                <a:latin typeface="Calibri"/>
              </a:rPr>
              <a:t>manages</a:t>
            </a:r>
            <a:r>
              <a:rPr sz="3091" b="0" i="0" u="none">
                <a:solidFill>
                  <a:srgbClr val="334155"/>
                </a:solidFill>
                <a:latin typeface="Calibri"/>
              </a:rPr>
              <a:t> the department. We keep track of the </a:t>
            </a:r>
            <a:r>
              <a:rPr sz="3091" b="0" i="1" u="none">
                <a:solidFill>
                  <a:srgbClr val="334155"/>
                </a:solidFill>
                <a:latin typeface="Calibri"/>
              </a:rPr>
              <a:t>start date</a:t>
            </a:r>
            <a:r>
              <a:rPr sz="3091" b="0" i="0" u="none">
                <a:solidFill>
                  <a:srgbClr val="334155"/>
                </a:solidFill>
                <a:latin typeface="Calibri"/>
              </a:rPr>
              <a:t> when that employee began managing. A department may have </a:t>
            </a:r>
            <a:r>
              <a:rPr sz="3091" b="1" i="0" u="none">
                <a:solidFill>
                  <a:srgbClr val="334155"/>
                </a:solidFill>
                <a:latin typeface="Calibri"/>
              </a:rPr>
              <a:t>several locations</a:t>
            </a:r>
            <a:r>
              <a:rPr sz="3091" b="0" i="0" u="none">
                <a:solidFill>
                  <a:srgbClr val="334155"/>
                </a:solidFill>
                <a:latin typeface="Calibri"/>
              </a:rPr>
              <a:t>.</a:t>
            </a:r>
          </a:p>
        </p:txBody>
      </p:sp>
      <p:sp>
        <p:nvSpPr>
          <p:cNvPr id="8" name="Rectangle 7"/>
          <p:cNvSpPr/>
          <p:nvPr/>
        </p:nvSpPr>
        <p:spPr>
          <a:xfrm>
            <a:off x="914400" y="5835830"/>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6235880"/>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 department </a:t>
            </a:r>
            <a:r>
              <a:rPr sz="3091" b="1" i="0" u="none">
                <a:solidFill>
                  <a:srgbClr val="334155"/>
                </a:solidFill>
                <a:latin typeface="Calibri"/>
              </a:rPr>
              <a:t>controls</a:t>
            </a:r>
            <a:r>
              <a:rPr sz="3091" b="0" i="0" u="none">
                <a:solidFill>
                  <a:srgbClr val="334155"/>
                </a:solidFill>
                <a:latin typeface="Calibri"/>
              </a:rPr>
              <a:t> a number of </a:t>
            </a:r>
            <a:r>
              <a:rPr sz="3091" b="1" i="0" u="none">
                <a:solidFill>
                  <a:srgbClr val="334155"/>
                </a:solidFill>
                <a:latin typeface="Calibri"/>
              </a:rPr>
              <a:t>projects</a:t>
            </a:r>
            <a:r>
              <a:rPr sz="3091" b="0" i="0" u="none">
                <a:solidFill>
                  <a:srgbClr val="334155"/>
                </a:solidFill>
                <a:latin typeface="Calibri"/>
              </a:rPr>
              <a:t>, each of which has a </a:t>
            </a:r>
            <a:r>
              <a:rPr sz="3091" b="0" i="1" u="none">
                <a:solidFill>
                  <a:srgbClr val="334155"/>
                </a:solidFill>
                <a:latin typeface="Calibri"/>
              </a:rPr>
              <a:t>unique name</a:t>
            </a:r>
            <a:r>
              <a:rPr sz="3091" b="0" i="0" u="none">
                <a:solidFill>
                  <a:srgbClr val="334155"/>
                </a:solidFill>
                <a:latin typeface="Calibri"/>
              </a:rPr>
              <a:t>, a </a:t>
            </a:r>
            <a:r>
              <a:rPr sz="3091" b="0" i="1" u="none">
                <a:solidFill>
                  <a:srgbClr val="334155"/>
                </a:solidFill>
                <a:latin typeface="Calibri"/>
              </a:rPr>
              <a:t>unique number</a:t>
            </a:r>
            <a:r>
              <a:rPr sz="3091" b="0" i="0" u="none">
                <a:solidFill>
                  <a:srgbClr val="334155"/>
                </a:solidFill>
                <a:latin typeface="Calibri"/>
              </a:rPr>
              <a:t>, and a single </a:t>
            </a:r>
            <a:r>
              <a:rPr sz="3091" b="0" i="1" u="none">
                <a:solidFill>
                  <a:srgbClr val="334155"/>
                </a:solidFill>
                <a:latin typeface="Calibri"/>
              </a:rPr>
              <a:t>location</a:t>
            </a:r>
            <a:r>
              <a:rPr sz="3091" b="0" i="0" u="none">
                <a:solidFill>
                  <a:srgbClr val="334155"/>
                </a:solidFill>
                <a:latin typeface="Calibri"/>
              </a:rPr>
              <a:t>. A project must be controlled by a department.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COMPANY CASE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26/40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COMPANY database: requirements (2/2)</a:t>
            </a:r>
          </a:p>
        </p:txBody>
      </p:sp>
      <p:sp>
        <p:nvSpPr>
          <p:cNvPr id="6" name="Rectangle 5"/>
          <p:cNvSpPr/>
          <p:nvPr/>
        </p:nvSpPr>
        <p:spPr>
          <a:xfrm>
            <a:off x="914400" y="2482024"/>
            <a:ext cx="16459200" cy="3247605"/>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2447505"/>
          </a:xfrm>
          <a:prstGeom prst="rect">
            <a:avLst/>
          </a:prstGeom>
          <a:noFill/>
        </p:spPr>
        <p:txBody>
          <a:bodyPr wrap="square" lIns="0" rIns="0" tIns="0" bIns="0" anchor="t"/>
          <a:lstStyle/>
          <a:p>
            <a:pPr algn="l">
              <a:lnSpc>
                <a:spcPct val="111800"/>
              </a:lnSpc>
            </a:pPr>
            <a:r>
              <a:rPr sz="2898" b="0" i="0" u="none">
                <a:solidFill>
                  <a:srgbClr val="334155"/>
                </a:solidFill>
                <a:latin typeface="Calibri"/>
              </a:rPr>
              <a:t>We store each </a:t>
            </a:r>
            <a:r>
              <a:rPr sz="2898" b="1" i="0" u="none">
                <a:solidFill>
                  <a:srgbClr val="334155"/>
                </a:solidFill>
                <a:latin typeface="Calibri"/>
              </a:rPr>
              <a:t>employee</a:t>
            </a:r>
            <a:r>
              <a:rPr sz="2898" b="0" i="0" u="none">
                <a:solidFill>
                  <a:srgbClr val="334155"/>
                </a:solidFill>
                <a:latin typeface="Calibri"/>
              </a:rPr>
              <a:t>'s </a:t>
            </a:r>
            <a:r>
              <a:rPr sz="2898" b="0" i="1" u="none">
                <a:solidFill>
                  <a:srgbClr val="334155"/>
                </a:solidFill>
                <a:latin typeface="Calibri"/>
              </a:rPr>
              <a:t>name, social security number, address, salary, gender and birth date</a:t>
            </a:r>
            <a:r>
              <a:rPr sz="2898" b="0" i="0" u="none">
                <a:solidFill>
                  <a:srgbClr val="334155"/>
                </a:solidFill>
                <a:latin typeface="Calibri"/>
              </a:rPr>
              <a:t>. An employee must be assigned to </a:t>
            </a:r>
            <a:r>
              <a:rPr sz="2898" b="1" i="0" u="none">
                <a:solidFill>
                  <a:srgbClr val="334155"/>
                </a:solidFill>
                <a:latin typeface="Calibri"/>
              </a:rPr>
              <a:t>one department</a:t>
            </a:r>
            <a:r>
              <a:rPr sz="2898" b="0" i="0" u="none">
                <a:solidFill>
                  <a:srgbClr val="334155"/>
                </a:solidFill>
                <a:latin typeface="Calibri"/>
              </a:rPr>
              <a:t> and must </a:t>
            </a:r>
            <a:r>
              <a:rPr sz="2898" b="1" i="0" u="none">
                <a:solidFill>
                  <a:srgbClr val="334155"/>
                </a:solidFill>
                <a:latin typeface="Calibri"/>
              </a:rPr>
              <a:t>work on</a:t>
            </a:r>
            <a:r>
              <a:rPr sz="2898" b="0" i="0" u="none">
                <a:solidFill>
                  <a:srgbClr val="334155"/>
                </a:solidFill>
                <a:latin typeface="Calibri"/>
              </a:rPr>
              <a:t> one or more projects, which are not necessarily controlled by the same department. We keep track of the </a:t>
            </a:r>
            <a:r>
              <a:rPr sz="2898" b="0" i="1" u="none">
                <a:solidFill>
                  <a:srgbClr val="334155"/>
                </a:solidFill>
                <a:latin typeface="Calibri"/>
              </a:rPr>
              <a:t>number of hours per week</a:t>
            </a:r>
            <a:r>
              <a:rPr sz="2898" b="0" i="0" u="none">
                <a:solidFill>
                  <a:srgbClr val="334155"/>
                </a:solidFill>
                <a:latin typeface="Calibri"/>
              </a:rPr>
              <a:t> that an employee works on each project. We also keep track of the </a:t>
            </a:r>
            <a:r>
              <a:rPr sz="2898" b="1" i="0" u="none">
                <a:solidFill>
                  <a:srgbClr val="334155"/>
                </a:solidFill>
                <a:latin typeface="Calibri"/>
              </a:rPr>
              <a:t>direct supervisor</a:t>
            </a:r>
            <a:r>
              <a:rPr sz="2898" b="0" i="0" u="none">
                <a:solidFill>
                  <a:srgbClr val="334155"/>
                </a:solidFill>
                <a:latin typeface="Calibri"/>
              </a:rPr>
              <a:t> of each employee.</a:t>
            </a:r>
          </a:p>
        </p:txBody>
      </p:sp>
      <p:sp>
        <p:nvSpPr>
          <p:cNvPr id="8" name="Rectangle 7"/>
          <p:cNvSpPr/>
          <p:nvPr/>
        </p:nvSpPr>
        <p:spPr>
          <a:xfrm>
            <a:off x="914400" y="6183020"/>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6583070"/>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We keep track of the </a:t>
            </a:r>
            <a:r>
              <a:rPr sz="2898" b="1" i="0" u="none">
                <a:solidFill>
                  <a:srgbClr val="334155"/>
                </a:solidFill>
                <a:latin typeface="Calibri"/>
              </a:rPr>
              <a:t>dependents</a:t>
            </a:r>
            <a:r>
              <a:rPr sz="2898" b="0" i="0" u="none">
                <a:solidFill>
                  <a:srgbClr val="334155"/>
                </a:solidFill>
                <a:latin typeface="Calibri"/>
              </a:rPr>
              <a:t> of each employee for insurance purposes: each dependent's </a:t>
            </a:r>
            <a:r>
              <a:rPr sz="2898" b="0" i="1" u="none">
                <a:solidFill>
                  <a:srgbClr val="334155"/>
                </a:solidFill>
                <a:latin typeface="Calibri"/>
              </a:rPr>
              <a:t>first name, gender, birth date</a:t>
            </a:r>
            <a:r>
              <a:rPr sz="2898" b="0" i="0" u="none">
                <a:solidFill>
                  <a:srgbClr val="334155"/>
                </a:solidFill>
                <a:latin typeface="Calibri"/>
              </a:rPr>
              <a:t> and </a:t>
            </a:r>
            <a:r>
              <a:rPr sz="2898" b="0" i="1" u="none">
                <a:solidFill>
                  <a:srgbClr val="334155"/>
                </a:solidFill>
                <a:latin typeface="Calibri"/>
              </a:rPr>
              <a:t>relationship</a:t>
            </a:r>
            <a:r>
              <a:rPr sz="2898" b="0" i="0" u="none">
                <a:solidFill>
                  <a:srgbClr val="334155"/>
                </a:solidFill>
                <a:latin typeface="Calibri"/>
              </a:rPr>
              <a:t> to the employee.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COMPANY CASE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27/40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COMPANY ERD</a:t>
            </a:r>
          </a:p>
        </p:txBody>
      </p:sp>
      <p:cxnSp>
        <p:nvCxnSpPr>
          <p:cNvPr id="6" name="Connector 5"/>
          <p:cNvCxnSpPr/>
          <p:nvPr/>
        </p:nvCxnSpPr>
        <p:spPr>
          <a:xfrm flipV="1">
            <a:off x="6589204" y="3283004"/>
            <a:ext cx="2000250" cy="762000"/>
          </a:xfrm>
          <a:prstGeom prst="line">
            <a:avLst/>
          </a:prstGeom>
          <a:ln w="23812">
            <a:solidFill>
              <a:srgbClr val="0F172A"/>
            </a:solidFill>
          </a:ln>
        </p:spPr>
      </p:cxnSp>
      <p:cxnSp>
        <p:nvCxnSpPr>
          <p:cNvPr id="7" name="Connector 6"/>
          <p:cNvCxnSpPr/>
          <p:nvPr/>
        </p:nvCxnSpPr>
        <p:spPr>
          <a:xfrm flipV="1">
            <a:off x="6555295" y="3193995"/>
            <a:ext cx="2000250" cy="762000"/>
          </a:xfrm>
          <a:prstGeom prst="line">
            <a:avLst/>
          </a:prstGeom>
          <a:ln w="23812">
            <a:solidFill>
              <a:srgbClr val="0F172A"/>
            </a:solidFill>
          </a:ln>
        </p:spPr>
      </p:cxnSp>
      <p:cxnSp>
        <p:nvCxnSpPr>
          <p:cNvPr id="8" name="Connector 7"/>
          <p:cNvCxnSpPr/>
          <p:nvPr/>
        </p:nvCxnSpPr>
        <p:spPr>
          <a:xfrm>
            <a:off x="10651045" y="3283004"/>
            <a:ext cx="2000250" cy="762000"/>
          </a:xfrm>
          <a:prstGeom prst="line">
            <a:avLst/>
          </a:prstGeom>
          <a:ln w="23812">
            <a:solidFill>
              <a:srgbClr val="0F172A"/>
            </a:solidFill>
          </a:ln>
        </p:spPr>
      </p:cxnSp>
      <p:cxnSp>
        <p:nvCxnSpPr>
          <p:cNvPr id="9" name="Connector 8"/>
          <p:cNvCxnSpPr/>
          <p:nvPr/>
        </p:nvCxnSpPr>
        <p:spPr>
          <a:xfrm>
            <a:off x="10684954" y="3193995"/>
            <a:ext cx="2000250" cy="762000"/>
          </a:xfrm>
          <a:prstGeom prst="line">
            <a:avLst/>
          </a:prstGeom>
          <a:ln w="23812">
            <a:solidFill>
              <a:srgbClr val="0F172A"/>
            </a:solidFill>
          </a:ln>
        </p:spPr>
      </p:cxnSp>
      <p:cxnSp>
        <p:nvCxnSpPr>
          <p:cNvPr id="10" name="Connector 9"/>
          <p:cNvCxnSpPr/>
          <p:nvPr/>
        </p:nvCxnSpPr>
        <p:spPr>
          <a:xfrm>
            <a:off x="6572250" y="4381500"/>
            <a:ext cx="2000250" cy="381000"/>
          </a:xfrm>
          <a:prstGeom prst="line">
            <a:avLst/>
          </a:prstGeom>
          <a:ln w="23812">
            <a:solidFill>
              <a:srgbClr val="0F172A"/>
            </a:solidFill>
          </a:ln>
        </p:spPr>
      </p:cxnSp>
      <p:cxnSp>
        <p:nvCxnSpPr>
          <p:cNvPr id="11" name="Connector 10"/>
          <p:cNvCxnSpPr/>
          <p:nvPr/>
        </p:nvCxnSpPr>
        <p:spPr>
          <a:xfrm flipV="1">
            <a:off x="10676911" y="4428283"/>
            <a:ext cx="2000250" cy="381000"/>
          </a:xfrm>
          <a:prstGeom prst="line">
            <a:avLst/>
          </a:prstGeom>
          <a:ln w="23812">
            <a:solidFill>
              <a:srgbClr val="0F172A"/>
            </a:solidFill>
          </a:ln>
        </p:spPr>
      </p:cxnSp>
      <p:cxnSp>
        <p:nvCxnSpPr>
          <p:cNvPr id="12" name="Connector 11"/>
          <p:cNvCxnSpPr/>
          <p:nvPr/>
        </p:nvCxnSpPr>
        <p:spPr>
          <a:xfrm flipV="1">
            <a:off x="10659088" y="4334716"/>
            <a:ext cx="2000250" cy="381000"/>
          </a:xfrm>
          <a:prstGeom prst="line">
            <a:avLst/>
          </a:prstGeom>
          <a:ln w="23812">
            <a:solidFill>
              <a:srgbClr val="0F172A"/>
            </a:solidFill>
          </a:ln>
        </p:spPr>
      </p:cxnSp>
      <p:cxnSp>
        <p:nvCxnSpPr>
          <p:cNvPr id="13" name="Connector 12"/>
          <p:cNvCxnSpPr/>
          <p:nvPr/>
        </p:nvCxnSpPr>
        <p:spPr>
          <a:xfrm>
            <a:off x="6064756" y="4646044"/>
            <a:ext cx="2476500" cy="2152650"/>
          </a:xfrm>
          <a:prstGeom prst="line">
            <a:avLst/>
          </a:prstGeom>
          <a:ln w="23812">
            <a:solidFill>
              <a:srgbClr val="0F172A"/>
            </a:solidFill>
          </a:ln>
        </p:spPr>
      </p:cxnSp>
      <p:cxnSp>
        <p:nvCxnSpPr>
          <p:cNvPr id="14" name="Connector 13"/>
          <p:cNvCxnSpPr/>
          <p:nvPr/>
        </p:nvCxnSpPr>
        <p:spPr>
          <a:xfrm>
            <a:off x="6127243" y="4574155"/>
            <a:ext cx="2476500" cy="2152650"/>
          </a:xfrm>
          <a:prstGeom prst="line">
            <a:avLst/>
          </a:prstGeom>
          <a:ln w="23812">
            <a:solidFill>
              <a:srgbClr val="0F172A"/>
            </a:solidFill>
          </a:ln>
        </p:spPr>
      </p:cxnSp>
      <p:cxnSp>
        <p:nvCxnSpPr>
          <p:cNvPr id="15" name="Connector 14"/>
          <p:cNvCxnSpPr/>
          <p:nvPr/>
        </p:nvCxnSpPr>
        <p:spPr>
          <a:xfrm>
            <a:off x="10649239" y="6806524"/>
            <a:ext cx="2000250" cy="857250"/>
          </a:xfrm>
          <a:prstGeom prst="line">
            <a:avLst/>
          </a:prstGeom>
          <a:ln w="23812">
            <a:solidFill>
              <a:srgbClr val="0F172A"/>
            </a:solidFill>
          </a:ln>
        </p:spPr>
      </p:cxnSp>
      <p:cxnSp>
        <p:nvCxnSpPr>
          <p:cNvPr id="16" name="Connector 15"/>
          <p:cNvCxnSpPr/>
          <p:nvPr/>
        </p:nvCxnSpPr>
        <p:spPr>
          <a:xfrm>
            <a:off x="10686760" y="6718975"/>
            <a:ext cx="2000250" cy="857250"/>
          </a:xfrm>
          <a:prstGeom prst="line">
            <a:avLst/>
          </a:prstGeom>
          <a:ln w="23812">
            <a:solidFill>
              <a:srgbClr val="0F172A"/>
            </a:solidFill>
          </a:ln>
        </p:spPr>
      </p:cxnSp>
      <p:cxnSp>
        <p:nvCxnSpPr>
          <p:cNvPr id="17" name="Connector 16"/>
          <p:cNvCxnSpPr/>
          <p:nvPr/>
        </p:nvCxnSpPr>
        <p:spPr>
          <a:xfrm>
            <a:off x="13906500" y="4610100"/>
            <a:ext cx="0" cy="819150"/>
          </a:xfrm>
          <a:prstGeom prst="line">
            <a:avLst/>
          </a:prstGeom>
          <a:ln w="23812">
            <a:solidFill>
              <a:srgbClr val="0F172A"/>
            </a:solidFill>
          </a:ln>
        </p:spPr>
      </p:cxnSp>
      <p:cxnSp>
        <p:nvCxnSpPr>
          <p:cNvPr id="18" name="Connector 17"/>
          <p:cNvCxnSpPr/>
          <p:nvPr/>
        </p:nvCxnSpPr>
        <p:spPr>
          <a:xfrm>
            <a:off x="13858875" y="6381750"/>
            <a:ext cx="0" cy="819150"/>
          </a:xfrm>
          <a:prstGeom prst="line">
            <a:avLst/>
          </a:prstGeom>
          <a:ln w="23812">
            <a:solidFill>
              <a:srgbClr val="0F172A"/>
            </a:solidFill>
          </a:ln>
        </p:spPr>
      </p:cxnSp>
      <p:cxnSp>
        <p:nvCxnSpPr>
          <p:cNvPr id="19" name="Connector 18"/>
          <p:cNvCxnSpPr/>
          <p:nvPr/>
        </p:nvCxnSpPr>
        <p:spPr>
          <a:xfrm>
            <a:off x="13954125" y="6381750"/>
            <a:ext cx="0" cy="819150"/>
          </a:xfrm>
          <a:prstGeom prst="line">
            <a:avLst/>
          </a:prstGeom>
          <a:ln w="23812">
            <a:solidFill>
              <a:srgbClr val="0F172A"/>
            </a:solidFill>
          </a:ln>
        </p:spPr>
      </p:cxnSp>
      <p:cxnSp>
        <p:nvCxnSpPr>
          <p:cNvPr id="20" name="Connector 19"/>
          <p:cNvCxnSpPr/>
          <p:nvPr/>
        </p:nvCxnSpPr>
        <p:spPr>
          <a:xfrm>
            <a:off x="5334000" y="4610100"/>
            <a:ext cx="0" cy="1104900"/>
          </a:xfrm>
          <a:prstGeom prst="line">
            <a:avLst/>
          </a:prstGeom>
          <a:ln w="23812">
            <a:solidFill>
              <a:srgbClr val="0F172A"/>
            </a:solidFill>
          </a:ln>
        </p:spPr>
      </p:cxnSp>
      <p:cxnSp>
        <p:nvCxnSpPr>
          <p:cNvPr id="21" name="Connector 20"/>
          <p:cNvCxnSpPr/>
          <p:nvPr/>
        </p:nvCxnSpPr>
        <p:spPr>
          <a:xfrm>
            <a:off x="5286375" y="6762750"/>
            <a:ext cx="0" cy="914400"/>
          </a:xfrm>
          <a:prstGeom prst="line">
            <a:avLst/>
          </a:prstGeom>
          <a:ln w="23812">
            <a:solidFill>
              <a:srgbClr val="0F172A"/>
            </a:solidFill>
          </a:ln>
        </p:spPr>
      </p:cxnSp>
      <p:cxnSp>
        <p:nvCxnSpPr>
          <p:cNvPr id="22" name="Connector 21"/>
          <p:cNvCxnSpPr/>
          <p:nvPr/>
        </p:nvCxnSpPr>
        <p:spPr>
          <a:xfrm>
            <a:off x="5381625" y="6762750"/>
            <a:ext cx="0" cy="914400"/>
          </a:xfrm>
          <a:prstGeom prst="line">
            <a:avLst/>
          </a:prstGeom>
          <a:ln w="23812">
            <a:solidFill>
              <a:srgbClr val="0F172A"/>
            </a:solidFill>
          </a:ln>
        </p:spPr>
      </p:cxnSp>
      <p:cxnSp>
        <p:nvCxnSpPr>
          <p:cNvPr id="23" name="Connector 22"/>
          <p:cNvCxnSpPr/>
          <p:nvPr/>
        </p:nvCxnSpPr>
        <p:spPr>
          <a:xfrm flipH="1">
            <a:off x="2381250" y="4095750"/>
            <a:ext cx="1714500" cy="1619250"/>
          </a:xfrm>
          <a:prstGeom prst="line">
            <a:avLst/>
          </a:prstGeom>
          <a:ln w="23812">
            <a:solidFill>
              <a:srgbClr val="0F172A"/>
            </a:solidFill>
          </a:ln>
        </p:spPr>
      </p:cxnSp>
      <p:cxnSp>
        <p:nvCxnSpPr>
          <p:cNvPr id="24" name="Connector 23"/>
          <p:cNvCxnSpPr/>
          <p:nvPr/>
        </p:nvCxnSpPr>
        <p:spPr>
          <a:xfrm flipH="1">
            <a:off x="3476625" y="4610100"/>
            <a:ext cx="1000125" cy="1581150"/>
          </a:xfrm>
          <a:prstGeom prst="line">
            <a:avLst/>
          </a:prstGeom>
          <a:ln w="23812">
            <a:solidFill>
              <a:srgbClr val="0F172A"/>
            </a:solidFill>
          </a:ln>
        </p:spPr>
      </p:cxnSp>
      <p:cxnSp>
        <p:nvCxnSpPr>
          <p:cNvPr id="25" name="Connector 24"/>
          <p:cNvCxnSpPr/>
          <p:nvPr/>
        </p:nvCxnSpPr>
        <p:spPr>
          <a:xfrm>
            <a:off x="2762250" y="3352800"/>
            <a:ext cx="1428750" cy="552450"/>
          </a:xfrm>
          <a:prstGeom prst="line">
            <a:avLst/>
          </a:prstGeom>
          <a:ln w="23812">
            <a:solidFill>
              <a:srgbClr val="0F172A"/>
            </a:solidFill>
          </a:ln>
        </p:spPr>
      </p:cxnSp>
      <p:cxnSp>
        <p:nvCxnSpPr>
          <p:cNvPr id="26" name="Connector 25"/>
          <p:cNvCxnSpPr/>
          <p:nvPr/>
        </p:nvCxnSpPr>
        <p:spPr>
          <a:xfrm>
            <a:off x="4286250" y="3105150"/>
            <a:ext cx="666750" cy="666750"/>
          </a:xfrm>
          <a:prstGeom prst="line">
            <a:avLst/>
          </a:prstGeom>
          <a:ln w="23812">
            <a:solidFill>
              <a:srgbClr val="0F172A"/>
            </a:solidFill>
          </a:ln>
        </p:spPr>
      </p:cxnSp>
      <p:cxnSp>
        <p:nvCxnSpPr>
          <p:cNvPr id="27" name="Connector 26"/>
          <p:cNvCxnSpPr/>
          <p:nvPr/>
        </p:nvCxnSpPr>
        <p:spPr>
          <a:xfrm flipH="1">
            <a:off x="5619750" y="3105150"/>
            <a:ext cx="476250" cy="666750"/>
          </a:xfrm>
          <a:prstGeom prst="line">
            <a:avLst/>
          </a:prstGeom>
          <a:ln w="23812">
            <a:solidFill>
              <a:srgbClr val="0F172A"/>
            </a:solidFill>
          </a:ln>
        </p:spPr>
      </p:cxnSp>
      <p:cxnSp>
        <p:nvCxnSpPr>
          <p:cNvPr id="28" name="Connector 27"/>
          <p:cNvCxnSpPr/>
          <p:nvPr/>
        </p:nvCxnSpPr>
        <p:spPr>
          <a:xfrm>
            <a:off x="12954000" y="3124200"/>
            <a:ext cx="571500" cy="647700"/>
          </a:xfrm>
          <a:prstGeom prst="line">
            <a:avLst/>
          </a:prstGeom>
          <a:ln w="23812">
            <a:solidFill>
              <a:srgbClr val="0F172A"/>
            </a:solidFill>
          </a:ln>
        </p:spPr>
      </p:cxnSp>
      <p:cxnSp>
        <p:nvCxnSpPr>
          <p:cNvPr id="29" name="Connector 28"/>
          <p:cNvCxnSpPr/>
          <p:nvPr/>
        </p:nvCxnSpPr>
        <p:spPr>
          <a:xfrm flipH="1">
            <a:off x="14287500" y="3124200"/>
            <a:ext cx="571500" cy="647700"/>
          </a:xfrm>
          <a:prstGeom prst="line">
            <a:avLst/>
          </a:prstGeom>
          <a:ln w="23812">
            <a:solidFill>
              <a:srgbClr val="0F172A"/>
            </a:solidFill>
          </a:ln>
        </p:spPr>
      </p:cxnSp>
      <p:cxnSp>
        <p:nvCxnSpPr>
          <p:cNvPr id="30" name="Connector 29"/>
          <p:cNvCxnSpPr/>
          <p:nvPr/>
        </p:nvCxnSpPr>
        <p:spPr>
          <a:xfrm flipH="1" flipV="1">
            <a:off x="15144750" y="4286250"/>
            <a:ext cx="285750" cy="95250"/>
          </a:xfrm>
          <a:prstGeom prst="line">
            <a:avLst/>
          </a:prstGeom>
          <a:ln w="23812">
            <a:solidFill>
              <a:srgbClr val="0F172A"/>
            </a:solidFill>
          </a:ln>
        </p:spPr>
      </p:cxnSp>
      <p:cxnSp>
        <p:nvCxnSpPr>
          <p:cNvPr id="31" name="Connector 30"/>
          <p:cNvCxnSpPr/>
          <p:nvPr/>
        </p:nvCxnSpPr>
        <p:spPr>
          <a:xfrm>
            <a:off x="9620250" y="5238750"/>
            <a:ext cx="0" cy="142875"/>
          </a:xfrm>
          <a:prstGeom prst="line">
            <a:avLst/>
          </a:prstGeom>
          <a:ln w="23812">
            <a:solidFill>
              <a:srgbClr val="0F172A"/>
            </a:solidFill>
          </a:ln>
        </p:spPr>
      </p:cxnSp>
      <p:cxnSp>
        <p:nvCxnSpPr>
          <p:cNvPr id="32" name="Connector 31"/>
          <p:cNvCxnSpPr/>
          <p:nvPr/>
        </p:nvCxnSpPr>
        <p:spPr>
          <a:xfrm flipH="1">
            <a:off x="8477250" y="7048500"/>
            <a:ext cx="476250" cy="342900"/>
          </a:xfrm>
          <a:prstGeom prst="line">
            <a:avLst/>
          </a:prstGeom>
          <a:ln w="23812">
            <a:solidFill>
              <a:srgbClr val="0F172A"/>
            </a:solidFill>
          </a:ln>
        </p:spPr>
      </p:cxnSp>
      <p:cxnSp>
        <p:nvCxnSpPr>
          <p:cNvPr id="33" name="Connector 32"/>
          <p:cNvCxnSpPr/>
          <p:nvPr/>
        </p:nvCxnSpPr>
        <p:spPr>
          <a:xfrm flipH="1">
            <a:off x="15144750" y="7048500"/>
            <a:ext cx="476250" cy="381000"/>
          </a:xfrm>
          <a:prstGeom prst="line">
            <a:avLst/>
          </a:prstGeom>
          <a:ln w="23812">
            <a:solidFill>
              <a:srgbClr val="0F172A"/>
            </a:solidFill>
          </a:ln>
        </p:spPr>
      </p:cxnSp>
      <p:cxnSp>
        <p:nvCxnSpPr>
          <p:cNvPr id="34" name="Connector 33"/>
          <p:cNvCxnSpPr/>
          <p:nvPr/>
        </p:nvCxnSpPr>
        <p:spPr>
          <a:xfrm flipH="1" flipV="1">
            <a:off x="15144750" y="7905750"/>
            <a:ext cx="476250" cy="333375"/>
          </a:xfrm>
          <a:prstGeom prst="line">
            <a:avLst/>
          </a:prstGeom>
          <a:ln w="23812">
            <a:solidFill>
              <a:srgbClr val="0F172A"/>
            </a:solidFill>
          </a:ln>
        </p:spPr>
      </p:cxnSp>
      <p:cxnSp>
        <p:nvCxnSpPr>
          <p:cNvPr id="35" name="Connector 34"/>
          <p:cNvCxnSpPr/>
          <p:nvPr/>
        </p:nvCxnSpPr>
        <p:spPr>
          <a:xfrm flipV="1">
            <a:off x="3381375" y="8191500"/>
            <a:ext cx="619125" cy="95250"/>
          </a:xfrm>
          <a:prstGeom prst="line">
            <a:avLst/>
          </a:prstGeom>
          <a:ln w="23812">
            <a:solidFill>
              <a:srgbClr val="0F172A"/>
            </a:solidFill>
          </a:ln>
        </p:spPr>
      </p:cxnSp>
      <p:sp>
        <p:nvSpPr>
          <p:cNvPr id="36" name="Rectangle 35"/>
          <p:cNvSpPr/>
          <p:nvPr/>
        </p:nvSpPr>
        <p:spPr>
          <a:xfrm>
            <a:off x="4095750" y="3771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37" name="Rectangle 36"/>
          <p:cNvSpPr/>
          <p:nvPr/>
        </p:nvSpPr>
        <p:spPr>
          <a:xfrm>
            <a:off x="12668250" y="3771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DEPARTMENT</a:t>
            </a:r>
          </a:p>
        </p:txBody>
      </p:sp>
      <p:sp>
        <p:nvSpPr>
          <p:cNvPr id="38" name="Rectangle 37"/>
          <p:cNvSpPr/>
          <p:nvPr/>
        </p:nvSpPr>
        <p:spPr>
          <a:xfrm>
            <a:off x="12668250" y="7200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PROJECT</a:t>
            </a:r>
          </a:p>
        </p:txBody>
      </p:sp>
      <p:sp>
        <p:nvSpPr>
          <p:cNvPr id="39" name="Rectangle 38"/>
          <p:cNvSpPr/>
          <p:nvPr/>
        </p:nvSpPr>
        <p:spPr>
          <a:xfrm>
            <a:off x="4000500" y="7677150"/>
            <a:ext cx="2667000" cy="838200"/>
          </a:xfrm>
          <a:prstGeom prst="rect">
            <a:avLst/>
          </a:prstGeom>
          <a:solidFill>
            <a:srgbClr val="FFFFFF"/>
          </a:solidFill>
          <a:ln w="66675" cmpd="dbl">
            <a:solidFill>
              <a:srgbClr val="0F172A"/>
            </a:solidFill>
          </a:ln>
        </p:spPr>
        <p:txBody>
          <a:bodyPr rtlCol="0" anchor="ctr" lIns="0" rIns="0" tIns="0" bIns="0" wrap="none"/>
          <a:lstStyle/>
          <a:p>
            <a:pPr algn="ctr"/>
            <a:r>
              <a:rPr sz="1932" b="1" i="0" u="none">
                <a:solidFill>
                  <a:srgbClr val="0F172A"/>
                </a:solidFill>
                <a:latin typeface="Arial"/>
              </a:rPr>
              <a:t>DEPENDENT</a:t>
            </a:r>
          </a:p>
        </p:txBody>
      </p:sp>
      <p:sp>
        <p:nvSpPr>
          <p:cNvPr id="40" name="Diamond 39"/>
          <p:cNvSpPr/>
          <p:nvPr/>
        </p:nvSpPr>
        <p:spPr>
          <a:xfrm>
            <a:off x="8572500" y="2762250"/>
            <a:ext cx="209550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WORKS_FOR</a:t>
            </a:r>
          </a:p>
        </p:txBody>
      </p:sp>
      <p:sp>
        <p:nvSpPr>
          <p:cNvPr id="41" name="Diamond 40"/>
          <p:cNvSpPr/>
          <p:nvPr/>
        </p:nvSpPr>
        <p:spPr>
          <a:xfrm>
            <a:off x="8572500" y="4286250"/>
            <a:ext cx="209550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MANAGES</a:t>
            </a:r>
          </a:p>
        </p:txBody>
      </p:sp>
      <p:sp>
        <p:nvSpPr>
          <p:cNvPr id="42" name="Diamond 41"/>
          <p:cNvSpPr/>
          <p:nvPr/>
        </p:nvSpPr>
        <p:spPr>
          <a:xfrm>
            <a:off x="8572500" y="6286500"/>
            <a:ext cx="209550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WORKS_ON</a:t>
            </a:r>
          </a:p>
        </p:txBody>
      </p:sp>
      <p:sp>
        <p:nvSpPr>
          <p:cNvPr id="43" name="Diamond 42"/>
          <p:cNvSpPr/>
          <p:nvPr/>
        </p:nvSpPr>
        <p:spPr>
          <a:xfrm>
            <a:off x="12858750" y="5429250"/>
            <a:ext cx="209550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CONTROLS</a:t>
            </a:r>
          </a:p>
        </p:txBody>
      </p:sp>
      <p:sp>
        <p:nvSpPr>
          <p:cNvPr id="44" name="Diamond 43"/>
          <p:cNvSpPr/>
          <p:nvPr/>
        </p:nvSpPr>
        <p:spPr>
          <a:xfrm>
            <a:off x="4000500" y="5715000"/>
            <a:ext cx="2667000" cy="1047750"/>
          </a:xfrm>
          <a:prstGeom prst="diamond">
            <a:avLst/>
          </a:prstGeom>
          <a:solidFill>
            <a:srgbClr val="FDECEF"/>
          </a:solidFill>
          <a:ln w="66675" cmpd="dbl">
            <a:solidFill>
              <a:srgbClr val="C8102E"/>
            </a:solidFill>
          </a:ln>
        </p:spPr>
        <p:txBody>
          <a:bodyPr rtlCol="0" anchor="ctr" lIns="0" rIns="0" tIns="0" bIns="0" wrap="none"/>
          <a:lstStyle/>
          <a:p>
            <a:pPr algn="ctr"/>
            <a:r>
              <a:rPr sz="1656" b="1" i="0" u="none">
                <a:solidFill>
                  <a:srgbClr val="0F172A"/>
                </a:solidFill>
                <a:latin typeface="Arial"/>
              </a:rPr>
              <a:t>DEPENDENTS_OF</a:t>
            </a:r>
          </a:p>
        </p:txBody>
      </p:sp>
      <p:sp>
        <p:nvSpPr>
          <p:cNvPr id="45" name="Diamond 44"/>
          <p:cNvSpPr/>
          <p:nvPr/>
        </p:nvSpPr>
        <p:spPr>
          <a:xfrm>
            <a:off x="1285875" y="5715000"/>
            <a:ext cx="219075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SUPERVISION</a:t>
            </a:r>
          </a:p>
        </p:txBody>
      </p:sp>
      <p:sp>
        <p:nvSpPr>
          <p:cNvPr id="46" name="Oval 45"/>
          <p:cNvSpPr/>
          <p:nvPr/>
        </p:nvSpPr>
        <p:spPr>
          <a:xfrm>
            <a:off x="1714500" y="2876550"/>
            <a:ext cx="1333500" cy="5334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47" name="Oval 46"/>
          <p:cNvSpPr/>
          <p:nvPr/>
        </p:nvSpPr>
        <p:spPr>
          <a:xfrm>
            <a:off x="3381375" y="2590800"/>
            <a:ext cx="14287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a:t>
            </a:r>
          </a:p>
        </p:txBody>
      </p:sp>
      <p:sp>
        <p:nvSpPr>
          <p:cNvPr id="48" name="Oval 47"/>
          <p:cNvSpPr/>
          <p:nvPr/>
        </p:nvSpPr>
        <p:spPr>
          <a:xfrm>
            <a:off x="5572125" y="2590800"/>
            <a:ext cx="14287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Salary</a:t>
            </a:r>
          </a:p>
        </p:txBody>
      </p:sp>
      <p:sp>
        <p:nvSpPr>
          <p:cNvPr id="49" name="Oval 48"/>
          <p:cNvSpPr/>
          <p:nvPr/>
        </p:nvSpPr>
        <p:spPr>
          <a:xfrm>
            <a:off x="11906250" y="2590800"/>
            <a:ext cx="1524000" cy="5334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Number</a:t>
            </a:r>
          </a:p>
        </p:txBody>
      </p:sp>
      <p:sp>
        <p:nvSpPr>
          <p:cNvPr id="50" name="Oval 49"/>
          <p:cNvSpPr/>
          <p:nvPr/>
        </p:nvSpPr>
        <p:spPr>
          <a:xfrm>
            <a:off x="14382750" y="2590800"/>
            <a:ext cx="1333500" cy="5334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Name</a:t>
            </a:r>
          </a:p>
        </p:txBody>
      </p:sp>
      <p:sp>
        <p:nvSpPr>
          <p:cNvPr id="51" name="Oval 50"/>
          <p:cNvSpPr/>
          <p:nvPr/>
        </p:nvSpPr>
        <p:spPr>
          <a:xfrm>
            <a:off x="15430500" y="4191000"/>
            <a:ext cx="1714500" cy="571500"/>
          </a:xfrm>
          <a:prstGeom prst="ellipse">
            <a:avLst/>
          </a:prstGeom>
          <a:solidFill>
            <a:srgbClr val="E6F4F4"/>
          </a:solidFill>
          <a:ln w="57150" cmpd="dbl">
            <a:solidFill>
              <a:srgbClr val="0E8A8A"/>
            </a:solidFill>
          </a:ln>
        </p:spPr>
        <p:txBody>
          <a:bodyPr rtlCol="0" anchor="ctr" lIns="0" rIns="0" tIns="0" bIns="0" wrap="none"/>
          <a:lstStyle/>
          <a:p>
            <a:pPr algn="ctr"/>
            <a:r>
              <a:rPr sz="1656" b="0" i="0" u="none">
                <a:solidFill>
                  <a:srgbClr val="0F172A"/>
                </a:solidFill>
                <a:latin typeface="Calibri"/>
              </a:rPr>
              <a:t>Locations</a:t>
            </a:r>
          </a:p>
        </p:txBody>
      </p:sp>
      <p:sp>
        <p:nvSpPr>
          <p:cNvPr id="52" name="Oval 51"/>
          <p:cNvSpPr/>
          <p:nvPr/>
        </p:nvSpPr>
        <p:spPr>
          <a:xfrm>
            <a:off x="8810625" y="5381625"/>
            <a:ext cx="1619250" cy="4762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StartDate</a:t>
            </a:r>
          </a:p>
        </p:txBody>
      </p:sp>
      <p:sp>
        <p:nvSpPr>
          <p:cNvPr id="53" name="Oval 52"/>
          <p:cNvSpPr/>
          <p:nvPr/>
        </p:nvSpPr>
        <p:spPr>
          <a:xfrm>
            <a:off x="7572375" y="7381875"/>
            <a:ext cx="1238250" cy="4762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Hours</a:t>
            </a:r>
          </a:p>
        </p:txBody>
      </p:sp>
      <p:sp>
        <p:nvSpPr>
          <p:cNvPr id="54" name="Oval 53"/>
          <p:cNvSpPr/>
          <p:nvPr/>
        </p:nvSpPr>
        <p:spPr>
          <a:xfrm>
            <a:off x="15621000" y="6591300"/>
            <a:ext cx="1524000" cy="5334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Number</a:t>
            </a:r>
          </a:p>
        </p:txBody>
      </p:sp>
      <p:sp>
        <p:nvSpPr>
          <p:cNvPr id="55" name="Oval 54"/>
          <p:cNvSpPr/>
          <p:nvPr/>
        </p:nvSpPr>
        <p:spPr>
          <a:xfrm>
            <a:off x="15573375" y="8115300"/>
            <a:ext cx="16192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Location</a:t>
            </a:r>
          </a:p>
        </p:txBody>
      </p:sp>
      <p:sp>
        <p:nvSpPr>
          <p:cNvPr id="56" name="Oval 55"/>
          <p:cNvSpPr/>
          <p:nvPr/>
        </p:nvSpPr>
        <p:spPr>
          <a:xfrm>
            <a:off x="1381125" y="8020050"/>
            <a:ext cx="20002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 (partial)</a:t>
            </a:r>
          </a:p>
        </p:txBody>
      </p:sp>
      <p:sp>
        <p:nvSpPr>
          <p:cNvPr id="57" name="TextBox 56"/>
          <p:cNvSpPr txBox="1"/>
          <p:nvPr/>
        </p:nvSpPr>
        <p:spPr>
          <a:xfrm>
            <a:off x="6858000" y="3378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58" name="TextBox 57"/>
          <p:cNvSpPr txBox="1"/>
          <p:nvPr/>
        </p:nvSpPr>
        <p:spPr>
          <a:xfrm>
            <a:off x="12096750" y="3378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59" name="TextBox 58"/>
          <p:cNvSpPr txBox="1"/>
          <p:nvPr/>
        </p:nvSpPr>
        <p:spPr>
          <a:xfrm>
            <a:off x="6858000" y="4406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0" name="TextBox 59"/>
          <p:cNvSpPr txBox="1"/>
          <p:nvPr/>
        </p:nvSpPr>
        <p:spPr>
          <a:xfrm>
            <a:off x="12096750" y="4140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1" name="TextBox 60"/>
          <p:cNvSpPr txBox="1"/>
          <p:nvPr/>
        </p:nvSpPr>
        <p:spPr>
          <a:xfrm>
            <a:off x="7048500" y="5168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M</a:t>
            </a:r>
          </a:p>
        </p:txBody>
      </p:sp>
      <p:sp>
        <p:nvSpPr>
          <p:cNvPr id="62" name="TextBox 61"/>
          <p:cNvSpPr txBox="1"/>
          <p:nvPr/>
        </p:nvSpPr>
        <p:spPr>
          <a:xfrm>
            <a:off x="12096750" y="68833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63" name="TextBox 62"/>
          <p:cNvSpPr txBox="1"/>
          <p:nvPr/>
        </p:nvSpPr>
        <p:spPr>
          <a:xfrm>
            <a:off x="14001750" y="4787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4" name="TextBox 63"/>
          <p:cNvSpPr txBox="1"/>
          <p:nvPr/>
        </p:nvSpPr>
        <p:spPr>
          <a:xfrm>
            <a:off x="14001750" y="6692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65" name="TextBox 64"/>
          <p:cNvSpPr txBox="1"/>
          <p:nvPr/>
        </p:nvSpPr>
        <p:spPr>
          <a:xfrm>
            <a:off x="5429250" y="4787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6" name="TextBox 65"/>
          <p:cNvSpPr txBox="1"/>
          <p:nvPr/>
        </p:nvSpPr>
        <p:spPr>
          <a:xfrm>
            <a:off x="5429250" y="71690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67" name="TextBox 66"/>
          <p:cNvSpPr txBox="1"/>
          <p:nvPr/>
        </p:nvSpPr>
        <p:spPr>
          <a:xfrm>
            <a:off x="2667000" y="4787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8" name="TextBox 67"/>
          <p:cNvSpPr txBox="1"/>
          <p:nvPr/>
        </p:nvSpPr>
        <p:spPr>
          <a:xfrm>
            <a:off x="3810000" y="5549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69" name="TextBox 68"/>
          <p:cNvSpPr txBox="1"/>
          <p:nvPr/>
        </p:nvSpPr>
        <p:spPr>
          <a:xfrm>
            <a:off x="1619250" y="4324273"/>
            <a:ext cx="1524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supervisor</a:t>
            </a:r>
          </a:p>
        </p:txBody>
      </p:sp>
      <p:sp>
        <p:nvSpPr>
          <p:cNvPr id="70" name="TextBox 69"/>
          <p:cNvSpPr txBox="1"/>
          <p:nvPr/>
        </p:nvSpPr>
        <p:spPr>
          <a:xfrm>
            <a:off x="2381250" y="6705523"/>
            <a:ext cx="1524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supervisee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COMPANY CASE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28/40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From sentence to symbol</a:t>
            </a:r>
          </a:p>
        </p:txBody>
      </p:sp>
      <p:graphicFrame>
        <p:nvGraphicFramePr>
          <p:cNvPr id="6" name="Table 5"/>
          <p:cNvGraphicFramePr>
            <a:graphicFrameLocks noGrp="1"/>
          </p:cNvGraphicFramePr>
          <p:nvPr/>
        </p:nvGraphicFramePr>
        <p:xfrm>
          <a:off x="914400" y="2482024"/>
          <a:ext cx="16459200" cy="5027016"/>
        </p:xfrm>
        <a:graphic>
          <a:graphicData uri="http://schemas.openxmlformats.org/drawingml/2006/table">
            <a:tbl>
              <a:tblPr firstRow="0" bandRow="0">
                <a:tableStyleId>{5940675A-B579-460E-94D1-54222C63F5DA}</a:tableStyleId>
              </a:tblPr>
              <a:tblGrid>
                <a:gridCol w="8558784"/>
                <a:gridCol w="7900416"/>
              </a:tblGrid>
              <a:tr h="628377">
                <a:tc>
                  <a:txBody>
                    <a:bodyPr/>
                    <a:lstStyle/>
                    <a:p>
                      <a:r>
                        <a:rPr sz="2511" b="1" i="0" u="none">
                          <a:solidFill>
                            <a:srgbClr val="FFFFFF"/>
                          </a:solidFill>
                          <a:latin typeface="Arial"/>
                        </a:rPr>
                        <a:t>Sentence in the requirements</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ERD decision</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"Each department has a unique name, a unique number"</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DEPARTMENT with two candidate keys: Name, Number</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"A department may have several locations"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Locations is multi-valued</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"A particular employee who manages the department"</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MANAGES 1:1; DEPARTMENT total, EMPLOYEE partial</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"A project must be controlled by a department"</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CONTROLS 1:N; PROJECT total</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"Must work on one or more projects… hours per week"</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WORKS_ON M:N, EMPLOYEE total, attribute Hours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"The direct supervisor of each employee"</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SUPERVISION, recursive 1:N with roles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"Dependents of each employee… first name"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Weak entity DEPENDENT, partial key Name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METHOD</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29/40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Common ERD mistakes</a:t>
            </a:r>
          </a:p>
        </p:txBody>
      </p:sp>
      <p:sp>
        <p:nvSpPr>
          <p:cNvPr id="6" name="Rectangle 5"/>
          <p:cNvSpPr/>
          <p:nvPr/>
        </p:nvSpPr>
        <p:spPr>
          <a:xfrm>
            <a:off x="91440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Attributes as entities</a:t>
            </a:r>
          </a:p>
        </p:txBody>
      </p:sp>
      <p:sp>
        <p:nvSpPr>
          <p:cNvPr id="8" name="TextBox 7"/>
          <p:cNvSpPr txBox="1"/>
          <p:nvPr/>
        </p:nvSpPr>
        <p:spPr>
          <a:xfrm>
            <a:off x="1314450" y="4105747"/>
            <a:ext cx="4472940" cy="1291841"/>
          </a:xfrm>
          <a:prstGeom prst="rect">
            <a:avLst/>
          </a:prstGeom>
          <a:noFill/>
        </p:spPr>
        <p:txBody>
          <a:bodyPr wrap="square" lIns="0" rIns="0" tIns="0" bIns="0" anchor="t"/>
          <a:lstStyle/>
          <a:p>
            <a:pPr algn="l">
              <a:lnSpc>
                <a:spcPct val="111800"/>
              </a:lnSpc>
            </a:pPr>
            <a:r>
              <a:rPr sz="2511" b="0" i="1" u="none">
                <a:solidFill>
                  <a:srgbClr val="334155"/>
                </a:solidFill>
                <a:latin typeface="Calibri"/>
              </a:rPr>
              <a:t>City</a:t>
            </a:r>
            <a:r>
              <a:rPr sz="2511" b="0" i="0" u="none">
                <a:solidFill>
                  <a:srgbClr val="334155"/>
                </a:solidFill>
                <a:latin typeface="Calibri"/>
              </a:rPr>
              <a:t> with only a name is usually an attribute, not an entity.</a:t>
            </a:r>
          </a:p>
        </p:txBody>
      </p:sp>
      <p:sp>
        <p:nvSpPr>
          <p:cNvPr id="9" name="Rectangle 8"/>
          <p:cNvSpPr/>
          <p:nvPr/>
        </p:nvSpPr>
        <p:spPr>
          <a:xfrm>
            <a:off x="650748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Foreign keys in the ERD</a:t>
            </a:r>
          </a:p>
        </p:txBody>
      </p:sp>
      <p:sp>
        <p:nvSpPr>
          <p:cNvPr id="11" name="TextBox 10"/>
          <p:cNvSpPr txBox="1"/>
          <p:nvPr/>
        </p:nvSpPr>
        <p:spPr>
          <a:xfrm>
            <a:off x="6907530" y="4105747"/>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Don't add </a:t>
            </a:r>
            <a:r>
              <a:rPr sz="2511" b="0" i="1" u="none">
                <a:solidFill>
                  <a:srgbClr val="334155"/>
                </a:solidFill>
                <a:latin typeface="Calibri"/>
              </a:rPr>
              <a:t>DeptNo</a:t>
            </a:r>
            <a:r>
              <a:rPr sz="2511" b="0" i="0" u="none">
                <a:solidFill>
                  <a:srgbClr val="334155"/>
                </a:solidFill>
                <a:latin typeface="Calibri"/>
              </a:rPr>
              <a:t> to EMPLOYEE: the relationship already says it. FKs appear in Lesson 3.</a:t>
            </a:r>
          </a:p>
        </p:txBody>
      </p:sp>
      <p:sp>
        <p:nvSpPr>
          <p:cNvPr id="12" name="Rectangle 11"/>
          <p:cNvSpPr/>
          <p:nvPr/>
        </p:nvSpPr>
        <p:spPr>
          <a:xfrm>
            <a:off x="1210056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Wrong side for cardinality</a:t>
            </a:r>
          </a:p>
        </p:txBody>
      </p:sp>
      <p:sp>
        <p:nvSpPr>
          <p:cNvPr id="14" name="TextBox 13"/>
          <p:cNvSpPr txBox="1"/>
          <p:nvPr/>
        </p:nvSpPr>
        <p:spPr>
          <a:xfrm>
            <a:off x="12500610" y="4105747"/>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Read both directions aloud as sentences before writing 1 or N.</a:t>
            </a:r>
          </a:p>
        </p:txBody>
      </p:sp>
      <p:sp>
        <p:nvSpPr>
          <p:cNvPr id="15" name="Rectangle 14"/>
          <p:cNvSpPr/>
          <p:nvPr/>
        </p:nvSpPr>
        <p:spPr>
          <a:xfrm>
            <a:off x="914400" y="6117678"/>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6517728"/>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Relationship facts on an entity</a:t>
            </a:r>
          </a:p>
        </p:txBody>
      </p:sp>
      <p:sp>
        <p:nvSpPr>
          <p:cNvPr id="17" name="TextBox 16"/>
          <p:cNvSpPr txBox="1"/>
          <p:nvPr/>
        </p:nvSpPr>
        <p:spPr>
          <a:xfrm>
            <a:off x="1314450" y="7741401"/>
            <a:ext cx="4472940" cy="877176"/>
          </a:xfrm>
          <a:prstGeom prst="rect">
            <a:avLst/>
          </a:prstGeom>
          <a:noFill/>
        </p:spPr>
        <p:txBody>
          <a:bodyPr wrap="square" lIns="0" rIns="0" tIns="0" bIns="0" anchor="t"/>
          <a:lstStyle/>
          <a:p>
            <a:pPr algn="l">
              <a:lnSpc>
                <a:spcPct val="111800"/>
              </a:lnSpc>
            </a:pPr>
            <a:r>
              <a:rPr sz="2511" b="0" i="1" u="none">
                <a:solidFill>
                  <a:srgbClr val="334155"/>
                </a:solidFill>
                <a:latin typeface="Calibri"/>
              </a:rPr>
              <a:t>Hours</a:t>
            </a:r>
            <a:r>
              <a:rPr sz="2511" b="0" i="0" u="none">
                <a:solidFill>
                  <a:srgbClr val="334155"/>
                </a:solidFill>
                <a:latin typeface="Calibri"/>
              </a:rPr>
              <a:t> on EMPLOYEE is wrong: it depends on the project too.</a:t>
            </a:r>
          </a:p>
        </p:txBody>
      </p:sp>
      <p:sp>
        <p:nvSpPr>
          <p:cNvPr id="18" name="Rectangle 17"/>
          <p:cNvSpPr/>
          <p:nvPr/>
        </p:nvSpPr>
        <p:spPr>
          <a:xfrm>
            <a:off x="6507480" y="6117678"/>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6517728"/>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Storing derived values</a:t>
            </a:r>
          </a:p>
        </p:txBody>
      </p:sp>
      <p:sp>
        <p:nvSpPr>
          <p:cNvPr id="20" name="TextBox 19"/>
          <p:cNvSpPr txBox="1"/>
          <p:nvPr/>
        </p:nvSpPr>
        <p:spPr>
          <a:xfrm>
            <a:off x="6907530" y="7741401"/>
            <a:ext cx="447294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Prefer </a:t>
            </a:r>
            <a:r>
              <a:rPr sz="2511" b="0" i="1" u="none">
                <a:solidFill>
                  <a:srgbClr val="334155"/>
                </a:solidFill>
                <a:latin typeface="Calibri"/>
              </a:rPr>
              <a:t>BirthDate</a:t>
            </a:r>
            <a:r>
              <a:rPr sz="2511" b="0" i="0" u="none">
                <a:solidFill>
                  <a:srgbClr val="334155"/>
                </a:solidFill>
                <a:latin typeface="Calibri"/>
              </a:rPr>
              <a:t> over </a:t>
            </a:r>
            <a:r>
              <a:rPr sz="2511" b="0" i="1" u="none">
                <a:solidFill>
                  <a:srgbClr val="334155"/>
                </a:solidFill>
                <a:latin typeface="Calibri"/>
              </a:rPr>
              <a:t>Age</a:t>
            </a:r>
            <a:r>
              <a:rPr sz="2511" b="0" i="0" u="none">
                <a:solidFill>
                  <a:srgbClr val="334155"/>
                </a:solidFill>
                <a:latin typeface="Calibri"/>
              </a:rPr>
              <a:t>; mark derived attributes dashed.</a:t>
            </a:r>
          </a:p>
        </p:txBody>
      </p:sp>
      <p:sp>
        <p:nvSpPr>
          <p:cNvPr id="21" name="Rectangle 20"/>
          <p:cNvSpPr/>
          <p:nvPr/>
        </p:nvSpPr>
        <p:spPr>
          <a:xfrm>
            <a:off x="12100560" y="6117678"/>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6517728"/>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Ignoring history</a:t>
            </a:r>
          </a:p>
        </p:txBody>
      </p:sp>
      <p:sp>
        <p:nvSpPr>
          <p:cNvPr id="23" name="TextBox 22"/>
          <p:cNvSpPr txBox="1"/>
          <p:nvPr/>
        </p:nvSpPr>
        <p:spPr>
          <a:xfrm>
            <a:off x="12500610" y="7240859"/>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"Keep track of changes" means a relationship with dates, not one overwritten value.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05</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30/40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05</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Case studies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Practice the method on three narratives: a car manufacturer, a bus company and a bank.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CASE STUDY 1</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31/40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Car manufacturer (1/2)</a:t>
            </a:r>
          </a:p>
        </p:txBody>
      </p:sp>
      <p:sp>
        <p:nvSpPr>
          <p:cNvPr id="6" name="Rectangle 5"/>
          <p:cNvSpPr/>
          <p:nvPr/>
        </p:nvSpPr>
        <p:spPr>
          <a:xfrm>
            <a:off x="914400" y="2482024"/>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An organization makes many </a:t>
            </a:r>
            <a:r>
              <a:rPr sz="3091" b="1" i="0" u="none">
                <a:solidFill>
                  <a:srgbClr val="334155"/>
                </a:solidFill>
                <a:latin typeface="Calibri"/>
              </a:rPr>
              <a:t>models</a:t>
            </a:r>
            <a:r>
              <a:rPr sz="3091" b="0" i="0" u="none">
                <a:solidFill>
                  <a:srgbClr val="334155"/>
                </a:solidFill>
                <a:latin typeface="Calibri"/>
              </a:rPr>
              <a:t> of cars, where a model is characterized by a </a:t>
            </a:r>
            <a:r>
              <a:rPr sz="3091" b="0" i="1" u="none">
                <a:solidFill>
                  <a:srgbClr val="334155"/>
                </a:solidFill>
                <a:latin typeface="Calibri"/>
              </a:rPr>
              <a:t>unique name</a:t>
            </a:r>
            <a:r>
              <a:rPr sz="3091" b="0" i="0" u="none">
                <a:solidFill>
                  <a:srgbClr val="334155"/>
                </a:solidFill>
                <a:latin typeface="Calibri"/>
              </a:rPr>
              <a:t> and a </a:t>
            </a:r>
            <a:r>
              <a:rPr sz="3091" b="0" i="1" u="none">
                <a:solidFill>
                  <a:srgbClr val="334155"/>
                </a:solidFill>
                <a:latin typeface="Calibri"/>
              </a:rPr>
              <a:t>suffix</a:t>
            </a:r>
            <a:r>
              <a:rPr sz="3091" b="0" i="0" u="none">
                <a:solidFill>
                  <a:srgbClr val="334155"/>
                </a:solidFill>
                <a:latin typeface="Calibri"/>
              </a:rPr>
              <a:t> (such as GL or XL) and an </a:t>
            </a:r>
            <a:r>
              <a:rPr sz="3091" b="0" i="1" u="none">
                <a:solidFill>
                  <a:srgbClr val="334155"/>
                </a:solidFill>
                <a:latin typeface="Calibri"/>
              </a:rPr>
              <a:t>engine size</a:t>
            </a:r>
            <a:r>
              <a:rPr sz="3091" b="0" i="0" u="none">
                <a:solidFill>
                  <a:srgbClr val="334155"/>
                </a:solidFill>
                <a:latin typeface="Calibri"/>
              </a:rPr>
              <a:t>.</a:t>
            </a:r>
          </a:p>
        </p:txBody>
      </p:sp>
      <p:sp>
        <p:nvSpPr>
          <p:cNvPr id="8" name="Rectangle 7"/>
          <p:cNvSpPr/>
          <p:nvPr/>
        </p:nvSpPr>
        <p:spPr>
          <a:xfrm>
            <a:off x="914400" y="4815116"/>
            <a:ext cx="16459200" cy="2390058"/>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215166"/>
            <a:ext cx="15659100" cy="1589958"/>
          </a:xfrm>
          <a:prstGeom prst="rect">
            <a:avLst/>
          </a:prstGeom>
          <a:noFill/>
        </p:spPr>
        <p:txBody>
          <a:bodyPr wrap="square" lIns="0" rIns="0" tIns="0" bIns="0" anchor="t"/>
          <a:lstStyle/>
          <a:p>
            <a:pPr algn="l">
              <a:lnSpc>
                <a:spcPct val="111800"/>
              </a:lnSpc>
            </a:pPr>
            <a:r>
              <a:rPr sz="3091" b="0" i="0" u="none">
                <a:solidFill>
                  <a:srgbClr val="334155"/>
                </a:solidFill>
                <a:latin typeface="Calibri"/>
              </a:rPr>
              <a:t>Each model is made up from many </a:t>
            </a:r>
            <a:r>
              <a:rPr sz="3091" b="1" i="0" u="none">
                <a:solidFill>
                  <a:srgbClr val="334155"/>
                </a:solidFill>
                <a:latin typeface="Calibri"/>
              </a:rPr>
              <a:t>parts</a:t>
            </a:r>
            <a:r>
              <a:rPr sz="3091" b="0" i="0" u="none">
                <a:solidFill>
                  <a:srgbClr val="334155"/>
                </a:solidFill>
                <a:latin typeface="Calibri"/>
              </a:rPr>
              <a:t>, and each part has a </a:t>
            </a:r>
            <a:r>
              <a:rPr sz="3091" b="0" i="1" u="none">
                <a:solidFill>
                  <a:srgbClr val="334155"/>
                </a:solidFill>
                <a:latin typeface="Calibri"/>
              </a:rPr>
              <a:t>description</a:t>
            </a:r>
            <a:r>
              <a:rPr sz="3091" b="0" i="0" u="none">
                <a:solidFill>
                  <a:srgbClr val="334155"/>
                </a:solidFill>
                <a:latin typeface="Calibri"/>
              </a:rPr>
              <a:t>, an </a:t>
            </a:r>
            <a:r>
              <a:rPr sz="3091" b="0" i="1" u="none">
                <a:solidFill>
                  <a:srgbClr val="334155"/>
                </a:solidFill>
                <a:latin typeface="Calibri"/>
              </a:rPr>
              <a:t>id code</a:t>
            </a:r>
            <a:r>
              <a:rPr sz="3091" b="0" i="0" u="none">
                <a:solidFill>
                  <a:srgbClr val="334155"/>
                </a:solidFill>
                <a:latin typeface="Calibri"/>
              </a:rPr>
              <a:t>, </a:t>
            </a:r>
            <a:r>
              <a:rPr sz="3091" b="0" i="1" u="none">
                <a:solidFill>
                  <a:srgbClr val="334155"/>
                </a:solidFill>
                <a:latin typeface="Calibri"/>
              </a:rPr>
              <a:t>production year</a:t>
            </a:r>
            <a:r>
              <a:rPr sz="3091" b="0" i="0" u="none">
                <a:solidFill>
                  <a:srgbClr val="334155"/>
                </a:solidFill>
                <a:latin typeface="Calibri"/>
              </a:rPr>
              <a:t>, and </a:t>
            </a:r>
            <a:r>
              <a:rPr sz="3091" b="0" i="1" u="none">
                <a:solidFill>
                  <a:srgbClr val="334155"/>
                </a:solidFill>
                <a:latin typeface="Calibri"/>
              </a:rPr>
              <a:t>many images</a:t>
            </a:r>
            <a:r>
              <a:rPr sz="3091" b="0" i="0" u="none">
                <a:solidFill>
                  <a:srgbClr val="334155"/>
                </a:solidFill>
                <a:latin typeface="Calibri"/>
              </a:rPr>
              <a:t>. Each part may be used in the manufacturing of more than one model.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CASE STUDY 1</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32/40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Car manufacturer (2/2)</a:t>
            </a:r>
          </a:p>
        </p:txBody>
      </p:sp>
      <p:sp>
        <p:nvSpPr>
          <p:cNvPr id="6" name="Rectangle 5"/>
          <p:cNvSpPr/>
          <p:nvPr/>
        </p:nvSpPr>
        <p:spPr>
          <a:xfrm>
            <a:off x="914400" y="2482024"/>
            <a:ext cx="16459200" cy="2900415"/>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2100315"/>
          </a:xfrm>
          <a:prstGeom prst="rect">
            <a:avLst/>
          </a:prstGeom>
          <a:noFill/>
        </p:spPr>
        <p:txBody>
          <a:bodyPr wrap="square" lIns="0" rIns="0" tIns="0" bIns="0" anchor="t"/>
          <a:lstStyle/>
          <a:p>
            <a:pPr algn="l">
              <a:lnSpc>
                <a:spcPct val="111800"/>
              </a:lnSpc>
            </a:pPr>
            <a:r>
              <a:rPr sz="3091" b="0" i="0" u="none">
                <a:solidFill>
                  <a:srgbClr val="334155"/>
                </a:solidFill>
                <a:latin typeface="Calibri"/>
              </a:rPr>
              <a:t>Each model must be produced at just one of the firm's </a:t>
            </a:r>
            <a:r>
              <a:rPr sz="3091" b="1" i="0" u="none">
                <a:solidFill>
                  <a:srgbClr val="334155"/>
                </a:solidFill>
                <a:latin typeface="Calibri"/>
              </a:rPr>
              <a:t>factories</a:t>
            </a:r>
            <a:r>
              <a:rPr sz="3091" b="0" i="0" u="none">
                <a:solidFill>
                  <a:srgbClr val="334155"/>
                </a:solidFill>
                <a:latin typeface="Calibri"/>
              </a:rPr>
              <a:t>, which are located in London, Birmingham, Bristol, Wolverhampton and Manchester (one in each city). Each factory has a </a:t>
            </a:r>
            <a:r>
              <a:rPr sz="3091" b="0" i="1" u="none">
                <a:solidFill>
                  <a:srgbClr val="334155"/>
                </a:solidFill>
                <a:latin typeface="Calibri"/>
              </a:rPr>
              <a:t>number of machines</a:t>
            </a:r>
            <a:r>
              <a:rPr sz="3091" b="0" i="0" u="none">
                <a:solidFill>
                  <a:srgbClr val="334155"/>
                </a:solidFill>
                <a:latin typeface="Calibri"/>
              </a:rPr>
              <a:t>, </a:t>
            </a:r>
            <a:r>
              <a:rPr sz="3091" b="0" i="1" u="none">
                <a:solidFill>
                  <a:srgbClr val="334155"/>
                </a:solidFill>
                <a:latin typeface="Calibri"/>
              </a:rPr>
              <a:t>capacity</a:t>
            </a:r>
            <a:r>
              <a:rPr sz="3091" b="0" i="0" u="none">
                <a:solidFill>
                  <a:srgbClr val="334155"/>
                </a:solidFill>
                <a:latin typeface="Calibri"/>
              </a:rPr>
              <a:t>, and </a:t>
            </a:r>
            <a:r>
              <a:rPr sz="3091" b="0" i="1" u="none">
                <a:solidFill>
                  <a:srgbClr val="334155"/>
                </a:solidFill>
                <a:latin typeface="Calibri"/>
              </a:rPr>
              <a:t>computer system</a:t>
            </a:r>
            <a:r>
              <a:rPr sz="3091" b="0" i="0" u="none">
                <a:solidFill>
                  <a:srgbClr val="334155"/>
                </a:solidFill>
                <a:latin typeface="Calibri"/>
              </a:rPr>
              <a:t> used (OS, DBMS, Internet).</a:t>
            </a:r>
          </a:p>
        </p:txBody>
      </p:sp>
      <p:sp>
        <p:nvSpPr>
          <p:cNvPr id="8" name="Rectangle 7"/>
          <p:cNvSpPr/>
          <p:nvPr/>
        </p:nvSpPr>
        <p:spPr>
          <a:xfrm>
            <a:off x="914400" y="5835830"/>
            <a:ext cx="16459200" cy="1369344"/>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6235880"/>
            <a:ext cx="15659100" cy="569244"/>
          </a:xfrm>
          <a:prstGeom prst="rect">
            <a:avLst/>
          </a:prstGeom>
          <a:noFill/>
        </p:spPr>
        <p:txBody>
          <a:bodyPr wrap="square" lIns="0" rIns="0" tIns="0" bIns="0" anchor="t"/>
          <a:lstStyle/>
          <a:p>
            <a:pPr algn="l">
              <a:lnSpc>
                <a:spcPct val="111800"/>
              </a:lnSpc>
            </a:pPr>
            <a:r>
              <a:rPr sz="3091" b="0" i="0" u="none">
                <a:solidFill>
                  <a:srgbClr val="334155"/>
                </a:solidFill>
                <a:latin typeface="Calibri"/>
              </a:rPr>
              <a:t>A factory produces many models of cars and many types of parts.</a:t>
            </a:r>
          </a:p>
        </p:txBody>
      </p:sp>
      <p:sp>
        <p:nvSpPr>
          <p:cNvPr id="10" name="Rectangle 9"/>
          <p:cNvSpPr/>
          <p:nvPr/>
        </p:nvSpPr>
        <p:spPr>
          <a:xfrm>
            <a:off x="914400" y="7658564"/>
            <a:ext cx="16459200" cy="1478051"/>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14400" y="7658564"/>
            <a:ext cx="47625" cy="1478051"/>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341120" y="7925264"/>
            <a:ext cx="15605760" cy="944651"/>
          </a:xfrm>
          <a:prstGeom prst="rect">
            <a:avLst/>
          </a:prstGeom>
          <a:noFill/>
        </p:spPr>
        <p:txBody>
          <a:bodyPr wrap="square" lIns="0" rIns="0" tIns="0" bIns="0"/>
          <a:lstStyle/>
          <a:p>
            <a:pPr>
              <a:lnSpc>
                <a:spcPct val="112000"/>
              </a:lnSpc>
            </a:pPr>
            <a:r>
              <a:rPr sz="2704" b="1" i="0" u="none">
                <a:solidFill>
                  <a:srgbClr val="0E8A8A"/>
                </a:solidFill>
                <a:latin typeface="Arial"/>
              </a:rPr>
              <a:t>Think: </a:t>
            </a:r>
            <a:r>
              <a:rPr sz="2704" b="0" i="0" u="none">
                <a:solidFill>
                  <a:srgbClr val="0F172A"/>
                </a:solidFill>
                <a:latin typeface="Calibri"/>
              </a:rPr>
              <a:t>Is the key of MODEL just Name, or (Name, Suffix)? Is </a:t>
            </a:r>
            <a:r>
              <a:rPr sz="2704" b="0" i="1" u="none">
                <a:solidFill>
                  <a:srgbClr val="0F172A"/>
                </a:solidFill>
                <a:latin typeface="Calibri"/>
              </a:rPr>
              <a:t>images</a:t>
            </a:r>
            <a:r>
              <a:rPr sz="2704" b="0" i="0" u="none">
                <a:solidFill>
                  <a:srgbClr val="0F172A"/>
                </a:solidFill>
                <a:latin typeface="Calibri"/>
              </a:rPr>
              <a:t> single- or multi-valued? Is </a:t>
            </a:r>
            <a:r>
              <a:rPr sz="2704" b="0" i="1" u="none">
                <a:solidFill>
                  <a:srgbClr val="0F172A"/>
                </a:solidFill>
                <a:latin typeface="Calibri"/>
              </a:rPr>
              <a:t>computer system</a:t>
            </a:r>
            <a:r>
              <a:rPr sz="2704" b="0" i="0" u="none">
                <a:solidFill>
                  <a:srgbClr val="0F172A"/>
                </a:solidFill>
                <a:latin typeface="Calibri"/>
              </a:rPr>
              <a:t> composite?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CASE STUDY 2</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33/40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Country bus company (1/2)</a:t>
            </a:r>
          </a:p>
        </p:txBody>
      </p:sp>
      <p:sp>
        <p:nvSpPr>
          <p:cNvPr id="6" name="Rectangle 5"/>
          <p:cNvSpPr/>
          <p:nvPr/>
        </p:nvSpPr>
        <p:spPr>
          <a:xfrm>
            <a:off x="914400" y="2482024"/>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 country bus company owns a number of </a:t>
            </a:r>
            <a:r>
              <a:rPr sz="3091" b="1" i="0" u="none">
                <a:solidFill>
                  <a:srgbClr val="334155"/>
                </a:solidFill>
                <a:latin typeface="Calibri"/>
              </a:rPr>
              <a:t>buses</a:t>
            </a:r>
            <a:r>
              <a:rPr sz="3091" b="0" i="0" u="none">
                <a:solidFill>
                  <a:srgbClr val="334155"/>
                </a:solidFill>
                <a:latin typeface="Calibri"/>
              </a:rPr>
              <a:t>. A bus is characterized by </a:t>
            </a:r>
            <a:r>
              <a:rPr sz="3091" b="0" i="1" u="none">
                <a:solidFill>
                  <a:srgbClr val="334155"/>
                </a:solidFill>
                <a:latin typeface="Calibri"/>
              </a:rPr>
              <a:t>number</a:t>
            </a:r>
            <a:r>
              <a:rPr sz="3091" b="0" i="0" u="none">
                <a:solidFill>
                  <a:srgbClr val="334155"/>
                </a:solidFill>
                <a:latin typeface="Calibri"/>
              </a:rPr>
              <a:t>, </a:t>
            </a:r>
            <a:r>
              <a:rPr sz="3091" b="0" i="1" u="none">
                <a:solidFill>
                  <a:srgbClr val="334155"/>
                </a:solidFill>
                <a:latin typeface="Calibri"/>
              </a:rPr>
              <a:t>number of chairs</a:t>
            </a:r>
            <a:r>
              <a:rPr sz="3091" b="0" i="0" u="none">
                <a:solidFill>
                  <a:srgbClr val="334155"/>
                </a:solidFill>
                <a:latin typeface="Calibri"/>
              </a:rPr>
              <a:t>, </a:t>
            </a:r>
            <a:r>
              <a:rPr sz="3091" b="0" i="1" u="none">
                <a:solidFill>
                  <a:srgbClr val="334155"/>
                </a:solidFill>
                <a:latin typeface="Calibri"/>
              </a:rPr>
              <a:t>options</a:t>
            </a:r>
            <a:r>
              <a:rPr sz="3091" b="0" i="0" u="none">
                <a:solidFill>
                  <a:srgbClr val="334155"/>
                </a:solidFill>
                <a:latin typeface="Calibri"/>
              </a:rPr>
              <a:t> (AC, Automatic, PS) and </a:t>
            </a:r>
            <a:r>
              <a:rPr sz="3091" b="0" i="1" u="none">
                <a:solidFill>
                  <a:srgbClr val="334155"/>
                </a:solidFill>
                <a:latin typeface="Calibri"/>
              </a:rPr>
              <a:t>brand name</a:t>
            </a:r>
            <a:r>
              <a:rPr sz="3091" b="0" i="0" u="none">
                <a:solidFill>
                  <a:srgbClr val="334155"/>
                </a:solidFill>
                <a:latin typeface="Calibri"/>
              </a:rPr>
              <a:t>.</a:t>
            </a:r>
          </a:p>
        </p:txBody>
      </p:sp>
      <p:sp>
        <p:nvSpPr>
          <p:cNvPr id="8" name="Rectangle 7"/>
          <p:cNvSpPr/>
          <p:nvPr/>
        </p:nvSpPr>
        <p:spPr>
          <a:xfrm>
            <a:off x="914400" y="4815116"/>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215166"/>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Each bus is allocated to a particular </a:t>
            </a:r>
            <a:r>
              <a:rPr sz="3091" b="1" i="0" u="none">
                <a:solidFill>
                  <a:srgbClr val="334155"/>
                </a:solidFill>
                <a:latin typeface="Calibri"/>
              </a:rPr>
              <a:t>route</a:t>
            </a:r>
            <a:r>
              <a:rPr sz="3091" b="0" i="0" u="none">
                <a:solidFill>
                  <a:srgbClr val="334155"/>
                </a:solidFill>
                <a:latin typeface="Calibri"/>
              </a:rPr>
              <a:t>, although some routes may have several buses. Each route is described by </a:t>
            </a:r>
            <a:r>
              <a:rPr sz="3091" b="0" i="1" u="none">
                <a:solidFill>
                  <a:srgbClr val="334155"/>
                </a:solidFill>
                <a:latin typeface="Calibri"/>
              </a:rPr>
              <a:t>KM</a:t>
            </a:r>
            <a:r>
              <a:rPr sz="3091" b="0" i="0" u="none">
                <a:solidFill>
                  <a:srgbClr val="334155"/>
                </a:solidFill>
                <a:latin typeface="Calibri"/>
              </a:rPr>
              <a:t>, </a:t>
            </a:r>
            <a:r>
              <a:rPr sz="3091" b="0" i="1" u="none">
                <a:solidFill>
                  <a:srgbClr val="334155"/>
                </a:solidFill>
                <a:latin typeface="Calibri"/>
              </a:rPr>
              <a:t>start point</a:t>
            </a:r>
            <a:r>
              <a:rPr sz="3091" b="0" i="0" u="none">
                <a:solidFill>
                  <a:srgbClr val="334155"/>
                </a:solidFill>
                <a:latin typeface="Calibri"/>
              </a:rPr>
              <a:t>, </a:t>
            </a:r>
            <a:r>
              <a:rPr sz="3091" b="0" i="1" u="none">
                <a:solidFill>
                  <a:srgbClr val="334155"/>
                </a:solidFill>
                <a:latin typeface="Calibri"/>
              </a:rPr>
              <a:t>end point</a:t>
            </a:r>
            <a:r>
              <a:rPr sz="3091" b="0" i="0" u="none">
                <a:solidFill>
                  <a:srgbClr val="334155"/>
                </a:solidFill>
                <a:latin typeface="Calibri"/>
              </a:rPr>
              <a:t> and </a:t>
            </a:r>
            <a:r>
              <a:rPr sz="3091" b="0" i="1" u="none">
                <a:solidFill>
                  <a:srgbClr val="334155"/>
                </a:solidFill>
                <a:latin typeface="Calibri"/>
              </a:rPr>
              <a:t>duration</a:t>
            </a:r>
            <a:r>
              <a:rPr sz="3091" b="0" i="0" u="none">
                <a:solidFill>
                  <a:srgbClr val="334155"/>
                </a:solidFill>
                <a:latin typeface="Calibri"/>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CASE STUDY 2</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34/40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Country bus company (2/2)</a:t>
            </a:r>
          </a:p>
        </p:txBody>
      </p:sp>
      <p:sp>
        <p:nvSpPr>
          <p:cNvPr id="6" name="Rectangle 5"/>
          <p:cNvSpPr/>
          <p:nvPr/>
        </p:nvSpPr>
        <p:spPr>
          <a:xfrm>
            <a:off x="914400" y="2482024"/>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Each route passes through a number of </a:t>
            </a:r>
            <a:r>
              <a:rPr sz="2898" b="1" i="0" u="none">
                <a:solidFill>
                  <a:srgbClr val="334155"/>
                </a:solidFill>
                <a:latin typeface="Calibri"/>
              </a:rPr>
              <a:t>towns</a:t>
            </a:r>
            <a:r>
              <a:rPr sz="2898" b="0" i="0" u="none">
                <a:solidFill>
                  <a:srgbClr val="334155"/>
                </a:solidFill>
                <a:latin typeface="Calibri"/>
              </a:rPr>
              <a:t>. A town may be situated along several routes. We keep track of a </a:t>
            </a:r>
            <a:r>
              <a:rPr sz="2898" b="0" i="1" u="none">
                <a:solidFill>
                  <a:srgbClr val="334155"/>
                </a:solidFill>
                <a:latin typeface="Calibri"/>
              </a:rPr>
              <a:t>unique name</a:t>
            </a:r>
            <a:r>
              <a:rPr sz="2898" b="0" i="0" u="none">
                <a:solidFill>
                  <a:srgbClr val="334155"/>
                </a:solidFill>
                <a:latin typeface="Calibri"/>
              </a:rPr>
              <a:t> and the </a:t>
            </a:r>
            <a:r>
              <a:rPr sz="2898" b="0" i="1" u="none">
                <a:solidFill>
                  <a:srgbClr val="334155"/>
                </a:solidFill>
                <a:latin typeface="Calibri"/>
              </a:rPr>
              <a:t>station names</a:t>
            </a:r>
            <a:r>
              <a:rPr sz="2898" b="0" i="0" u="none">
                <a:solidFill>
                  <a:srgbClr val="334155"/>
                </a:solidFill>
                <a:latin typeface="Calibri"/>
              </a:rPr>
              <a:t> in each town.</a:t>
            </a:r>
          </a:p>
        </p:txBody>
      </p:sp>
      <p:sp>
        <p:nvSpPr>
          <p:cNvPr id="8" name="Rectangle 7"/>
          <p:cNvSpPr/>
          <p:nvPr/>
        </p:nvSpPr>
        <p:spPr>
          <a:xfrm>
            <a:off x="914400" y="4747640"/>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147690"/>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One or more </a:t>
            </a:r>
            <a:r>
              <a:rPr sz="2898" b="1" i="0" u="none">
                <a:solidFill>
                  <a:srgbClr val="334155"/>
                </a:solidFill>
                <a:latin typeface="Calibri"/>
              </a:rPr>
              <a:t>drivers</a:t>
            </a:r>
            <a:r>
              <a:rPr sz="2898" b="0" i="0" u="none">
                <a:solidFill>
                  <a:srgbClr val="334155"/>
                </a:solidFill>
                <a:latin typeface="Calibri"/>
              </a:rPr>
              <a:t> are allocated to one route during a period of time. The system keeps the driver's </a:t>
            </a:r>
            <a:r>
              <a:rPr sz="2898" b="0" i="1" u="none">
                <a:solidFill>
                  <a:srgbClr val="334155"/>
                </a:solidFill>
                <a:latin typeface="Calibri"/>
              </a:rPr>
              <a:t>name</a:t>
            </a:r>
            <a:r>
              <a:rPr sz="2898" b="0" i="0" u="none">
                <a:solidFill>
                  <a:srgbClr val="334155"/>
                </a:solidFill>
                <a:latin typeface="Calibri"/>
              </a:rPr>
              <a:t>, </a:t>
            </a:r>
            <a:r>
              <a:rPr sz="2898" b="0" i="1" u="none">
                <a:solidFill>
                  <a:srgbClr val="334155"/>
                </a:solidFill>
                <a:latin typeface="Calibri"/>
              </a:rPr>
              <a:t>mobile number</a:t>
            </a:r>
            <a:r>
              <a:rPr sz="2898" b="0" i="0" u="none">
                <a:solidFill>
                  <a:srgbClr val="334155"/>
                </a:solidFill>
                <a:latin typeface="Calibri"/>
              </a:rPr>
              <a:t>, </a:t>
            </a:r>
            <a:r>
              <a:rPr sz="2898" b="0" i="1" u="none">
                <a:solidFill>
                  <a:srgbClr val="334155"/>
                </a:solidFill>
                <a:latin typeface="Calibri"/>
              </a:rPr>
              <a:t>hire date</a:t>
            </a:r>
            <a:r>
              <a:rPr sz="2898" b="0" i="0" u="none">
                <a:solidFill>
                  <a:srgbClr val="334155"/>
                </a:solidFill>
                <a:latin typeface="Calibri"/>
              </a:rPr>
              <a:t>, </a:t>
            </a:r>
            <a:r>
              <a:rPr sz="2898" b="0" i="1" u="none">
                <a:solidFill>
                  <a:srgbClr val="334155"/>
                </a:solidFill>
                <a:latin typeface="Calibri"/>
              </a:rPr>
              <a:t>basic salary</a:t>
            </a:r>
            <a:r>
              <a:rPr sz="2898" b="0" i="0" u="none">
                <a:solidFill>
                  <a:srgbClr val="334155"/>
                </a:solidFill>
                <a:latin typeface="Calibri"/>
              </a:rPr>
              <a:t> and </a:t>
            </a:r>
            <a:r>
              <a:rPr sz="2898" b="0" i="1" u="none">
                <a:solidFill>
                  <a:srgbClr val="334155"/>
                </a:solidFill>
                <a:latin typeface="Calibri"/>
              </a:rPr>
              <a:t>job grade</a:t>
            </a:r>
            <a:r>
              <a:rPr sz="2898" b="0" i="0" u="none">
                <a:solidFill>
                  <a:srgbClr val="334155"/>
                </a:solidFill>
                <a:latin typeface="Calibri"/>
              </a:rPr>
              <a:t>.</a:t>
            </a:r>
          </a:p>
        </p:txBody>
      </p:sp>
      <p:sp>
        <p:nvSpPr>
          <p:cNvPr id="10" name="Rectangle 9"/>
          <p:cNvSpPr/>
          <p:nvPr/>
        </p:nvSpPr>
        <p:spPr>
          <a:xfrm>
            <a:off x="914400" y="7013257"/>
            <a:ext cx="16459200" cy="1333766"/>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1314450" y="7413307"/>
            <a:ext cx="15659100" cy="533666"/>
          </a:xfrm>
          <a:prstGeom prst="rect">
            <a:avLst/>
          </a:prstGeom>
          <a:noFill/>
        </p:spPr>
        <p:txBody>
          <a:bodyPr wrap="square" lIns="0" rIns="0" tIns="0" bIns="0" anchor="t"/>
          <a:lstStyle/>
          <a:p>
            <a:pPr algn="l">
              <a:lnSpc>
                <a:spcPct val="111800"/>
              </a:lnSpc>
            </a:pPr>
            <a:r>
              <a:rPr sz="2898" b="0" i="0" u="none">
                <a:solidFill>
                  <a:srgbClr val="334155"/>
                </a:solidFill>
                <a:latin typeface="Calibri"/>
              </a:rPr>
              <a:t>The system keeps information about </a:t>
            </a:r>
            <a:r>
              <a:rPr sz="2898" b="1" i="0" u="none">
                <a:solidFill>
                  <a:srgbClr val="334155"/>
                </a:solidFill>
                <a:latin typeface="Calibri"/>
              </a:rPr>
              <a:t>any changes</a:t>
            </a:r>
            <a:r>
              <a:rPr sz="2898" b="0" i="0" u="none">
                <a:solidFill>
                  <a:srgbClr val="334155"/>
                </a:solidFill>
                <a:latin typeface="Calibri"/>
              </a:rPr>
              <a:t> in the allocation of drivers to routes.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LAB</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35/40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Banking system (1/2)</a:t>
            </a:r>
          </a:p>
        </p:txBody>
      </p:sp>
      <p:sp>
        <p:nvSpPr>
          <p:cNvPr id="6" name="Rectangle 5"/>
          <p:cNvSpPr/>
          <p:nvPr/>
        </p:nvSpPr>
        <p:spPr>
          <a:xfrm>
            <a:off x="914400" y="2482024"/>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 database for a banking system controls withdrawal, deposit and loan </a:t>
            </a:r>
            <a:r>
              <a:rPr sz="3091" b="1" i="0" u="none">
                <a:solidFill>
                  <a:srgbClr val="334155"/>
                </a:solidFill>
                <a:latin typeface="Calibri"/>
              </a:rPr>
              <a:t>transactions</a:t>
            </a:r>
            <a:r>
              <a:rPr sz="3091" b="0" i="0" u="none">
                <a:solidFill>
                  <a:srgbClr val="334155"/>
                </a:solidFill>
                <a:latin typeface="Calibri"/>
              </a:rPr>
              <a:t> with </a:t>
            </a:r>
            <a:r>
              <a:rPr sz="3091" b="1" i="0" u="none">
                <a:solidFill>
                  <a:srgbClr val="334155"/>
                </a:solidFill>
                <a:latin typeface="Calibri"/>
              </a:rPr>
              <a:t>customers</a:t>
            </a:r>
            <a:r>
              <a:rPr sz="3091" b="0" i="0" u="none">
                <a:solidFill>
                  <a:srgbClr val="334155"/>
                </a:solidFill>
                <a:latin typeface="Calibri"/>
              </a:rPr>
              <a:t>.</a:t>
            </a:r>
          </a:p>
        </p:txBody>
      </p:sp>
      <p:sp>
        <p:nvSpPr>
          <p:cNvPr id="8" name="Rectangle 7"/>
          <p:cNvSpPr/>
          <p:nvPr/>
        </p:nvSpPr>
        <p:spPr>
          <a:xfrm>
            <a:off x="914400" y="4815116"/>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215166"/>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Banks using this system have many </a:t>
            </a:r>
            <a:r>
              <a:rPr sz="3091" b="1" i="0" u="none">
                <a:solidFill>
                  <a:srgbClr val="334155"/>
                </a:solidFill>
                <a:latin typeface="Calibri"/>
              </a:rPr>
              <a:t>branches</a:t>
            </a:r>
            <a:r>
              <a:rPr sz="3091" b="0" i="0" u="none">
                <a:solidFill>
                  <a:srgbClr val="334155"/>
                </a:solidFill>
                <a:latin typeface="Calibri"/>
              </a:rPr>
              <a:t>; each branch has a </a:t>
            </a:r>
            <a:r>
              <a:rPr sz="3091" b="0" i="1" u="none">
                <a:solidFill>
                  <a:srgbClr val="334155"/>
                </a:solidFill>
                <a:latin typeface="Calibri"/>
              </a:rPr>
              <a:t>unique name</a:t>
            </a:r>
            <a:r>
              <a:rPr sz="3091" b="0" i="0" u="none">
                <a:solidFill>
                  <a:srgbClr val="334155"/>
                </a:solidFill>
                <a:latin typeface="Calibri"/>
              </a:rPr>
              <a:t>, </a:t>
            </a:r>
            <a:r>
              <a:rPr sz="3091" b="0" i="1" u="none">
                <a:solidFill>
                  <a:srgbClr val="334155"/>
                </a:solidFill>
                <a:latin typeface="Calibri"/>
              </a:rPr>
              <a:t>unique address</a:t>
            </a:r>
            <a:r>
              <a:rPr sz="3091" b="0" i="0" u="none">
                <a:solidFill>
                  <a:srgbClr val="334155"/>
                </a:solidFill>
                <a:latin typeface="Calibri"/>
              </a:rPr>
              <a:t> and </a:t>
            </a:r>
            <a:r>
              <a:rPr sz="3091" b="0" i="1" u="none">
                <a:solidFill>
                  <a:srgbClr val="334155"/>
                </a:solidFill>
                <a:latin typeface="Calibri"/>
              </a:rPr>
              <a:t>phone</a:t>
            </a:r>
            <a:r>
              <a:rPr sz="3091" b="0" i="0" u="none">
                <a:solidFill>
                  <a:srgbClr val="334155"/>
                </a:solidFill>
                <a:latin typeface="Calibri"/>
              </a:rPr>
              <a:t>.</a:t>
            </a:r>
          </a:p>
        </p:txBody>
      </p:sp>
      <p:sp>
        <p:nvSpPr>
          <p:cNvPr id="10" name="Rectangle 9"/>
          <p:cNvSpPr/>
          <p:nvPr/>
        </p:nvSpPr>
        <p:spPr>
          <a:xfrm>
            <a:off x="914400" y="7148207"/>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1314450" y="7548257"/>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The system stores information about customers: </a:t>
            </a:r>
            <a:r>
              <a:rPr sz="3091" b="0" i="1" u="none">
                <a:solidFill>
                  <a:srgbClr val="334155"/>
                </a:solidFill>
                <a:latin typeface="Calibri"/>
              </a:rPr>
              <a:t>unique customer ID</a:t>
            </a:r>
            <a:r>
              <a:rPr sz="3091" b="0" i="0" u="none">
                <a:solidFill>
                  <a:srgbClr val="334155"/>
                </a:solidFill>
                <a:latin typeface="Calibri"/>
              </a:rPr>
              <a:t>, </a:t>
            </a:r>
            <a:r>
              <a:rPr sz="3091" b="0" i="1" u="none">
                <a:solidFill>
                  <a:srgbClr val="334155"/>
                </a:solidFill>
                <a:latin typeface="Calibri"/>
              </a:rPr>
              <a:t>name</a:t>
            </a:r>
            <a:r>
              <a:rPr sz="3091" b="0" i="0" u="none">
                <a:solidFill>
                  <a:srgbClr val="334155"/>
                </a:solidFill>
                <a:latin typeface="Calibri"/>
              </a:rPr>
              <a:t>, </a:t>
            </a:r>
            <a:r>
              <a:rPr sz="3091" b="0" i="1" u="none">
                <a:solidFill>
                  <a:srgbClr val="334155"/>
                </a:solidFill>
                <a:latin typeface="Calibri"/>
              </a:rPr>
              <a:t>address</a:t>
            </a:r>
            <a:r>
              <a:rPr sz="3091" b="0" i="0" u="none">
                <a:solidFill>
                  <a:srgbClr val="334155"/>
                </a:solidFill>
                <a:latin typeface="Calibri"/>
              </a:rPr>
              <a:t> and </a:t>
            </a:r>
            <a:r>
              <a:rPr sz="3091" b="0" i="1" u="none">
                <a:solidFill>
                  <a:srgbClr val="334155"/>
                </a:solidFill>
                <a:latin typeface="Calibri"/>
              </a:rPr>
              <a:t>phones</a:t>
            </a:r>
            <a:r>
              <a:rPr sz="3091" b="0" i="0" u="none">
                <a:solidFill>
                  <a:srgbClr val="334155"/>
                </a:solidFill>
                <a:latin typeface="Calibri"/>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LAB</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36/40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Banking system (2/2)</a:t>
            </a:r>
          </a:p>
        </p:txBody>
      </p:sp>
      <p:sp>
        <p:nvSpPr>
          <p:cNvPr id="6" name="Rectangle 5"/>
          <p:cNvSpPr/>
          <p:nvPr/>
        </p:nvSpPr>
        <p:spPr>
          <a:xfrm>
            <a:off x="914400" y="2482024"/>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Each customer has one </a:t>
            </a:r>
            <a:r>
              <a:rPr sz="2898" b="1" i="0" u="none">
                <a:solidFill>
                  <a:srgbClr val="334155"/>
                </a:solidFill>
                <a:latin typeface="Calibri"/>
              </a:rPr>
              <a:t>account</a:t>
            </a:r>
            <a:r>
              <a:rPr sz="2898" b="0" i="0" u="none">
                <a:solidFill>
                  <a:srgbClr val="334155"/>
                </a:solidFill>
                <a:latin typeface="Calibri"/>
              </a:rPr>
              <a:t> identified by a </a:t>
            </a:r>
            <a:r>
              <a:rPr sz="2898" b="0" i="1" u="none">
                <a:solidFill>
                  <a:srgbClr val="334155"/>
                </a:solidFill>
                <a:latin typeface="Calibri"/>
              </a:rPr>
              <a:t>unique account number</a:t>
            </a:r>
            <a:r>
              <a:rPr sz="2898" b="0" i="0" u="none">
                <a:solidFill>
                  <a:srgbClr val="334155"/>
                </a:solidFill>
                <a:latin typeface="Calibri"/>
              </a:rPr>
              <a:t>, </a:t>
            </a:r>
            <a:r>
              <a:rPr sz="2898" b="0" i="1" u="none">
                <a:solidFill>
                  <a:srgbClr val="334155"/>
                </a:solidFill>
                <a:latin typeface="Calibri"/>
              </a:rPr>
              <a:t>amount</a:t>
            </a:r>
            <a:r>
              <a:rPr sz="2898" b="0" i="0" u="none">
                <a:solidFill>
                  <a:srgbClr val="334155"/>
                </a:solidFill>
                <a:latin typeface="Calibri"/>
              </a:rPr>
              <a:t>, and </a:t>
            </a:r>
            <a:r>
              <a:rPr sz="2898" b="0" i="1" u="none">
                <a:solidFill>
                  <a:srgbClr val="334155"/>
                </a:solidFill>
                <a:latin typeface="Calibri"/>
              </a:rPr>
              <a:t>last transaction date</a:t>
            </a:r>
            <a:r>
              <a:rPr sz="2898" b="0" i="0" u="none">
                <a:solidFill>
                  <a:srgbClr val="334155"/>
                </a:solidFill>
                <a:latin typeface="Calibri"/>
              </a:rPr>
              <a:t> (day, month and year).</a:t>
            </a:r>
          </a:p>
        </p:txBody>
      </p:sp>
      <p:sp>
        <p:nvSpPr>
          <p:cNvPr id="8" name="Rectangle 7"/>
          <p:cNvSpPr/>
          <p:nvPr/>
        </p:nvSpPr>
        <p:spPr>
          <a:xfrm>
            <a:off x="914400" y="4747640"/>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147690"/>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The system records </a:t>
            </a:r>
            <a:r>
              <a:rPr sz="2898" b="0" i="1" u="none">
                <a:solidFill>
                  <a:srgbClr val="334155"/>
                </a:solidFill>
                <a:latin typeface="Calibri"/>
              </a:rPr>
              <a:t>transaction number</a:t>
            </a:r>
            <a:r>
              <a:rPr sz="2898" b="0" i="0" u="none">
                <a:solidFill>
                  <a:srgbClr val="334155"/>
                </a:solidFill>
                <a:latin typeface="Calibri"/>
              </a:rPr>
              <a:t>, </a:t>
            </a:r>
            <a:r>
              <a:rPr sz="2898" b="0" i="1" u="none">
                <a:solidFill>
                  <a:srgbClr val="334155"/>
                </a:solidFill>
                <a:latin typeface="Calibri"/>
              </a:rPr>
              <a:t>transaction type</a:t>
            </a:r>
            <a:r>
              <a:rPr sz="2898" b="0" i="0" u="none">
                <a:solidFill>
                  <a:srgbClr val="334155"/>
                </a:solidFill>
                <a:latin typeface="Calibri"/>
              </a:rPr>
              <a:t>, </a:t>
            </a:r>
            <a:r>
              <a:rPr sz="2898" b="0" i="1" u="none">
                <a:solidFill>
                  <a:srgbClr val="334155"/>
                </a:solidFill>
                <a:latin typeface="Calibri"/>
              </a:rPr>
              <a:t>transaction date</a:t>
            </a:r>
            <a:r>
              <a:rPr sz="2898" b="0" i="0" u="none">
                <a:solidFill>
                  <a:srgbClr val="334155"/>
                </a:solidFill>
                <a:latin typeface="Calibri"/>
              </a:rPr>
              <a:t>, </a:t>
            </a:r>
            <a:r>
              <a:rPr sz="2898" b="0" i="1" u="none">
                <a:solidFill>
                  <a:srgbClr val="334155"/>
                </a:solidFill>
                <a:latin typeface="Calibri"/>
              </a:rPr>
              <a:t>amount</a:t>
            </a:r>
            <a:r>
              <a:rPr sz="2898" b="0" i="0" u="none">
                <a:solidFill>
                  <a:srgbClr val="334155"/>
                </a:solidFill>
                <a:latin typeface="Calibri"/>
              </a:rPr>
              <a:t> and </a:t>
            </a:r>
            <a:r>
              <a:rPr sz="2898" b="0" i="1" u="none">
                <a:solidFill>
                  <a:srgbClr val="334155"/>
                </a:solidFill>
                <a:latin typeface="Calibri"/>
              </a:rPr>
              <a:t>time</a:t>
            </a:r>
            <a:r>
              <a:rPr sz="2898" b="0" i="0" u="none">
                <a:solidFill>
                  <a:srgbClr val="334155"/>
                </a:solidFill>
                <a:latin typeface="Calibri"/>
              </a:rPr>
              <a:t>, and the </a:t>
            </a:r>
            <a:r>
              <a:rPr sz="2898" b="1" i="0" u="none">
                <a:solidFill>
                  <a:srgbClr val="334155"/>
                </a:solidFill>
                <a:latin typeface="Calibri"/>
              </a:rPr>
              <a:t>branch</a:t>
            </a:r>
            <a:r>
              <a:rPr sz="2898" b="0" i="0" u="none">
                <a:solidFill>
                  <a:srgbClr val="334155"/>
                </a:solidFill>
                <a:latin typeface="Calibri"/>
              </a:rPr>
              <a:t> where the transaction occurred.</a:t>
            </a:r>
          </a:p>
        </p:txBody>
      </p:sp>
      <p:sp>
        <p:nvSpPr>
          <p:cNvPr id="10" name="Rectangle 9"/>
          <p:cNvSpPr/>
          <p:nvPr/>
        </p:nvSpPr>
        <p:spPr>
          <a:xfrm>
            <a:off x="914400" y="7013257"/>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1314450" y="7413307"/>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A customer can make any type of transaction (withdrawal or deposit) from any branch of the bank.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37 · RECAP</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37/40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to walk out remembering</a:t>
            </a:r>
          </a:p>
        </p:txBody>
      </p:sp>
      <p:sp>
        <p:nvSpPr>
          <p:cNvPr id="6" name="TextBox 5"/>
          <p:cNvSpPr txBox="1"/>
          <p:nvPr/>
        </p:nvSpPr>
        <p:spPr>
          <a:xfrm>
            <a:off x="914400" y="30289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771650" y="30289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An ERD is the </a:t>
            </a:r>
            <a:r>
              <a:rPr sz="2250" b="1" i="0" u="none">
                <a:solidFill>
                  <a:srgbClr val="0F172A"/>
                </a:solidFill>
                <a:latin typeface="Calibri"/>
              </a:rPr>
              <a:t>conceptual</a:t>
            </a:r>
            <a:r>
              <a:rPr sz="2250" b="0" i="0" u="none">
                <a:solidFill>
                  <a:srgbClr val="0F172A"/>
                </a:solidFill>
                <a:latin typeface="Calibri"/>
              </a:rPr>
              <a:t> model: entities, attributes, relationships; no tables yet.</a:t>
            </a:r>
          </a:p>
        </p:txBody>
      </p:sp>
      <p:cxnSp>
        <p:nvCxnSpPr>
          <p:cNvPr id="8" name="Connector 7"/>
          <p:cNvCxnSpPr/>
          <p:nvPr/>
        </p:nvCxnSpPr>
        <p:spPr>
          <a:xfrm>
            <a:off x="914400" y="3886200"/>
            <a:ext cx="16459200" cy="0"/>
          </a:xfrm>
          <a:prstGeom prst="line">
            <a:avLst/>
          </a:prstGeom>
          <a:ln w="14287">
            <a:solidFill>
              <a:srgbClr val="E2E8F0"/>
            </a:solidFill>
          </a:ln>
        </p:spPr>
      </p:cxnSp>
      <p:sp>
        <p:nvSpPr>
          <p:cNvPr id="9" name="TextBox 8"/>
          <p:cNvSpPr txBox="1"/>
          <p:nvPr/>
        </p:nvSpPr>
        <p:spPr>
          <a:xfrm>
            <a:off x="914400" y="40576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0" name="TextBox 9"/>
          <p:cNvSpPr txBox="1"/>
          <p:nvPr/>
        </p:nvSpPr>
        <p:spPr>
          <a:xfrm>
            <a:off x="1771650" y="40576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A </a:t>
            </a:r>
            <a:r>
              <a:rPr sz="2250" b="1" i="0" u="none">
                <a:solidFill>
                  <a:srgbClr val="0F172A"/>
                </a:solidFill>
                <a:latin typeface="Calibri"/>
              </a:rPr>
              <a:t>weak entity</a:t>
            </a:r>
            <a:r>
              <a:rPr sz="2250" b="0" i="0" u="none">
                <a:solidFill>
                  <a:srgbClr val="0F172A"/>
                </a:solidFill>
                <a:latin typeface="Calibri"/>
              </a:rPr>
              <a:t> is identified through its owner plus a partial key.</a:t>
            </a:r>
          </a:p>
        </p:txBody>
      </p:sp>
      <p:cxnSp>
        <p:nvCxnSpPr>
          <p:cNvPr id="11" name="Connector 10"/>
          <p:cNvCxnSpPr/>
          <p:nvPr/>
        </p:nvCxnSpPr>
        <p:spPr>
          <a:xfrm>
            <a:off x="914400" y="4914900"/>
            <a:ext cx="16459200" cy="0"/>
          </a:xfrm>
          <a:prstGeom prst="line">
            <a:avLst/>
          </a:prstGeom>
          <a:ln w="14287">
            <a:solidFill>
              <a:srgbClr val="E2E8F0"/>
            </a:solidFill>
          </a:ln>
        </p:spPr>
      </p:cxnSp>
      <p:sp>
        <p:nvSpPr>
          <p:cNvPr id="12" name="TextBox 11"/>
          <p:cNvSpPr txBox="1"/>
          <p:nvPr/>
        </p:nvSpPr>
        <p:spPr>
          <a:xfrm>
            <a:off x="914400" y="50863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3" name="TextBox 12"/>
          <p:cNvSpPr txBox="1"/>
          <p:nvPr/>
        </p:nvSpPr>
        <p:spPr>
          <a:xfrm>
            <a:off x="1771650" y="50863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Attributes can be simple, composite, multi-valued, derived or key.</a:t>
            </a:r>
          </a:p>
        </p:txBody>
      </p:sp>
      <p:cxnSp>
        <p:nvCxnSpPr>
          <p:cNvPr id="14" name="Connector 13"/>
          <p:cNvCxnSpPr/>
          <p:nvPr/>
        </p:nvCxnSpPr>
        <p:spPr>
          <a:xfrm>
            <a:off x="914400" y="5943600"/>
            <a:ext cx="16459200" cy="0"/>
          </a:xfrm>
          <a:prstGeom prst="line">
            <a:avLst/>
          </a:prstGeom>
          <a:ln w="14287">
            <a:solidFill>
              <a:srgbClr val="E2E8F0"/>
            </a:solidFill>
          </a:ln>
        </p:spPr>
      </p:cxnSp>
      <p:sp>
        <p:nvSpPr>
          <p:cNvPr id="15" name="TextBox 14"/>
          <p:cNvSpPr txBox="1"/>
          <p:nvPr/>
        </p:nvSpPr>
        <p:spPr>
          <a:xfrm>
            <a:off x="914400" y="61150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6" name="TextBox 15"/>
          <p:cNvSpPr txBox="1"/>
          <p:nvPr/>
        </p:nvSpPr>
        <p:spPr>
          <a:xfrm>
            <a:off x="1771650" y="61150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Relationships have a </a:t>
            </a:r>
            <a:r>
              <a:rPr sz="2250" b="1" i="0" u="none">
                <a:solidFill>
                  <a:srgbClr val="0F172A"/>
                </a:solidFill>
                <a:latin typeface="Calibri"/>
              </a:rPr>
              <a:t>degree</a:t>
            </a:r>
            <a:r>
              <a:rPr sz="2250" b="0" i="0" u="none">
                <a:solidFill>
                  <a:srgbClr val="0F172A"/>
                </a:solidFill>
                <a:latin typeface="Calibri"/>
              </a:rPr>
              <a:t>, a </a:t>
            </a:r>
            <a:r>
              <a:rPr sz="2250" b="1" i="0" u="none">
                <a:solidFill>
                  <a:srgbClr val="0F172A"/>
                </a:solidFill>
                <a:latin typeface="Calibri"/>
              </a:rPr>
              <a:t>cardinality ratio</a:t>
            </a:r>
            <a:r>
              <a:rPr sz="2250" b="0" i="0" u="none">
                <a:solidFill>
                  <a:srgbClr val="0F172A"/>
                </a:solidFill>
                <a:latin typeface="Calibri"/>
              </a:rPr>
              <a:t> (max) and </a:t>
            </a:r>
            <a:r>
              <a:rPr sz="2250" b="1" i="0" u="none">
                <a:solidFill>
                  <a:srgbClr val="0F172A"/>
                </a:solidFill>
                <a:latin typeface="Calibri"/>
              </a:rPr>
              <a:t>participation</a:t>
            </a:r>
            <a:r>
              <a:rPr sz="2250" b="0" i="0" u="none">
                <a:solidFill>
                  <a:srgbClr val="0F172A"/>
                </a:solidFill>
                <a:latin typeface="Calibri"/>
              </a:rPr>
              <a:t> (min).</a:t>
            </a:r>
          </a:p>
        </p:txBody>
      </p:sp>
      <p:cxnSp>
        <p:nvCxnSpPr>
          <p:cNvPr id="17" name="Connector 16"/>
          <p:cNvCxnSpPr/>
          <p:nvPr/>
        </p:nvCxnSpPr>
        <p:spPr>
          <a:xfrm>
            <a:off x="914400" y="6972300"/>
            <a:ext cx="16459200" cy="0"/>
          </a:xfrm>
          <a:prstGeom prst="line">
            <a:avLst/>
          </a:prstGeom>
          <a:ln w="14287">
            <a:solidFill>
              <a:srgbClr val="E2E8F0"/>
            </a:solidFill>
          </a:ln>
        </p:spPr>
      </p:cxnSp>
      <p:sp>
        <p:nvSpPr>
          <p:cNvPr id="18" name="TextBox 17"/>
          <p:cNvSpPr txBox="1"/>
          <p:nvPr/>
        </p:nvSpPr>
        <p:spPr>
          <a:xfrm>
            <a:off x="914400" y="71437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19" name="TextBox 18"/>
          <p:cNvSpPr txBox="1"/>
          <p:nvPr/>
        </p:nvSpPr>
        <p:spPr>
          <a:xfrm>
            <a:off x="1771650" y="71437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Chen and crow's foot express the </a:t>
            </a:r>
            <a:r>
              <a:rPr sz="2250" b="1" i="0" u="none">
                <a:solidFill>
                  <a:srgbClr val="0F172A"/>
                </a:solidFill>
                <a:latin typeface="Calibri"/>
              </a:rPr>
              <a:t>same constraints</a:t>
            </a:r>
            <a:r>
              <a:rPr sz="2250" b="0" i="0" u="none">
                <a:solidFill>
                  <a:srgbClr val="0F172A"/>
                </a:solidFill>
                <a:latin typeface="Calibri"/>
              </a:rPr>
              <a:t> with different symbols.</a:t>
            </a:r>
          </a:p>
        </p:txBody>
      </p:sp>
      <p:cxnSp>
        <p:nvCxnSpPr>
          <p:cNvPr id="20" name="Connector 19"/>
          <p:cNvCxnSpPr/>
          <p:nvPr/>
        </p:nvCxnSpPr>
        <p:spPr>
          <a:xfrm>
            <a:off x="914400" y="8001000"/>
            <a:ext cx="16459200" cy="0"/>
          </a:xfrm>
          <a:prstGeom prst="line">
            <a:avLst/>
          </a:prstGeom>
          <a:ln w="14287">
            <a:solidFill>
              <a:srgbClr val="E2E8F0"/>
            </a:solidFill>
          </a:ln>
        </p:spPr>
      </p:cxnSp>
      <p:sp>
        <p:nvSpPr>
          <p:cNvPr id="21" name="TextBox 20"/>
          <p:cNvSpPr txBox="1"/>
          <p:nvPr/>
        </p:nvSpPr>
        <p:spPr>
          <a:xfrm>
            <a:off x="914400" y="81724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06</a:t>
            </a:r>
          </a:p>
        </p:txBody>
      </p:sp>
      <p:sp>
        <p:nvSpPr>
          <p:cNvPr id="22" name="TextBox 21"/>
          <p:cNvSpPr txBox="1"/>
          <p:nvPr/>
        </p:nvSpPr>
        <p:spPr>
          <a:xfrm>
            <a:off x="1771650" y="81724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Build ERDs </a:t>
            </a:r>
            <a:r>
              <a:rPr sz="2250" b="1" i="0" u="none">
                <a:solidFill>
                  <a:srgbClr val="0F172A"/>
                </a:solidFill>
                <a:latin typeface="Calibri"/>
              </a:rPr>
              <a:t>methodically</a:t>
            </a:r>
            <a:r>
              <a:rPr sz="2250" b="0" i="0" u="none">
                <a:solidFill>
                  <a:srgbClr val="0F172A"/>
                </a:solidFill>
                <a:latin typeface="Calibri"/>
              </a:rPr>
              <a:t>: nouns → verbs → keys → constraints → review.</a:t>
            </a:r>
          </a:p>
        </p:txBody>
      </p:sp>
      <p:cxnSp>
        <p:nvCxnSpPr>
          <p:cNvPr id="23" name="Connector 22"/>
          <p:cNvCxnSpPr/>
          <p:nvPr/>
        </p:nvCxnSpPr>
        <p:spPr>
          <a:xfrm>
            <a:off x="914400" y="9029700"/>
            <a:ext cx="16459200" cy="0"/>
          </a:xfrm>
          <a:prstGeom prst="line">
            <a:avLst/>
          </a:prstGeom>
          <a:ln w="14287">
            <a:solidFill>
              <a:srgbClr val="E2E8F0"/>
            </a:solidFill>
          </a:ln>
        </p:spPr>
      </p:cxn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840926"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 · OPTIONAL</a:t>
            </a:r>
          </a:p>
        </p:txBody>
      </p:sp>
      <p:cxnSp>
        <p:nvCxnSpPr>
          <p:cNvPr id="3" name="Connector 2"/>
          <p:cNvCxnSpPr/>
          <p:nvPr/>
        </p:nvCxnSpPr>
        <p:spPr>
          <a:xfrm>
            <a:off x="3831526" y="981075"/>
            <a:ext cx="12694349"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38/40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Practice: Lesson 2</a:t>
            </a:r>
          </a:p>
        </p:txBody>
      </p:sp>
      <p:sp>
        <p:nvSpPr>
          <p:cNvPr id="6" name="Rectangle 5"/>
          <p:cNvSpPr/>
          <p:nvPr/>
        </p:nvSpPr>
        <p:spPr>
          <a:xfrm>
            <a:off x="91440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778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Q1 · CORE</a:t>
            </a:r>
          </a:p>
        </p:txBody>
      </p:sp>
      <p:sp>
        <p:nvSpPr>
          <p:cNvPr id="8" name="TextBox 7"/>
          <p:cNvSpPr txBox="1"/>
          <p:nvPr/>
        </p:nvSpPr>
        <p:spPr>
          <a:xfrm>
            <a:off x="128778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For a </a:t>
            </a:r>
            <a:r>
              <a:rPr sz="2511" b="1" i="0" u="none">
                <a:solidFill>
                  <a:srgbClr val="0F172A"/>
                </a:solidFill>
                <a:latin typeface="Calibri"/>
              </a:rPr>
              <a:t>library</a:t>
            </a:r>
            <a:r>
              <a:rPr sz="2511" b="0" i="0" u="none">
                <a:solidFill>
                  <a:srgbClr val="0F172A"/>
                </a:solidFill>
                <a:latin typeface="Calibri"/>
              </a:rPr>
              <a:t>: members borrow copies of books; each book has many authors. Draw the ERD with keys and constraints.</a:t>
            </a:r>
          </a:p>
        </p:txBody>
      </p:sp>
      <p:sp>
        <p:nvSpPr>
          <p:cNvPr id="9" name="Rectangle 8"/>
          <p:cNvSpPr/>
          <p:nvPr/>
        </p:nvSpPr>
        <p:spPr>
          <a:xfrm>
            <a:off x="650748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88086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Q2 · CORE</a:t>
            </a:r>
          </a:p>
        </p:txBody>
      </p:sp>
      <p:sp>
        <p:nvSpPr>
          <p:cNvPr id="11" name="TextBox 10"/>
          <p:cNvSpPr txBox="1"/>
          <p:nvPr/>
        </p:nvSpPr>
        <p:spPr>
          <a:xfrm>
            <a:off x="688086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Give one real example each of a 1:1, a 1:N and an M:N relationship, with participation for both sides.</a:t>
            </a:r>
          </a:p>
        </p:txBody>
      </p:sp>
      <p:sp>
        <p:nvSpPr>
          <p:cNvPr id="12" name="Rectangle 11"/>
          <p:cNvSpPr/>
          <p:nvPr/>
        </p:nvSpPr>
        <p:spPr>
          <a:xfrm>
            <a:off x="1210056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47394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Q3 · CORE</a:t>
            </a:r>
          </a:p>
        </p:txBody>
      </p:sp>
      <p:sp>
        <p:nvSpPr>
          <p:cNvPr id="14" name="TextBox 13"/>
          <p:cNvSpPr txBox="1"/>
          <p:nvPr/>
        </p:nvSpPr>
        <p:spPr>
          <a:xfrm>
            <a:off x="12473940" y="3415687"/>
            <a:ext cx="4526280" cy="877176"/>
          </a:xfrm>
          <a:prstGeom prst="rect">
            <a:avLst/>
          </a:prstGeom>
          <a:noFill/>
        </p:spPr>
        <p:txBody>
          <a:bodyPr wrap="square" lIns="0" rIns="0" tIns="0" bIns="0" anchor="t"/>
          <a:lstStyle/>
          <a:p>
            <a:pPr algn="l">
              <a:lnSpc>
                <a:spcPct val="111800"/>
              </a:lnSpc>
            </a:pPr>
            <a:r>
              <a:rPr sz="2511" b="0" i="0" u="none">
                <a:solidFill>
                  <a:srgbClr val="0F172A"/>
                </a:solidFill>
                <a:latin typeface="Calibri"/>
              </a:rPr>
              <a:t>Redraw the COMPANY ERD in </a:t>
            </a:r>
            <a:r>
              <a:rPr sz="2511" b="1" i="0" u="none">
                <a:solidFill>
                  <a:srgbClr val="0F172A"/>
                </a:solidFill>
                <a:latin typeface="Calibri"/>
              </a:rPr>
              <a:t>crow's foot</a:t>
            </a:r>
            <a:r>
              <a:rPr sz="2511" b="0" i="0" u="none">
                <a:solidFill>
                  <a:srgbClr val="0F172A"/>
                </a:solidFill>
                <a:latin typeface="Calibri"/>
              </a:rPr>
              <a:t> notation.</a:t>
            </a:r>
          </a:p>
        </p:txBody>
      </p:sp>
      <p:sp>
        <p:nvSpPr>
          <p:cNvPr id="15" name="Rectangle 14"/>
          <p:cNvSpPr/>
          <p:nvPr/>
        </p:nvSpPr>
        <p:spPr>
          <a:xfrm>
            <a:off x="914400" y="5815614"/>
            <a:ext cx="5273040" cy="3428215"/>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87780" y="6188994"/>
            <a:ext cx="45262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Q4 · STRETCH</a:t>
            </a:r>
          </a:p>
        </p:txBody>
      </p:sp>
      <p:sp>
        <p:nvSpPr>
          <p:cNvPr id="17" name="TextBox 16"/>
          <p:cNvSpPr txBox="1"/>
          <p:nvPr/>
        </p:nvSpPr>
        <p:spPr>
          <a:xfrm>
            <a:off x="128778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A </a:t>
            </a:r>
            <a:r>
              <a:rPr sz="2511" b="1" i="0" u="none">
                <a:solidFill>
                  <a:srgbClr val="0F172A"/>
                </a:solidFill>
                <a:latin typeface="Calibri"/>
              </a:rPr>
              <a:t>hospital</a:t>
            </a:r>
            <a:r>
              <a:rPr sz="2511" b="0" i="0" u="none">
                <a:solidFill>
                  <a:srgbClr val="0F172A"/>
                </a:solidFill>
                <a:latin typeface="Calibri"/>
              </a:rPr>
              <a:t>: patients, doctors, rooms, admissions with dates. Which entity is weak? Which relationship has attributes?</a:t>
            </a:r>
          </a:p>
        </p:txBody>
      </p:sp>
      <p:sp>
        <p:nvSpPr>
          <p:cNvPr id="18" name="Rectangle 17"/>
          <p:cNvSpPr/>
          <p:nvPr/>
        </p:nvSpPr>
        <p:spPr>
          <a:xfrm>
            <a:off x="6507480" y="5815614"/>
            <a:ext cx="5273040" cy="3428215"/>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880860" y="6188994"/>
            <a:ext cx="45262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Q5 · STRETCH</a:t>
            </a:r>
          </a:p>
        </p:txBody>
      </p:sp>
      <p:sp>
        <p:nvSpPr>
          <p:cNvPr id="20" name="TextBox 19"/>
          <p:cNvSpPr txBox="1"/>
          <p:nvPr/>
        </p:nvSpPr>
        <p:spPr>
          <a:xfrm>
            <a:off x="688086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Rewrite every relationship in the bus case as two sentences (one per direction) and check your cardinalities.</a:t>
            </a:r>
          </a:p>
        </p:txBody>
      </p:sp>
      <p:sp>
        <p:nvSpPr>
          <p:cNvPr id="21" name="Rectangle 20"/>
          <p:cNvSpPr/>
          <p:nvPr/>
        </p:nvSpPr>
        <p:spPr>
          <a:xfrm>
            <a:off x="12100560" y="5815614"/>
            <a:ext cx="5273040" cy="3428215"/>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473940" y="6188994"/>
            <a:ext cx="4526280" cy="426933"/>
          </a:xfrm>
          <a:prstGeom prst="rect">
            <a:avLst/>
          </a:prstGeom>
          <a:noFill/>
        </p:spPr>
        <p:txBody>
          <a:bodyPr wrap="square" lIns="0" rIns="0" tIns="0" bIns="0" anchor="t"/>
          <a:lstStyle/>
          <a:p>
            <a:pPr algn="l">
              <a:lnSpc>
                <a:spcPct val="111800"/>
              </a:lnSpc>
            </a:pPr>
            <a:r>
              <a:rPr sz="2318" b="1" i="0" u="none">
                <a:solidFill>
                  <a:srgbClr val="0F172A"/>
                </a:solidFill>
                <a:latin typeface="Arial"/>
              </a:rPr>
              <a:t>Q6 · CHALLENGE</a:t>
            </a:r>
          </a:p>
        </p:txBody>
      </p:sp>
      <p:sp>
        <p:nvSpPr>
          <p:cNvPr id="23" name="TextBox 22"/>
          <p:cNvSpPr txBox="1"/>
          <p:nvPr/>
        </p:nvSpPr>
        <p:spPr>
          <a:xfrm>
            <a:off x="12473940" y="6749277"/>
            <a:ext cx="4526280" cy="2121171"/>
          </a:xfrm>
          <a:prstGeom prst="rect">
            <a:avLst/>
          </a:prstGeom>
          <a:noFill/>
        </p:spPr>
        <p:txBody>
          <a:bodyPr wrap="square" lIns="0" rIns="0" tIns="0" bIns="0" anchor="t"/>
          <a:lstStyle/>
          <a:p>
            <a:pPr algn="l">
              <a:lnSpc>
                <a:spcPct val="111800"/>
              </a:lnSpc>
            </a:pPr>
            <a:r>
              <a:rPr sz="2511" b="0" i="0" u="none">
                <a:solidFill>
                  <a:srgbClr val="0F172A"/>
                </a:solidFill>
                <a:latin typeface="Calibri"/>
              </a:rPr>
              <a:t>Model an online </a:t>
            </a:r>
            <a:r>
              <a:rPr sz="2511" b="1" i="0" u="none">
                <a:solidFill>
                  <a:srgbClr val="0F172A"/>
                </a:solidFill>
                <a:latin typeface="Calibri"/>
              </a:rPr>
              <a:t>course platform</a:t>
            </a:r>
            <a:r>
              <a:rPr sz="2511" b="0" i="0" u="none">
                <a:solidFill>
                  <a:srgbClr val="0F172A"/>
                </a:solidFill>
                <a:latin typeface="Calibri"/>
              </a:rPr>
              <a:t> (students, instructors, courses, lessons, enrollments, ratings) and justify each M:N.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39 · STUDY MORE</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39/40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Go deeper: Lesson 2</a:t>
            </a:r>
          </a:p>
        </p:txBody>
      </p:sp>
      <p:sp>
        <p:nvSpPr>
          <p:cNvPr id="6" name="TextBox 5"/>
          <p:cNvSpPr txBox="1"/>
          <p:nvPr/>
        </p:nvSpPr>
        <p:spPr>
          <a:xfrm>
            <a:off x="914400" y="30670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BOOK</a:t>
            </a:r>
          </a:p>
        </p:txBody>
      </p:sp>
      <p:sp>
        <p:nvSpPr>
          <p:cNvPr id="7" name="TextBox 6"/>
          <p:cNvSpPr txBox="1"/>
          <p:nvPr/>
        </p:nvSpPr>
        <p:spPr>
          <a:xfrm>
            <a:off x="3009900" y="3009900"/>
            <a:ext cx="14363700" cy="933450"/>
          </a:xfrm>
          <a:prstGeom prst="rect">
            <a:avLst/>
          </a:prstGeom>
          <a:noFill/>
        </p:spPr>
        <p:txBody>
          <a:bodyPr wrap="square" lIns="0" rIns="0" tIns="0" bIns="0"/>
          <a:lstStyle/>
          <a:p>
            <a:r>
              <a:rPr sz="2100" b="1" i="0" u="none">
                <a:solidFill>
                  <a:srgbClr val="0F172A"/>
                </a:solidFill>
                <a:latin typeface="Arial"/>
              </a:rPr>
              <a:t>Elmasri &amp; Navathe, Fundamentals of Database Systems (7th ed.)</a:t>
            </a:r>
            <a:r>
              <a:rPr sz="1950" b="0" i="0" u="none">
                <a:solidFill>
                  <a:srgbClr val="334155"/>
                </a:solidFill>
                <a:latin typeface="Calibri"/>
              </a:rPr>
              <a:t> — chapter 3: ER modeling, the COMPANY example</a:t>
            </a:r>
          </a:p>
        </p:txBody>
      </p:sp>
      <p:cxnSp>
        <p:nvCxnSpPr>
          <p:cNvPr id="8" name="Connector 7"/>
          <p:cNvCxnSpPr/>
          <p:nvPr/>
        </p:nvCxnSpPr>
        <p:spPr>
          <a:xfrm>
            <a:off x="914400" y="3981450"/>
            <a:ext cx="16459200" cy="0"/>
          </a:xfrm>
          <a:prstGeom prst="line">
            <a:avLst/>
          </a:prstGeom>
          <a:ln w="14287">
            <a:solidFill>
              <a:srgbClr val="E2E8F0"/>
            </a:solidFill>
          </a:ln>
        </p:spPr>
      </p:cxnSp>
      <p:sp>
        <p:nvSpPr>
          <p:cNvPr id="9" name="TextBox 8"/>
          <p:cNvSpPr txBox="1"/>
          <p:nvPr/>
        </p:nvSpPr>
        <p:spPr>
          <a:xfrm>
            <a:off x="914400" y="41910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TOOL</a:t>
            </a:r>
          </a:p>
        </p:txBody>
      </p:sp>
      <p:sp>
        <p:nvSpPr>
          <p:cNvPr id="10" name="TextBox 9"/>
          <p:cNvSpPr txBox="1"/>
          <p:nvPr/>
        </p:nvSpPr>
        <p:spPr>
          <a:xfrm>
            <a:off x="3009900" y="4133850"/>
            <a:ext cx="14363700" cy="933450"/>
          </a:xfrm>
          <a:prstGeom prst="rect">
            <a:avLst/>
          </a:prstGeom>
          <a:noFill/>
        </p:spPr>
        <p:txBody>
          <a:bodyPr wrap="square" lIns="0" rIns="0" tIns="0" bIns="0"/>
          <a:lstStyle/>
          <a:p>
            <a:r>
              <a:rPr sz="2100" b="1" i="0" u="none">
                <a:solidFill>
                  <a:srgbClr val="0F172A"/>
                </a:solidFill>
                <a:latin typeface="Arial"/>
              </a:rPr>
              <a:t>dbdiagram.io</a:t>
            </a:r>
            <a:r>
              <a:rPr sz="1950" b="0" i="0" u="none">
                <a:solidFill>
                  <a:srgbClr val="334155"/>
                </a:solidFill>
                <a:latin typeface="Calibri"/>
              </a:rPr>
              <a:t> — draw crow's foot ERDs from text, free</a:t>
            </a:r>
          </a:p>
          <a:p>
            <a:r>
              <a:rPr sz="1800" b="0" i="0" u="none">
                <a:solidFill>
                  <a:srgbClr val="0E8A8A"/>
                </a:solidFill>
                <a:latin typeface="Courier New"/>
                <a:hlinkClick r:id="rId2"/>
              </a:rPr>
              <a:t>dbdiagram.io</a:t>
            </a:r>
          </a:p>
        </p:txBody>
      </p:sp>
      <p:cxnSp>
        <p:nvCxnSpPr>
          <p:cNvPr id="11" name="Connector 10"/>
          <p:cNvCxnSpPr/>
          <p:nvPr/>
        </p:nvCxnSpPr>
        <p:spPr>
          <a:xfrm>
            <a:off x="914400" y="5105400"/>
            <a:ext cx="16459200" cy="0"/>
          </a:xfrm>
          <a:prstGeom prst="line">
            <a:avLst/>
          </a:prstGeom>
          <a:ln w="14287">
            <a:solidFill>
              <a:srgbClr val="E2E8F0"/>
            </a:solidFill>
          </a:ln>
        </p:spPr>
      </p:cxnSp>
      <p:sp>
        <p:nvSpPr>
          <p:cNvPr id="12" name="TextBox 11"/>
          <p:cNvSpPr txBox="1"/>
          <p:nvPr/>
        </p:nvSpPr>
        <p:spPr>
          <a:xfrm>
            <a:off x="914400" y="53149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TOOL</a:t>
            </a:r>
          </a:p>
        </p:txBody>
      </p:sp>
      <p:sp>
        <p:nvSpPr>
          <p:cNvPr id="13" name="TextBox 12"/>
          <p:cNvSpPr txBox="1"/>
          <p:nvPr/>
        </p:nvSpPr>
        <p:spPr>
          <a:xfrm>
            <a:off x="3009900" y="5257800"/>
            <a:ext cx="14363700" cy="933450"/>
          </a:xfrm>
          <a:prstGeom prst="rect">
            <a:avLst/>
          </a:prstGeom>
          <a:noFill/>
        </p:spPr>
        <p:txBody>
          <a:bodyPr wrap="square" lIns="0" rIns="0" tIns="0" bIns="0"/>
          <a:lstStyle/>
          <a:p>
            <a:r>
              <a:rPr sz="2100" b="1" i="0" u="none">
                <a:solidFill>
                  <a:srgbClr val="0F172A"/>
                </a:solidFill>
                <a:latin typeface="Arial"/>
              </a:rPr>
              <a:t>diagrams.net (draw.io)</a:t>
            </a:r>
            <a:r>
              <a:rPr sz="1950" b="0" i="0" u="none">
                <a:solidFill>
                  <a:srgbClr val="334155"/>
                </a:solidFill>
                <a:latin typeface="Calibri"/>
              </a:rPr>
              <a:t> — free diagram editor with Chen and crow's foot shapes</a:t>
            </a:r>
          </a:p>
          <a:p>
            <a:r>
              <a:rPr sz="1800" b="0" i="0" u="none">
                <a:solidFill>
                  <a:srgbClr val="0E8A8A"/>
                </a:solidFill>
                <a:latin typeface="Courier New"/>
                <a:hlinkClick r:id="rId3"/>
              </a:rPr>
              <a:t>app.diagrams.net</a:t>
            </a:r>
          </a:p>
        </p:txBody>
      </p:sp>
      <p:cxnSp>
        <p:nvCxnSpPr>
          <p:cNvPr id="14" name="Connector 13"/>
          <p:cNvCxnSpPr/>
          <p:nvPr/>
        </p:nvCxnSpPr>
        <p:spPr>
          <a:xfrm>
            <a:off x="914400" y="6229350"/>
            <a:ext cx="16459200" cy="0"/>
          </a:xfrm>
          <a:prstGeom prst="line">
            <a:avLst/>
          </a:prstGeom>
          <a:ln w="14287">
            <a:solidFill>
              <a:srgbClr val="E2E8F0"/>
            </a:solidFill>
          </a:ln>
        </p:spPr>
      </p:cxnSp>
      <p:sp>
        <p:nvSpPr>
          <p:cNvPr id="15" name="TextBox 14"/>
          <p:cNvSpPr txBox="1"/>
          <p:nvPr/>
        </p:nvSpPr>
        <p:spPr>
          <a:xfrm>
            <a:off x="914400" y="64389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READ</a:t>
            </a:r>
          </a:p>
        </p:txBody>
      </p:sp>
      <p:sp>
        <p:nvSpPr>
          <p:cNvPr id="16" name="TextBox 15"/>
          <p:cNvSpPr txBox="1"/>
          <p:nvPr/>
        </p:nvSpPr>
        <p:spPr>
          <a:xfrm>
            <a:off x="3009900" y="6381750"/>
            <a:ext cx="14363700" cy="933450"/>
          </a:xfrm>
          <a:prstGeom prst="rect">
            <a:avLst/>
          </a:prstGeom>
          <a:noFill/>
        </p:spPr>
        <p:txBody>
          <a:bodyPr wrap="square" lIns="0" rIns="0" tIns="0" bIns="0"/>
          <a:lstStyle/>
          <a:p>
            <a:r>
              <a:rPr sz="2100" b="1" i="0" u="none">
                <a:solidFill>
                  <a:srgbClr val="0F172A"/>
                </a:solidFill>
                <a:latin typeface="Arial"/>
              </a:rPr>
              <a:t>Lucidchart: What is an ERD?</a:t>
            </a:r>
            <a:r>
              <a:rPr sz="1950" b="0" i="0" u="none">
                <a:solidFill>
                  <a:srgbClr val="334155"/>
                </a:solidFill>
                <a:latin typeface="Calibri"/>
              </a:rPr>
              <a:t> — notations compared with pictures</a:t>
            </a:r>
          </a:p>
          <a:p>
            <a:r>
              <a:rPr sz="1800" b="0" i="0" u="none">
                <a:solidFill>
                  <a:srgbClr val="0E8A8A"/>
                </a:solidFill>
                <a:latin typeface="Courier New"/>
                <a:hlinkClick r:id="rId4"/>
              </a:rPr>
              <a:t>www.lucidchart.com/pages/er-diagrams</a:t>
            </a:r>
          </a:p>
        </p:txBody>
      </p:sp>
      <p:cxnSp>
        <p:nvCxnSpPr>
          <p:cNvPr id="17" name="Connector 16"/>
          <p:cNvCxnSpPr/>
          <p:nvPr/>
        </p:nvCxnSpPr>
        <p:spPr>
          <a:xfrm>
            <a:off x="914400" y="7353300"/>
            <a:ext cx="16459200" cy="0"/>
          </a:xfrm>
          <a:prstGeom prst="line">
            <a:avLst/>
          </a:prstGeom>
          <a:ln w="14287">
            <a:solidFill>
              <a:srgbClr val="E2E8F0"/>
            </a:solidFill>
          </a:ln>
        </p:spPr>
      </p:cxnSp>
      <p:sp>
        <p:nvSpPr>
          <p:cNvPr id="18" name="TextBox 17"/>
          <p:cNvSpPr txBox="1"/>
          <p:nvPr/>
        </p:nvSpPr>
        <p:spPr>
          <a:xfrm>
            <a:off x="914400" y="75628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VIDEO</a:t>
            </a:r>
          </a:p>
        </p:txBody>
      </p:sp>
      <p:sp>
        <p:nvSpPr>
          <p:cNvPr id="19" name="TextBox 18"/>
          <p:cNvSpPr txBox="1"/>
          <p:nvPr/>
        </p:nvSpPr>
        <p:spPr>
          <a:xfrm>
            <a:off x="3009900" y="7505700"/>
            <a:ext cx="14363700" cy="933450"/>
          </a:xfrm>
          <a:prstGeom prst="rect">
            <a:avLst/>
          </a:prstGeom>
          <a:noFill/>
        </p:spPr>
        <p:txBody>
          <a:bodyPr wrap="square" lIns="0" rIns="0" tIns="0" bIns="0"/>
          <a:lstStyle/>
          <a:p>
            <a:r>
              <a:rPr sz="2100" b="1" i="0" u="none">
                <a:solidFill>
                  <a:srgbClr val="0F172A"/>
                </a:solidFill>
                <a:latin typeface="Arial"/>
              </a:rPr>
              <a:t>CMU 15-445 / Stanford DB courses</a:t>
            </a:r>
            <a:r>
              <a:rPr sz="1950" b="0" i="0" u="none">
                <a:solidFill>
                  <a:srgbClr val="334155"/>
                </a:solidFill>
                <a:latin typeface="Calibri"/>
              </a:rPr>
              <a:t> — search "ER model" lectures for worked examples</a:t>
            </a:r>
          </a:p>
          <a:p>
            <a:r>
              <a:rPr sz="1800" b="0" i="0" u="none">
                <a:solidFill>
                  <a:srgbClr val="0E8A8A"/>
                </a:solidFill>
                <a:latin typeface="Courier New"/>
                <a:hlinkClick r:id="rId5"/>
              </a:rPr>
              <a:t>15445.courses.cs.cmu.edu</a:t>
            </a:r>
          </a:p>
        </p:txBody>
      </p:sp>
      <p:cxnSp>
        <p:nvCxnSpPr>
          <p:cNvPr id="20" name="Connector 19"/>
          <p:cNvCxnSpPr/>
          <p:nvPr/>
        </p:nvCxnSpPr>
        <p:spPr>
          <a:xfrm>
            <a:off x="914400" y="8477250"/>
            <a:ext cx="16459200" cy="0"/>
          </a:xfrm>
          <a:prstGeom prst="line">
            <a:avLst/>
          </a:prstGeom>
          <a:ln w="14287">
            <a:solidFill>
              <a:srgbClr val="E2E8F0"/>
            </a:solidFill>
          </a:ln>
        </p:spPr>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UP NEXT · LESSON 3</a:t>
            </a:r>
          </a:p>
        </p:txBody>
      </p:sp>
      <p:cxnSp>
        <p:nvCxnSpPr>
          <p:cNvPr id="3" name="Connector 2"/>
          <p:cNvCxnSpPr/>
          <p:nvPr/>
        </p:nvCxnSpPr>
        <p:spPr>
          <a:xfrm>
            <a:off x="3867150" y="962025"/>
            <a:ext cx="13506450" cy="0"/>
          </a:xfrm>
          <a:prstGeom prst="line">
            <a:avLst/>
          </a:prstGeom>
          <a:ln w="19050">
            <a:solidFill>
              <a:srgbClr val="1E293B"/>
            </a:solidFill>
          </a:ln>
        </p:spPr>
      </p:cxnSp>
      <p:sp>
        <p:nvSpPr>
          <p:cNvPr id="4" name="TextBox 3"/>
          <p:cNvSpPr txBox="1"/>
          <p:nvPr/>
        </p:nvSpPr>
        <p:spPr>
          <a:xfrm>
            <a:off x="914400" y="3143250"/>
            <a:ext cx="8572500" cy="359092"/>
          </a:xfrm>
          <a:prstGeom prst="rect">
            <a:avLst/>
          </a:prstGeom>
          <a:noFill/>
        </p:spPr>
        <p:txBody>
          <a:bodyPr wrap="square" lIns="0" rIns="0" tIns="0" bIns="0" anchor="t"/>
          <a:lstStyle/>
          <a:p>
            <a:pPr algn="l">
              <a:lnSpc>
                <a:spcPct val="111800"/>
              </a:lnSpc>
            </a:pPr>
            <a:r>
              <a:rPr sz="1950" b="1" i="0" u="none">
                <a:solidFill>
                  <a:srgbClr val="94A3B8"/>
                </a:solidFill>
                <a:latin typeface="Arial"/>
              </a:rPr>
              <a:t>LESSON 3 · MAPPING</a:t>
            </a:r>
          </a:p>
        </p:txBody>
      </p:sp>
      <p:sp>
        <p:nvSpPr>
          <p:cNvPr id="5" name="TextBox 4"/>
          <p:cNvSpPr txBox="1"/>
          <p:nvPr/>
        </p:nvSpPr>
        <p:spPr>
          <a:xfrm>
            <a:off x="914400" y="3562350"/>
            <a:ext cx="14287500" cy="936117"/>
          </a:xfrm>
          <a:prstGeom prst="rect">
            <a:avLst/>
          </a:prstGeom>
          <a:noFill/>
        </p:spPr>
        <p:txBody>
          <a:bodyPr wrap="square" lIns="0" rIns="0" tIns="0" bIns="0"/>
          <a:lstStyle/>
          <a:p>
            <a:pPr>
              <a:lnSpc>
                <a:spcPct val="90000"/>
              </a:lnSpc>
            </a:pPr>
            <a:r>
              <a:rPr sz="6300" b="1" i="0" u="none">
                <a:solidFill>
                  <a:srgbClr val="FFFFFF"/>
                </a:solidFill>
                <a:latin typeface="Arial"/>
              </a:rPr>
              <a:t>Every ERD becomes </a:t>
            </a:r>
            <a:r>
              <a:rPr sz="6300" b="1" i="0" u="none">
                <a:solidFill>
                  <a:srgbClr val="F87171"/>
                </a:solidFill>
                <a:latin typeface="Arial"/>
              </a:rPr>
              <a:t>tables</a:t>
            </a:r>
            <a:r>
              <a:rPr sz="6300" b="1" i="0" u="none">
                <a:solidFill>
                  <a:srgbClr val="FFFFFF"/>
                </a:solidFill>
                <a:latin typeface="Arial"/>
              </a:rPr>
              <a:t>.</a:t>
            </a:r>
          </a:p>
        </p:txBody>
      </p:sp>
      <p:sp>
        <p:nvSpPr>
          <p:cNvPr id="6" name="TextBox 5"/>
          <p:cNvSpPr txBox="1"/>
          <p:nvPr/>
        </p:nvSpPr>
        <p:spPr>
          <a:xfrm>
            <a:off x="914400" y="5069967"/>
            <a:ext cx="12382500" cy="1333500"/>
          </a:xfrm>
          <a:prstGeom prst="rect">
            <a:avLst/>
          </a:prstGeom>
          <a:noFill/>
        </p:spPr>
        <p:txBody>
          <a:bodyPr wrap="square" lIns="0" rIns="0" tIns="0" bIns="0"/>
          <a:lstStyle/>
          <a:p>
            <a:pPr>
              <a:lnSpc>
                <a:spcPct val="120000"/>
              </a:lnSpc>
            </a:pPr>
            <a:r>
              <a:rPr sz="2400" b="0" i="0" u="none">
                <a:solidFill>
                  <a:srgbClr val="CBD5E1"/>
                </a:solidFill>
                <a:latin typeface="Calibri"/>
              </a:rPr>
              <a:t>Seven mapping steps turn the diagrams from today into relations, primary keys and foreign keys.</a:t>
            </a:r>
          </a:p>
        </p:txBody>
      </p:sp>
      <p:sp>
        <p:nvSpPr>
          <p:cNvPr id="7" name="TextBox 6"/>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8" name="TextBox 7"/>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Thank you — questions?</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