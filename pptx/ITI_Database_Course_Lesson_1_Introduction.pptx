
<file path=[Content_Types].xml><?xml version="1.0" encoding="utf-8"?>
<Types xmlns="http://schemas.openxmlformats.org/package/2006/content-types">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Lst>
  <p:sldSz cy="10287000" cx="18288000"/>
  <p:notesSz cx="10287000" cy="1828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Welcome. This lesson sets the vocabulary we use for the whole course: database, DBMS, schema, data model, data independence.</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Course objective and the two reference books used throughout: Elmasri &amp; Navathe (the COMPANY example comes from it) and C. J. Date.</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Running examples: the COMPANY database (from Elmasri &amp; Navathe) appears in Lessons 2, 4 and 5; Lesson 3 maps ITI student, instructor and course examples. Students see the same kind of design travel from narrative -&gt; ERD -&gt; tables -&gt; SQL -&gt; normalization.</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 company where every department wrote its own program and file. Ask the students: what happens when a customer moves?</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last two cards are additions that complete the picture: the DBMS functions on the next slides answer each of these six problems one by one.</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diagram: the same three applications before and after a DBMS. Point at the duplicated customer data on the left and the single shared database on the right; every limitation on the previous slide disappears because the DBMS sits in the middle.</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DBMS is a collection of programs that enables users to create and maintain a database. Defining a database involves specifying the data types and constraints. Constructing the database is storing the data on some storage medium. Manipulating includes querying the database to retrieve, update or delete specific data.</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Walk top-down: people use programs; programs send queries to the DBMS; the DBMS reads the catalog (metadata) to understand the data, then reads or writes the stored data. Applications never touch the files directly.</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Original question to the class: 'What are the other functions of DBMS?' Answer: data security &amp; integrity, concurrency, recovery, performance, data dictionary. Each maps to a later lesson: SQL (Lesson 4) covers DDL, DCL, transactions and indexes.</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Updated: the original listed only 'expensive' and 'may be incompatible with other DBMS'. Today cost depends on the product (many are free and open source); the incompatibility point is really vendor lock-in through SQL dialects and proprietary features.</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Also called the ANSI/SPARC architecture. Each level is described by a schema; the DBMS maps requests and results between levels.</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External: deals with how users access the schema, e.g. a data input form or a view. Conceptual: the basic database model with tables and constraints. Internal: physical storage, files and indexes; it hides hardware and OS details from the data model.</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Completed: the original slide named the two types but only defined physical data independence. Logical independence is harder to achieve because programs depend on the structure they query; views are the main tool for it. The arrows show where each kind of independence protects the level above.</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Completed: the original showed only conceptual and physical models. The logical (representational / implementation) level, e.g. the relational model, is the bridge we will use when mapping ERDs to tables in Lesson 3.</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Preview only: we formalize this in Lesson 3. Point out that Dno links each employee to a department row in another table.</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on the right is a JSON document: note the multi-valued phones and the nested address. In a relational design those would become separate tables (Lesson 3 steps 6 and 1).</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Document stores pair each key with a complex structure (a document). Key-value stores: each key maps to one value, like a dictionary; the simplest NoSQL type. Wide-column stores use tables, rows and columns, but column names and formats can vary per row. Graph stores use nodes, edges and properties for semantic queries.</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helps students decide rather than memorize. ACID is covered in Lesson 4.</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(added in the Google Slides edition). An embedding model turns each item into a list of numbers; items with similar meaning get nearby vectors, so 'kitten' is close to 'cat' and far from 'invoice'. The database indexes these vectors (e.g. HNSW) to find nearest neighbours fast.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Completed: the original slide had only the title 'Data Warehouse'. Examples of products: Snowflake, Google BigQuery, Amazon Redshift, Azure Synapse.</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Source of the definition: McKinsey Global Institute, Big data: The next frontier for innovation, competition, and productivity, May 2011. Fixed: the original slide attributed a different definition ('data whose scale, distribution, diversity and/or timeliness require new technical architectures...') to this McKinsey report; the quote now on the slide is the report's own definition. Typical tools: Hadoop/HDFS and Spark for processing, data lakes on cloud object storage, streaming with Kafka.</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Updated: added cloud DBaaS and embedded databases, which are where most new databases run today. Mainframe: a powerful machine networked with dumb terminals. Client/server: a server holds the database, each user has a PC. Internet computing: the application is installed on a web server; users need only a browser.</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diagram for the 'Database environment' part of the original course. Mainframe: terminals talk to one powerful machine. Client/server: the database lives on a server and each PC runs the client. Internet computing: the application is installed on one web server; users only need a browser.</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15445.courses.cs.cmu.edu/" TargetMode="External"/><Relationship Id="rId3" Type="http://schemas.openxmlformats.org/officeDocument/2006/relationships/hyperlink" Target="https://www.postgresql.org/docs/current/tutorial.html" TargetMode="External"/><Relationship Id="rId4" Type="http://schemas.openxmlformats.org/officeDocument/2006/relationships/hyperlink" Target="https://db-engines.com/en/ranking"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838200"/>
            <a:ext cx="133350" cy="495300"/>
          </a:xfrm>
          <a:prstGeom prst="rect">
            <a:avLst/>
          </a:prstGeom>
          <a:solidFill>
            <a:srgbClr val="C8102E"/>
          </a:solidFill>
          <a:ln>
            <a:noFill/>
          </a:ln>
        </p:spPr>
        <p:txBody>
          <a:bodyPr rtlCol="0" anchor="ctr" lIns="0" rIns="0" tIns="0" bIns="0"/>
          <a:lstStyle/>
          <a:p>
            <a:pPr algn="ctr"/>
          </a:p>
        </p:txBody>
      </p:sp>
      <p:sp>
        <p:nvSpPr>
          <p:cNvPr id="3" name="TextBox 2"/>
          <p:cNvSpPr txBox="1"/>
          <p:nvPr/>
        </p:nvSpPr>
        <p:spPr>
          <a:xfrm>
            <a:off x="1238250" y="952500"/>
            <a:ext cx="13335000" cy="342900"/>
          </a:xfrm>
          <a:prstGeom prst="rect">
            <a:avLst/>
          </a:prstGeom>
          <a:noFill/>
        </p:spPr>
        <p:txBody>
          <a:bodyPr wrap="square" lIns="0" rIns="0" tIns="0" bIns="0" anchor="t"/>
          <a:lstStyle/>
          <a:p>
            <a:pPr algn="l">
              <a:lnSpc>
                <a:spcPct val="111800"/>
              </a:lnSpc>
            </a:pPr>
            <a:r>
              <a:rPr sz="1800" b="1" i="0" u="none">
                <a:solidFill>
                  <a:srgbClr val="64748B"/>
                </a:solidFill>
                <a:latin typeface="Arial"/>
              </a:rPr>
              <a:t>ITI · DATABASE FUNDAMENTALS · LESSON 1</a:t>
            </a:r>
          </a:p>
        </p:txBody>
      </p:sp>
      <p:sp>
        <p:nvSpPr>
          <p:cNvPr id="4" name="TextBox 3"/>
          <p:cNvSpPr txBox="1"/>
          <p:nvPr/>
        </p:nvSpPr>
        <p:spPr>
          <a:xfrm>
            <a:off x="914400" y="3143250"/>
            <a:ext cx="16459200" cy="2857500"/>
          </a:xfrm>
          <a:prstGeom prst="rect">
            <a:avLst/>
          </a:prstGeom>
          <a:noFill/>
        </p:spPr>
        <p:txBody>
          <a:bodyPr wrap="square" lIns="0" rIns="0" tIns="0" bIns="0" anchor="ctr"/>
          <a:lstStyle/>
          <a:p>
            <a:pPr>
              <a:lnSpc>
                <a:spcPct val="95000"/>
              </a:lnSpc>
            </a:pPr>
            <a:r>
              <a:rPr sz="7500" b="1" i="0" u="none">
                <a:solidFill>
                  <a:srgbClr val="0F172A"/>
                </a:solidFill>
                <a:latin typeface="Arial"/>
              </a:rPr>
              <a:t>Introduction to </a:t>
            </a:r>
            <a:r>
              <a:rPr sz="7500" b="1" i="0" u="none">
                <a:solidFill>
                  <a:srgbClr val="C8102E"/>
                </a:solidFill>
                <a:latin typeface="Arial"/>
              </a:rPr>
              <a:t>Databases</a:t>
            </a:r>
          </a:p>
        </p:txBody>
      </p:sp>
      <p:sp>
        <p:nvSpPr>
          <p:cNvPr id="5" name="TextBox 4"/>
          <p:cNvSpPr txBox="1"/>
          <p:nvPr/>
        </p:nvSpPr>
        <p:spPr>
          <a:xfrm>
            <a:off x="914400" y="6191250"/>
            <a:ext cx="14287500" cy="571500"/>
          </a:xfrm>
          <a:prstGeom prst="rect">
            <a:avLst/>
          </a:prstGeom>
          <a:noFill/>
        </p:spPr>
        <p:txBody>
          <a:bodyPr wrap="square" lIns="0" rIns="0" tIns="0" bIns="0" anchor="t"/>
          <a:lstStyle/>
          <a:p>
            <a:pPr algn="l">
              <a:lnSpc>
                <a:spcPct val="111800"/>
              </a:lnSpc>
            </a:pPr>
            <a:r>
              <a:rPr sz="2550" b="0" i="0" u="none">
                <a:solidFill>
                  <a:srgbClr val="334155"/>
                </a:solidFill>
                <a:latin typeface="Calibri"/>
              </a:rPr>
              <a:t>Why databases exist, what a DBMS does, and the landscape beyond relational systems.</a:t>
            </a:r>
          </a:p>
        </p:txBody>
      </p:sp>
      <p:sp>
        <p:nvSpPr>
          <p:cNvPr id="6" name="TextBox 5"/>
          <p:cNvSpPr txBox="1"/>
          <p:nvPr/>
        </p:nvSpPr>
        <p:spPr>
          <a:xfrm>
            <a:off x="914400" y="8877300"/>
            <a:ext cx="8572500" cy="359092"/>
          </a:xfrm>
          <a:prstGeom prst="rect">
            <a:avLst/>
          </a:prstGeom>
          <a:noFill/>
        </p:spPr>
        <p:txBody>
          <a:bodyPr wrap="square" lIns="0" rIns="0" tIns="0" bIns="0" anchor="t"/>
          <a:lstStyle/>
          <a:p>
            <a:pPr algn="l">
              <a:lnSpc>
                <a:spcPct val="111800"/>
              </a:lnSpc>
            </a:pPr>
            <a:r>
              <a:rPr sz="1950" b="1" i="0" u="none">
                <a:solidFill>
                  <a:srgbClr val="0F172A"/>
                </a:solidFill>
                <a:latin typeface="Arial"/>
              </a:rPr>
              <a:t>Lecturer: Rana Salah</a:t>
            </a:r>
          </a:p>
        </p:txBody>
      </p:sp>
      <p:sp>
        <p:nvSpPr>
          <p:cNvPr id="7" name="TextBox 6"/>
          <p:cNvSpPr txBox="1"/>
          <p:nvPr/>
        </p:nvSpPr>
        <p:spPr>
          <a:xfrm>
            <a:off x="914400" y="9277350"/>
            <a:ext cx="8572500" cy="359092"/>
          </a:xfrm>
          <a:prstGeom prst="rect">
            <a:avLst/>
          </a:prstGeom>
          <a:noFill/>
        </p:spPr>
        <p:txBody>
          <a:bodyPr wrap="square" lIns="0" rIns="0" tIns="0" bIns="0" anchor="t"/>
          <a:lstStyle/>
          <a:p>
            <a:pPr algn="l">
              <a:lnSpc>
                <a:spcPct val="111800"/>
              </a:lnSpc>
            </a:pPr>
            <a:r>
              <a:rPr sz="1950" b="0" i="0" u="none">
                <a:solidFill>
                  <a:srgbClr val="334155"/>
                </a:solidFill>
                <a:latin typeface="Calibri"/>
              </a:rPr>
              <a:t>rsalah@mcit.gov.eg · Room 3005</a:t>
            </a:r>
          </a:p>
        </p:txBody>
      </p:sp>
      <p:sp>
        <p:nvSpPr>
          <p:cNvPr id="8" name="TextBox 7"/>
          <p:cNvSpPr txBox="1"/>
          <p:nvPr/>
        </p:nvSpPr>
        <p:spPr>
          <a:xfrm>
            <a:off x="8801100" y="8934450"/>
            <a:ext cx="8572500" cy="331470"/>
          </a:xfrm>
          <a:prstGeom prst="rect">
            <a:avLst/>
          </a:prstGeom>
          <a:noFill/>
        </p:spPr>
        <p:txBody>
          <a:bodyPr wrap="square" lIns="0" rIns="0" tIns="0" bIns="0" anchor="t"/>
          <a:lstStyle/>
          <a:p>
            <a:pPr algn="r">
              <a:lnSpc>
                <a:spcPct val="111800"/>
              </a:lnSpc>
            </a:pPr>
            <a:r>
              <a:rPr sz="1800" b="0" i="0" u="none">
                <a:solidFill>
                  <a:srgbClr val="64748B"/>
                </a:solidFill>
                <a:latin typeface="Calibri"/>
              </a:rPr>
              <a:t>Based on original slides by</a:t>
            </a:r>
          </a:p>
        </p:txBody>
      </p:sp>
      <p:sp>
        <p:nvSpPr>
          <p:cNvPr id="9" name="TextBox 8"/>
          <p:cNvSpPr txBox="1"/>
          <p:nvPr/>
        </p:nvSpPr>
        <p:spPr>
          <a:xfrm>
            <a:off x="8801100" y="9296400"/>
            <a:ext cx="8572500" cy="331470"/>
          </a:xfrm>
          <a:prstGeom prst="rect">
            <a:avLst/>
          </a:prstGeom>
          <a:noFill/>
        </p:spPr>
        <p:txBody>
          <a:bodyPr wrap="square" lIns="0" rIns="0" tIns="0" bIns="0" anchor="t"/>
          <a:lstStyle/>
          <a:p>
            <a:pPr algn="r">
              <a:lnSpc>
                <a:spcPct val="111800"/>
              </a:lnSpc>
            </a:pPr>
            <a:r>
              <a:rPr sz="1800" b="0" i="0" u="none">
                <a:solidFill>
                  <a:srgbClr val="334155"/>
                </a:solidFill>
                <a:latin typeface="Calibri"/>
              </a:rPr>
              <a:t>Shahinaz S. Azab · edited by Mona Saleh · Rana Salah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02 · AGENDA</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02/35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this lesson covers</a:t>
            </a:r>
          </a:p>
        </p:txBody>
      </p:sp>
      <p:sp>
        <p:nvSpPr>
          <p:cNvPr id="6" name="TextBox 5"/>
          <p:cNvSpPr txBox="1"/>
          <p:nvPr/>
        </p:nvSpPr>
        <p:spPr>
          <a:xfrm>
            <a:off x="914400" y="28575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676400" y="2857500"/>
            <a:ext cx="149352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From files to databases</a:t>
            </a:r>
          </a:p>
        </p:txBody>
      </p:sp>
      <p:sp>
        <p:nvSpPr>
          <p:cNvPr id="8" name="TextBox 7"/>
          <p:cNvSpPr txBox="1"/>
          <p:nvPr/>
        </p:nvSpPr>
        <p:spPr>
          <a:xfrm>
            <a:off x="1676400" y="3314700"/>
            <a:ext cx="149352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Why organizations moved from program files to a shared database, what a DBMS does, and who works with it.</a:t>
            </a:r>
          </a:p>
        </p:txBody>
      </p:sp>
      <p:cxnSp>
        <p:nvCxnSpPr>
          <p:cNvPr id="9" name="Connector 8"/>
          <p:cNvCxnSpPr/>
          <p:nvPr/>
        </p:nvCxnSpPr>
        <p:spPr>
          <a:xfrm>
            <a:off x="914400" y="4114800"/>
            <a:ext cx="15697200" cy="0"/>
          </a:xfrm>
          <a:prstGeom prst="line">
            <a:avLst/>
          </a:prstGeom>
          <a:ln w="14287">
            <a:solidFill>
              <a:srgbClr val="E2E8F0"/>
            </a:solidFill>
          </a:ln>
        </p:spPr>
      </p:cxnSp>
      <p:sp>
        <p:nvSpPr>
          <p:cNvPr id="10" name="TextBox 9"/>
          <p:cNvSpPr txBox="1"/>
          <p:nvPr/>
        </p:nvSpPr>
        <p:spPr>
          <a:xfrm>
            <a:off x="914400" y="42862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1" name="TextBox 10"/>
          <p:cNvSpPr txBox="1"/>
          <p:nvPr/>
        </p:nvSpPr>
        <p:spPr>
          <a:xfrm>
            <a:off x="1676400" y="4286250"/>
            <a:ext cx="149352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Architecture &amp; data models</a:t>
            </a:r>
          </a:p>
        </p:txBody>
      </p:sp>
      <p:sp>
        <p:nvSpPr>
          <p:cNvPr id="12" name="TextBox 11"/>
          <p:cNvSpPr txBox="1"/>
          <p:nvPr/>
        </p:nvSpPr>
        <p:spPr>
          <a:xfrm>
            <a:off x="1676400" y="4743450"/>
            <a:ext cx="149352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How a DBMS separates what users see from how data is stored, and why that matters.</a:t>
            </a:r>
          </a:p>
        </p:txBody>
      </p:sp>
      <p:cxnSp>
        <p:nvCxnSpPr>
          <p:cNvPr id="13" name="Connector 12"/>
          <p:cNvCxnSpPr/>
          <p:nvPr/>
        </p:nvCxnSpPr>
        <p:spPr>
          <a:xfrm>
            <a:off x="914400" y="5543550"/>
            <a:ext cx="15697200" cy="0"/>
          </a:xfrm>
          <a:prstGeom prst="line">
            <a:avLst/>
          </a:prstGeom>
          <a:ln w="14287">
            <a:solidFill>
              <a:srgbClr val="E2E8F0"/>
            </a:solidFill>
          </a:ln>
        </p:spPr>
      </p:cxnSp>
      <p:sp>
        <p:nvSpPr>
          <p:cNvPr id="14" name="TextBox 13"/>
          <p:cNvSpPr txBox="1"/>
          <p:nvPr/>
        </p:nvSpPr>
        <p:spPr>
          <a:xfrm>
            <a:off x="914400" y="57150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5" name="TextBox 14"/>
          <p:cNvSpPr txBox="1"/>
          <p:nvPr/>
        </p:nvSpPr>
        <p:spPr>
          <a:xfrm>
            <a:off x="1676400" y="5715000"/>
            <a:ext cx="149352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Beyond relational</a:t>
            </a:r>
          </a:p>
        </p:txBody>
      </p:sp>
      <p:sp>
        <p:nvSpPr>
          <p:cNvPr id="16" name="TextBox 15"/>
          <p:cNvSpPr txBox="1"/>
          <p:nvPr/>
        </p:nvSpPr>
        <p:spPr>
          <a:xfrm>
            <a:off x="1676400" y="6172200"/>
            <a:ext cx="149352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NoSQL stores, vector databases, data warehouses, Big Data and where databases run.</a:t>
            </a:r>
          </a:p>
        </p:txBody>
      </p:sp>
      <p:cxnSp>
        <p:nvCxnSpPr>
          <p:cNvPr id="17" name="Connector 16"/>
          <p:cNvCxnSpPr/>
          <p:nvPr/>
        </p:nvCxnSpPr>
        <p:spPr>
          <a:xfrm>
            <a:off x="914400" y="6972300"/>
            <a:ext cx="15697200" cy="0"/>
          </a:xfrm>
          <a:prstGeom prst="line">
            <a:avLst/>
          </a:prstGeom>
          <a:ln w="14287">
            <a:solidFill>
              <a:srgbClr val="E2E8F0"/>
            </a:solidFill>
          </a:ln>
        </p:spPr>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64649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OBJECTIVE</a:t>
            </a:r>
          </a:p>
        </p:txBody>
      </p:sp>
      <p:cxnSp>
        <p:nvCxnSpPr>
          <p:cNvPr id="3" name="Connector 2"/>
          <p:cNvCxnSpPr/>
          <p:nvPr/>
        </p:nvCxnSpPr>
        <p:spPr>
          <a:xfrm>
            <a:off x="2637091" y="981075"/>
            <a:ext cx="1388878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03/35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this course covers</a:t>
            </a:r>
          </a:p>
        </p:txBody>
      </p:sp>
      <p:sp>
        <p:nvSpPr>
          <p:cNvPr id="6" name="TextBox 5"/>
          <p:cNvSpPr txBox="1"/>
          <p:nvPr/>
        </p:nvSpPr>
        <p:spPr>
          <a:xfrm>
            <a:off x="914400" y="2482024"/>
            <a:ext cx="9491472" cy="1147076"/>
          </a:xfrm>
          <a:prstGeom prst="rect">
            <a:avLst/>
          </a:prstGeom>
          <a:noFill/>
        </p:spPr>
        <p:txBody>
          <a:bodyPr wrap="square" lIns="0" rIns="0" tIns="0" bIns="0" anchor="t"/>
          <a:lstStyle/>
          <a:p>
            <a:pPr algn="l">
              <a:lnSpc>
                <a:spcPct val="111800"/>
              </a:lnSpc>
            </a:pPr>
            <a:r>
              <a:rPr sz="3284" b="0" i="0" u="none">
                <a:solidFill>
                  <a:srgbClr val="334155"/>
                </a:solidFill>
                <a:latin typeface="Calibri"/>
              </a:rPr>
              <a:t>This course introduces the </a:t>
            </a:r>
            <a:r>
              <a:rPr sz="3284" b="1" i="0" u="none">
                <a:solidFill>
                  <a:srgbClr val="334155"/>
                </a:solidFill>
                <a:latin typeface="Calibri"/>
              </a:rPr>
              <a:t>fundamentals of databases</a:t>
            </a:r>
            <a:r>
              <a:rPr sz="3284" b="0" i="0" u="none">
                <a:solidFill>
                  <a:srgbClr val="334155"/>
                </a:solidFill>
                <a:latin typeface="Calibri"/>
              </a:rPr>
              <a:t>.</a:t>
            </a:r>
          </a:p>
        </p:txBody>
      </p:sp>
      <p:sp>
        <p:nvSpPr>
          <p:cNvPr id="7" name="TextBox 6"/>
          <p:cNvSpPr txBox="1"/>
          <p:nvPr/>
        </p:nvSpPr>
        <p:spPr>
          <a:xfrm>
            <a:off x="914400" y="4055821"/>
            <a:ext cx="9491472" cy="1689331"/>
          </a:xfrm>
          <a:prstGeom prst="rect">
            <a:avLst/>
          </a:prstGeom>
          <a:noFill/>
        </p:spPr>
        <p:txBody>
          <a:bodyPr wrap="square" lIns="0" rIns="0" tIns="0" bIns="0" anchor="t"/>
          <a:lstStyle/>
          <a:p>
            <a:pPr algn="l">
              <a:lnSpc>
                <a:spcPct val="111800"/>
              </a:lnSpc>
            </a:pPr>
            <a:r>
              <a:rPr sz="3284" b="0" i="0" u="none">
                <a:solidFill>
                  <a:srgbClr val="334155"/>
                </a:solidFill>
                <a:latin typeface="Calibri"/>
              </a:rPr>
              <a:t>Students develop skills in the </a:t>
            </a:r>
            <a:r>
              <a:rPr sz="3284" b="1" i="0" u="none">
                <a:solidFill>
                  <a:srgbClr val="334155"/>
                </a:solidFill>
                <a:latin typeface="Calibri"/>
              </a:rPr>
              <a:t>design, construction, modification and use</a:t>
            </a:r>
            <a:r>
              <a:rPr sz="3284" b="0" i="0" u="none">
                <a:solidFill>
                  <a:srgbClr val="334155"/>
                </a:solidFill>
                <a:latin typeface="Calibri"/>
              </a:rPr>
              <a:t> of databases and </a:t>
            </a:r>
            <a:r>
              <a:rPr sz="3284" b="1" i="0" u="none">
                <a:solidFill>
                  <a:srgbClr val="334155"/>
                </a:solidFill>
                <a:latin typeface="Calibri"/>
              </a:rPr>
              <a:t>Structured Query Language (SQL)</a:t>
            </a:r>
            <a:r>
              <a:rPr sz="3284" b="0" i="0" u="none">
                <a:solidFill>
                  <a:srgbClr val="334155"/>
                </a:solidFill>
                <a:latin typeface="Calibri"/>
              </a:rPr>
              <a:t>.</a:t>
            </a:r>
          </a:p>
        </p:txBody>
      </p:sp>
      <p:sp>
        <p:nvSpPr>
          <p:cNvPr id="8" name="Rectangle 7"/>
          <p:cNvSpPr/>
          <p:nvPr/>
        </p:nvSpPr>
        <p:spPr>
          <a:xfrm>
            <a:off x="11045951" y="2482024"/>
            <a:ext cx="6327647" cy="389344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1446001" y="2882074"/>
            <a:ext cx="5527547"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References</a:t>
            </a:r>
          </a:p>
        </p:txBody>
      </p:sp>
      <p:sp>
        <p:nvSpPr>
          <p:cNvPr id="10" name="TextBox 9"/>
          <p:cNvSpPr txBox="1"/>
          <p:nvPr/>
        </p:nvSpPr>
        <p:spPr>
          <a:xfrm>
            <a:off x="11446001" y="3605204"/>
            <a:ext cx="5527547" cy="2370216"/>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Ramez Elmasri &amp; Shamkant Navathe, </a:t>
            </a:r>
            <a:r>
              <a:rPr sz="2704" b="0" i="1" u="none">
                <a:solidFill>
                  <a:srgbClr val="334155"/>
                </a:solidFill>
                <a:latin typeface="Calibri"/>
              </a:rPr>
              <a:t>Fundamentals of Database Systems</a:t>
            </a:r>
          </a:p>
          <a:p>
            <a:pPr algn="l" marL="377860" indent="-377860">
              <a:lnSpc>
                <a:spcPct val="111800"/>
              </a:lnSpc>
              <a:spcBef>
                <a:spcPts val="676"/>
              </a:spcBef>
              <a:buChar char="•"/>
            </a:pPr>
            <a:r>
              <a:rPr sz="2704" b="0" i="0" u="none">
                <a:solidFill>
                  <a:srgbClr val="334155"/>
                </a:solidFill>
                <a:latin typeface="Calibri"/>
              </a:rPr>
              <a:t>C. J. Date, </a:t>
            </a:r>
            <a:r>
              <a:rPr sz="2704" b="0" i="1" u="none">
                <a:solidFill>
                  <a:srgbClr val="334155"/>
                </a:solidFill>
                <a:latin typeface="Calibri"/>
              </a:rPr>
              <a:t>An Introduction to Database Systems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THE COURSE</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04/35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Five days, from data to SQL</a:t>
            </a:r>
          </a:p>
        </p:txBody>
      </p:sp>
      <p:graphicFrame>
        <p:nvGraphicFramePr>
          <p:cNvPr id="6" name="Table 5"/>
          <p:cNvGraphicFramePr>
            <a:graphicFrameLocks noGrp="1"/>
          </p:cNvGraphicFramePr>
          <p:nvPr/>
        </p:nvGraphicFramePr>
        <p:xfrm>
          <a:off x="914400" y="2482024"/>
          <a:ext cx="16459200" cy="4060278"/>
        </p:xfrm>
        <a:graphic>
          <a:graphicData uri="http://schemas.openxmlformats.org/drawingml/2006/table">
            <a:tbl>
              <a:tblPr firstRow="0" bandRow="0">
                <a:tableStyleId>{5940675A-B579-460E-94D1-54222C63F5DA}</a:tableStyleId>
              </a:tblPr>
              <a:tblGrid>
                <a:gridCol w="1975104"/>
                <a:gridCol w="5596128"/>
                <a:gridCol w="8887968"/>
              </a:tblGrid>
              <a:tr h="676713">
                <a:tc>
                  <a:txBody>
                    <a:bodyPr/>
                    <a:lstStyle/>
                    <a:p>
                      <a:r>
                        <a:rPr sz="2704" b="1" i="0" u="none">
                          <a:solidFill>
                            <a:srgbClr val="FFFFFF"/>
                          </a:solidFill>
                          <a:latin typeface="Arial"/>
                        </a:rPr>
                        <a:t>Lesson</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Topic</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You will be able to</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1</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Introduction to databases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Explain what a DBMS does and why we use one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2</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Entity Relationship Diagrams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Model a business narrative as an ERD</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3</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Mapping ERD to tables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Turn any ERD into a relational schema in 7 steps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4</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SQL</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Create tables, query, join, group, and secure data</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5</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Normalization</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Detect anomalies and normalize a table to 3NF</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6995697"/>
            <a:ext cx="8069580" cy="2021319"/>
          </a:xfrm>
          <a:prstGeom prst="rect">
            <a:avLst/>
          </a:prstGeom>
          <a:solidFill>
            <a:srgbClr val="FFFFFF"/>
          </a:solidFill>
          <a:ln w="14287">
            <a:solidFill>
              <a:srgbClr val="E2E8F0"/>
            </a:solidFill>
          </a:ln>
        </p:spPr>
        <p:txBody>
          <a:bodyPr rtlCol="0" anchor="ctr" lIns="0" rIns="0" tIns="0" bIns="0"/>
          <a:lstStyle/>
          <a:p>
            <a:pPr algn="ctr"/>
          </a:p>
        </p:txBody>
      </p:sp>
      <p:sp>
        <p:nvSpPr>
          <p:cNvPr id="8" name="TextBox 7"/>
          <p:cNvSpPr txBox="1"/>
          <p:nvPr/>
        </p:nvSpPr>
        <p:spPr>
          <a:xfrm>
            <a:off x="1314450" y="7395747"/>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Time</a:t>
            </a:r>
          </a:p>
        </p:txBody>
      </p:sp>
      <p:sp>
        <p:nvSpPr>
          <p:cNvPr id="9" name="TextBox 8"/>
          <p:cNvSpPr txBox="1"/>
          <p:nvPr/>
        </p:nvSpPr>
        <p:spPr>
          <a:xfrm>
            <a:off x="1314450" y="8118878"/>
            <a:ext cx="7269480" cy="498088"/>
          </a:xfrm>
          <a:prstGeom prst="rect">
            <a:avLst/>
          </a:prstGeom>
          <a:noFill/>
        </p:spPr>
        <p:txBody>
          <a:bodyPr wrap="square" lIns="0" rIns="0" tIns="0" bIns="0" anchor="t"/>
          <a:lstStyle/>
          <a:p>
            <a:pPr algn="l">
              <a:lnSpc>
                <a:spcPct val="111800"/>
              </a:lnSpc>
            </a:pPr>
            <a:r>
              <a:rPr sz="2704" b="0" i="0" u="none">
                <a:solidFill>
                  <a:srgbClr val="334155"/>
                </a:solidFill>
                <a:latin typeface="Calibri"/>
              </a:rPr>
              <a:t>15 hours of lectures · 12 hours of labs</a:t>
            </a:r>
          </a:p>
        </p:txBody>
      </p:sp>
      <p:sp>
        <p:nvSpPr>
          <p:cNvPr id="10" name="Rectangle 9"/>
          <p:cNvSpPr/>
          <p:nvPr/>
        </p:nvSpPr>
        <p:spPr>
          <a:xfrm>
            <a:off x="9304020" y="6995697"/>
            <a:ext cx="8069580" cy="2021319"/>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9704070" y="7395747"/>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Grading</a:t>
            </a:r>
          </a:p>
        </p:txBody>
      </p:sp>
      <p:sp>
        <p:nvSpPr>
          <p:cNvPr id="12" name="TextBox 11"/>
          <p:cNvSpPr txBox="1"/>
          <p:nvPr/>
        </p:nvSpPr>
        <p:spPr>
          <a:xfrm>
            <a:off x="9704070" y="8118878"/>
            <a:ext cx="7269480" cy="498088"/>
          </a:xfrm>
          <a:prstGeom prst="rect">
            <a:avLst/>
          </a:prstGeom>
          <a:noFill/>
        </p:spPr>
        <p:txBody>
          <a:bodyPr wrap="square" lIns="0" rIns="0" tIns="0" bIns="0" anchor="t"/>
          <a:lstStyle/>
          <a:p>
            <a:pPr algn="l">
              <a:lnSpc>
                <a:spcPct val="111800"/>
              </a:lnSpc>
            </a:pPr>
            <a:r>
              <a:rPr sz="2704" b="0" i="0" u="none">
                <a:solidFill>
                  <a:srgbClr val="334155"/>
                </a:solidFill>
                <a:latin typeface="Calibri"/>
              </a:rPr>
              <a:t>Assignments and labs </a:t>
            </a:r>
            <a:r>
              <a:rPr sz="2704" b="1" i="0" u="none">
                <a:solidFill>
                  <a:srgbClr val="334155"/>
                </a:solidFill>
                <a:latin typeface="Calibri"/>
              </a:rPr>
              <a:t>40%</a:t>
            </a:r>
            <a:r>
              <a:rPr sz="2704" b="0" i="0" u="none">
                <a:solidFill>
                  <a:srgbClr val="334155"/>
                </a:solidFill>
                <a:latin typeface="Calibri"/>
              </a:rPr>
              <a:t> · Final exam </a:t>
            </a:r>
            <a:r>
              <a:rPr sz="2704" b="1" i="0" u="none">
                <a:solidFill>
                  <a:srgbClr val="334155"/>
                </a:solidFill>
                <a:latin typeface="Calibri"/>
              </a:rPr>
              <a:t>60%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LESSON 1</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05/35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By the end of this lesson you can</a:t>
            </a:r>
          </a:p>
        </p:txBody>
      </p:sp>
      <p:sp>
        <p:nvSpPr>
          <p:cNvPr id="6" name="Rectangle 5"/>
          <p:cNvSpPr/>
          <p:nvPr/>
        </p:nvSpPr>
        <p:spPr>
          <a:xfrm>
            <a:off x="914400" y="248202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01</a:t>
            </a:r>
          </a:p>
        </p:txBody>
      </p:sp>
      <p:sp>
        <p:nvSpPr>
          <p:cNvPr id="8" name="TextBox 7"/>
          <p:cNvSpPr txBox="1"/>
          <p:nvPr/>
        </p:nvSpPr>
        <p:spPr>
          <a:xfrm>
            <a:off x="131445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Define </a:t>
            </a:r>
            <a:r>
              <a:rPr sz="2898" b="1" i="0" u="none">
                <a:solidFill>
                  <a:srgbClr val="334155"/>
                </a:solidFill>
                <a:latin typeface="Calibri"/>
              </a:rPr>
              <a:t>database</a:t>
            </a:r>
            <a:r>
              <a:rPr sz="2898" b="0" i="0" u="none">
                <a:solidFill>
                  <a:srgbClr val="334155"/>
                </a:solidFill>
                <a:latin typeface="Calibri"/>
              </a:rPr>
              <a:t>, </a:t>
            </a:r>
            <a:r>
              <a:rPr sz="2898" b="1" i="0" u="none">
                <a:solidFill>
                  <a:srgbClr val="334155"/>
                </a:solidFill>
                <a:latin typeface="Calibri"/>
              </a:rPr>
              <a:t>DBMS</a:t>
            </a:r>
            <a:r>
              <a:rPr sz="2898" b="0" i="0" u="none">
                <a:solidFill>
                  <a:srgbClr val="334155"/>
                </a:solidFill>
                <a:latin typeface="Calibri"/>
              </a:rPr>
              <a:t> and </a:t>
            </a:r>
            <a:r>
              <a:rPr sz="2898" b="1" i="0" u="none">
                <a:solidFill>
                  <a:srgbClr val="334155"/>
                </a:solidFill>
                <a:latin typeface="Calibri"/>
              </a:rPr>
              <a:t>database system</a:t>
            </a:r>
          </a:p>
        </p:txBody>
      </p:sp>
      <p:sp>
        <p:nvSpPr>
          <p:cNvPr id="9" name="Rectangle 8"/>
          <p:cNvSpPr/>
          <p:nvPr/>
        </p:nvSpPr>
        <p:spPr>
          <a:xfrm>
            <a:off x="6507480" y="248202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02</a:t>
            </a:r>
          </a:p>
        </p:txBody>
      </p:sp>
      <p:sp>
        <p:nvSpPr>
          <p:cNvPr id="11" name="TextBox 10"/>
          <p:cNvSpPr txBox="1"/>
          <p:nvPr/>
        </p:nvSpPr>
        <p:spPr>
          <a:xfrm>
            <a:off x="690753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Explain the limits of </a:t>
            </a:r>
            <a:r>
              <a:rPr sz="2898" b="1" i="0" u="none">
                <a:solidFill>
                  <a:srgbClr val="334155"/>
                </a:solidFill>
                <a:latin typeface="Calibri"/>
              </a:rPr>
              <a:t>file-based</a:t>
            </a:r>
            <a:r>
              <a:rPr sz="2898" b="0" i="0" u="none">
                <a:solidFill>
                  <a:srgbClr val="334155"/>
                </a:solidFill>
                <a:latin typeface="Calibri"/>
              </a:rPr>
              <a:t> systems</a:t>
            </a:r>
          </a:p>
        </p:txBody>
      </p:sp>
      <p:sp>
        <p:nvSpPr>
          <p:cNvPr id="12" name="Rectangle 11"/>
          <p:cNvSpPr/>
          <p:nvPr/>
        </p:nvSpPr>
        <p:spPr>
          <a:xfrm>
            <a:off x="12100560" y="248202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03</a:t>
            </a:r>
          </a:p>
        </p:txBody>
      </p:sp>
      <p:sp>
        <p:nvSpPr>
          <p:cNvPr id="14" name="TextBox 13"/>
          <p:cNvSpPr txBox="1"/>
          <p:nvPr/>
        </p:nvSpPr>
        <p:spPr>
          <a:xfrm>
            <a:off x="12500610" y="346902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List the </a:t>
            </a:r>
            <a:r>
              <a:rPr sz="2898" b="1" i="0" u="none">
                <a:solidFill>
                  <a:srgbClr val="334155"/>
                </a:solidFill>
                <a:latin typeface="Calibri"/>
              </a:rPr>
              <a:t>functions</a:t>
            </a:r>
            <a:r>
              <a:rPr sz="2898" b="0" i="0" u="none">
                <a:solidFill>
                  <a:srgbClr val="334155"/>
                </a:solidFill>
                <a:latin typeface="Calibri"/>
              </a:rPr>
              <a:t>, advantages and costs of a DBMS</a:t>
            </a:r>
          </a:p>
        </p:txBody>
      </p:sp>
      <p:sp>
        <p:nvSpPr>
          <p:cNvPr id="15" name="Rectangle 14"/>
          <p:cNvSpPr/>
          <p:nvPr/>
        </p:nvSpPr>
        <p:spPr>
          <a:xfrm>
            <a:off x="914400" y="567970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607975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04</a:t>
            </a:r>
          </a:p>
        </p:txBody>
      </p:sp>
      <p:sp>
        <p:nvSpPr>
          <p:cNvPr id="17" name="TextBox 16"/>
          <p:cNvSpPr txBox="1"/>
          <p:nvPr/>
        </p:nvSpPr>
        <p:spPr>
          <a:xfrm>
            <a:off x="1314450" y="666670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Describe the </a:t>
            </a:r>
            <a:r>
              <a:rPr sz="2898" b="1" i="0" u="none">
                <a:solidFill>
                  <a:srgbClr val="334155"/>
                </a:solidFill>
                <a:latin typeface="Calibri"/>
              </a:rPr>
              <a:t>three-schema architecture</a:t>
            </a:r>
            <a:r>
              <a:rPr sz="2898" b="0" i="0" u="none">
                <a:solidFill>
                  <a:srgbClr val="334155"/>
                </a:solidFill>
                <a:latin typeface="Calibri"/>
              </a:rPr>
              <a:t> and data independence</a:t>
            </a:r>
          </a:p>
        </p:txBody>
      </p:sp>
      <p:sp>
        <p:nvSpPr>
          <p:cNvPr id="18" name="Rectangle 17"/>
          <p:cNvSpPr/>
          <p:nvPr/>
        </p:nvSpPr>
        <p:spPr>
          <a:xfrm>
            <a:off x="6507480" y="567970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607975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05</a:t>
            </a:r>
          </a:p>
        </p:txBody>
      </p:sp>
      <p:sp>
        <p:nvSpPr>
          <p:cNvPr id="20" name="TextBox 19"/>
          <p:cNvSpPr txBox="1"/>
          <p:nvPr/>
        </p:nvSpPr>
        <p:spPr>
          <a:xfrm>
            <a:off x="6907530" y="666670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Compare </a:t>
            </a:r>
            <a:r>
              <a:rPr sz="2898" b="1" i="0" u="none">
                <a:solidFill>
                  <a:srgbClr val="334155"/>
                </a:solidFill>
                <a:latin typeface="Calibri"/>
              </a:rPr>
              <a:t>conceptual, logical and physical</a:t>
            </a:r>
            <a:r>
              <a:rPr sz="2898" b="0" i="0" u="none">
                <a:solidFill>
                  <a:srgbClr val="334155"/>
                </a:solidFill>
                <a:latin typeface="Calibri"/>
              </a:rPr>
              <a:t> data models</a:t>
            </a:r>
          </a:p>
        </p:txBody>
      </p:sp>
      <p:sp>
        <p:nvSpPr>
          <p:cNvPr id="21" name="Rectangle 20"/>
          <p:cNvSpPr/>
          <p:nvPr/>
        </p:nvSpPr>
        <p:spPr>
          <a:xfrm>
            <a:off x="12100560" y="567970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607975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06</a:t>
            </a:r>
          </a:p>
        </p:txBody>
      </p:sp>
      <p:sp>
        <p:nvSpPr>
          <p:cNvPr id="23" name="TextBox 22"/>
          <p:cNvSpPr txBox="1"/>
          <p:nvPr/>
        </p:nvSpPr>
        <p:spPr>
          <a:xfrm>
            <a:off x="12500610" y="666670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Place </a:t>
            </a:r>
            <a:r>
              <a:rPr sz="2898" b="1" i="0" u="none">
                <a:solidFill>
                  <a:srgbClr val="334155"/>
                </a:solidFill>
                <a:latin typeface="Calibri"/>
              </a:rPr>
              <a:t>NoSQL, data warehouses and Big Data</a:t>
            </a:r>
            <a:r>
              <a:rPr sz="2898" b="0" i="0" u="none">
                <a:solidFill>
                  <a:srgbClr val="334155"/>
                </a:solidFill>
                <a:latin typeface="Calibri"/>
              </a:rPr>
              <a:t> on the map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01</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06/35</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01</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From files to databases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Why organizations moved from program files to a shared database, what a DBMS does, and who works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72148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FILES TO DATABASES</a:t>
            </a:r>
          </a:p>
        </p:txBody>
      </p:sp>
      <p:cxnSp>
        <p:nvCxnSpPr>
          <p:cNvPr id="3" name="Connector 2"/>
          <p:cNvCxnSpPr/>
          <p:nvPr/>
        </p:nvCxnSpPr>
        <p:spPr>
          <a:xfrm>
            <a:off x="3712082" y="981075"/>
            <a:ext cx="1281379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07/35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file-based approach</a:t>
            </a:r>
          </a:p>
        </p:txBody>
      </p:sp>
      <p:sp>
        <p:nvSpPr>
          <p:cNvPr id="6" name="TextBox 5"/>
          <p:cNvSpPr txBox="1"/>
          <p:nvPr/>
        </p:nvSpPr>
        <p:spPr>
          <a:xfrm>
            <a:off x="914400" y="2482024"/>
            <a:ext cx="164592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Each program defines and manages </a:t>
            </a:r>
            <a:r>
              <a:rPr sz="2898" b="1" i="0" u="none">
                <a:solidFill>
                  <a:srgbClr val="334155"/>
                </a:solidFill>
                <a:latin typeface="Calibri"/>
              </a:rPr>
              <a:t>its own data files</a:t>
            </a:r>
            <a:r>
              <a:rPr sz="2898" b="0" i="0" u="none">
                <a:solidFill>
                  <a:srgbClr val="334155"/>
                </a:solidFill>
                <a:latin typeface="Calibri"/>
              </a:rPr>
              <a:t>. It worked when computers ran one job at a time.</a:t>
            </a:r>
          </a:p>
        </p:txBody>
      </p:sp>
      <p:sp>
        <p:nvSpPr>
          <p:cNvPr id="7" name="Rectangle 6"/>
          <p:cNvSpPr/>
          <p:nvPr/>
        </p:nvSpPr>
        <p:spPr>
          <a:xfrm>
            <a:off x="914400" y="3947541"/>
            <a:ext cx="5273040" cy="2480149"/>
          </a:xfrm>
          <a:prstGeom prst="rect">
            <a:avLst/>
          </a:prstGeom>
          <a:solidFill>
            <a:srgbClr val="FFFFFF"/>
          </a:solidFill>
          <a:ln w="14287">
            <a:solidFill>
              <a:srgbClr val="E2E8F0"/>
            </a:solidFill>
          </a:ln>
        </p:spPr>
        <p:txBody>
          <a:bodyPr rtlCol="0" anchor="ctr" lIns="0" rIns="0" tIns="0" bIns="0"/>
          <a:lstStyle/>
          <a:p>
            <a:pPr algn="ctr"/>
          </a:p>
        </p:txBody>
      </p:sp>
      <p:sp>
        <p:nvSpPr>
          <p:cNvPr id="8" name="TextBox 7"/>
          <p:cNvSpPr txBox="1"/>
          <p:nvPr/>
        </p:nvSpPr>
        <p:spPr>
          <a:xfrm>
            <a:off x="1314450" y="4347591"/>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Sales program</a:t>
            </a:r>
          </a:p>
        </p:txBody>
      </p:sp>
      <p:sp>
        <p:nvSpPr>
          <p:cNvPr id="9" name="TextBox 8"/>
          <p:cNvSpPr txBox="1"/>
          <p:nvPr/>
        </p:nvSpPr>
        <p:spPr>
          <a:xfrm>
            <a:off x="1314450" y="5070721"/>
            <a:ext cx="4472940" cy="956919"/>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customers.dat</a:t>
            </a:r>
          </a:p>
          <a:p>
            <a:pPr algn="l" marL="350870" indent="-350870">
              <a:lnSpc>
                <a:spcPct val="111800"/>
              </a:lnSpc>
              <a:spcBef>
                <a:spcPts val="627"/>
              </a:spcBef>
              <a:buChar char="•"/>
            </a:pPr>
            <a:r>
              <a:rPr sz="2511" b="0" i="0" u="none">
                <a:solidFill>
                  <a:srgbClr val="334155"/>
                </a:solidFill>
                <a:latin typeface="Calibri"/>
              </a:rPr>
              <a:t>orders.dat</a:t>
            </a:r>
          </a:p>
        </p:txBody>
      </p:sp>
      <p:sp>
        <p:nvSpPr>
          <p:cNvPr id="10" name="Rectangle 9"/>
          <p:cNvSpPr/>
          <p:nvPr/>
        </p:nvSpPr>
        <p:spPr>
          <a:xfrm>
            <a:off x="6507480" y="3947541"/>
            <a:ext cx="5273040" cy="2480149"/>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6907530" y="4347591"/>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Billing program</a:t>
            </a:r>
          </a:p>
        </p:txBody>
      </p:sp>
      <p:sp>
        <p:nvSpPr>
          <p:cNvPr id="12" name="TextBox 11"/>
          <p:cNvSpPr txBox="1"/>
          <p:nvPr/>
        </p:nvSpPr>
        <p:spPr>
          <a:xfrm>
            <a:off x="6907530" y="5070721"/>
            <a:ext cx="4472940" cy="956919"/>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customers.csv (again)</a:t>
            </a:r>
          </a:p>
          <a:p>
            <a:pPr algn="l" marL="350870" indent="-350870">
              <a:lnSpc>
                <a:spcPct val="111800"/>
              </a:lnSpc>
              <a:spcBef>
                <a:spcPts val="627"/>
              </a:spcBef>
              <a:buChar char="•"/>
            </a:pPr>
            <a:r>
              <a:rPr sz="2511" b="0" i="0" u="none">
                <a:solidFill>
                  <a:srgbClr val="334155"/>
                </a:solidFill>
                <a:latin typeface="Calibri"/>
              </a:rPr>
              <a:t>invoices.dat</a:t>
            </a:r>
          </a:p>
        </p:txBody>
      </p:sp>
      <p:sp>
        <p:nvSpPr>
          <p:cNvPr id="13" name="Rectangle 12"/>
          <p:cNvSpPr/>
          <p:nvPr/>
        </p:nvSpPr>
        <p:spPr>
          <a:xfrm>
            <a:off x="12100560" y="3947541"/>
            <a:ext cx="5273040" cy="2480149"/>
          </a:xfrm>
          <a:prstGeom prst="rect">
            <a:avLst/>
          </a:prstGeom>
          <a:solidFill>
            <a:srgbClr val="FFFFFF"/>
          </a:solidFill>
          <a:ln w="14287">
            <a:solidFill>
              <a:srgbClr val="E2E8F0"/>
            </a:solidFill>
          </a:ln>
        </p:spPr>
        <p:txBody>
          <a:bodyPr rtlCol="0" anchor="ctr" lIns="0" rIns="0" tIns="0" bIns="0"/>
          <a:lstStyle/>
          <a:p>
            <a:pPr algn="ctr"/>
          </a:p>
        </p:txBody>
      </p:sp>
      <p:sp>
        <p:nvSpPr>
          <p:cNvPr id="14" name="TextBox 13"/>
          <p:cNvSpPr txBox="1"/>
          <p:nvPr/>
        </p:nvSpPr>
        <p:spPr>
          <a:xfrm>
            <a:off x="12500610" y="4347591"/>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HR program</a:t>
            </a:r>
          </a:p>
        </p:txBody>
      </p:sp>
      <p:sp>
        <p:nvSpPr>
          <p:cNvPr id="15" name="TextBox 14"/>
          <p:cNvSpPr txBox="1"/>
          <p:nvPr/>
        </p:nvSpPr>
        <p:spPr>
          <a:xfrm>
            <a:off x="12500610" y="5070721"/>
            <a:ext cx="4472940" cy="956919"/>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employees.xls</a:t>
            </a:r>
          </a:p>
          <a:p>
            <a:pPr algn="l" marL="350870" indent="-350870">
              <a:lnSpc>
                <a:spcPct val="111800"/>
              </a:lnSpc>
              <a:spcBef>
                <a:spcPts val="627"/>
              </a:spcBef>
              <a:buChar char="•"/>
            </a:pPr>
            <a:r>
              <a:rPr sz="2511" b="0" i="0" u="none">
                <a:solidFill>
                  <a:srgbClr val="334155"/>
                </a:solidFill>
                <a:latin typeface="Calibri"/>
              </a:rPr>
              <a:t>payroll.dat</a:t>
            </a:r>
          </a:p>
        </p:txBody>
      </p:sp>
      <p:sp>
        <p:nvSpPr>
          <p:cNvPr id="16" name="Rectangle 15"/>
          <p:cNvSpPr/>
          <p:nvPr/>
        </p:nvSpPr>
        <p:spPr>
          <a:xfrm>
            <a:off x="914400" y="6881080"/>
            <a:ext cx="16459200" cy="1478051"/>
          </a:xfrm>
          <a:prstGeom prst="rect">
            <a:avLst/>
          </a:prstGeom>
          <a:solidFill>
            <a:srgbClr val="FEF3C7"/>
          </a:solidFill>
          <a:ln>
            <a:noFill/>
          </a:ln>
        </p:spPr>
        <p:txBody>
          <a:bodyPr rtlCol="0" anchor="ctr" lIns="0" rIns="0" tIns="0" bIns="0"/>
          <a:lstStyle/>
          <a:p>
            <a:pPr algn="ctr"/>
          </a:p>
        </p:txBody>
      </p:sp>
      <p:sp>
        <p:nvSpPr>
          <p:cNvPr id="17" name="Rectangle 16"/>
          <p:cNvSpPr/>
          <p:nvPr/>
        </p:nvSpPr>
        <p:spPr>
          <a:xfrm>
            <a:off x="914400" y="6881080"/>
            <a:ext cx="47625" cy="1478051"/>
          </a:xfrm>
          <a:prstGeom prst="rect">
            <a:avLst/>
          </a:prstGeom>
          <a:solidFill>
            <a:srgbClr val="B45309"/>
          </a:solidFill>
          <a:ln>
            <a:noFill/>
          </a:ln>
        </p:spPr>
        <p:txBody>
          <a:bodyPr rtlCol="0" anchor="ctr" lIns="0" rIns="0" tIns="0" bIns="0"/>
          <a:lstStyle/>
          <a:p>
            <a:pPr algn="ctr"/>
          </a:p>
        </p:txBody>
      </p:sp>
      <p:sp>
        <p:nvSpPr>
          <p:cNvPr id="18" name="TextBox 17"/>
          <p:cNvSpPr txBox="1"/>
          <p:nvPr/>
        </p:nvSpPr>
        <p:spPr>
          <a:xfrm>
            <a:off x="1341120" y="7147780"/>
            <a:ext cx="15605760" cy="944651"/>
          </a:xfrm>
          <a:prstGeom prst="rect">
            <a:avLst/>
          </a:prstGeom>
          <a:noFill/>
        </p:spPr>
        <p:txBody>
          <a:bodyPr wrap="square" lIns="0" rIns="0" tIns="0" bIns="0"/>
          <a:lstStyle/>
          <a:p>
            <a:pPr>
              <a:lnSpc>
                <a:spcPct val="112000"/>
              </a:lnSpc>
            </a:pPr>
            <a:r>
              <a:rPr sz="2704" b="1" i="0" u="none">
                <a:solidFill>
                  <a:srgbClr val="B45309"/>
                </a:solidFill>
                <a:latin typeface="Arial"/>
              </a:rPr>
              <a:t>Problem: </a:t>
            </a:r>
            <a:r>
              <a:rPr sz="2704" b="0" i="0" u="none">
                <a:solidFill>
                  <a:srgbClr val="0F172A"/>
                </a:solidFill>
                <a:latin typeface="Calibri"/>
              </a:rPr>
              <a:t>The same customer lives in two files with two formats. So a change of address in Sales never reaches Billing, which still sends the invoice to the old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72148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FILES TO DATABASES</a:t>
            </a:r>
          </a:p>
        </p:txBody>
      </p:sp>
      <p:cxnSp>
        <p:nvCxnSpPr>
          <p:cNvPr id="3" name="Connector 2"/>
          <p:cNvCxnSpPr/>
          <p:nvPr/>
        </p:nvCxnSpPr>
        <p:spPr>
          <a:xfrm>
            <a:off x="3712082" y="981075"/>
            <a:ext cx="1281379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08/35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Limitations of the file-based approach</a:t>
            </a:r>
          </a:p>
        </p:txBody>
      </p:sp>
      <p:sp>
        <p:nvSpPr>
          <p:cNvPr id="6" name="Rectangle 5"/>
          <p:cNvSpPr/>
          <p:nvPr/>
        </p:nvSpPr>
        <p:spPr>
          <a:xfrm>
            <a:off x="914400" y="2482024"/>
            <a:ext cx="5288279" cy="3078784"/>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85875" y="2853499"/>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Separation &amp; isolation</a:t>
            </a:r>
          </a:p>
        </p:txBody>
      </p:sp>
      <p:sp>
        <p:nvSpPr>
          <p:cNvPr id="8" name="TextBox 7"/>
          <p:cNvSpPr txBox="1"/>
          <p:nvPr/>
        </p:nvSpPr>
        <p:spPr>
          <a:xfrm>
            <a:off x="1285875" y="3524977"/>
            <a:ext cx="4545329" cy="1199567"/>
          </a:xfrm>
          <a:prstGeom prst="rect">
            <a:avLst/>
          </a:prstGeom>
          <a:noFill/>
        </p:spPr>
        <p:txBody>
          <a:bodyPr wrap="square" lIns="0" rIns="0" tIns="0" bIns="0" anchor="t"/>
          <a:lstStyle/>
          <a:p>
            <a:pPr algn="l">
              <a:lnSpc>
                <a:spcPct val="111800"/>
              </a:lnSpc>
            </a:pPr>
            <a:r>
              <a:rPr sz="2332" b="0" i="0" u="none">
                <a:solidFill>
                  <a:srgbClr val="334155"/>
                </a:solidFill>
                <a:latin typeface="Calibri"/>
              </a:rPr>
              <a:t>Data is split across files; combining it needs custom code (a new program) for every question.</a:t>
            </a:r>
          </a:p>
        </p:txBody>
      </p:sp>
      <p:sp>
        <p:nvSpPr>
          <p:cNvPr id="9" name="Rectangle 8"/>
          <p:cNvSpPr/>
          <p:nvPr/>
        </p:nvSpPr>
        <p:spPr>
          <a:xfrm>
            <a:off x="6499860" y="2482024"/>
            <a:ext cx="5288279" cy="3078784"/>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871335" y="2853499"/>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Duplication</a:t>
            </a:r>
          </a:p>
        </p:txBody>
      </p:sp>
      <p:sp>
        <p:nvSpPr>
          <p:cNvPr id="11" name="TextBox 10"/>
          <p:cNvSpPr txBox="1"/>
          <p:nvPr/>
        </p:nvSpPr>
        <p:spPr>
          <a:xfrm>
            <a:off x="6871335" y="3524977"/>
            <a:ext cx="4545329" cy="1199567"/>
          </a:xfrm>
          <a:prstGeom prst="rect">
            <a:avLst/>
          </a:prstGeom>
          <a:noFill/>
        </p:spPr>
        <p:txBody>
          <a:bodyPr wrap="square" lIns="0" rIns="0" tIns="0" bIns="0" anchor="t"/>
          <a:lstStyle/>
          <a:p>
            <a:pPr algn="l">
              <a:lnSpc>
                <a:spcPct val="111800"/>
              </a:lnSpc>
            </a:pPr>
            <a:r>
              <a:rPr sz="2332" b="0" i="0" u="none">
                <a:solidFill>
                  <a:srgbClr val="334155"/>
                </a:solidFill>
                <a:latin typeface="Calibri"/>
              </a:rPr>
              <a:t>The same facts are stored many times: wasted space and </a:t>
            </a:r>
            <a:r>
              <a:rPr sz="2332" b="1" i="0" u="none">
                <a:solidFill>
                  <a:srgbClr val="334155"/>
                </a:solidFill>
                <a:latin typeface="Calibri"/>
              </a:rPr>
              <a:t>inconsistent</a:t>
            </a:r>
            <a:r>
              <a:rPr sz="2332" b="0" i="0" u="none">
                <a:solidFill>
                  <a:srgbClr val="334155"/>
                </a:solidFill>
                <a:latin typeface="Calibri"/>
              </a:rPr>
              <a:t> copies.</a:t>
            </a:r>
          </a:p>
        </p:txBody>
      </p:sp>
      <p:sp>
        <p:nvSpPr>
          <p:cNvPr id="12" name="Rectangle 11"/>
          <p:cNvSpPr/>
          <p:nvPr/>
        </p:nvSpPr>
        <p:spPr>
          <a:xfrm>
            <a:off x="12085320" y="2482024"/>
            <a:ext cx="5288279" cy="3078784"/>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456795" y="2853499"/>
            <a:ext cx="4545329" cy="987677"/>
          </a:xfrm>
          <a:prstGeom prst="rect">
            <a:avLst/>
          </a:prstGeom>
          <a:noFill/>
        </p:spPr>
        <p:txBody>
          <a:bodyPr wrap="square" lIns="0" rIns="0" tIns="0" bIns="0" anchor="t"/>
          <a:lstStyle/>
          <a:p>
            <a:pPr algn="l">
              <a:lnSpc>
                <a:spcPct val="103200"/>
              </a:lnSpc>
            </a:pPr>
            <a:r>
              <a:rPr sz="3049" b="1" i="0" u="none">
                <a:solidFill>
                  <a:srgbClr val="0F172A"/>
                </a:solidFill>
                <a:latin typeface="Arial"/>
              </a:rPr>
              <a:t>Program–data dependence</a:t>
            </a:r>
          </a:p>
        </p:txBody>
      </p:sp>
      <p:sp>
        <p:nvSpPr>
          <p:cNvPr id="14" name="TextBox 13"/>
          <p:cNvSpPr txBox="1"/>
          <p:nvPr/>
        </p:nvSpPr>
        <p:spPr>
          <a:xfrm>
            <a:off x="12456795" y="3989767"/>
            <a:ext cx="4545329" cy="1199567"/>
          </a:xfrm>
          <a:prstGeom prst="rect">
            <a:avLst/>
          </a:prstGeom>
          <a:noFill/>
        </p:spPr>
        <p:txBody>
          <a:bodyPr wrap="square" lIns="0" rIns="0" tIns="0" bIns="0" anchor="t"/>
          <a:lstStyle/>
          <a:p>
            <a:pPr algn="l">
              <a:lnSpc>
                <a:spcPct val="111800"/>
              </a:lnSpc>
            </a:pPr>
            <a:r>
              <a:rPr sz="2332" b="0" i="0" u="none">
                <a:solidFill>
                  <a:srgbClr val="334155"/>
                </a:solidFill>
                <a:latin typeface="Calibri"/>
              </a:rPr>
              <a:t>The file layout is coded into each program. Add a field and every program must change.</a:t>
            </a:r>
          </a:p>
        </p:txBody>
      </p:sp>
      <p:sp>
        <p:nvSpPr>
          <p:cNvPr id="15" name="Rectangle 14"/>
          <p:cNvSpPr/>
          <p:nvPr/>
        </p:nvSpPr>
        <p:spPr>
          <a:xfrm>
            <a:off x="914400" y="5857989"/>
            <a:ext cx="5288279" cy="3078784"/>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285875" y="6229464"/>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Incompatible formats</a:t>
            </a:r>
          </a:p>
        </p:txBody>
      </p:sp>
      <p:sp>
        <p:nvSpPr>
          <p:cNvPr id="17" name="TextBox 16"/>
          <p:cNvSpPr txBox="1"/>
          <p:nvPr/>
        </p:nvSpPr>
        <p:spPr>
          <a:xfrm>
            <a:off x="1285875" y="6900942"/>
            <a:ext cx="4545329" cy="1199567"/>
          </a:xfrm>
          <a:prstGeom prst="rect">
            <a:avLst/>
          </a:prstGeom>
          <a:noFill/>
        </p:spPr>
        <p:txBody>
          <a:bodyPr wrap="square" lIns="0" rIns="0" tIns="0" bIns="0" anchor="t"/>
          <a:lstStyle/>
          <a:p>
            <a:pPr algn="l">
              <a:lnSpc>
                <a:spcPct val="111800"/>
              </a:lnSpc>
            </a:pPr>
            <a:r>
              <a:rPr sz="2332" b="0" i="0" u="none">
                <a:solidFill>
                  <a:srgbClr val="334155"/>
                </a:solidFill>
                <a:latin typeface="Calibri"/>
              </a:rPr>
              <a:t>Excel, CSV… files written by one program cannot be easily read by another.</a:t>
            </a:r>
          </a:p>
        </p:txBody>
      </p:sp>
      <p:sp>
        <p:nvSpPr>
          <p:cNvPr id="18" name="Rectangle 17"/>
          <p:cNvSpPr/>
          <p:nvPr/>
        </p:nvSpPr>
        <p:spPr>
          <a:xfrm>
            <a:off x="6499860" y="5857989"/>
            <a:ext cx="5288279" cy="3078784"/>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871335" y="6229464"/>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No integrity rules</a:t>
            </a:r>
          </a:p>
        </p:txBody>
      </p:sp>
      <p:sp>
        <p:nvSpPr>
          <p:cNvPr id="20" name="TextBox 19"/>
          <p:cNvSpPr txBox="1"/>
          <p:nvPr/>
        </p:nvSpPr>
        <p:spPr>
          <a:xfrm>
            <a:off x="6871335" y="6900942"/>
            <a:ext cx="4545329" cy="1584613"/>
          </a:xfrm>
          <a:prstGeom prst="rect">
            <a:avLst/>
          </a:prstGeom>
          <a:noFill/>
        </p:spPr>
        <p:txBody>
          <a:bodyPr wrap="square" lIns="0" rIns="0" tIns="0" bIns="0" anchor="t"/>
          <a:lstStyle/>
          <a:p>
            <a:pPr algn="l">
              <a:lnSpc>
                <a:spcPct val="111800"/>
              </a:lnSpc>
            </a:pPr>
            <a:r>
              <a:rPr sz="2332" b="0" i="0" u="none">
                <a:solidFill>
                  <a:srgbClr val="334155"/>
                </a:solidFill>
                <a:latin typeface="Calibri"/>
              </a:rPr>
              <a:t>Nothing stops a negative salary, or an order for a customer who does not exist, from being written to a file.</a:t>
            </a:r>
          </a:p>
        </p:txBody>
      </p:sp>
      <p:sp>
        <p:nvSpPr>
          <p:cNvPr id="21" name="Rectangle 20"/>
          <p:cNvSpPr/>
          <p:nvPr/>
        </p:nvSpPr>
        <p:spPr>
          <a:xfrm>
            <a:off x="12085320" y="5857989"/>
            <a:ext cx="5288279" cy="3078784"/>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456795" y="6229464"/>
            <a:ext cx="4545329" cy="987677"/>
          </a:xfrm>
          <a:prstGeom prst="rect">
            <a:avLst/>
          </a:prstGeom>
          <a:noFill/>
        </p:spPr>
        <p:txBody>
          <a:bodyPr wrap="square" lIns="0" rIns="0" tIns="0" bIns="0" anchor="t"/>
          <a:lstStyle/>
          <a:p>
            <a:pPr algn="l">
              <a:lnSpc>
                <a:spcPct val="103200"/>
              </a:lnSpc>
            </a:pPr>
            <a:r>
              <a:rPr sz="3049" b="1" i="0" u="none">
                <a:solidFill>
                  <a:srgbClr val="0F172A"/>
                </a:solidFill>
                <a:latin typeface="Arial"/>
              </a:rPr>
              <a:t>No concurrency or recovery</a:t>
            </a:r>
          </a:p>
        </p:txBody>
      </p:sp>
      <p:sp>
        <p:nvSpPr>
          <p:cNvPr id="23" name="TextBox 22"/>
          <p:cNvSpPr txBox="1"/>
          <p:nvPr/>
        </p:nvSpPr>
        <p:spPr>
          <a:xfrm>
            <a:off x="12456795" y="7365732"/>
            <a:ext cx="4545329" cy="1199567"/>
          </a:xfrm>
          <a:prstGeom prst="rect">
            <a:avLst/>
          </a:prstGeom>
          <a:noFill/>
        </p:spPr>
        <p:txBody>
          <a:bodyPr wrap="square" lIns="0" rIns="0" tIns="0" bIns="0" anchor="t"/>
          <a:lstStyle/>
          <a:p>
            <a:pPr algn="l">
              <a:lnSpc>
                <a:spcPct val="111800"/>
              </a:lnSpc>
            </a:pPr>
            <a:r>
              <a:rPr sz="2332" b="0" i="0" u="none">
                <a:solidFill>
                  <a:srgbClr val="334155"/>
                </a:solidFill>
                <a:latin typeface="Calibri"/>
              </a:rPr>
              <a:t>Two users updating the same file at once, or a crash mid-write, can corrupt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72148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FILES TO DATABASES</a:t>
            </a:r>
          </a:p>
        </p:txBody>
      </p:sp>
      <p:cxnSp>
        <p:nvCxnSpPr>
          <p:cNvPr id="3" name="Connector 2"/>
          <p:cNvCxnSpPr/>
          <p:nvPr/>
        </p:nvCxnSpPr>
        <p:spPr>
          <a:xfrm>
            <a:off x="3712082" y="981075"/>
            <a:ext cx="1281379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09/35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File-based vs database approach</a:t>
            </a:r>
          </a:p>
        </p:txBody>
      </p:sp>
      <p:cxnSp>
        <p:nvCxnSpPr>
          <p:cNvPr id="6" name="Connector 5"/>
          <p:cNvCxnSpPr/>
          <p:nvPr/>
        </p:nvCxnSpPr>
        <p:spPr>
          <a:xfrm>
            <a:off x="2381250" y="4362450"/>
            <a:ext cx="0" cy="1019175"/>
          </a:xfrm>
          <a:prstGeom prst="line">
            <a:avLst/>
          </a:prstGeom>
          <a:ln w="23812">
            <a:solidFill>
              <a:srgbClr val="0F172A"/>
            </a:solidFill>
            <a:tailEnd type="triangle"/>
          </a:ln>
        </p:spPr>
      </p:cxnSp>
      <p:cxnSp>
        <p:nvCxnSpPr>
          <p:cNvPr id="7" name="Connector 6"/>
          <p:cNvCxnSpPr/>
          <p:nvPr/>
        </p:nvCxnSpPr>
        <p:spPr>
          <a:xfrm>
            <a:off x="4905375" y="4362450"/>
            <a:ext cx="0" cy="1019175"/>
          </a:xfrm>
          <a:prstGeom prst="line">
            <a:avLst/>
          </a:prstGeom>
          <a:ln w="23812">
            <a:solidFill>
              <a:srgbClr val="0F172A"/>
            </a:solidFill>
            <a:tailEnd type="triangle"/>
          </a:ln>
        </p:spPr>
      </p:cxnSp>
      <p:cxnSp>
        <p:nvCxnSpPr>
          <p:cNvPr id="8" name="Connector 7"/>
          <p:cNvCxnSpPr/>
          <p:nvPr/>
        </p:nvCxnSpPr>
        <p:spPr>
          <a:xfrm>
            <a:off x="7429500" y="4362450"/>
            <a:ext cx="0" cy="1019175"/>
          </a:xfrm>
          <a:prstGeom prst="line">
            <a:avLst/>
          </a:prstGeom>
          <a:ln w="23812">
            <a:solidFill>
              <a:srgbClr val="0F172A"/>
            </a:solidFill>
            <a:tailEnd type="triangle"/>
          </a:ln>
        </p:spPr>
      </p:cxnSp>
      <p:cxnSp>
        <p:nvCxnSpPr>
          <p:cNvPr id="9" name="Connector 8"/>
          <p:cNvCxnSpPr/>
          <p:nvPr/>
        </p:nvCxnSpPr>
        <p:spPr>
          <a:xfrm>
            <a:off x="10668000" y="4362450"/>
            <a:ext cx="1809750" cy="990600"/>
          </a:xfrm>
          <a:prstGeom prst="line">
            <a:avLst/>
          </a:prstGeom>
          <a:ln w="23812">
            <a:solidFill>
              <a:srgbClr val="0F172A"/>
            </a:solidFill>
            <a:tailEnd type="triangle"/>
          </a:ln>
        </p:spPr>
      </p:cxnSp>
      <p:cxnSp>
        <p:nvCxnSpPr>
          <p:cNvPr id="10" name="Connector 9"/>
          <p:cNvCxnSpPr/>
          <p:nvPr/>
        </p:nvCxnSpPr>
        <p:spPr>
          <a:xfrm>
            <a:off x="13382625" y="4362450"/>
            <a:ext cx="0" cy="990600"/>
          </a:xfrm>
          <a:prstGeom prst="line">
            <a:avLst/>
          </a:prstGeom>
          <a:ln w="23812">
            <a:solidFill>
              <a:srgbClr val="0F172A"/>
            </a:solidFill>
            <a:tailEnd type="triangle"/>
          </a:ln>
        </p:spPr>
      </p:cxnSp>
      <p:cxnSp>
        <p:nvCxnSpPr>
          <p:cNvPr id="11" name="Connector 10"/>
          <p:cNvCxnSpPr/>
          <p:nvPr/>
        </p:nvCxnSpPr>
        <p:spPr>
          <a:xfrm flipH="1">
            <a:off x="14287500" y="4362450"/>
            <a:ext cx="1809750" cy="990600"/>
          </a:xfrm>
          <a:prstGeom prst="line">
            <a:avLst/>
          </a:prstGeom>
          <a:ln w="23812">
            <a:solidFill>
              <a:srgbClr val="0F172A"/>
            </a:solidFill>
            <a:tailEnd type="triangle"/>
          </a:ln>
        </p:spPr>
      </p:cxnSp>
      <p:cxnSp>
        <p:nvCxnSpPr>
          <p:cNvPr id="12" name="Connector 11"/>
          <p:cNvCxnSpPr/>
          <p:nvPr/>
        </p:nvCxnSpPr>
        <p:spPr>
          <a:xfrm>
            <a:off x="13382625" y="6076950"/>
            <a:ext cx="0" cy="800100"/>
          </a:xfrm>
          <a:prstGeom prst="line">
            <a:avLst/>
          </a:prstGeom>
          <a:ln w="23812">
            <a:solidFill>
              <a:srgbClr val="0F172A"/>
            </a:solidFill>
            <a:tailEnd type="triangle"/>
          </a:ln>
        </p:spPr>
      </p:cxnSp>
      <p:sp>
        <p:nvSpPr>
          <p:cNvPr id="13" name="Rectangle 12"/>
          <p:cNvSpPr/>
          <p:nvPr/>
        </p:nvSpPr>
        <p:spPr>
          <a:xfrm>
            <a:off x="1285875" y="3638550"/>
            <a:ext cx="2190750" cy="7239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Sales app</a:t>
            </a:r>
          </a:p>
        </p:txBody>
      </p:sp>
      <p:sp>
        <p:nvSpPr>
          <p:cNvPr id="14" name="Oval 13"/>
          <p:cNvSpPr/>
          <p:nvPr/>
        </p:nvSpPr>
        <p:spPr>
          <a:xfrm>
            <a:off x="1333500" y="5381625"/>
            <a:ext cx="2095500" cy="6667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sales.dat</a:t>
            </a:r>
          </a:p>
        </p:txBody>
      </p:sp>
      <p:sp>
        <p:nvSpPr>
          <p:cNvPr id="15" name="Rectangle 14"/>
          <p:cNvSpPr/>
          <p:nvPr/>
        </p:nvSpPr>
        <p:spPr>
          <a:xfrm>
            <a:off x="3810000" y="3638550"/>
            <a:ext cx="2190750" cy="7239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Billing app</a:t>
            </a:r>
          </a:p>
        </p:txBody>
      </p:sp>
      <p:sp>
        <p:nvSpPr>
          <p:cNvPr id="16" name="Oval 15"/>
          <p:cNvSpPr/>
          <p:nvPr/>
        </p:nvSpPr>
        <p:spPr>
          <a:xfrm>
            <a:off x="3857625" y="5381625"/>
            <a:ext cx="2095500" cy="6667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billing.csv</a:t>
            </a:r>
          </a:p>
        </p:txBody>
      </p:sp>
      <p:sp>
        <p:nvSpPr>
          <p:cNvPr id="17" name="Rectangle 16"/>
          <p:cNvSpPr/>
          <p:nvPr/>
        </p:nvSpPr>
        <p:spPr>
          <a:xfrm>
            <a:off x="6334125" y="3638550"/>
            <a:ext cx="2190750" cy="7239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HR app</a:t>
            </a:r>
          </a:p>
        </p:txBody>
      </p:sp>
      <p:sp>
        <p:nvSpPr>
          <p:cNvPr id="18" name="Oval 17"/>
          <p:cNvSpPr/>
          <p:nvPr/>
        </p:nvSpPr>
        <p:spPr>
          <a:xfrm>
            <a:off x="6381750" y="5381625"/>
            <a:ext cx="2095500" cy="6667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hr.xls</a:t>
            </a:r>
          </a:p>
        </p:txBody>
      </p:sp>
      <p:sp>
        <p:nvSpPr>
          <p:cNvPr id="19" name="Rectangle 18"/>
          <p:cNvSpPr/>
          <p:nvPr/>
        </p:nvSpPr>
        <p:spPr>
          <a:xfrm>
            <a:off x="9572625" y="3638550"/>
            <a:ext cx="2190750" cy="7239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Sales app</a:t>
            </a:r>
          </a:p>
        </p:txBody>
      </p:sp>
      <p:sp>
        <p:nvSpPr>
          <p:cNvPr id="20" name="Rectangle 19"/>
          <p:cNvSpPr/>
          <p:nvPr/>
        </p:nvSpPr>
        <p:spPr>
          <a:xfrm>
            <a:off x="12287250" y="3638550"/>
            <a:ext cx="2190750" cy="7239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Billing app</a:t>
            </a:r>
          </a:p>
        </p:txBody>
      </p:sp>
      <p:sp>
        <p:nvSpPr>
          <p:cNvPr id="21" name="Rectangle 20"/>
          <p:cNvSpPr/>
          <p:nvPr/>
        </p:nvSpPr>
        <p:spPr>
          <a:xfrm>
            <a:off x="15001875" y="3638550"/>
            <a:ext cx="2190750" cy="7239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HR app</a:t>
            </a:r>
          </a:p>
        </p:txBody>
      </p:sp>
      <p:sp>
        <p:nvSpPr>
          <p:cNvPr id="22" name="Rectangle 21"/>
          <p:cNvSpPr/>
          <p:nvPr/>
        </p:nvSpPr>
        <p:spPr>
          <a:xfrm>
            <a:off x="10906125" y="5353050"/>
            <a:ext cx="4953000" cy="7239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DBMS</a:t>
            </a:r>
          </a:p>
        </p:txBody>
      </p:sp>
      <p:sp>
        <p:nvSpPr>
          <p:cNvPr id="23" name="Rectangle 22"/>
          <p:cNvSpPr/>
          <p:nvPr/>
        </p:nvSpPr>
        <p:spPr>
          <a:xfrm>
            <a:off x="10906125" y="6877050"/>
            <a:ext cx="4953000" cy="7239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One shared database + catalog</a:t>
            </a:r>
          </a:p>
        </p:txBody>
      </p:sp>
      <p:sp>
        <p:nvSpPr>
          <p:cNvPr id="24" name="TextBox 23"/>
          <p:cNvSpPr txBox="1"/>
          <p:nvPr/>
        </p:nvSpPr>
        <p:spPr>
          <a:xfrm>
            <a:off x="1219200" y="2857500"/>
            <a:ext cx="7429500" cy="381190"/>
          </a:xfrm>
          <a:prstGeom prst="rect">
            <a:avLst/>
          </a:prstGeom>
          <a:noFill/>
        </p:spPr>
        <p:txBody>
          <a:bodyPr wrap="square" lIns="0" rIns="0" tIns="0" bIns="0" anchor="t"/>
          <a:lstStyle/>
          <a:p>
            <a:pPr algn="l">
              <a:lnSpc>
                <a:spcPct val="111800"/>
              </a:lnSpc>
            </a:pPr>
            <a:r>
              <a:rPr sz="2070" b="1" i="0" u="none">
                <a:solidFill>
                  <a:srgbClr val="C8102E"/>
                </a:solidFill>
                <a:latin typeface="Calibri"/>
              </a:rPr>
              <a:t>File-based</a:t>
            </a:r>
          </a:p>
        </p:txBody>
      </p:sp>
      <p:sp>
        <p:nvSpPr>
          <p:cNvPr id="25" name="TextBox 24"/>
          <p:cNvSpPr txBox="1"/>
          <p:nvPr/>
        </p:nvSpPr>
        <p:spPr>
          <a:xfrm>
            <a:off x="9525000" y="2857500"/>
            <a:ext cx="7543800" cy="381190"/>
          </a:xfrm>
          <a:prstGeom prst="rect">
            <a:avLst/>
          </a:prstGeom>
          <a:noFill/>
        </p:spPr>
        <p:txBody>
          <a:bodyPr wrap="square" lIns="0" rIns="0" tIns="0" bIns="0" anchor="t"/>
          <a:lstStyle/>
          <a:p>
            <a:pPr algn="l">
              <a:lnSpc>
                <a:spcPct val="111800"/>
              </a:lnSpc>
            </a:pPr>
            <a:r>
              <a:rPr sz="2070" b="1" i="0" u="none">
                <a:solidFill>
                  <a:srgbClr val="0E8A8A"/>
                </a:solidFill>
                <a:latin typeface="Calibri"/>
              </a:rPr>
              <a:t>Database approach</a:t>
            </a:r>
          </a:p>
        </p:txBody>
      </p:sp>
      <p:sp>
        <p:nvSpPr>
          <p:cNvPr id="26" name="Rectangle 25"/>
          <p:cNvSpPr/>
          <p:nvPr/>
        </p:nvSpPr>
        <p:spPr>
          <a:xfrm>
            <a:off x="9048750" y="2857500"/>
            <a:ext cx="19050" cy="5334000"/>
          </a:xfrm>
          <a:prstGeom prst="rect">
            <a:avLst/>
          </a:prstGeom>
          <a:solidFill>
            <a:srgbClr val="E2E8F0"/>
          </a:solidFill>
          <a:ln>
            <a:noFill/>
          </a:ln>
        </p:spPr>
        <p:txBody>
          <a:bodyPr rtlCol="0" anchor="ctr" lIns="0" rIns="0" tIns="0" bIns="0"/>
          <a:lstStyle/>
          <a:p>
            <a:pPr algn="ctr"/>
          </a:p>
        </p:txBody>
      </p:sp>
      <p:sp>
        <p:nvSpPr>
          <p:cNvPr id="27" name="TextBox 26"/>
          <p:cNvSpPr txBox="1"/>
          <p:nvPr/>
        </p:nvSpPr>
        <p:spPr>
          <a:xfrm>
            <a:off x="1219200" y="6477000"/>
            <a:ext cx="74295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Each program defines its </a:t>
            </a:r>
            <a:r>
              <a:rPr sz="1794" b="1" i="0" u="none">
                <a:solidFill>
                  <a:srgbClr val="334155"/>
                </a:solidFill>
                <a:latin typeface="Calibri"/>
              </a:rPr>
              <a:t>own</a:t>
            </a:r>
            <a:r>
              <a:rPr sz="1794" b="0" i="0" u="none">
                <a:solidFill>
                  <a:srgbClr val="334155"/>
                </a:solidFill>
                <a:latin typeface="Calibri"/>
              </a:rPr>
              <a:t> file: the same data is stored three times, in three formats.</a:t>
            </a:r>
          </a:p>
        </p:txBody>
      </p:sp>
      <p:sp>
        <p:nvSpPr>
          <p:cNvPr id="28" name="TextBox 27"/>
          <p:cNvSpPr txBox="1"/>
          <p:nvPr/>
        </p:nvSpPr>
        <p:spPr>
          <a:xfrm>
            <a:off x="9525000" y="7905750"/>
            <a:ext cx="7543800" cy="330365"/>
          </a:xfrm>
          <a:prstGeom prst="rect">
            <a:avLst/>
          </a:prstGeom>
          <a:noFill/>
        </p:spPr>
        <p:txBody>
          <a:bodyPr wrap="square" lIns="0" rIns="0" tIns="0" bIns="0" anchor="t"/>
          <a:lstStyle/>
          <a:p>
            <a:pPr algn="l">
              <a:lnSpc>
                <a:spcPct val="111800"/>
              </a:lnSpc>
            </a:pPr>
            <a:r>
              <a:rPr sz="1794" b="0" i="0" u="none">
                <a:solidFill>
                  <a:srgbClr val="334155"/>
                </a:solidFill>
                <a:latin typeface="Calibri"/>
              </a:rPr>
              <a:t>Programs ask the DBMS; the data and its description are stored </a:t>
            </a:r>
            <a:r>
              <a:rPr sz="1794" b="1" i="0" u="none">
                <a:solidFill>
                  <a:srgbClr val="334155"/>
                </a:solidFill>
                <a:latin typeface="Calibri"/>
              </a:rPr>
              <a:t>once</a:t>
            </a:r>
            <a:r>
              <a:rPr sz="1794" b="0" i="0" u="none">
                <a:solidFill>
                  <a:srgbClr val="334155"/>
                </a:solidFill>
                <a:latin typeface="Calibri"/>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BASIC DEFINITIONS</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10/35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Database, DBMS, database system</a:t>
            </a:r>
          </a:p>
        </p:txBody>
      </p:sp>
      <p:sp>
        <p:nvSpPr>
          <p:cNvPr id="6" name="Rectangle 5"/>
          <p:cNvSpPr/>
          <p:nvPr/>
        </p:nvSpPr>
        <p:spPr>
          <a:xfrm>
            <a:off x="914400" y="2482024"/>
            <a:ext cx="5273040" cy="3970736"/>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Database</a:t>
            </a:r>
          </a:p>
        </p:txBody>
      </p:sp>
      <p:sp>
        <p:nvSpPr>
          <p:cNvPr id="8" name="TextBox 7"/>
          <p:cNvSpPr txBox="1"/>
          <p:nvPr/>
        </p:nvSpPr>
        <p:spPr>
          <a:xfrm>
            <a:off x="1314450" y="3605204"/>
            <a:ext cx="4472940" cy="1969046"/>
          </a:xfrm>
          <a:prstGeom prst="rect">
            <a:avLst/>
          </a:prstGeom>
          <a:noFill/>
        </p:spPr>
        <p:txBody>
          <a:bodyPr wrap="square" lIns="0" rIns="0" tIns="0" bIns="0" anchor="t"/>
          <a:lstStyle/>
          <a:p>
            <a:pPr algn="l">
              <a:lnSpc>
                <a:spcPct val="111800"/>
              </a:lnSpc>
            </a:pPr>
            <a:r>
              <a:rPr sz="2898" b="0" i="0" u="none">
                <a:solidFill>
                  <a:srgbClr val="334155"/>
                </a:solidFill>
                <a:latin typeface="Calibri"/>
              </a:rPr>
              <a:t>A collection of </a:t>
            </a:r>
            <a:r>
              <a:rPr sz="2898" b="1" i="0" u="none">
                <a:solidFill>
                  <a:srgbClr val="334155"/>
                </a:solidFill>
                <a:latin typeface="Calibri"/>
              </a:rPr>
              <a:t>related data</a:t>
            </a:r>
            <a:r>
              <a:rPr sz="2898" b="0" i="0" u="none">
                <a:solidFill>
                  <a:srgbClr val="334155"/>
                </a:solidFill>
                <a:latin typeface="Calibri"/>
              </a:rPr>
              <a:t> with a meaning, e.g. all students, courses and grades of a university.</a:t>
            </a:r>
          </a:p>
        </p:txBody>
      </p:sp>
      <p:sp>
        <p:nvSpPr>
          <p:cNvPr id="9" name="Rectangle 8"/>
          <p:cNvSpPr/>
          <p:nvPr/>
        </p:nvSpPr>
        <p:spPr>
          <a:xfrm>
            <a:off x="6507480" y="2482024"/>
            <a:ext cx="5273040" cy="3970736"/>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DBMS</a:t>
            </a:r>
          </a:p>
        </p:txBody>
      </p:sp>
      <p:sp>
        <p:nvSpPr>
          <p:cNvPr id="11" name="TextBox 10"/>
          <p:cNvSpPr txBox="1"/>
          <p:nvPr/>
        </p:nvSpPr>
        <p:spPr>
          <a:xfrm>
            <a:off x="6907530" y="3605204"/>
            <a:ext cx="4472940" cy="2447505"/>
          </a:xfrm>
          <a:prstGeom prst="rect">
            <a:avLst/>
          </a:prstGeom>
          <a:noFill/>
        </p:spPr>
        <p:txBody>
          <a:bodyPr wrap="square" lIns="0" rIns="0" tIns="0" bIns="0" anchor="t"/>
          <a:lstStyle/>
          <a:p>
            <a:pPr algn="l">
              <a:lnSpc>
                <a:spcPct val="111800"/>
              </a:lnSpc>
            </a:pPr>
            <a:r>
              <a:rPr sz="2898" b="0" i="0" u="none">
                <a:solidFill>
                  <a:srgbClr val="334155"/>
                </a:solidFill>
                <a:latin typeface="Calibri"/>
              </a:rPr>
              <a:t>Software to </a:t>
            </a:r>
            <a:r>
              <a:rPr sz="2898" b="1" i="0" u="none">
                <a:solidFill>
                  <a:srgbClr val="334155"/>
                </a:solidFill>
                <a:latin typeface="Calibri"/>
              </a:rPr>
              <a:t>define, construct, manipulate and share</a:t>
            </a:r>
            <a:r>
              <a:rPr sz="2898" b="0" i="0" u="none">
                <a:solidFill>
                  <a:srgbClr val="334155"/>
                </a:solidFill>
                <a:latin typeface="Calibri"/>
              </a:rPr>
              <a:t> databases, e.g. PostgreSQL, Oracle, SQL Server, MySQL.</a:t>
            </a:r>
          </a:p>
        </p:txBody>
      </p:sp>
      <p:sp>
        <p:nvSpPr>
          <p:cNvPr id="12" name="Rectangle 11"/>
          <p:cNvSpPr/>
          <p:nvPr/>
        </p:nvSpPr>
        <p:spPr>
          <a:xfrm>
            <a:off x="12100560" y="2482024"/>
            <a:ext cx="5273040" cy="3970736"/>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Database system</a:t>
            </a:r>
          </a:p>
        </p:txBody>
      </p:sp>
      <p:sp>
        <p:nvSpPr>
          <p:cNvPr id="14" name="TextBox 13"/>
          <p:cNvSpPr txBox="1"/>
          <p:nvPr/>
        </p:nvSpPr>
        <p:spPr>
          <a:xfrm>
            <a:off x="12500610" y="3605204"/>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The DBMS </a:t>
            </a:r>
            <a:r>
              <a:rPr sz="2898" b="1" i="0" u="none">
                <a:solidFill>
                  <a:srgbClr val="334155"/>
                </a:solidFill>
                <a:latin typeface="Calibri"/>
              </a:rPr>
              <a:t>plus</a:t>
            </a:r>
            <a:r>
              <a:rPr sz="2898" b="0" i="0" u="none">
                <a:solidFill>
                  <a:srgbClr val="334155"/>
                </a:solidFill>
                <a:latin typeface="Calibri"/>
              </a:rPr>
              <a:t> the database (and often the applications that use it).</a:t>
            </a:r>
          </a:p>
        </p:txBody>
      </p:sp>
      <p:sp>
        <p:nvSpPr>
          <p:cNvPr id="15" name="Rectangle 14"/>
          <p:cNvSpPr/>
          <p:nvPr/>
        </p:nvSpPr>
        <p:spPr>
          <a:xfrm>
            <a:off x="914400" y="6906150"/>
            <a:ext cx="16459200" cy="1478051"/>
          </a:xfrm>
          <a:prstGeom prst="rect">
            <a:avLst/>
          </a:prstGeom>
          <a:solidFill>
            <a:srgbClr val="E6F4F4"/>
          </a:solidFill>
          <a:ln>
            <a:noFill/>
          </a:ln>
        </p:spPr>
        <p:txBody>
          <a:bodyPr rtlCol="0" anchor="ctr" lIns="0" rIns="0" tIns="0" bIns="0"/>
          <a:lstStyle/>
          <a:p>
            <a:pPr algn="ctr"/>
          </a:p>
        </p:txBody>
      </p:sp>
      <p:sp>
        <p:nvSpPr>
          <p:cNvPr id="16" name="Rectangle 15"/>
          <p:cNvSpPr/>
          <p:nvPr/>
        </p:nvSpPr>
        <p:spPr>
          <a:xfrm>
            <a:off x="914400" y="6906150"/>
            <a:ext cx="47625" cy="1478051"/>
          </a:xfrm>
          <a:prstGeom prst="rect">
            <a:avLst/>
          </a:prstGeom>
          <a:solidFill>
            <a:srgbClr val="0E8A8A"/>
          </a:solidFill>
          <a:ln>
            <a:noFill/>
          </a:ln>
        </p:spPr>
        <p:txBody>
          <a:bodyPr rtlCol="0" anchor="ctr" lIns="0" rIns="0" tIns="0" bIns="0"/>
          <a:lstStyle/>
          <a:p>
            <a:pPr algn="ctr"/>
          </a:p>
        </p:txBody>
      </p:sp>
      <p:sp>
        <p:nvSpPr>
          <p:cNvPr id="17" name="TextBox 16"/>
          <p:cNvSpPr txBox="1"/>
          <p:nvPr/>
        </p:nvSpPr>
        <p:spPr>
          <a:xfrm>
            <a:off x="1341120" y="7172850"/>
            <a:ext cx="15605760" cy="944651"/>
          </a:xfrm>
          <a:prstGeom prst="rect">
            <a:avLst/>
          </a:prstGeom>
          <a:noFill/>
        </p:spPr>
        <p:txBody>
          <a:bodyPr wrap="square" lIns="0" rIns="0" tIns="0" bIns="0"/>
          <a:lstStyle/>
          <a:p>
            <a:pPr>
              <a:lnSpc>
                <a:spcPct val="112000"/>
              </a:lnSpc>
            </a:pPr>
            <a:r>
              <a:rPr sz="2704" b="1" i="0" u="none">
                <a:solidFill>
                  <a:srgbClr val="0F172A"/>
                </a:solidFill>
                <a:latin typeface="Calibri"/>
              </a:rPr>
              <a:t>Defining</a:t>
            </a:r>
            <a:r>
              <a:rPr sz="2704" b="0" i="0" u="none">
                <a:solidFill>
                  <a:srgbClr val="0F172A"/>
                </a:solidFill>
                <a:latin typeface="Calibri"/>
              </a:rPr>
              <a:t> = specifying data types and the constraints that rule the data. </a:t>
            </a:r>
            <a:r>
              <a:rPr sz="2704" b="1" i="0" u="none">
                <a:solidFill>
                  <a:srgbClr val="0F172A"/>
                </a:solidFill>
                <a:latin typeface="Calibri"/>
              </a:rPr>
              <a:t>Constructing</a:t>
            </a:r>
            <a:r>
              <a:rPr sz="2704" b="0" i="0" u="none">
                <a:solidFill>
                  <a:srgbClr val="0F172A"/>
                </a:solidFill>
                <a:latin typeface="Calibri"/>
              </a:rPr>
              <a:t> = storing the data. </a:t>
            </a:r>
            <a:r>
              <a:rPr sz="2704" b="1" i="0" u="none">
                <a:solidFill>
                  <a:srgbClr val="0F172A"/>
                </a:solidFill>
                <a:latin typeface="Calibri"/>
              </a:rPr>
              <a:t>Manipulating</a:t>
            </a:r>
            <a:r>
              <a:rPr sz="2704" b="0" i="0" u="none">
                <a:solidFill>
                  <a:srgbClr val="0F172A"/>
                </a:solidFill>
                <a:latin typeface="Calibri"/>
              </a:rPr>
              <a:t> = querying and updating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BASIC DEFINITIONS</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11/35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 database system, simplified</a:t>
            </a:r>
          </a:p>
        </p:txBody>
      </p:sp>
      <p:cxnSp>
        <p:nvCxnSpPr>
          <p:cNvPr id="6" name="Connector 5"/>
          <p:cNvCxnSpPr/>
          <p:nvPr/>
        </p:nvCxnSpPr>
        <p:spPr>
          <a:xfrm>
            <a:off x="9144000" y="3486150"/>
            <a:ext cx="0" cy="552450"/>
          </a:xfrm>
          <a:prstGeom prst="line">
            <a:avLst/>
          </a:prstGeom>
          <a:ln w="23812">
            <a:solidFill>
              <a:srgbClr val="0F172A"/>
            </a:solidFill>
            <a:tailEnd type="triangle"/>
          </a:ln>
        </p:spPr>
      </p:cxnSp>
      <p:cxnSp>
        <p:nvCxnSpPr>
          <p:cNvPr id="7" name="Connector 6"/>
          <p:cNvCxnSpPr/>
          <p:nvPr/>
        </p:nvCxnSpPr>
        <p:spPr>
          <a:xfrm>
            <a:off x="9144000" y="4724400"/>
            <a:ext cx="0" cy="666750"/>
          </a:xfrm>
          <a:prstGeom prst="line">
            <a:avLst/>
          </a:prstGeom>
          <a:ln w="23812">
            <a:solidFill>
              <a:srgbClr val="0F172A"/>
            </a:solidFill>
            <a:tailEnd type="triangle"/>
          </a:ln>
        </p:spPr>
      </p:cxnSp>
      <p:cxnSp>
        <p:nvCxnSpPr>
          <p:cNvPr id="8" name="Connector 7"/>
          <p:cNvCxnSpPr/>
          <p:nvPr/>
        </p:nvCxnSpPr>
        <p:spPr>
          <a:xfrm flipH="1">
            <a:off x="7239000" y="6229350"/>
            <a:ext cx="381000" cy="876300"/>
          </a:xfrm>
          <a:prstGeom prst="line">
            <a:avLst/>
          </a:prstGeom>
          <a:ln w="23812">
            <a:solidFill>
              <a:srgbClr val="0F172A"/>
            </a:solidFill>
            <a:tailEnd type="triangle"/>
          </a:ln>
        </p:spPr>
      </p:cxnSp>
      <p:cxnSp>
        <p:nvCxnSpPr>
          <p:cNvPr id="9" name="Connector 8"/>
          <p:cNvCxnSpPr/>
          <p:nvPr/>
        </p:nvCxnSpPr>
        <p:spPr>
          <a:xfrm>
            <a:off x="10668000" y="6229350"/>
            <a:ext cx="952500" cy="876300"/>
          </a:xfrm>
          <a:prstGeom prst="line">
            <a:avLst/>
          </a:prstGeom>
          <a:ln w="23812">
            <a:solidFill>
              <a:srgbClr val="0F172A"/>
            </a:solidFill>
            <a:tailEnd type="triangle"/>
          </a:ln>
        </p:spPr>
      </p:cxnSp>
      <p:sp>
        <p:nvSpPr>
          <p:cNvPr id="10" name="Rectangle 9"/>
          <p:cNvSpPr/>
          <p:nvPr/>
        </p:nvSpPr>
        <p:spPr>
          <a:xfrm>
            <a:off x="6667500" y="2800350"/>
            <a:ext cx="4953000" cy="6858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Users / programmers</a:t>
            </a:r>
          </a:p>
        </p:txBody>
      </p:sp>
      <p:sp>
        <p:nvSpPr>
          <p:cNvPr id="11" name="Rectangle 10"/>
          <p:cNvSpPr/>
          <p:nvPr/>
        </p:nvSpPr>
        <p:spPr>
          <a:xfrm>
            <a:off x="6191250" y="4038600"/>
            <a:ext cx="5905500" cy="6858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Application programs / queries</a:t>
            </a:r>
          </a:p>
        </p:txBody>
      </p:sp>
      <p:sp>
        <p:nvSpPr>
          <p:cNvPr id="12" name="Rectangle 11"/>
          <p:cNvSpPr/>
          <p:nvPr/>
        </p:nvSpPr>
        <p:spPr>
          <a:xfrm>
            <a:off x="5238750" y="5391150"/>
            <a:ext cx="7810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DBMS: query processor + storage manager</a:t>
            </a:r>
          </a:p>
        </p:txBody>
      </p:sp>
      <p:sp>
        <p:nvSpPr>
          <p:cNvPr id="13" name="Rectangle 12"/>
          <p:cNvSpPr/>
          <p:nvPr/>
        </p:nvSpPr>
        <p:spPr>
          <a:xfrm>
            <a:off x="4000500" y="7105650"/>
            <a:ext cx="5334000" cy="838200"/>
          </a:xfrm>
          <a:prstGeom prst="rect">
            <a:avLst/>
          </a:prstGeom>
          <a:solidFill>
            <a:srgbClr val="FFFFFF"/>
          </a:solidFill>
          <a:ln w="23812">
            <a:solidFill>
              <a:srgbClr val="0F172A"/>
            </a:solidFill>
          </a:ln>
        </p:spPr>
        <p:txBody>
          <a:bodyPr rtlCol="0" anchor="ctr" lIns="0" rIns="0" tIns="0" bIns="0" wrap="none"/>
          <a:lstStyle/>
          <a:p>
            <a:pPr algn="ctr"/>
            <a:r>
              <a:rPr sz="1790" b="1" i="0" u="none">
                <a:solidFill>
                  <a:srgbClr val="0F172A"/>
                </a:solidFill>
                <a:latin typeface="Arial"/>
              </a:rPr>
              <a:t>Stored DB definition (metadata / catalog)</a:t>
            </a:r>
          </a:p>
        </p:txBody>
      </p:sp>
      <p:sp>
        <p:nvSpPr>
          <p:cNvPr id="14" name="Rectangle 13"/>
          <p:cNvSpPr/>
          <p:nvPr/>
        </p:nvSpPr>
        <p:spPr>
          <a:xfrm>
            <a:off x="10096500" y="7105650"/>
            <a:ext cx="4000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Stored database</a:t>
            </a:r>
          </a:p>
        </p:txBody>
      </p:sp>
      <p:sp>
        <p:nvSpPr>
          <p:cNvPr id="15" name="Rounded Rectangle 14"/>
          <p:cNvSpPr/>
          <p:nvPr/>
        </p:nvSpPr>
        <p:spPr>
          <a:xfrm>
            <a:off x="3810000" y="5334000"/>
            <a:ext cx="10668000" cy="2857500"/>
          </a:xfrm>
          <a:prstGeom prst="roundRect">
            <a:avLst>
              <a:gd name="adj" fmla="val 5333"/>
            </a:avLst>
          </a:prstGeom>
          <a:noFill/>
          <a:ln w="28575">
            <a:solidFill>
              <a:srgbClr val="C8102E"/>
            </a:solidFill>
            <a:prstDash val="dash"/>
          </a:ln>
        </p:spPr>
        <p:txBody>
          <a:bodyPr rtlCol="0" anchor="ctr" lIns="0" rIns="0" tIns="0" bIns="0"/>
          <a:lstStyle/>
          <a:p>
            <a:pPr algn="ctr"/>
          </a:p>
        </p:txBody>
      </p:sp>
      <p:sp>
        <p:nvSpPr>
          <p:cNvPr id="16" name="TextBox 15"/>
          <p:cNvSpPr txBox="1"/>
          <p:nvPr/>
        </p:nvSpPr>
        <p:spPr>
          <a:xfrm>
            <a:off x="14668500" y="5715000"/>
            <a:ext cx="2476500" cy="330365"/>
          </a:xfrm>
          <a:prstGeom prst="rect">
            <a:avLst/>
          </a:prstGeom>
          <a:noFill/>
        </p:spPr>
        <p:txBody>
          <a:bodyPr wrap="square" lIns="0" rIns="0" tIns="0" bIns="0" anchor="t"/>
          <a:lstStyle/>
          <a:p>
            <a:pPr algn="l">
              <a:lnSpc>
                <a:spcPct val="111800"/>
              </a:lnSpc>
            </a:pPr>
            <a:r>
              <a:rPr sz="1794" b="1" i="0" u="none">
                <a:solidFill>
                  <a:srgbClr val="C8102E"/>
                </a:solidFill>
                <a:latin typeface="Calibri"/>
              </a:rPr>
              <a:t>Database system</a:t>
            </a:r>
          </a:p>
        </p:txBody>
      </p:sp>
      <p:sp>
        <p:nvSpPr>
          <p:cNvPr id="17" name="TextBox 16"/>
          <p:cNvSpPr txBox="1"/>
          <p:nvPr/>
        </p:nvSpPr>
        <p:spPr>
          <a:xfrm>
            <a:off x="14668500" y="6096000"/>
            <a:ext cx="2476500" cy="578358"/>
          </a:xfrm>
          <a:prstGeom prst="rect">
            <a:avLst/>
          </a:prstGeom>
          <a:noFill/>
        </p:spPr>
        <p:txBody>
          <a:bodyPr wrap="square" lIns="0" rIns="0" tIns="0" bIns="0" anchor="t"/>
          <a:lstStyle/>
          <a:p>
            <a:pPr algn="l">
              <a:lnSpc>
                <a:spcPct val="111800"/>
              </a:lnSpc>
            </a:pPr>
            <a:r>
              <a:rPr sz="1656" b="0" i="0" u="none">
                <a:solidFill>
                  <a:srgbClr val="64748B"/>
                </a:solidFill>
                <a:latin typeface="Calibri"/>
              </a:rPr>
              <a:t>= DBMS software + data + metadata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THE DBMS</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12/35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a DBMS does for you</a:t>
            </a:r>
          </a:p>
        </p:txBody>
      </p:sp>
      <p:sp>
        <p:nvSpPr>
          <p:cNvPr id="6" name="Rectangle 5"/>
          <p:cNvSpPr/>
          <p:nvPr/>
        </p:nvSpPr>
        <p:spPr>
          <a:xfrm>
            <a:off x="914400" y="2482024"/>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Define</a:t>
            </a:r>
          </a:p>
        </p:txBody>
      </p:sp>
      <p:sp>
        <p:nvSpPr>
          <p:cNvPr id="8" name="TextBox 7"/>
          <p:cNvSpPr txBox="1"/>
          <p:nvPr/>
        </p:nvSpPr>
        <p:spPr>
          <a:xfrm>
            <a:off x="1314450" y="3605204"/>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Data types, structures, constraints (DDL)</a:t>
            </a:r>
          </a:p>
        </p:txBody>
      </p:sp>
      <p:sp>
        <p:nvSpPr>
          <p:cNvPr id="9" name="Rectangle 8"/>
          <p:cNvSpPr/>
          <p:nvPr/>
        </p:nvSpPr>
        <p:spPr>
          <a:xfrm>
            <a:off x="5109210" y="2482024"/>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5509260" y="2882074"/>
            <a:ext cx="307467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Store &amp; retrieve</a:t>
            </a:r>
          </a:p>
        </p:txBody>
      </p:sp>
      <p:sp>
        <p:nvSpPr>
          <p:cNvPr id="11" name="TextBox 10"/>
          <p:cNvSpPr txBox="1"/>
          <p:nvPr/>
        </p:nvSpPr>
        <p:spPr>
          <a:xfrm>
            <a:off x="5509260" y="4105747"/>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Efficient storage, indexes, a query language (SQL)</a:t>
            </a:r>
          </a:p>
        </p:txBody>
      </p:sp>
      <p:sp>
        <p:nvSpPr>
          <p:cNvPr id="12" name="Rectangle 11"/>
          <p:cNvSpPr/>
          <p:nvPr/>
        </p:nvSpPr>
        <p:spPr>
          <a:xfrm>
            <a:off x="9304020" y="2482024"/>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9704070" y="288207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Share</a:t>
            </a:r>
          </a:p>
        </p:txBody>
      </p:sp>
      <p:sp>
        <p:nvSpPr>
          <p:cNvPr id="14" name="TextBox 13"/>
          <p:cNvSpPr txBox="1"/>
          <p:nvPr/>
        </p:nvSpPr>
        <p:spPr>
          <a:xfrm>
            <a:off x="9704070" y="3605204"/>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Many users and programs on the same data</a:t>
            </a:r>
          </a:p>
        </p:txBody>
      </p:sp>
      <p:sp>
        <p:nvSpPr>
          <p:cNvPr id="15" name="Rectangle 14"/>
          <p:cNvSpPr/>
          <p:nvPr/>
        </p:nvSpPr>
        <p:spPr>
          <a:xfrm>
            <a:off x="13498829" y="2482024"/>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898879" y="2882074"/>
            <a:ext cx="307467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Concurrency control</a:t>
            </a:r>
          </a:p>
        </p:txBody>
      </p:sp>
      <p:sp>
        <p:nvSpPr>
          <p:cNvPr id="17" name="TextBox 16"/>
          <p:cNvSpPr txBox="1"/>
          <p:nvPr/>
        </p:nvSpPr>
        <p:spPr>
          <a:xfrm>
            <a:off x="13898879" y="4105747"/>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Simultaneous updates without conflicts (transactions)</a:t>
            </a:r>
          </a:p>
        </p:txBody>
      </p:sp>
      <p:sp>
        <p:nvSpPr>
          <p:cNvPr id="18" name="Rectangle 17"/>
          <p:cNvSpPr/>
          <p:nvPr/>
        </p:nvSpPr>
        <p:spPr>
          <a:xfrm>
            <a:off x="914400" y="6117678"/>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1314450" y="6517728"/>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Security</a:t>
            </a:r>
          </a:p>
        </p:txBody>
      </p:sp>
      <p:sp>
        <p:nvSpPr>
          <p:cNvPr id="20" name="TextBox 19"/>
          <p:cNvSpPr txBox="1"/>
          <p:nvPr/>
        </p:nvSpPr>
        <p:spPr>
          <a:xfrm>
            <a:off x="1314450" y="7240859"/>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Who may see or change what (GRANT / REVOKE)</a:t>
            </a:r>
          </a:p>
        </p:txBody>
      </p:sp>
      <p:sp>
        <p:nvSpPr>
          <p:cNvPr id="21" name="Rectangle 20"/>
          <p:cNvSpPr/>
          <p:nvPr/>
        </p:nvSpPr>
        <p:spPr>
          <a:xfrm>
            <a:off x="5109210" y="6117678"/>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5509260" y="6517728"/>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Integrity</a:t>
            </a:r>
          </a:p>
        </p:txBody>
      </p:sp>
      <p:sp>
        <p:nvSpPr>
          <p:cNvPr id="23" name="TextBox 22"/>
          <p:cNvSpPr txBox="1"/>
          <p:nvPr/>
        </p:nvSpPr>
        <p:spPr>
          <a:xfrm>
            <a:off x="5509260" y="7240859"/>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Constraints keep data valid (PK, FK, CHECK)</a:t>
            </a:r>
          </a:p>
        </p:txBody>
      </p:sp>
      <p:sp>
        <p:nvSpPr>
          <p:cNvPr id="24" name="Rectangle 23"/>
          <p:cNvSpPr/>
          <p:nvPr/>
        </p:nvSpPr>
        <p:spPr>
          <a:xfrm>
            <a:off x="9304020" y="6117678"/>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25" name="TextBox 24"/>
          <p:cNvSpPr txBox="1"/>
          <p:nvPr/>
        </p:nvSpPr>
        <p:spPr>
          <a:xfrm>
            <a:off x="9704070" y="6517728"/>
            <a:ext cx="307467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Backup &amp; recovery</a:t>
            </a:r>
          </a:p>
        </p:txBody>
      </p:sp>
      <p:sp>
        <p:nvSpPr>
          <p:cNvPr id="26" name="TextBox 25"/>
          <p:cNvSpPr txBox="1"/>
          <p:nvPr/>
        </p:nvSpPr>
        <p:spPr>
          <a:xfrm>
            <a:off x="9704070" y="7741401"/>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Restore a consistent state after a crash</a:t>
            </a:r>
          </a:p>
        </p:txBody>
      </p:sp>
      <p:sp>
        <p:nvSpPr>
          <p:cNvPr id="27" name="Rectangle 26"/>
          <p:cNvSpPr/>
          <p:nvPr/>
        </p:nvSpPr>
        <p:spPr>
          <a:xfrm>
            <a:off x="13498829" y="6117678"/>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28" name="TextBox 27"/>
          <p:cNvSpPr txBox="1"/>
          <p:nvPr/>
        </p:nvSpPr>
        <p:spPr>
          <a:xfrm>
            <a:off x="13898879" y="6517728"/>
            <a:ext cx="307467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Data dictionary</a:t>
            </a:r>
          </a:p>
        </p:txBody>
      </p:sp>
      <p:sp>
        <p:nvSpPr>
          <p:cNvPr id="29" name="TextBox 28"/>
          <p:cNvSpPr txBox="1"/>
          <p:nvPr/>
        </p:nvSpPr>
        <p:spPr>
          <a:xfrm>
            <a:off x="13898879" y="7741401"/>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A catalog describing every object (metadata)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THE DBMS</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13/35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Advantages and costs of a DBMS</a:t>
            </a:r>
          </a:p>
        </p:txBody>
      </p:sp>
      <p:sp>
        <p:nvSpPr>
          <p:cNvPr id="6" name="Rectangle 5"/>
          <p:cNvSpPr/>
          <p:nvPr/>
        </p:nvSpPr>
        <p:spPr>
          <a:xfrm>
            <a:off x="914400" y="2482024"/>
            <a:ext cx="8069580" cy="6383891"/>
          </a:xfrm>
          <a:prstGeom prst="rect">
            <a:avLst/>
          </a:prstGeom>
          <a:solidFill>
            <a:srgbClr val="E6F4F4"/>
          </a:solidFill>
          <a:ln w="14287">
            <a:solidFill>
              <a:srgbClr val="B7DCDC"/>
            </a:solidFill>
          </a:ln>
        </p:spPr>
        <p:txBody>
          <a:bodyPr rtlCol="0" anchor="ctr" lIns="0" rIns="0" tIns="0" bIns="0"/>
          <a:lstStyle/>
          <a:p>
            <a:pPr algn="ctr"/>
          </a:p>
        </p:txBody>
      </p:sp>
      <p:sp>
        <p:nvSpPr>
          <p:cNvPr id="7" name="TextBox 6"/>
          <p:cNvSpPr txBox="1"/>
          <p:nvPr/>
        </p:nvSpPr>
        <p:spPr>
          <a:xfrm>
            <a:off x="1314450" y="2882074"/>
            <a:ext cx="7269480" cy="563110"/>
          </a:xfrm>
          <a:prstGeom prst="rect">
            <a:avLst/>
          </a:prstGeom>
          <a:noFill/>
        </p:spPr>
        <p:txBody>
          <a:bodyPr wrap="square" lIns="0" rIns="0" tIns="0" bIns="0" anchor="t"/>
          <a:lstStyle/>
          <a:p>
            <a:pPr algn="l">
              <a:lnSpc>
                <a:spcPct val="103200"/>
              </a:lnSpc>
            </a:pPr>
            <a:r>
              <a:rPr sz="3284" b="1" i="0" u="none">
                <a:solidFill>
                  <a:srgbClr val="0E8A8A"/>
                </a:solidFill>
                <a:latin typeface="Arial"/>
              </a:rPr>
              <a:t>Advantages</a:t>
            </a:r>
          </a:p>
        </p:txBody>
      </p:sp>
      <p:sp>
        <p:nvSpPr>
          <p:cNvPr id="8" name="TextBox 7"/>
          <p:cNvSpPr txBox="1"/>
          <p:nvPr/>
        </p:nvSpPr>
        <p:spPr>
          <a:xfrm>
            <a:off x="1314450" y="3605204"/>
            <a:ext cx="7269480" cy="4053413"/>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Controlled redundancy → no inconsistent copies</a:t>
            </a:r>
          </a:p>
          <a:p>
            <a:pPr algn="l" marL="377860" indent="-377860">
              <a:lnSpc>
                <a:spcPct val="111800"/>
              </a:lnSpc>
              <a:spcBef>
                <a:spcPts val="676"/>
              </a:spcBef>
              <a:buChar char="•"/>
            </a:pPr>
            <a:r>
              <a:rPr sz="2704" b="0" i="0" u="none">
                <a:solidFill>
                  <a:srgbClr val="334155"/>
                </a:solidFill>
                <a:latin typeface="Calibri"/>
              </a:rPr>
              <a:t>Restricted unauthorized access</a:t>
            </a:r>
          </a:p>
          <a:p>
            <a:pPr algn="l" marL="377860" indent="-377860">
              <a:lnSpc>
                <a:spcPct val="111800"/>
              </a:lnSpc>
              <a:spcBef>
                <a:spcPts val="676"/>
              </a:spcBef>
              <a:buChar char="•"/>
            </a:pPr>
            <a:r>
              <a:rPr sz="2704" b="0" i="0" u="none">
                <a:solidFill>
                  <a:srgbClr val="334155"/>
                </a:solidFill>
                <a:latin typeface="Calibri"/>
              </a:rPr>
              <a:t>Data shared by many users and apps</a:t>
            </a:r>
          </a:p>
          <a:p>
            <a:pPr algn="l" marL="377860" indent="-377860">
              <a:lnSpc>
                <a:spcPct val="111800"/>
              </a:lnSpc>
              <a:spcBef>
                <a:spcPts val="676"/>
              </a:spcBef>
              <a:buChar char="•"/>
            </a:pPr>
            <a:r>
              <a:rPr sz="2704" b="0" i="0" u="none">
                <a:solidFill>
                  <a:srgbClr val="334155"/>
                </a:solidFill>
                <a:latin typeface="Calibri"/>
              </a:rPr>
              <a:t>Integrity constraints enforced centrally</a:t>
            </a:r>
          </a:p>
          <a:p>
            <a:pPr algn="l" marL="377860" indent="-377860">
              <a:lnSpc>
                <a:spcPct val="111800"/>
              </a:lnSpc>
              <a:spcBef>
                <a:spcPts val="676"/>
              </a:spcBef>
              <a:buChar char="•"/>
            </a:pPr>
            <a:r>
              <a:rPr sz="2704" b="0" i="0" u="none">
                <a:solidFill>
                  <a:srgbClr val="334155"/>
                </a:solidFill>
                <a:latin typeface="Calibri"/>
              </a:rPr>
              <a:t>Backup and recovery built in</a:t>
            </a:r>
          </a:p>
          <a:p>
            <a:pPr algn="l" marL="377860" indent="-377860">
              <a:lnSpc>
                <a:spcPct val="111800"/>
              </a:lnSpc>
              <a:spcBef>
                <a:spcPts val="676"/>
              </a:spcBef>
              <a:buChar char="•"/>
            </a:pPr>
            <a:r>
              <a:rPr sz="2704" b="0" i="0" u="none">
                <a:solidFill>
                  <a:srgbClr val="334155"/>
                </a:solidFill>
                <a:latin typeface="Calibri"/>
              </a:rPr>
              <a:t>Program–data independence; faster development</a:t>
            </a:r>
          </a:p>
        </p:txBody>
      </p:sp>
      <p:sp>
        <p:nvSpPr>
          <p:cNvPr id="9" name="Rectangle 8"/>
          <p:cNvSpPr/>
          <p:nvPr/>
        </p:nvSpPr>
        <p:spPr>
          <a:xfrm>
            <a:off x="9304020" y="2482024"/>
            <a:ext cx="8069580" cy="6383891"/>
          </a:xfrm>
          <a:prstGeom prst="rect">
            <a:avLst/>
          </a:prstGeom>
          <a:solidFill>
            <a:srgbClr val="FDECEF"/>
          </a:solidFill>
          <a:ln w="14287">
            <a:solidFill>
              <a:srgbClr val="F5C2CB"/>
            </a:solidFill>
          </a:ln>
        </p:spPr>
        <p:txBody>
          <a:bodyPr rtlCol="0" anchor="ctr" lIns="0" rIns="0" tIns="0" bIns="0"/>
          <a:lstStyle/>
          <a:p>
            <a:pPr algn="ctr"/>
          </a:p>
        </p:txBody>
      </p:sp>
      <p:sp>
        <p:nvSpPr>
          <p:cNvPr id="10" name="TextBox 9"/>
          <p:cNvSpPr txBox="1"/>
          <p:nvPr/>
        </p:nvSpPr>
        <p:spPr>
          <a:xfrm>
            <a:off x="9704070" y="2882074"/>
            <a:ext cx="7269480" cy="563110"/>
          </a:xfrm>
          <a:prstGeom prst="rect">
            <a:avLst/>
          </a:prstGeom>
          <a:noFill/>
        </p:spPr>
        <p:txBody>
          <a:bodyPr wrap="square" lIns="0" rIns="0" tIns="0" bIns="0" anchor="t"/>
          <a:lstStyle/>
          <a:p>
            <a:pPr algn="l">
              <a:lnSpc>
                <a:spcPct val="103200"/>
              </a:lnSpc>
            </a:pPr>
            <a:r>
              <a:rPr sz="3284" b="1" i="0" u="none">
                <a:solidFill>
                  <a:srgbClr val="C8102E"/>
                </a:solidFill>
                <a:latin typeface="Arial"/>
              </a:rPr>
              <a:t>Costs to weigh</a:t>
            </a:r>
          </a:p>
        </p:txBody>
      </p:sp>
      <p:sp>
        <p:nvSpPr>
          <p:cNvPr id="11" name="TextBox 10"/>
          <p:cNvSpPr txBox="1"/>
          <p:nvPr/>
        </p:nvSpPr>
        <p:spPr>
          <a:xfrm>
            <a:off x="9704070" y="3605204"/>
            <a:ext cx="7269480" cy="4860660"/>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Licenses can be expensive (open-source options: PostgreSQL, MySQL, SQLite)</a:t>
            </a:r>
          </a:p>
          <a:p>
            <a:pPr algn="l" marL="377860" indent="-377860">
              <a:lnSpc>
                <a:spcPct val="111800"/>
              </a:lnSpc>
              <a:spcBef>
                <a:spcPts val="676"/>
              </a:spcBef>
              <a:buChar char="•"/>
            </a:pPr>
            <a:r>
              <a:rPr sz="2704" b="0" i="0" u="none">
                <a:solidFill>
                  <a:srgbClr val="334155"/>
                </a:solidFill>
                <a:latin typeface="Calibri"/>
              </a:rPr>
              <a:t>Skilled staff and training (DBA, designers, developers)</a:t>
            </a:r>
          </a:p>
          <a:p>
            <a:pPr algn="l" marL="377860" indent="-377860">
              <a:lnSpc>
                <a:spcPct val="111800"/>
              </a:lnSpc>
              <a:spcBef>
                <a:spcPts val="676"/>
              </a:spcBef>
              <a:buChar char="•"/>
            </a:pPr>
            <a:r>
              <a:rPr sz="2704" b="0" i="0" u="none">
                <a:solidFill>
                  <a:srgbClr val="334155"/>
                </a:solidFill>
                <a:latin typeface="Calibri"/>
              </a:rPr>
              <a:t>Overhead for very small or single-purpose apps</a:t>
            </a:r>
          </a:p>
          <a:p>
            <a:pPr algn="l" marL="377860" indent="-377860">
              <a:lnSpc>
                <a:spcPct val="111800"/>
              </a:lnSpc>
              <a:spcBef>
                <a:spcPts val="676"/>
              </a:spcBef>
              <a:buChar char="•"/>
            </a:pPr>
            <a:r>
              <a:rPr sz="2704" b="0" i="0" u="none">
                <a:solidFill>
                  <a:srgbClr val="334155"/>
                </a:solidFill>
                <a:latin typeface="Calibri"/>
              </a:rPr>
              <a:t>Central point of failure → needs backups and replication</a:t>
            </a:r>
          </a:p>
          <a:p>
            <a:pPr algn="l" marL="377860" indent="-377860">
              <a:lnSpc>
                <a:spcPct val="111800"/>
              </a:lnSpc>
              <a:spcBef>
                <a:spcPts val="676"/>
              </a:spcBef>
              <a:buChar char="•"/>
            </a:pPr>
            <a:r>
              <a:rPr sz="2704" b="0" i="0" u="none">
                <a:solidFill>
                  <a:srgbClr val="334155"/>
                </a:solidFill>
                <a:latin typeface="Calibri"/>
              </a:rPr>
              <a:t>Vendor lock-in: may be incompatible with other DBMS products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PEOPLE</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14/35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Who works with a database</a:t>
            </a:r>
          </a:p>
        </p:txBody>
      </p:sp>
      <p:graphicFrame>
        <p:nvGraphicFramePr>
          <p:cNvPr id="6" name="Table 5"/>
          <p:cNvGraphicFramePr>
            <a:graphicFrameLocks noGrp="1"/>
          </p:cNvGraphicFramePr>
          <p:nvPr/>
        </p:nvGraphicFramePr>
        <p:xfrm>
          <a:off x="914400" y="2482024"/>
          <a:ext cx="16459200" cy="6155688"/>
        </p:xfrm>
        <a:graphic>
          <a:graphicData uri="http://schemas.openxmlformats.org/drawingml/2006/table">
            <a:tbl>
              <a:tblPr firstRow="0" bandRow="0">
                <a:tableStyleId>{5940675A-B579-460E-94D1-54222C63F5DA}</a:tableStyleId>
              </a:tblPr>
              <a:tblGrid>
                <a:gridCol w="4608576"/>
                <a:gridCol w="6254496"/>
                <a:gridCol w="5596128"/>
              </a:tblGrid>
              <a:tr h="676713">
                <a:tc>
                  <a:txBody>
                    <a:bodyPr/>
                    <a:lstStyle/>
                    <a:p>
                      <a:r>
                        <a:rPr sz="2704" b="1" i="0" u="none">
                          <a:solidFill>
                            <a:srgbClr val="FFFFFF"/>
                          </a:solidFill>
                          <a:latin typeface="Arial"/>
                        </a:rPr>
                        <a:t>Role</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What they do</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Example task</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Database administrator (DBA)</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Installs, secures, tunes, backs up the DBMS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Grant access; restore last night's backup</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Database designer</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Designs the conceptual and logical schema</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Draw the ERD; map it to tables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System analyst</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Captures requirements from the business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Write the narrative the ERD is built from</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Application programmer</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Writes programs that use the database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Build the payroll app with SQL inside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End user</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Queries and updates data through apps or reports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Run the monthly sales report</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02</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15/35</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02</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Architecture &amp; data models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How a DBMS separates what users see from how data is stored, and why that matters.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ARCHITECTURE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16/35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Three-Schema Architecture</a:t>
            </a:r>
          </a:p>
        </p:txBody>
      </p:sp>
      <p:cxnSp>
        <p:nvCxnSpPr>
          <p:cNvPr id="6" name="Connector 5"/>
          <p:cNvCxnSpPr/>
          <p:nvPr/>
        </p:nvCxnSpPr>
        <p:spPr>
          <a:xfrm>
            <a:off x="5334000" y="3524250"/>
            <a:ext cx="2533650" cy="1009650"/>
          </a:xfrm>
          <a:prstGeom prst="line">
            <a:avLst/>
          </a:prstGeom>
          <a:ln w="23812">
            <a:solidFill>
              <a:srgbClr val="0F172A"/>
            </a:solidFill>
          </a:ln>
        </p:spPr>
      </p:cxnSp>
      <p:cxnSp>
        <p:nvCxnSpPr>
          <p:cNvPr id="7" name="Connector 6"/>
          <p:cNvCxnSpPr/>
          <p:nvPr/>
        </p:nvCxnSpPr>
        <p:spPr>
          <a:xfrm>
            <a:off x="9144000" y="3524250"/>
            <a:ext cx="0" cy="1009650"/>
          </a:xfrm>
          <a:prstGeom prst="line">
            <a:avLst/>
          </a:prstGeom>
          <a:ln w="23812">
            <a:solidFill>
              <a:srgbClr val="0F172A"/>
            </a:solidFill>
          </a:ln>
        </p:spPr>
      </p:cxnSp>
      <p:cxnSp>
        <p:nvCxnSpPr>
          <p:cNvPr id="8" name="Connector 7"/>
          <p:cNvCxnSpPr/>
          <p:nvPr/>
        </p:nvCxnSpPr>
        <p:spPr>
          <a:xfrm flipH="1">
            <a:off x="10410825" y="3524250"/>
            <a:ext cx="2543175" cy="1009650"/>
          </a:xfrm>
          <a:prstGeom prst="line">
            <a:avLst/>
          </a:prstGeom>
          <a:ln w="23812">
            <a:solidFill>
              <a:srgbClr val="0F172A"/>
            </a:solidFill>
          </a:ln>
        </p:spPr>
      </p:cxnSp>
      <p:cxnSp>
        <p:nvCxnSpPr>
          <p:cNvPr id="9" name="Connector 8"/>
          <p:cNvCxnSpPr/>
          <p:nvPr/>
        </p:nvCxnSpPr>
        <p:spPr>
          <a:xfrm>
            <a:off x="9144000" y="5372100"/>
            <a:ext cx="0" cy="685800"/>
          </a:xfrm>
          <a:prstGeom prst="line">
            <a:avLst/>
          </a:prstGeom>
          <a:ln w="23812">
            <a:solidFill>
              <a:srgbClr val="0F172A"/>
            </a:solidFill>
          </a:ln>
        </p:spPr>
      </p:cxnSp>
      <p:cxnSp>
        <p:nvCxnSpPr>
          <p:cNvPr id="10" name="Connector 9"/>
          <p:cNvCxnSpPr/>
          <p:nvPr/>
        </p:nvCxnSpPr>
        <p:spPr>
          <a:xfrm>
            <a:off x="9144000" y="6896100"/>
            <a:ext cx="0" cy="762000"/>
          </a:xfrm>
          <a:prstGeom prst="line">
            <a:avLst/>
          </a:prstGeom>
          <a:ln w="23812">
            <a:solidFill>
              <a:srgbClr val="0F172A"/>
            </a:solidFill>
          </a:ln>
        </p:spPr>
      </p:cxnSp>
      <p:sp>
        <p:nvSpPr>
          <p:cNvPr id="11" name="Rectangle 10"/>
          <p:cNvSpPr/>
          <p:nvPr/>
        </p:nvSpPr>
        <p:spPr>
          <a:xfrm>
            <a:off x="3714750" y="2762250"/>
            <a:ext cx="32385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External schema 1</a:t>
            </a:r>
          </a:p>
        </p:txBody>
      </p:sp>
      <p:sp>
        <p:nvSpPr>
          <p:cNvPr id="12" name="Rectangle 11"/>
          <p:cNvSpPr/>
          <p:nvPr/>
        </p:nvSpPr>
        <p:spPr>
          <a:xfrm>
            <a:off x="7524750" y="2762250"/>
            <a:ext cx="32385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External schema 2</a:t>
            </a:r>
          </a:p>
        </p:txBody>
      </p:sp>
      <p:sp>
        <p:nvSpPr>
          <p:cNvPr id="13" name="Rectangle 12"/>
          <p:cNvSpPr/>
          <p:nvPr/>
        </p:nvSpPr>
        <p:spPr>
          <a:xfrm>
            <a:off x="11334750" y="2762250"/>
            <a:ext cx="32385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External schema 3</a:t>
            </a:r>
          </a:p>
        </p:txBody>
      </p:sp>
      <p:sp>
        <p:nvSpPr>
          <p:cNvPr id="14" name="Rectangle 13"/>
          <p:cNvSpPr/>
          <p:nvPr/>
        </p:nvSpPr>
        <p:spPr>
          <a:xfrm>
            <a:off x="5715000" y="4533900"/>
            <a:ext cx="6858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Conceptual schema</a:t>
            </a:r>
          </a:p>
        </p:txBody>
      </p:sp>
      <p:sp>
        <p:nvSpPr>
          <p:cNvPr id="15" name="Rectangle 14"/>
          <p:cNvSpPr/>
          <p:nvPr/>
        </p:nvSpPr>
        <p:spPr>
          <a:xfrm>
            <a:off x="5715000" y="6057900"/>
            <a:ext cx="6858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Internal (physical) schema</a:t>
            </a:r>
          </a:p>
        </p:txBody>
      </p:sp>
      <p:sp>
        <p:nvSpPr>
          <p:cNvPr id="16" name="Rectangle 15"/>
          <p:cNvSpPr/>
          <p:nvPr/>
        </p:nvSpPr>
        <p:spPr>
          <a:xfrm>
            <a:off x="5715000" y="7658100"/>
            <a:ext cx="6858000" cy="6858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Stored database on disk</a:t>
            </a:r>
          </a:p>
        </p:txBody>
      </p:sp>
      <p:sp>
        <p:nvSpPr>
          <p:cNvPr id="17" name="TextBox 16"/>
          <p:cNvSpPr txBox="1"/>
          <p:nvPr/>
        </p:nvSpPr>
        <p:spPr>
          <a:xfrm>
            <a:off x="1219200" y="2971800"/>
            <a:ext cx="2286000" cy="330365"/>
          </a:xfrm>
          <a:prstGeom prst="rect">
            <a:avLst/>
          </a:prstGeom>
          <a:noFill/>
        </p:spPr>
        <p:txBody>
          <a:bodyPr wrap="square" lIns="0" rIns="0" tIns="0" bIns="0" anchor="t"/>
          <a:lstStyle/>
          <a:p>
            <a:pPr algn="l">
              <a:lnSpc>
                <a:spcPct val="111800"/>
              </a:lnSpc>
            </a:pPr>
            <a:r>
              <a:rPr sz="1794" b="1" i="0" u="none">
                <a:solidFill>
                  <a:srgbClr val="C8102E"/>
                </a:solidFill>
                <a:latin typeface="Calibri"/>
              </a:rPr>
              <a:t>External level</a:t>
            </a:r>
          </a:p>
        </p:txBody>
      </p:sp>
      <p:sp>
        <p:nvSpPr>
          <p:cNvPr id="18" name="TextBox 17"/>
          <p:cNvSpPr txBox="1"/>
          <p:nvPr/>
        </p:nvSpPr>
        <p:spPr>
          <a:xfrm>
            <a:off x="1219200" y="4781550"/>
            <a:ext cx="2286000" cy="330365"/>
          </a:xfrm>
          <a:prstGeom prst="rect">
            <a:avLst/>
          </a:prstGeom>
          <a:noFill/>
        </p:spPr>
        <p:txBody>
          <a:bodyPr wrap="square" lIns="0" rIns="0" tIns="0" bIns="0" anchor="t"/>
          <a:lstStyle/>
          <a:p>
            <a:pPr algn="l">
              <a:lnSpc>
                <a:spcPct val="111800"/>
              </a:lnSpc>
            </a:pPr>
            <a:r>
              <a:rPr sz="1794" b="1" i="0" u="none">
                <a:solidFill>
                  <a:srgbClr val="C8102E"/>
                </a:solidFill>
                <a:latin typeface="Calibri"/>
              </a:rPr>
              <a:t>Conceptual level</a:t>
            </a:r>
          </a:p>
        </p:txBody>
      </p:sp>
      <p:sp>
        <p:nvSpPr>
          <p:cNvPr id="19" name="TextBox 18"/>
          <p:cNvSpPr txBox="1"/>
          <p:nvPr/>
        </p:nvSpPr>
        <p:spPr>
          <a:xfrm>
            <a:off x="1219200" y="6305550"/>
            <a:ext cx="2286000" cy="330365"/>
          </a:xfrm>
          <a:prstGeom prst="rect">
            <a:avLst/>
          </a:prstGeom>
          <a:noFill/>
        </p:spPr>
        <p:txBody>
          <a:bodyPr wrap="square" lIns="0" rIns="0" tIns="0" bIns="0" anchor="t"/>
          <a:lstStyle/>
          <a:p>
            <a:pPr algn="l">
              <a:lnSpc>
                <a:spcPct val="111800"/>
              </a:lnSpc>
            </a:pPr>
            <a:r>
              <a:rPr sz="1794" b="1" i="0" u="none">
                <a:solidFill>
                  <a:srgbClr val="C8102E"/>
                </a:solidFill>
                <a:latin typeface="Calibri"/>
              </a:rPr>
              <a:t>Internal level</a:t>
            </a:r>
          </a:p>
        </p:txBody>
      </p:sp>
      <p:sp>
        <p:nvSpPr>
          <p:cNvPr id="20" name="TextBox 19"/>
          <p:cNvSpPr txBox="1"/>
          <p:nvPr/>
        </p:nvSpPr>
        <p:spPr>
          <a:xfrm>
            <a:off x="12763500" y="3962400"/>
            <a:ext cx="4000500" cy="304952"/>
          </a:xfrm>
          <a:prstGeom prst="rect">
            <a:avLst/>
          </a:prstGeom>
          <a:noFill/>
        </p:spPr>
        <p:txBody>
          <a:bodyPr wrap="square" lIns="0" rIns="0" tIns="0" bIns="0" anchor="t"/>
          <a:lstStyle/>
          <a:p>
            <a:pPr algn="l">
              <a:lnSpc>
                <a:spcPct val="111800"/>
              </a:lnSpc>
            </a:pPr>
            <a:r>
              <a:rPr sz="1656" b="0" i="1" u="none">
                <a:solidFill>
                  <a:srgbClr val="64748B"/>
                </a:solidFill>
                <a:latin typeface="Calibri"/>
              </a:rPr>
              <a:t>external / conceptual mapping</a:t>
            </a:r>
          </a:p>
        </p:txBody>
      </p:sp>
      <p:sp>
        <p:nvSpPr>
          <p:cNvPr id="21" name="TextBox 20"/>
          <p:cNvSpPr txBox="1"/>
          <p:nvPr/>
        </p:nvSpPr>
        <p:spPr>
          <a:xfrm>
            <a:off x="12763500" y="5562600"/>
            <a:ext cx="4000500" cy="304952"/>
          </a:xfrm>
          <a:prstGeom prst="rect">
            <a:avLst/>
          </a:prstGeom>
          <a:noFill/>
        </p:spPr>
        <p:txBody>
          <a:bodyPr wrap="square" lIns="0" rIns="0" tIns="0" bIns="0" anchor="t"/>
          <a:lstStyle/>
          <a:p>
            <a:pPr algn="l">
              <a:lnSpc>
                <a:spcPct val="111800"/>
              </a:lnSpc>
            </a:pPr>
            <a:r>
              <a:rPr sz="1656" b="0" i="1" u="none">
                <a:solidFill>
                  <a:srgbClr val="64748B"/>
                </a:solidFill>
                <a:latin typeface="Calibri"/>
              </a:rPr>
              <a:t>conceptual / internal mapping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ARCHITECTURE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17/35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each level describes</a:t>
            </a:r>
          </a:p>
        </p:txBody>
      </p:sp>
      <p:graphicFrame>
        <p:nvGraphicFramePr>
          <p:cNvPr id="6" name="Table 5"/>
          <p:cNvGraphicFramePr>
            <a:graphicFrameLocks noGrp="1"/>
          </p:cNvGraphicFramePr>
          <p:nvPr/>
        </p:nvGraphicFramePr>
        <p:xfrm>
          <a:off x="914400" y="2482024"/>
          <a:ext cx="16459200" cy="3964098"/>
        </p:xfrm>
        <a:graphic>
          <a:graphicData uri="http://schemas.openxmlformats.org/drawingml/2006/table">
            <a:tbl>
              <a:tblPr firstRow="0" bandRow="0">
                <a:tableStyleId>{5940675A-B579-460E-94D1-54222C63F5DA}</a:tableStyleId>
              </a:tblPr>
              <a:tblGrid>
                <a:gridCol w="3950208"/>
                <a:gridCol w="4937760"/>
                <a:gridCol w="7571232"/>
              </a:tblGrid>
              <a:tr h="676713">
                <a:tc>
                  <a:txBody>
                    <a:bodyPr/>
                    <a:lstStyle/>
                    <a:p>
                      <a:r>
                        <a:rPr sz="2704" b="1" i="0" u="none">
                          <a:solidFill>
                            <a:srgbClr val="FFFFFF"/>
                          </a:solidFill>
                          <a:latin typeface="Arial"/>
                        </a:rPr>
                        <a:t>Level</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Answers</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Example in the COMPANY database</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External (user view)</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What does </a:t>
                      </a:r>
                      <a:r>
                        <a:rPr sz="2704" b="0" i="1" u="none">
                          <a:solidFill>
                            <a:srgbClr val="334155"/>
                          </a:solidFill>
                          <a:latin typeface="Calibri"/>
                        </a:rPr>
                        <a:t>this</a:t>
                      </a:r>
                      <a:r>
                        <a:rPr sz="2704" b="0" i="0" u="none">
                          <a:solidFill>
                            <a:srgbClr val="334155"/>
                          </a:solidFill>
                          <a:latin typeface="Calibri"/>
                        </a:rPr>
                        <a:t> user see?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HR sees name + salary; a project manager sees name + project + hours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Conceptual (logical)</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What data exists and how is it related?</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Tables EMPLOYEE, DEPARTMENT, PROJECT with keys and constraints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Internal (physical)</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How is it stored and accessed?</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Data files, pages, a B-tree index on SSN, compression</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6899515"/>
            <a:ext cx="16459200" cy="1924613"/>
          </a:xfrm>
          <a:prstGeom prst="rect">
            <a:avLst/>
          </a:prstGeom>
          <a:solidFill>
            <a:srgbClr val="E6F4F4"/>
          </a:solidFill>
          <a:ln>
            <a:noFill/>
          </a:ln>
        </p:spPr>
        <p:txBody>
          <a:bodyPr rtlCol="0" anchor="ctr" lIns="0" rIns="0" tIns="0" bIns="0"/>
          <a:lstStyle/>
          <a:p>
            <a:pPr algn="ctr"/>
          </a:p>
        </p:txBody>
      </p:sp>
      <p:sp>
        <p:nvSpPr>
          <p:cNvPr id="8" name="Rectangle 7"/>
          <p:cNvSpPr/>
          <p:nvPr/>
        </p:nvSpPr>
        <p:spPr>
          <a:xfrm>
            <a:off x="914400" y="6899515"/>
            <a:ext cx="47625" cy="1924613"/>
          </a:xfrm>
          <a:prstGeom prst="rect">
            <a:avLst/>
          </a:prstGeom>
          <a:solidFill>
            <a:srgbClr val="0E8A8A"/>
          </a:solidFill>
          <a:ln>
            <a:noFill/>
          </a:ln>
        </p:spPr>
        <p:txBody>
          <a:bodyPr rtlCol="0" anchor="ctr" lIns="0" rIns="0" tIns="0" bIns="0"/>
          <a:lstStyle/>
          <a:p>
            <a:pPr algn="ctr"/>
          </a:p>
        </p:txBody>
      </p:sp>
      <p:sp>
        <p:nvSpPr>
          <p:cNvPr id="9" name="TextBox 8"/>
          <p:cNvSpPr txBox="1"/>
          <p:nvPr/>
        </p:nvSpPr>
        <p:spPr>
          <a:xfrm>
            <a:off x="1341120" y="7166215"/>
            <a:ext cx="15605760" cy="1391213"/>
          </a:xfrm>
          <a:prstGeom prst="rect">
            <a:avLst/>
          </a:prstGeom>
          <a:noFill/>
        </p:spPr>
        <p:txBody>
          <a:bodyPr wrap="square" lIns="0" rIns="0" tIns="0" bIns="0"/>
          <a:lstStyle/>
          <a:p>
            <a:pPr>
              <a:lnSpc>
                <a:spcPct val="112000"/>
              </a:lnSpc>
            </a:pPr>
            <a:r>
              <a:rPr sz="2704" b="1" i="0" u="none">
                <a:solidFill>
                  <a:srgbClr val="0F172A"/>
                </a:solidFill>
                <a:latin typeface="Calibri"/>
              </a:rPr>
              <a:t>Mappings</a:t>
            </a:r>
            <a:r>
              <a:rPr sz="2704" b="0" i="0" u="none">
                <a:solidFill>
                  <a:srgbClr val="0F172A"/>
                </a:solidFill>
                <a:latin typeface="Calibri"/>
              </a:rPr>
              <a:t> translate a request from one level to the next (e.g. a view query → a query on base tables → page reads). These mappings can be time-consuming, but some mapping between the conceptual and internal levels is always necessary.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ARCHITECTURE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18/35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Data independence</a:t>
            </a:r>
          </a:p>
        </p:txBody>
      </p:sp>
      <p:cxnSp>
        <p:nvCxnSpPr>
          <p:cNvPr id="6" name="Connector 5"/>
          <p:cNvCxnSpPr/>
          <p:nvPr/>
        </p:nvCxnSpPr>
        <p:spPr>
          <a:xfrm>
            <a:off x="6286500" y="4410075"/>
            <a:ext cx="0" cy="895350"/>
          </a:xfrm>
          <a:prstGeom prst="line">
            <a:avLst/>
          </a:prstGeom>
          <a:ln w="23812">
            <a:solidFill>
              <a:srgbClr val="0F172A"/>
            </a:solidFill>
          </a:ln>
        </p:spPr>
      </p:cxnSp>
      <p:cxnSp>
        <p:nvCxnSpPr>
          <p:cNvPr id="7" name="Connector 6"/>
          <p:cNvCxnSpPr/>
          <p:nvPr/>
        </p:nvCxnSpPr>
        <p:spPr>
          <a:xfrm>
            <a:off x="6286500" y="6124575"/>
            <a:ext cx="0" cy="895350"/>
          </a:xfrm>
          <a:prstGeom prst="line">
            <a:avLst/>
          </a:prstGeom>
          <a:ln w="23812">
            <a:solidFill>
              <a:srgbClr val="0F172A"/>
            </a:solidFill>
          </a:ln>
        </p:spPr>
      </p:cxnSp>
      <p:sp>
        <p:nvSpPr>
          <p:cNvPr id="8" name="Rectangle 7"/>
          <p:cNvSpPr/>
          <p:nvPr/>
        </p:nvSpPr>
        <p:spPr>
          <a:xfrm>
            <a:off x="4000500" y="3590925"/>
            <a:ext cx="4572000" cy="8191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External schemas (views)</a:t>
            </a:r>
          </a:p>
        </p:txBody>
      </p:sp>
      <p:sp>
        <p:nvSpPr>
          <p:cNvPr id="9" name="Rectangle 8"/>
          <p:cNvSpPr/>
          <p:nvPr/>
        </p:nvSpPr>
        <p:spPr>
          <a:xfrm>
            <a:off x="4000500" y="5305425"/>
            <a:ext cx="4572000" cy="8191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Conceptual schema</a:t>
            </a:r>
          </a:p>
        </p:txBody>
      </p:sp>
      <p:sp>
        <p:nvSpPr>
          <p:cNvPr id="10" name="Rectangle 9"/>
          <p:cNvSpPr/>
          <p:nvPr/>
        </p:nvSpPr>
        <p:spPr>
          <a:xfrm>
            <a:off x="4000500" y="7019925"/>
            <a:ext cx="4572000" cy="8191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Internal schema</a:t>
            </a:r>
          </a:p>
        </p:txBody>
      </p:sp>
      <p:sp>
        <p:nvSpPr>
          <p:cNvPr id="11" name="TextBox 10"/>
          <p:cNvSpPr txBox="1"/>
          <p:nvPr/>
        </p:nvSpPr>
        <p:spPr>
          <a:xfrm>
            <a:off x="1219200" y="2762250"/>
            <a:ext cx="15849600" cy="381190"/>
          </a:xfrm>
          <a:prstGeom prst="rect">
            <a:avLst/>
          </a:prstGeom>
          <a:noFill/>
        </p:spPr>
        <p:txBody>
          <a:bodyPr wrap="square" lIns="0" rIns="0" tIns="0" bIns="0" anchor="t"/>
          <a:lstStyle/>
          <a:p>
            <a:pPr algn="l">
              <a:lnSpc>
                <a:spcPct val="111800"/>
              </a:lnSpc>
            </a:pPr>
            <a:r>
              <a:rPr sz="2070" b="0" i="0" u="none">
                <a:solidFill>
                  <a:srgbClr val="0F172A"/>
                </a:solidFill>
                <a:latin typeface="Calibri"/>
              </a:rPr>
              <a:t>The capacity to change the schema at one level </a:t>
            </a:r>
            <a:r>
              <a:rPr sz="2070" b="1" i="0" u="none">
                <a:solidFill>
                  <a:srgbClr val="0F172A"/>
                </a:solidFill>
                <a:latin typeface="Calibri"/>
              </a:rPr>
              <a:t>without changing the level above it</a:t>
            </a:r>
            <a:r>
              <a:rPr sz="2070" b="0" i="0" u="none">
                <a:solidFill>
                  <a:srgbClr val="0F172A"/>
                </a:solidFill>
                <a:latin typeface="Calibri"/>
              </a:rPr>
              <a:t>.</a:t>
            </a:r>
          </a:p>
        </p:txBody>
      </p:sp>
      <p:cxnSp>
        <p:nvCxnSpPr>
          <p:cNvPr id="12" name="Connector 11"/>
          <p:cNvCxnSpPr/>
          <p:nvPr/>
        </p:nvCxnSpPr>
        <p:spPr>
          <a:xfrm>
            <a:off x="3810000" y="4048125"/>
            <a:ext cx="0" cy="1619250"/>
          </a:xfrm>
          <a:prstGeom prst="line">
            <a:avLst/>
          </a:prstGeom>
          <a:ln w="38100">
            <a:solidFill>
              <a:srgbClr val="0E8A8A"/>
            </a:solidFill>
            <a:tailEnd type="triangle"/>
            <a:headEnd type="triangle"/>
          </a:ln>
        </p:spPr>
      </p:cxnSp>
      <p:sp>
        <p:nvSpPr>
          <p:cNvPr id="13" name="TextBox 12"/>
          <p:cNvSpPr txBox="1"/>
          <p:nvPr/>
        </p:nvSpPr>
        <p:spPr>
          <a:xfrm>
            <a:off x="1219200" y="4476750"/>
            <a:ext cx="2476500" cy="330365"/>
          </a:xfrm>
          <a:prstGeom prst="rect">
            <a:avLst/>
          </a:prstGeom>
          <a:noFill/>
        </p:spPr>
        <p:txBody>
          <a:bodyPr wrap="square" lIns="0" rIns="0" tIns="0" bIns="0" anchor="t"/>
          <a:lstStyle/>
          <a:p>
            <a:pPr algn="r">
              <a:lnSpc>
                <a:spcPct val="111800"/>
              </a:lnSpc>
            </a:pPr>
            <a:r>
              <a:rPr sz="1794" b="1" i="0" u="none">
                <a:solidFill>
                  <a:srgbClr val="0E8A8A"/>
                </a:solidFill>
                <a:latin typeface="Calibri"/>
              </a:rPr>
              <a:t>Logical independence</a:t>
            </a:r>
          </a:p>
        </p:txBody>
      </p:sp>
      <p:cxnSp>
        <p:nvCxnSpPr>
          <p:cNvPr id="14" name="Connector 13"/>
          <p:cNvCxnSpPr/>
          <p:nvPr/>
        </p:nvCxnSpPr>
        <p:spPr>
          <a:xfrm>
            <a:off x="3810000" y="5762625"/>
            <a:ext cx="0" cy="1619250"/>
          </a:xfrm>
          <a:prstGeom prst="line">
            <a:avLst/>
          </a:prstGeom>
          <a:ln w="38100">
            <a:solidFill>
              <a:srgbClr val="C8102E"/>
            </a:solidFill>
            <a:tailEnd type="triangle"/>
            <a:headEnd type="triangle"/>
          </a:ln>
        </p:spPr>
      </p:cxnSp>
      <p:sp>
        <p:nvSpPr>
          <p:cNvPr id="15" name="TextBox 14"/>
          <p:cNvSpPr txBox="1"/>
          <p:nvPr/>
        </p:nvSpPr>
        <p:spPr>
          <a:xfrm>
            <a:off x="1219200" y="6191250"/>
            <a:ext cx="2476500" cy="330365"/>
          </a:xfrm>
          <a:prstGeom prst="rect">
            <a:avLst/>
          </a:prstGeom>
          <a:noFill/>
        </p:spPr>
        <p:txBody>
          <a:bodyPr wrap="square" lIns="0" rIns="0" tIns="0" bIns="0" anchor="t"/>
          <a:lstStyle/>
          <a:p>
            <a:pPr algn="r">
              <a:lnSpc>
                <a:spcPct val="111800"/>
              </a:lnSpc>
            </a:pPr>
            <a:r>
              <a:rPr sz="1794" b="1" i="0" u="none">
                <a:solidFill>
                  <a:srgbClr val="C8102E"/>
                </a:solidFill>
                <a:latin typeface="Calibri"/>
              </a:rPr>
              <a:t>Physical independence</a:t>
            </a:r>
          </a:p>
        </p:txBody>
      </p:sp>
      <p:sp>
        <p:nvSpPr>
          <p:cNvPr id="16" name="Rectangle 15"/>
          <p:cNvSpPr/>
          <p:nvPr/>
        </p:nvSpPr>
        <p:spPr>
          <a:xfrm>
            <a:off x="9525000" y="3619500"/>
            <a:ext cx="7543800" cy="2488730"/>
          </a:xfrm>
          <a:prstGeom prst="rect">
            <a:avLst/>
          </a:prstGeom>
          <a:solidFill>
            <a:srgbClr val="E6F4F4"/>
          </a:solidFill>
          <a:ln w="14287">
            <a:solidFill>
              <a:srgbClr val="B7DCDC"/>
            </a:solidFill>
          </a:ln>
        </p:spPr>
        <p:txBody>
          <a:bodyPr rtlCol="0" anchor="ctr" lIns="0" rIns="0" tIns="0" bIns="0"/>
          <a:lstStyle/>
          <a:p>
            <a:pPr algn="ctr"/>
          </a:p>
        </p:txBody>
      </p:sp>
      <p:sp>
        <p:nvSpPr>
          <p:cNvPr id="17" name="TextBox 16"/>
          <p:cNvSpPr txBox="1"/>
          <p:nvPr/>
        </p:nvSpPr>
        <p:spPr>
          <a:xfrm>
            <a:off x="9810750" y="3905250"/>
            <a:ext cx="6972300" cy="378561"/>
          </a:xfrm>
          <a:prstGeom prst="rect">
            <a:avLst/>
          </a:prstGeom>
          <a:noFill/>
        </p:spPr>
        <p:txBody>
          <a:bodyPr wrap="square" lIns="0" rIns="0" tIns="0" bIns="0" anchor="t"/>
          <a:lstStyle/>
          <a:p>
            <a:pPr algn="l">
              <a:lnSpc>
                <a:spcPct val="103200"/>
              </a:lnSpc>
            </a:pPr>
            <a:r>
              <a:rPr sz="2208" b="1" i="0" u="none">
                <a:solidFill>
                  <a:srgbClr val="0E8A8A"/>
                </a:solidFill>
                <a:latin typeface="Arial"/>
              </a:rPr>
              <a:t>Logical data independence</a:t>
            </a:r>
          </a:p>
        </p:txBody>
      </p:sp>
      <p:sp>
        <p:nvSpPr>
          <p:cNvPr id="18" name="TextBox 17"/>
          <p:cNvSpPr txBox="1"/>
          <p:nvPr/>
        </p:nvSpPr>
        <p:spPr>
          <a:xfrm>
            <a:off x="9810750" y="4398111"/>
            <a:ext cx="69723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Change the </a:t>
            </a:r>
            <a:r>
              <a:rPr sz="1794" b="1" i="0" u="none">
                <a:solidFill>
                  <a:srgbClr val="334155"/>
                </a:solidFill>
                <a:latin typeface="Calibri"/>
              </a:rPr>
              <a:t>conceptual</a:t>
            </a:r>
            <a:r>
              <a:rPr sz="1794" b="0" i="0" u="none">
                <a:solidFill>
                  <a:srgbClr val="334155"/>
                </a:solidFill>
                <a:latin typeface="Calibri"/>
              </a:rPr>
              <a:t> schema; external schemas and programs keep working.</a:t>
            </a:r>
          </a:p>
        </p:txBody>
      </p:sp>
      <p:sp>
        <p:nvSpPr>
          <p:cNvPr id="19" name="TextBox 18"/>
          <p:cNvSpPr txBox="1"/>
          <p:nvPr/>
        </p:nvSpPr>
        <p:spPr>
          <a:xfrm>
            <a:off x="9810750" y="5138966"/>
            <a:ext cx="6972300" cy="683514"/>
          </a:xfrm>
          <a:prstGeom prst="rect">
            <a:avLst/>
          </a:prstGeom>
          <a:noFill/>
        </p:spPr>
        <p:txBody>
          <a:bodyPr wrap="square" lIns="0" rIns="0" tIns="0" bIns="0" anchor="t"/>
          <a:lstStyle/>
          <a:p>
            <a:pPr algn="l" marL="250621" indent="-250621">
              <a:lnSpc>
                <a:spcPct val="111800"/>
              </a:lnSpc>
              <a:buChar char="•"/>
            </a:pPr>
            <a:r>
              <a:rPr sz="1794" b="0" i="0" u="none">
                <a:solidFill>
                  <a:srgbClr val="334155"/>
                </a:solidFill>
                <a:latin typeface="Calibri"/>
              </a:rPr>
              <a:t>Add a column </a:t>
            </a:r>
            <a:r>
              <a:rPr sz="1794" b="0" i="0" u="none">
                <a:solidFill>
                  <a:srgbClr val="0F172A"/>
                </a:solidFill>
                <a:latin typeface="Courier New"/>
              </a:rPr>
              <a:t>Email</a:t>
            </a:r>
            <a:r>
              <a:rPr sz="1794" b="0" i="0" u="none">
                <a:solidFill>
                  <a:srgbClr val="334155"/>
                </a:solidFill>
                <a:latin typeface="Calibri"/>
              </a:rPr>
              <a:t> to EMPLOYEE</a:t>
            </a:r>
          </a:p>
          <a:p>
            <a:pPr algn="l" marL="250621" indent="-250621">
              <a:lnSpc>
                <a:spcPct val="111800"/>
              </a:lnSpc>
              <a:spcBef>
                <a:spcPts val="448"/>
              </a:spcBef>
              <a:buChar char="•"/>
            </a:pPr>
            <a:r>
              <a:rPr sz="1794" b="0" i="0" u="none">
                <a:solidFill>
                  <a:srgbClr val="334155"/>
                </a:solidFill>
                <a:latin typeface="Calibri"/>
              </a:rPr>
              <a:t>Split a table; old views still work</a:t>
            </a:r>
          </a:p>
        </p:txBody>
      </p:sp>
      <p:sp>
        <p:nvSpPr>
          <p:cNvPr id="20" name="Rectangle 19"/>
          <p:cNvSpPr/>
          <p:nvPr/>
        </p:nvSpPr>
        <p:spPr>
          <a:xfrm>
            <a:off x="9525000" y="6298730"/>
            <a:ext cx="7543800" cy="2488730"/>
          </a:xfrm>
          <a:prstGeom prst="rect">
            <a:avLst/>
          </a:prstGeom>
          <a:solidFill>
            <a:srgbClr val="FDECEF"/>
          </a:solidFill>
          <a:ln w="14287">
            <a:solidFill>
              <a:srgbClr val="F5C2CB"/>
            </a:solidFill>
          </a:ln>
        </p:spPr>
        <p:txBody>
          <a:bodyPr rtlCol="0" anchor="ctr" lIns="0" rIns="0" tIns="0" bIns="0"/>
          <a:lstStyle/>
          <a:p>
            <a:pPr algn="ctr"/>
          </a:p>
        </p:txBody>
      </p:sp>
      <p:sp>
        <p:nvSpPr>
          <p:cNvPr id="21" name="TextBox 20"/>
          <p:cNvSpPr txBox="1"/>
          <p:nvPr/>
        </p:nvSpPr>
        <p:spPr>
          <a:xfrm>
            <a:off x="9810750" y="6584480"/>
            <a:ext cx="6972300" cy="378561"/>
          </a:xfrm>
          <a:prstGeom prst="rect">
            <a:avLst/>
          </a:prstGeom>
          <a:noFill/>
        </p:spPr>
        <p:txBody>
          <a:bodyPr wrap="square" lIns="0" rIns="0" tIns="0" bIns="0" anchor="t"/>
          <a:lstStyle/>
          <a:p>
            <a:pPr algn="l">
              <a:lnSpc>
                <a:spcPct val="103200"/>
              </a:lnSpc>
            </a:pPr>
            <a:r>
              <a:rPr sz="2208" b="1" i="0" u="none">
                <a:solidFill>
                  <a:srgbClr val="C8102E"/>
                </a:solidFill>
                <a:latin typeface="Arial"/>
              </a:rPr>
              <a:t>Physical data independence</a:t>
            </a:r>
          </a:p>
        </p:txBody>
      </p:sp>
      <p:sp>
        <p:nvSpPr>
          <p:cNvPr id="22" name="TextBox 21"/>
          <p:cNvSpPr txBox="1"/>
          <p:nvPr/>
        </p:nvSpPr>
        <p:spPr>
          <a:xfrm>
            <a:off x="9810750" y="7077341"/>
            <a:ext cx="69723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Change the </a:t>
            </a:r>
            <a:r>
              <a:rPr sz="1794" b="1" i="0" u="none">
                <a:solidFill>
                  <a:srgbClr val="334155"/>
                </a:solidFill>
                <a:latin typeface="Calibri"/>
              </a:rPr>
              <a:t>internal</a:t>
            </a:r>
            <a:r>
              <a:rPr sz="1794" b="0" i="0" u="none">
                <a:solidFill>
                  <a:srgbClr val="334155"/>
                </a:solidFill>
                <a:latin typeface="Calibri"/>
              </a:rPr>
              <a:t> schema; the conceptual schema stays the same.</a:t>
            </a:r>
          </a:p>
        </p:txBody>
      </p:sp>
      <p:sp>
        <p:nvSpPr>
          <p:cNvPr id="23" name="TextBox 22"/>
          <p:cNvSpPr txBox="1"/>
          <p:nvPr/>
        </p:nvSpPr>
        <p:spPr>
          <a:xfrm>
            <a:off x="9810750" y="7818196"/>
            <a:ext cx="6972300" cy="683514"/>
          </a:xfrm>
          <a:prstGeom prst="rect">
            <a:avLst/>
          </a:prstGeom>
          <a:noFill/>
        </p:spPr>
        <p:txBody>
          <a:bodyPr wrap="square" lIns="0" rIns="0" tIns="0" bIns="0" anchor="t"/>
          <a:lstStyle/>
          <a:p>
            <a:pPr algn="l" marL="250621" indent="-250621">
              <a:lnSpc>
                <a:spcPct val="111800"/>
              </a:lnSpc>
              <a:buChar char="•"/>
            </a:pPr>
            <a:r>
              <a:rPr sz="1794" b="0" i="0" u="none">
                <a:solidFill>
                  <a:srgbClr val="334155"/>
                </a:solidFill>
                <a:latin typeface="Calibri"/>
              </a:rPr>
              <a:t>Add an index on </a:t>
            </a:r>
            <a:r>
              <a:rPr sz="1794" b="0" i="0" u="none">
                <a:solidFill>
                  <a:srgbClr val="0F172A"/>
                </a:solidFill>
                <a:latin typeface="Courier New"/>
              </a:rPr>
              <a:t>Salary</a:t>
            </a:r>
          </a:p>
          <a:p>
            <a:pPr algn="l" marL="250621" indent="-250621">
              <a:lnSpc>
                <a:spcPct val="111800"/>
              </a:lnSpc>
              <a:spcBef>
                <a:spcPts val="448"/>
              </a:spcBef>
              <a:buChar char="•"/>
            </a:pPr>
            <a:r>
              <a:rPr sz="1794" b="0" i="0" u="none">
                <a:solidFill>
                  <a:srgbClr val="334155"/>
                </a:solidFill>
                <a:latin typeface="Calibri"/>
              </a:rPr>
              <a:t>Move data files to a faster disk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DATA MODELS</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19/35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Three kinds of data models</a:t>
            </a:r>
          </a:p>
        </p:txBody>
      </p:sp>
      <p:sp>
        <p:nvSpPr>
          <p:cNvPr id="6" name="Rectangle 5"/>
          <p:cNvSpPr/>
          <p:nvPr/>
        </p:nvSpPr>
        <p:spPr>
          <a:xfrm>
            <a:off x="914400" y="2482024"/>
            <a:ext cx="4815840" cy="5236262"/>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85875" y="2853499"/>
            <a:ext cx="4072889"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Lesson 2</a:t>
            </a:r>
          </a:p>
        </p:txBody>
      </p:sp>
      <p:sp>
        <p:nvSpPr>
          <p:cNvPr id="8" name="TextBox 7"/>
          <p:cNvSpPr txBox="1"/>
          <p:nvPr/>
        </p:nvSpPr>
        <p:spPr>
          <a:xfrm>
            <a:off x="1285875" y="3398527"/>
            <a:ext cx="4072889" cy="987677"/>
          </a:xfrm>
          <a:prstGeom prst="rect">
            <a:avLst/>
          </a:prstGeom>
          <a:noFill/>
        </p:spPr>
        <p:txBody>
          <a:bodyPr wrap="square" lIns="0" rIns="0" tIns="0" bIns="0" anchor="t"/>
          <a:lstStyle/>
          <a:p>
            <a:pPr algn="l">
              <a:lnSpc>
                <a:spcPct val="103200"/>
              </a:lnSpc>
            </a:pPr>
            <a:r>
              <a:rPr sz="3049" b="1" i="0" u="none">
                <a:solidFill>
                  <a:srgbClr val="0F172A"/>
                </a:solidFill>
                <a:latin typeface="Arial"/>
              </a:rPr>
              <a:t>Conceptual (high level)</a:t>
            </a:r>
          </a:p>
        </p:txBody>
      </p:sp>
      <p:sp>
        <p:nvSpPr>
          <p:cNvPr id="9" name="TextBox 8"/>
          <p:cNvSpPr txBox="1"/>
          <p:nvPr/>
        </p:nvSpPr>
        <p:spPr>
          <a:xfrm>
            <a:off x="1285875" y="4534795"/>
            <a:ext cx="4072889"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Close to how users think: </a:t>
            </a:r>
            <a:r>
              <a:rPr sz="2511" b="1" i="0" u="none">
                <a:solidFill>
                  <a:srgbClr val="334155"/>
                </a:solidFill>
                <a:latin typeface="Calibri"/>
              </a:rPr>
              <a:t>entities, attributes, relationships</a:t>
            </a:r>
            <a:r>
              <a:rPr sz="2511" b="0" i="0" u="none">
                <a:solidFill>
                  <a:srgbClr val="334155"/>
                </a:solidFill>
                <a:latin typeface="Calibri"/>
              </a:rPr>
              <a:t>.</a:t>
            </a:r>
          </a:p>
        </p:txBody>
      </p:sp>
      <p:sp>
        <p:nvSpPr>
          <p:cNvPr id="10" name="TextBox 9"/>
          <p:cNvSpPr txBox="1"/>
          <p:nvPr/>
        </p:nvSpPr>
        <p:spPr>
          <a:xfrm>
            <a:off x="1285875" y="5975226"/>
            <a:ext cx="4072889" cy="462511"/>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Example: an ERD</a:t>
            </a:r>
          </a:p>
        </p:txBody>
      </p:sp>
      <p:sp>
        <p:nvSpPr>
          <p:cNvPr id="11" name="Right Arrow 10"/>
          <p:cNvSpPr/>
          <p:nvPr/>
        </p:nvSpPr>
        <p:spPr>
          <a:xfrm>
            <a:off x="6004560" y="4909655"/>
            <a:ext cx="457200" cy="381000"/>
          </a:xfrm>
          <a:prstGeom prst="rightArrow">
            <a:avLst/>
          </a:prstGeom>
          <a:solidFill>
            <a:srgbClr val="E2E8F0"/>
          </a:solidFill>
          <a:ln>
            <a:noFill/>
          </a:ln>
        </p:spPr>
        <p:txBody>
          <a:bodyPr rtlCol="0" anchor="ctr" lIns="0" rIns="0" tIns="0" bIns="0"/>
          <a:lstStyle/>
          <a:p>
            <a:pPr algn="ctr"/>
          </a:p>
        </p:txBody>
      </p:sp>
      <p:sp>
        <p:nvSpPr>
          <p:cNvPr id="12" name="Rectangle 11"/>
          <p:cNvSpPr/>
          <p:nvPr/>
        </p:nvSpPr>
        <p:spPr>
          <a:xfrm>
            <a:off x="6736079" y="2482024"/>
            <a:ext cx="4815840" cy="5236262"/>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7107554" y="2853499"/>
            <a:ext cx="4072889"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Lesson 3</a:t>
            </a:r>
          </a:p>
        </p:txBody>
      </p:sp>
      <p:sp>
        <p:nvSpPr>
          <p:cNvPr id="14" name="TextBox 13"/>
          <p:cNvSpPr txBox="1"/>
          <p:nvPr/>
        </p:nvSpPr>
        <p:spPr>
          <a:xfrm>
            <a:off x="7107554" y="3398527"/>
            <a:ext cx="4072889" cy="987677"/>
          </a:xfrm>
          <a:prstGeom prst="rect">
            <a:avLst/>
          </a:prstGeom>
          <a:noFill/>
        </p:spPr>
        <p:txBody>
          <a:bodyPr wrap="square" lIns="0" rIns="0" tIns="0" bIns="0" anchor="t"/>
          <a:lstStyle/>
          <a:p>
            <a:pPr algn="l">
              <a:lnSpc>
                <a:spcPct val="103200"/>
              </a:lnSpc>
            </a:pPr>
            <a:r>
              <a:rPr sz="3049" b="1" i="0" u="none">
                <a:solidFill>
                  <a:srgbClr val="0F172A"/>
                </a:solidFill>
                <a:latin typeface="Arial"/>
              </a:rPr>
              <a:t>Logical (representational)</a:t>
            </a:r>
          </a:p>
        </p:txBody>
      </p:sp>
      <p:sp>
        <p:nvSpPr>
          <p:cNvPr id="15" name="TextBox 14"/>
          <p:cNvSpPr txBox="1"/>
          <p:nvPr/>
        </p:nvSpPr>
        <p:spPr>
          <a:xfrm>
            <a:off x="7107554" y="4534795"/>
            <a:ext cx="4072889"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How data is organized for a DBMS, independent of storage.</a:t>
            </a:r>
          </a:p>
        </p:txBody>
      </p:sp>
      <p:sp>
        <p:nvSpPr>
          <p:cNvPr id="16" name="TextBox 15"/>
          <p:cNvSpPr txBox="1"/>
          <p:nvPr/>
        </p:nvSpPr>
        <p:spPr>
          <a:xfrm>
            <a:off x="7107554" y="5975226"/>
            <a:ext cx="4072889" cy="1371584"/>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Example: the relational model (tables)</a:t>
            </a:r>
          </a:p>
          <a:p>
            <a:pPr algn="l" marL="350870" indent="-350870">
              <a:lnSpc>
                <a:spcPct val="111800"/>
              </a:lnSpc>
              <a:spcBef>
                <a:spcPts val="627"/>
              </a:spcBef>
              <a:buChar char="•"/>
            </a:pPr>
            <a:r>
              <a:rPr sz="2511" b="0" i="0" u="none">
                <a:solidFill>
                  <a:srgbClr val="334155"/>
                </a:solidFill>
                <a:latin typeface="Calibri"/>
              </a:rPr>
              <a:t>Others: document, graph</a:t>
            </a:r>
          </a:p>
        </p:txBody>
      </p:sp>
      <p:sp>
        <p:nvSpPr>
          <p:cNvPr id="17" name="Right Arrow 16"/>
          <p:cNvSpPr/>
          <p:nvPr/>
        </p:nvSpPr>
        <p:spPr>
          <a:xfrm>
            <a:off x="11826240" y="4909655"/>
            <a:ext cx="457200" cy="381000"/>
          </a:xfrm>
          <a:prstGeom prst="rightArrow">
            <a:avLst/>
          </a:prstGeom>
          <a:solidFill>
            <a:srgbClr val="E2E8F0"/>
          </a:solidFill>
          <a:ln>
            <a:noFill/>
          </a:ln>
        </p:spPr>
        <p:txBody>
          <a:bodyPr rtlCol="0" anchor="ctr" lIns="0" rIns="0" tIns="0" bIns="0"/>
          <a:lstStyle/>
          <a:p>
            <a:pPr algn="ctr"/>
          </a:p>
        </p:txBody>
      </p:sp>
      <p:sp>
        <p:nvSpPr>
          <p:cNvPr id="18" name="Rectangle 17"/>
          <p:cNvSpPr/>
          <p:nvPr/>
        </p:nvSpPr>
        <p:spPr>
          <a:xfrm>
            <a:off x="12557759" y="2482024"/>
            <a:ext cx="4815840" cy="5236262"/>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12929234" y="2853499"/>
            <a:ext cx="4072889"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Lesson 4</a:t>
            </a:r>
          </a:p>
        </p:txBody>
      </p:sp>
      <p:sp>
        <p:nvSpPr>
          <p:cNvPr id="20" name="TextBox 19"/>
          <p:cNvSpPr txBox="1"/>
          <p:nvPr/>
        </p:nvSpPr>
        <p:spPr>
          <a:xfrm>
            <a:off x="12929234" y="3398527"/>
            <a:ext cx="407288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Physical (low level)</a:t>
            </a:r>
          </a:p>
        </p:txBody>
      </p:sp>
      <p:sp>
        <p:nvSpPr>
          <p:cNvPr id="21" name="TextBox 20"/>
          <p:cNvSpPr txBox="1"/>
          <p:nvPr/>
        </p:nvSpPr>
        <p:spPr>
          <a:xfrm>
            <a:off x="12929234" y="4070005"/>
            <a:ext cx="4072889"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How data is stored on disk and the </a:t>
            </a:r>
            <a:r>
              <a:rPr sz="2511" b="1" i="0" u="none">
                <a:solidFill>
                  <a:srgbClr val="334155"/>
                </a:solidFill>
                <a:latin typeface="Calibri"/>
              </a:rPr>
              <a:t>access paths</a:t>
            </a:r>
            <a:r>
              <a:rPr sz="2511" b="0" i="0" u="none">
                <a:solidFill>
                  <a:srgbClr val="334155"/>
                </a:solidFill>
                <a:latin typeface="Calibri"/>
              </a:rPr>
              <a:t> to find it.</a:t>
            </a:r>
          </a:p>
        </p:txBody>
      </p:sp>
      <p:sp>
        <p:nvSpPr>
          <p:cNvPr id="22" name="TextBox 21"/>
          <p:cNvSpPr txBox="1"/>
          <p:nvPr/>
        </p:nvSpPr>
        <p:spPr>
          <a:xfrm>
            <a:off x="12929234" y="5510437"/>
            <a:ext cx="4072889" cy="877176"/>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Example: files, pages, indexes</a:t>
            </a:r>
          </a:p>
        </p:txBody>
      </p:sp>
      <p:sp>
        <p:nvSpPr>
          <p:cNvPr id="23" name="Rectangle 22"/>
          <p:cNvSpPr/>
          <p:nvPr/>
        </p:nvSpPr>
        <p:spPr>
          <a:xfrm>
            <a:off x="914400" y="8139291"/>
            <a:ext cx="16459200" cy="1372476"/>
          </a:xfrm>
          <a:prstGeom prst="rect">
            <a:avLst/>
          </a:prstGeom>
          <a:solidFill>
            <a:srgbClr val="E6F4F4"/>
          </a:solidFill>
          <a:ln>
            <a:noFill/>
          </a:ln>
        </p:spPr>
        <p:txBody>
          <a:bodyPr rtlCol="0" anchor="ctr" lIns="0" rIns="0" tIns="0" bIns="0"/>
          <a:lstStyle/>
          <a:p>
            <a:pPr algn="ctr"/>
          </a:p>
        </p:txBody>
      </p:sp>
      <p:sp>
        <p:nvSpPr>
          <p:cNvPr id="24" name="Rectangle 23"/>
          <p:cNvSpPr/>
          <p:nvPr/>
        </p:nvSpPr>
        <p:spPr>
          <a:xfrm>
            <a:off x="914400" y="8139291"/>
            <a:ext cx="47625" cy="1372476"/>
          </a:xfrm>
          <a:prstGeom prst="rect">
            <a:avLst/>
          </a:prstGeom>
          <a:solidFill>
            <a:srgbClr val="0E8A8A"/>
          </a:solidFill>
          <a:ln>
            <a:noFill/>
          </a:ln>
        </p:spPr>
        <p:txBody>
          <a:bodyPr rtlCol="0" anchor="ctr" lIns="0" rIns="0" tIns="0" bIns="0"/>
          <a:lstStyle/>
          <a:p>
            <a:pPr algn="ctr"/>
          </a:p>
        </p:txBody>
      </p:sp>
      <p:sp>
        <p:nvSpPr>
          <p:cNvPr id="25" name="TextBox 24"/>
          <p:cNvSpPr txBox="1"/>
          <p:nvPr/>
        </p:nvSpPr>
        <p:spPr>
          <a:xfrm>
            <a:off x="1310640" y="8386941"/>
            <a:ext cx="15666720" cy="877176"/>
          </a:xfrm>
          <a:prstGeom prst="rect">
            <a:avLst/>
          </a:prstGeom>
          <a:noFill/>
        </p:spPr>
        <p:txBody>
          <a:bodyPr wrap="square" lIns="0" rIns="0" tIns="0" bIns="0"/>
          <a:lstStyle/>
          <a:p>
            <a:pPr>
              <a:lnSpc>
                <a:spcPct val="112000"/>
              </a:lnSpc>
            </a:pPr>
            <a:r>
              <a:rPr sz="2511" b="0" i="0" u="none">
                <a:solidFill>
                  <a:srgbClr val="0F172A"/>
                </a:solidFill>
                <a:latin typeface="Calibri"/>
              </a:rPr>
              <a:t>A </a:t>
            </a:r>
            <a:r>
              <a:rPr sz="2511" b="1" i="0" u="none">
                <a:solidFill>
                  <a:srgbClr val="0F172A"/>
                </a:solidFill>
                <a:latin typeface="Calibri"/>
              </a:rPr>
              <a:t>data model</a:t>
            </a:r>
            <a:r>
              <a:rPr sz="2511" b="0" i="0" u="none">
                <a:solidFill>
                  <a:srgbClr val="0F172A"/>
                </a:solidFill>
                <a:latin typeface="Calibri"/>
              </a:rPr>
              <a:t> is a set of concepts used to describe the structure of a database, the relationships in it and the constraints on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DATA MODELS</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20/35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 first look at the relational model</a:t>
            </a:r>
          </a:p>
        </p:txBody>
      </p:sp>
      <p:graphicFrame>
        <p:nvGraphicFramePr>
          <p:cNvPr id="6" name="Table 5"/>
          <p:cNvGraphicFramePr>
            <a:graphicFrameLocks noGrp="1"/>
          </p:cNvGraphicFramePr>
          <p:nvPr/>
        </p:nvGraphicFramePr>
        <p:xfrm>
          <a:off x="914400" y="2482024"/>
          <a:ext cx="9555478" cy="2706852"/>
        </p:xfrm>
        <a:graphic>
          <a:graphicData uri="http://schemas.openxmlformats.org/drawingml/2006/table">
            <a:tbl>
              <a:tblPr firstRow="0" bandRow="0">
                <a:tableStyleId>{5940675A-B579-460E-94D1-54222C63F5DA}</a:tableStyleId>
              </a:tblPr>
              <a:tblGrid>
                <a:gridCol w="2866644"/>
                <a:gridCol w="2484424"/>
                <a:gridCol w="2102205"/>
                <a:gridCol w="2102205"/>
              </a:tblGrid>
              <a:tr h="676713">
                <a:tc>
                  <a:txBody>
                    <a:bodyPr/>
                    <a:lstStyle/>
                    <a:p>
                      <a:r>
                        <a:rPr sz="2704" b="1" i="0" u="none">
                          <a:solidFill>
                            <a:srgbClr val="FFFFFF"/>
                          </a:solidFill>
                          <a:latin typeface="Arial"/>
                        </a:rPr>
                        <a:t>SSN</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Fname</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Salary</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Dno</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123456789</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John</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30000</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5</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333445555</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Franklin</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40000</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5</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999887777</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Alicia</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25000</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4</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TextBox 6"/>
          <p:cNvSpPr txBox="1"/>
          <p:nvPr/>
        </p:nvSpPr>
        <p:spPr>
          <a:xfrm>
            <a:off x="914400" y="5402240"/>
            <a:ext cx="9555480" cy="462511"/>
          </a:xfrm>
          <a:prstGeom prst="rect">
            <a:avLst/>
          </a:prstGeom>
          <a:noFill/>
        </p:spPr>
        <p:txBody>
          <a:bodyPr wrap="square" lIns="0" rIns="0" tIns="0" bIns="0" anchor="t"/>
          <a:lstStyle/>
          <a:p>
            <a:pPr algn="l">
              <a:lnSpc>
                <a:spcPct val="111800"/>
              </a:lnSpc>
            </a:pPr>
            <a:r>
              <a:rPr sz="2511" b="0" i="0" u="none">
                <a:solidFill>
                  <a:srgbClr val="64748B"/>
                </a:solidFill>
                <a:latin typeface="Calibri"/>
              </a:rPr>
              <a:t>Table </a:t>
            </a:r>
            <a:r>
              <a:rPr sz="2511" b="1" i="0" u="none">
                <a:solidFill>
                  <a:srgbClr val="64748B"/>
                </a:solidFill>
                <a:latin typeface="Calibri"/>
              </a:rPr>
              <a:t>EMPLOYEE</a:t>
            </a:r>
          </a:p>
        </p:txBody>
      </p:sp>
      <p:sp>
        <p:nvSpPr>
          <p:cNvPr id="8" name="Rectangle 7"/>
          <p:cNvSpPr/>
          <p:nvPr/>
        </p:nvSpPr>
        <p:spPr>
          <a:xfrm>
            <a:off x="11003280" y="2482024"/>
            <a:ext cx="6370320" cy="456398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1403330" y="2882074"/>
            <a:ext cx="5570220" cy="3763883"/>
          </a:xfrm>
          <a:prstGeom prst="rect">
            <a:avLst/>
          </a:prstGeom>
          <a:noFill/>
        </p:spPr>
        <p:txBody>
          <a:bodyPr wrap="square" lIns="0" rIns="0" tIns="0" bIns="0" anchor="t"/>
          <a:lstStyle/>
          <a:p>
            <a:pPr algn="l" marL="350870" indent="-350870">
              <a:lnSpc>
                <a:spcPct val="111800"/>
              </a:lnSpc>
              <a:buChar char="•"/>
            </a:pPr>
            <a:r>
              <a:rPr sz="2511" b="1" i="0" u="none">
                <a:solidFill>
                  <a:srgbClr val="334155"/>
                </a:solidFill>
                <a:latin typeface="Calibri"/>
              </a:rPr>
              <a:t>Relation</a:t>
            </a:r>
            <a:r>
              <a:rPr sz="2511" b="0" i="0" u="none">
                <a:solidFill>
                  <a:srgbClr val="334155"/>
                </a:solidFill>
                <a:latin typeface="Calibri"/>
              </a:rPr>
              <a:t> = table</a:t>
            </a:r>
          </a:p>
          <a:p>
            <a:pPr algn="l" marL="350870" indent="-350870">
              <a:lnSpc>
                <a:spcPct val="111800"/>
              </a:lnSpc>
              <a:spcBef>
                <a:spcPts val="627"/>
              </a:spcBef>
              <a:buChar char="•"/>
            </a:pPr>
            <a:r>
              <a:rPr sz="2511" b="1" i="0" u="none">
                <a:solidFill>
                  <a:srgbClr val="334155"/>
                </a:solidFill>
                <a:latin typeface="Calibri"/>
              </a:rPr>
              <a:t>Tuple</a:t>
            </a:r>
            <a:r>
              <a:rPr sz="2511" b="0" i="0" u="none">
                <a:solidFill>
                  <a:srgbClr val="334155"/>
                </a:solidFill>
                <a:latin typeface="Calibri"/>
              </a:rPr>
              <a:t> = row (one employee)</a:t>
            </a:r>
          </a:p>
          <a:p>
            <a:pPr algn="l" marL="350870" indent="-350870">
              <a:lnSpc>
                <a:spcPct val="111800"/>
              </a:lnSpc>
              <a:spcBef>
                <a:spcPts val="627"/>
              </a:spcBef>
              <a:buChar char="•"/>
            </a:pPr>
            <a:r>
              <a:rPr sz="2511" b="1" i="0" u="none">
                <a:solidFill>
                  <a:srgbClr val="334155"/>
                </a:solidFill>
                <a:latin typeface="Calibri"/>
              </a:rPr>
              <a:t>Attribute</a:t>
            </a:r>
            <a:r>
              <a:rPr sz="2511" b="0" i="0" u="none">
                <a:solidFill>
                  <a:srgbClr val="334155"/>
                </a:solidFill>
                <a:latin typeface="Calibri"/>
              </a:rPr>
              <a:t> = column</a:t>
            </a:r>
          </a:p>
          <a:p>
            <a:pPr algn="l" marL="350870" indent="-350870">
              <a:lnSpc>
                <a:spcPct val="111800"/>
              </a:lnSpc>
              <a:spcBef>
                <a:spcPts val="627"/>
              </a:spcBef>
              <a:buChar char="•"/>
            </a:pPr>
            <a:r>
              <a:rPr sz="2511" b="1" i="0" u="none">
                <a:solidFill>
                  <a:srgbClr val="334155"/>
                </a:solidFill>
                <a:latin typeface="Calibri"/>
              </a:rPr>
              <a:t>Domain</a:t>
            </a:r>
            <a:r>
              <a:rPr sz="2511" b="0" i="0" u="none">
                <a:solidFill>
                  <a:srgbClr val="334155"/>
                </a:solidFill>
                <a:latin typeface="Calibri"/>
              </a:rPr>
              <a:t> = allowed values of a column</a:t>
            </a:r>
          </a:p>
          <a:p>
            <a:pPr algn="l" marL="350870" indent="-350870">
              <a:lnSpc>
                <a:spcPct val="111800"/>
              </a:lnSpc>
              <a:spcBef>
                <a:spcPts val="627"/>
              </a:spcBef>
              <a:buChar char="•"/>
            </a:pPr>
            <a:r>
              <a:rPr sz="2511" b="1" i="0" u="none">
                <a:solidFill>
                  <a:srgbClr val="334155"/>
                </a:solidFill>
                <a:latin typeface="Calibri"/>
              </a:rPr>
              <a:t>Primary key</a:t>
            </a:r>
            <a:r>
              <a:rPr sz="2511" b="0" i="0" u="none">
                <a:solidFill>
                  <a:srgbClr val="334155"/>
                </a:solidFill>
                <a:latin typeface="Calibri"/>
              </a:rPr>
              <a:t> = SSN (unique per row)</a:t>
            </a:r>
          </a:p>
          <a:p>
            <a:pPr algn="l" marL="350870" indent="-350870">
              <a:lnSpc>
                <a:spcPct val="111800"/>
              </a:lnSpc>
              <a:spcBef>
                <a:spcPts val="627"/>
              </a:spcBef>
              <a:buChar char="•"/>
            </a:pPr>
            <a:r>
              <a:rPr sz="2511" b="1" i="0" u="none">
                <a:solidFill>
                  <a:srgbClr val="334155"/>
                </a:solidFill>
                <a:latin typeface="Calibri"/>
              </a:rPr>
              <a:t>Foreign key</a:t>
            </a:r>
            <a:r>
              <a:rPr sz="2511" b="0" i="0" u="none">
                <a:solidFill>
                  <a:srgbClr val="334155"/>
                </a:solidFill>
                <a:latin typeface="Calibri"/>
              </a:rPr>
              <a:t> = Dno → DEPARTMENT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03</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21/35</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03</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Beyond relational</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NoSQL stores, vector databases, data warehouses, Big Data and where databases run.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22/35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Non-relational (NoSQL) databases</a:t>
            </a:r>
          </a:p>
        </p:txBody>
      </p:sp>
      <p:sp>
        <p:nvSpPr>
          <p:cNvPr id="6" name="TextBox 5"/>
          <p:cNvSpPr txBox="1"/>
          <p:nvPr/>
        </p:nvSpPr>
        <p:spPr>
          <a:xfrm>
            <a:off x="914400" y="2482024"/>
            <a:ext cx="6660682" cy="2100315"/>
          </a:xfrm>
          <a:prstGeom prst="rect">
            <a:avLst/>
          </a:prstGeom>
          <a:noFill/>
        </p:spPr>
        <p:txBody>
          <a:bodyPr wrap="square" lIns="0" rIns="0" tIns="0" bIns="0" anchor="t"/>
          <a:lstStyle/>
          <a:p>
            <a:pPr algn="l">
              <a:lnSpc>
                <a:spcPct val="111800"/>
              </a:lnSpc>
            </a:pPr>
            <a:r>
              <a:rPr sz="3091" b="0" i="0" u="none">
                <a:solidFill>
                  <a:srgbClr val="334155"/>
                </a:solidFill>
                <a:latin typeface="Calibri"/>
              </a:rPr>
              <a:t>Usually </a:t>
            </a:r>
            <a:r>
              <a:rPr sz="3091" b="1" i="0" u="none">
                <a:solidFill>
                  <a:srgbClr val="334155"/>
                </a:solidFill>
                <a:latin typeface="Calibri"/>
              </a:rPr>
              <a:t>no fixed schema and no foreign keys</a:t>
            </a:r>
            <a:r>
              <a:rPr sz="3091" b="0" i="0" u="none">
                <a:solidFill>
                  <a:srgbClr val="334155"/>
                </a:solidFill>
                <a:latin typeface="Calibri"/>
              </a:rPr>
              <a:t>. Each store uses a </a:t>
            </a:r>
            <a:r>
              <a:rPr sz="3091" b="1" i="0" u="none">
                <a:solidFill>
                  <a:srgbClr val="334155"/>
                </a:solidFill>
                <a:latin typeface="Calibri"/>
              </a:rPr>
              <a:t>data model optimized for one kind of data</a:t>
            </a:r>
            <a:r>
              <a:rPr sz="3091" b="0" i="0" u="none">
                <a:solidFill>
                  <a:srgbClr val="334155"/>
                </a:solidFill>
                <a:latin typeface="Calibri"/>
              </a:rPr>
              <a:t> and access pattern.</a:t>
            </a:r>
          </a:p>
        </p:txBody>
      </p:sp>
      <p:sp>
        <p:nvSpPr>
          <p:cNvPr id="7" name="TextBox 6"/>
          <p:cNvSpPr txBox="1"/>
          <p:nvPr/>
        </p:nvSpPr>
        <p:spPr>
          <a:xfrm>
            <a:off x="914400" y="4902380"/>
            <a:ext cx="6660682" cy="3202000"/>
          </a:xfrm>
          <a:prstGeom prst="rect">
            <a:avLst/>
          </a:prstGeom>
          <a:noFill/>
        </p:spPr>
        <p:txBody>
          <a:bodyPr wrap="square" lIns="0" rIns="0" tIns="0" bIns="0" anchor="t"/>
          <a:lstStyle/>
          <a:p>
            <a:pPr algn="l" marL="404850" indent="-404850">
              <a:lnSpc>
                <a:spcPct val="111800"/>
              </a:lnSpc>
              <a:buChar char="•"/>
            </a:pPr>
            <a:r>
              <a:rPr sz="2898" b="0" i="0" u="none">
                <a:solidFill>
                  <a:srgbClr val="334155"/>
                </a:solidFill>
                <a:latin typeface="Calibri"/>
              </a:rPr>
              <a:t>NoSQL = </a:t>
            </a:r>
            <a:r>
              <a:rPr sz="2898" b="1" i="0" u="none">
                <a:solidFill>
                  <a:srgbClr val="334155"/>
                </a:solidFill>
                <a:latin typeface="Calibri"/>
              </a:rPr>
              <a:t>Not Only SQL</a:t>
            </a:r>
          </a:p>
          <a:p>
            <a:pPr algn="l" marL="404850" indent="-404850">
              <a:lnSpc>
                <a:spcPct val="111800"/>
              </a:lnSpc>
              <a:spcBef>
                <a:spcPts val="724"/>
              </a:spcBef>
              <a:buChar char="•"/>
            </a:pPr>
            <a:r>
              <a:rPr sz="2898" b="0" i="0" u="none">
                <a:solidFill>
                  <a:srgbClr val="334155"/>
                </a:solidFill>
                <a:latin typeface="Calibri"/>
              </a:rPr>
              <a:t>Usually schema-flexible</a:t>
            </a:r>
          </a:p>
          <a:p>
            <a:pPr algn="l" marL="404850" indent="-404850">
              <a:lnSpc>
                <a:spcPct val="111800"/>
              </a:lnSpc>
              <a:spcBef>
                <a:spcPts val="724"/>
              </a:spcBef>
              <a:buChar char="•"/>
            </a:pPr>
            <a:r>
              <a:rPr sz="2898" b="0" i="0" u="none">
                <a:solidFill>
                  <a:srgbClr val="334155"/>
                </a:solidFill>
                <a:latin typeface="Calibri"/>
              </a:rPr>
              <a:t>Built to scale out across many servers</a:t>
            </a:r>
          </a:p>
          <a:p>
            <a:pPr algn="l" marL="404850" indent="-404850">
              <a:lnSpc>
                <a:spcPct val="111800"/>
              </a:lnSpc>
              <a:spcBef>
                <a:spcPts val="724"/>
              </a:spcBef>
              <a:buChar char="•"/>
            </a:pPr>
            <a:r>
              <a:rPr sz="2898" b="0" i="0" u="none">
                <a:solidFill>
                  <a:srgbClr val="334155"/>
                </a:solidFill>
                <a:latin typeface="Calibri"/>
              </a:rPr>
              <a:t>Some offer SQL-like query languages (e.g. Cassandra CQL)</a:t>
            </a:r>
          </a:p>
        </p:txBody>
      </p:sp>
      <p:sp>
        <p:nvSpPr>
          <p:cNvPr id="8" name="Rectangle 7"/>
          <p:cNvSpPr/>
          <p:nvPr/>
        </p:nvSpPr>
        <p:spPr>
          <a:xfrm>
            <a:off x="8215162" y="2482024"/>
            <a:ext cx="9158437" cy="3253996"/>
          </a:xfrm>
          <a:prstGeom prst="rect">
            <a:avLst/>
          </a:prstGeom>
          <a:solidFill>
            <a:srgbClr val="F8FAFC"/>
          </a:solidFill>
          <a:ln w="14287">
            <a:solidFill>
              <a:srgbClr val="E2E8F0"/>
            </a:solidFill>
          </a:ln>
        </p:spPr>
        <p:txBody>
          <a:bodyPr rtlCol="0" anchor="ctr" lIns="0" rIns="0" tIns="0" bIns="0"/>
          <a:lstStyle/>
          <a:p>
            <a:pPr algn="ctr"/>
          </a:p>
        </p:txBody>
      </p:sp>
      <p:sp>
        <p:nvSpPr>
          <p:cNvPr id="9" name="TextBox 8"/>
          <p:cNvSpPr txBox="1"/>
          <p:nvPr/>
        </p:nvSpPr>
        <p:spPr>
          <a:xfrm>
            <a:off x="8481862" y="2748724"/>
            <a:ext cx="8625037" cy="2720596"/>
          </a:xfrm>
          <a:prstGeom prst="rect">
            <a:avLst/>
          </a:prstGeom>
          <a:noFill/>
        </p:spPr>
        <p:txBody>
          <a:bodyPr wrap="none" lIns="0" rIns="0" tIns="0" bIns="0"/>
          <a:lstStyle/>
          <a:p>
            <a:pPr>
              <a:lnSpc>
                <a:spcPct val="110000"/>
              </a:lnSpc>
            </a:pPr>
            <a:r>
              <a:rPr sz="2704" b="0" i="0" u="none">
                <a:solidFill>
                  <a:srgbClr val="0F172A"/>
                </a:solidFill>
                <a:latin typeface="Courier New"/>
              </a:rPr>
              <a:t>{</a:t>
            </a:r>
          </a:p>
          <a:p>
            <a:pPr>
              <a:lnSpc>
                <a:spcPct val="110000"/>
              </a:lnSpc>
            </a:pPr>
            <a:r>
              <a:rPr sz="2704" b="0" i="0" u="none">
                <a:solidFill>
                  <a:srgbClr val="0F172A"/>
                </a:solidFill>
                <a:latin typeface="Courier New"/>
              </a:rPr>
              <a:t>  </a:t>
            </a:r>
            <a:r>
              <a:rPr sz="2704" b="0" i="0" u="none">
                <a:solidFill>
                  <a:srgbClr val="0F172A"/>
                </a:solidFill>
                <a:latin typeface="Courier New"/>
              </a:rPr>
              <a:t>"_id": 1042,</a:t>
            </a:r>
          </a:p>
          <a:p>
            <a:pPr>
              <a:lnSpc>
                <a:spcPct val="110000"/>
              </a:lnSpc>
            </a:pPr>
            <a:r>
              <a:rPr sz="2704" b="0" i="0" u="none">
                <a:solidFill>
                  <a:srgbClr val="0F172A"/>
                </a:solidFill>
                <a:latin typeface="Courier New"/>
              </a:rPr>
              <a:t>  </a:t>
            </a:r>
            <a:r>
              <a:rPr sz="2704" b="0" i="0" u="none">
                <a:solidFill>
                  <a:srgbClr val="0F172A"/>
                </a:solidFill>
                <a:latin typeface="Courier New"/>
              </a:rPr>
              <a:t>"name": "Mai",</a:t>
            </a:r>
          </a:p>
          <a:p>
            <a:pPr>
              <a:lnSpc>
                <a:spcPct val="110000"/>
              </a:lnSpc>
            </a:pPr>
            <a:r>
              <a:rPr sz="2704" b="0" i="0" u="none">
                <a:solidFill>
                  <a:srgbClr val="0F172A"/>
                </a:solidFill>
                <a:latin typeface="Courier New"/>
              </a:rPr>
              <a:t>  </a:t>
            </a:r>
            <a:r>
              <a:rPr sz="2704" b="0" i="0" u="none">
                <a:solidFill>
                  <a:srgbClr val="0F172A"/>
                </a:solidFill>
                <a:latin typeface="Courier New"/>
              </a:rPr>
              <a:t>"phones": ["010...", "011..."],</a:t>
            </a:r>
          </a:p>
          <a:p>
            <a:pPr>
              <a:lnSpc>
                <a:spcPct val="110000"/>
              </a:lnSpc>
            </a:pPr>
            <a:r>
              <a:rPr sz="2704" b="0" i="0" u="none">
                <a:solidFill>
                  <a:srgbClr val="0F172A"/>
                </a:solidFill>
                <a:latin typeface="Courier New"/>
              </a:rPr>
              <a:t>  </a:t>
            </a:r>
            <a:r>
              <a:rPr sz="2704" b="0" i="0" u="none">
                <a:solidFill>
                  <a:srgbClr val="0F172A"/>
                </a:solidFill>
                <a:latin typeface="Courier New"/>
              </a:rPr>
              <a:t>"address": { "city": "Giza" }</a:t>
            </a:r>
          </a:p>
          <a:p>
            <a:pPr>
              <a:lnSpc>
                <a:spcPct val="110000"/>
              </a:lnSpc>
            </a:pPr>
            <a:r>
              <a:rPr sz="2704" b="0" i="0" u="none">
                <a:solidFill>
                  <a:srgbClr val="0F172A"/>
                </a:solidFill>
                <a:latin typeface="Courier New"/>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23/35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Four families of NoSQL stores</a:t>
            </a:r>
          </a:p>
        </p:txBody>
      </p:sp>
      <p:graphicFrame>
        <p:nvGraphicFramePr>
          <p:cNvPr id="6" name="Table 5"/>
          <p:cNvGraphicFramePr>
            <a:graphicFrameLocks noGrp="1"/>
          </p:cNvGraphicFramePr>
          <p:nvPr/>
        </p:nvGraphicFramePr>
        <p:xfrm>
          <a:off x="914400" y="2482024"/>
          <a:ext cx="16459200" cy="5059893"/>
        </p:xfrm>
        <a:graphic>
          <a:graphicData uri="http://schemas.openxmlformats.org/drawingml/2006/table">
            <a:tbl>
              <a:tblPr firstRow="0" bandRow="0">
                <a:tableStyleId>{5940675A-B579-460E-94D1-54222C63F5DA}</a:tableStyleId>
              </a:tblPr>
              <a:tblGrid>
                <a:gridCol w="2798064"/>
                <a:gridCol w="4773168"/>
                <a:gridCol w="4114800"/>
                <a:gridCol w="4773168"/>
              </a:tblGrid>
              <a:tr h="676713">
                <a:tc>
                  <a:txBody>
                    <a:bodyPr/>
                    <a:lstStyle/>
                    <a:p>
                      <a:r>
                        <a:rPr sz="2704" b="1" i="0" u="none">
                          <a:solidFill>
                            <a:srgbClr val="FFFFFF"/>
                          </a:solidFill>
                          <a:latin typeface="Arial"/>
                        </a:rPr>
                        <a:t>Family</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Data shape</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Examples</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Good for</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Document</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JSON-like documents per key</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MongoDB, Couchbase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Catalogs, content, user profiles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Key–value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A dictionary: key → value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Redis, DynamoDB</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Caching, sessions, shopping carts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Wide-column</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Rows whose columns can vary</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Cassandra, HBase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Huge write-heavy data, time series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Graph</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Nodes + edges + properties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Neo4j, Amazon Neptune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Social networks, recommendations, fraud</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24/35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Relational or NoSQL?</a:t>
            </a:r>
          </a:p>
        </p:txBody>
      </p:sp>
      <p:graphicFrame>
        <p:nvGraphicFramePr>
          <p:cNvPr id="6" name="Table 5"/>
          <p:cNvGraphicFramePr>
            <a:graphicFrameLocks noGrp="1"/>
          </p:cNvGraphicFramePr>
          <p:nvPr/>
        </p:nvGraphicFramePr>
        <p:xfrm>
          <a:off x="914400" y="2482024"/>
          <a:ext cx="16459200" cy="4937703"/>
        </p:xfrm>
        <a:graphic>
          <a:graphicData uri="http://schemas.openxmlformats.org/drawingml/2006/table">
            <a:tbl>
              <a:tblPr firstRow="0" bandRow="0">
                <a:tableStyleId>{5940675A-B579-460E-94D1-54222C63F5DA}</a:tableStyleId>
              </a:tblPr>
              <a:tblGrid>
                <a:gridCol w="2962656"/>
                <a:gridCol w="6748272"/>
                <a:gridCol w="6748272"/>
              </a:tblGrid>
              <a:tr h="628377">
                <a:tc>
                  <a:txBody>
                    <a:bodyPr/>
                    <a:lstStyle/>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Relational (SQL)</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NoSQL</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Schema</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Fixed, defined first</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Flexible, per record</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Consistency</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ACID transactions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Often </a:t>
                      </a:r>
                      <a:r>
                        <a:rPr sz="2511" b="0" i="1" u="none">
                          <a:solidFill>
                            <a:srgbClr val="334155"/>
                          </a:solidFill>
                          <a:latin typeface="Calibri"/>
                        </a:rPr>
                        <a:t>eventual</a:t>
                      </a:r>
                      <a:r>
                        <a:rPr sz="2511" b="0" i="0" u="none">
                          <a:solidFill>
                            <a:srgbClr val="334155"/>
                          </a:solidFill>
                          <a:latin typeface="Calibri"/>
                        </a:rPr>
                        <a:t> consistency (BASE); many now offer ACID too</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Scaling</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Mostly up (bigger server); scale-out is possible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Out (more servers) by design</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Queries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Rich SQL: joins, aggregates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Fast lookups by key; joins limited</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Pick it when</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Data is structured and related; correctness matters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Huge volume, changing shape, simple access patterns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7840734"/>
            <a:ext cx="16459200" cy="1372476"/>
          </a:xfrm>
          <a:prstGeom prst="rect">
            <a:avLst/>
          </a:prstGeom>
          <a:solidFill>
            <a:srgbClr val="E6F4F4"/>
          </a:solidFill>
          <a:ln>
            <a:noFill/>
          </a:ln>
        </p:spPr>
        <p:txBody>
          <a:bodyPr rtlCol="0" anchor="ctr" lIns="0" rIns="0" tIns="0" bIns="0"/>
          <a:lstStyle/>
          <a:p>
            <a:pPr algn="ctr"/>
          </a:p>
        </p:txBody>
      </p:sp>
      <p:sp>
        <p:nvSpPr>
          <p:cNvPr id="8" name="Rectangle 7"/>
          <p:cNvSpPr/>
          <p:nvPr/>
        </p:nvSpPr>
        <p:spPr>
          <a:xfrm>
            <a:off x="914400" y="7840734"/>
            <a:ext cx="47625" cy="1372476"/>
          </a:xfrm>
          <a:prstGeom prst="rect">
            <a:avLst/>
          </a:prstGeom>
          <a:solidFill>
            <a:srgbClr val="0E8A8A"/>
          </a:solidFill>
          <a:ln>
            <a:noFill/>
          </a:ln>
        </p:spPr>
        <p:txBody>
          <a:bodyPr rtlCol="0" anchor="ctr" lIns="0" rIns="0" tIns="0" bIns="0"/>
          <a:lstStyle/>
          <a:p>
            <a:pPr algn="ctr"/>
          </a:p>
        </p:txBody>
      </p:sp>
      <p:sp>
        <p:nvSpPr>
          <p:cNvPr id="9" name="TextBox 8"/>
          <p:cNvSpPr txBox="1"/>
          <p:nvPr/>
        </p:nvSpPr>
        <p:spPr>
          <a:xfrm>
            <a:off x="1310640" y="8088384"/>
            <a:ext cx="15666720" cy="877176"/>
          </a:xfrm>
          <a:prstGeom prst="rect">
            <a:avLst/>
          </a:prstGeom>
          <a:noFill/>
        </p:spPr>
        <p:txBody>
          <a:bodyPr wrap="square" lIns="0" rIns="0" tIns="0" bIns="0"/>
          <a:lstStyle/>
          <a:p>
            <a:pPr>
              <a:lnSpc>
                <a:spcPct val="112000"/>
              </a:lnSpc>
            </a:pPr>
            <a:r>
              <a:rPr sz="2511" b="0" i="0" u="none">
                <a:solidFill>
                  <a:srgbClr val="0F172A"/>
                </a:solidFill>
                <a:latin typeface="Calibri"/>
              </a:rPr>
              <a:t>Most real systems use </a:t>
            </a:r>
            <a:r>
              <a:rPr sz="2511" b="1" i="0" u="none">
                <a:solidFill>
                  <a:srgbClr val="0F172A"/>
                </a:solidFill>
                <a:latin typeface="Calibri"/>
              </a:rPr>
              <a:t>both</a:t>
            </a:r>
            <a:r>
              <a:rPr sz="2511" b="0" i="0" u="none">
                <a:solidFill>
                  <a:srgbClr val="0F172A"/>
                </a:solidFill>
                <a:latin typeface="Calibri"/>
              </a:rPr>
              <a:t> (</a:t>
            </a:r>
            <a:r>
              <a:rPr sz="2511" b="0" i="1" u="none">
                <a:solidFill>
                  <a:srgbClr val="0F172A"/>
                </a:solidFill>
                <a:latin typeface="Calibri"/>
              </a:rPr>
              <a:t>polyglot persistence</a:t>
            </a:r>
            <a:r>
              <a:rPr sz="2511" b="0" i="0" u="none">
                <a:solidFill>
                  <a:srgbClr val="0F172A"/>
                </a:solidFill>
                <a:latin typeface="Calibri"/>
              </a:rPr>
              <a:t>): e.g. PostgreSQL for orders and payments, Redis for sessions.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25/35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Vector databases</a:t>
            </a:r>
          </a:p>
        </p:txBody>
      </p:sp>
      <p:sp>
        <p:nvSpPr>
          <p:cNvPr id="6" name="TextBox 5"/>
          <p:cNvSpPr txBox="1"/>
          <p:nvPr/>
        </p:nvSpPr>
        <p:spPr>
          <a:xfrm>
            <a:off x="914400" y="2482024"/>
            <a:ext cx="6179574" cy="5183314"/>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A vector database stores data as </a:t>
            </a:r>
            <a:r>
              <a:rPr sz="2511" b="1" i="0" u="none">
                <a:solidFill>
                  <a:srgbClr val="334155"/>
                </a:solidFill>
                <a:latin typeface="Calibri"/>
              </a:rPr>
              <a:t>numerical vectors</a:t>
            </a:r>
            <a:r>
              <a:rPr sz="2511" b="0" i="0" u="none">
                <a:solidFill>
                  <a:srgbClr val="334155"/>
                </a:solidFill>
                <a:latin typeface="Calibri"/>
              </a:rPr>
              <a:t> (embeddings) that represent the meaning or features of text, images or audio.</a:t>
            </a:r>
          </a:p>
          <a:p>
            <a:pPr algn="l" marL="350870" indent="-350870">
              <a:lnSpc>
                <a:spcPct val="111800"/>
              </a:lnSpc>
              <a:spcBef>
                <a:spcPts val="627"/>
              </a:spcBef>
              <a:buChar char="•"/>
            </a:pPr>
            <a:r>
              <a:rPr sz="2511" b="0" i="0" u="none">
                <a:solidFill>
                  <a:srgbClr val="334155"/>
                </a:solidFill>
                <a:latin typeface="Calibri"/>
              </a:rPr>
              <a:t>It uses </a:t>
            </a:r>
            <a:r>
              <a:rPr sz="2511" b="1" i="0" u="none">
                <a:solidFill>
                  <a:srgbClr val="334155"/>
                </a:solidFill>
                <a:latin typeface="Calibri"/>
              </a:rPr>
              <a:t>similarity search</a:t>
            </a:r>
            <a:r>
              <a:rPr sz="2511" b="0" i="0" u="none">
                <a:solidFill>
                  <a:srgbClr val="334155"/>
                </a:solidFill>
                <a:latin typeface="Calibri"/>
              </a:rPr>
              <a:t> (such as cosine similarity) to find related items, instead of exact matches like traditional databases.</a:t>
            </a:r>
          </a:p>
          <a:p>
            <a:pPr algn="l" marL="350870" indent="-350870">
              <a:lnSpc>
                <a:spcPct val="111800"/>
              </a:lnSpc>
              <a:spcBef>
                <a:spcPts val="627"/>
              </a:spcBef>
              <a:buChar char="•"/>
            </a:pPr>
            <a:r>
              <a:rPr sz="2511" b="0" i="0" u="none">
                <a:solidFill>
                  <a:srgbClr val="334155"/>
                </a:solidFill>
                <a:latin typeface="Calibri"/>
              </a:rPr>
              <a:t>Vector databases power modern AI applications: </a:t>
            </a:r>
            <a:r>
              <a:rPr sz="2511" b="1" i="0" u="none">
                <a:solidFill>
                  <a:srgbClr val="334155"/>
                </a:solidFill>
                <a:latin typeface="Calibri"/>
              </a:rPr>
              <a:t>semantic search</a:t>
            </a:r>
            <a:r>
              <a:rPr sz="2511" b="0" i="0" u="none">
                <a:solidFill>
                  <a:srgbClr val="334155"/>
                </a:solidFill>
                <a:latin typeface="Calibri"/>
              </a:rPr>
              <a:t>, recommendation systems and </a:t>
            </a:r>
            <a:r>
              <a:rPr sz="2511" b="1" i="0" u="none">
                <a:solidFill>
                  <a:srgbClr val="334155"/>
                </a:solidFill>
                <a:latin typeface="Calibri"/>
              </a:rPr>
              <a:t>retrieval-augmented generation (RAG)</a:t>
            </a:r>
            <a:r>
              <a:rPr sz="2511" b="0" i="0" u="none">
                <a:solidFill>
                  <a:srgbClr val="334155"/>
                </a:solidFill>
                <a:latin typeface="Calibri"/>
              </a:rPr>
              <a:t>.</a:t>
            </a:r>
          </a:p>
        </p:txBody>
      </p:sp>
      <p:sp>
        <p:nvSpPr>
          <p:cNvPr id="7" name="Rectangle 6"/>
          <p:cNvSpPr/>
          <p:nvPr/>
        </p:nvSpPr>
        <p:spPr>
          <a:xfrm>
            <a:off x="7589274" y="2482024"/>
            <a:ext cx="9784325" cy="3420563"/>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7855974" y="2748724"/>
            <a:ext cx="9250925" cy="2887163"/>
          </a:xfrm>
          <a:prstGeom prst="rect">
            <a:avLst/>
          </a:prstGeom>
          <a:noFill/>
        </p:spPr>
        <p:txBody>
          <a:bodyPr wrap="none" lIns="0" rIns="0" tIns="0" bIns="0"/>
          <a:lstStyle/>
          <a:p>
            <a:pPr>
              <a:lnSpc>
                <a:spcPct val="110000"/>
              </a:lnSpc>
            </a:pPr>
            <a:r>
              <a:rPr sz="2152" b="0" i="0" u="none">
                <a:solidFill>
                  <a:srgbClr val="0F172A"/>
                </a:solidFill>
                <a:latin typeface="Courier New"/>
              </a:rPr>
              <a:t>-- each item becomes an embedding</a:t>
            </a:r>
          </a:p>
          <a:p>
            <a:pPr>
              <a:lnSpc>
                <a:spcPct val="110000"/>
              </a:lnSpc>
            </a:pPr>
            <a:r>
              <a:rPr sz="2152" b="0" i="0" u="none">
                <a:solidFill>
                  <a:srgbClr val="0F172A"/>
                </a:solidFill>
                <a:latin typeface="Courier New"/>
              </a:rPr>
              <a:t>"cat"     → [ 0.21, -0.43,  0.88, … ]</a:t>
            </a:r>
          </a:p>
          <a:p>
            <a:pPr>
              <a:lnSpc>
                <a:spcPct val="110000"/>
              </a:lnSpc>
            </a:pPr>
            <a:r>
              <a:rPr sz="2152" b="0" i="0" u="none">
                <a:solidFill>
                  <a:srgbClr val="0F172A"/>
                </a:solidFill>
                <a:latin typeface="Courier New"/>
              </a:rPr>
              <a:t>"kitten"  → [ 0.19, -0.40,  0.85, … ]</a:t>
            </a:r>
          </a:p>
          <a:p>
            <a:pPr>
              <a:lnSpc>
                <a:spcPct val="110000"/>
              </a:lnSpc>
            </a:pPr>
            <a:r>
              <a:rPr sz="2152" b="0" i="0" u="none">
                <a:solidFill>
                  <a:srgbClr val="0F172A"/>
                </a:solidFill>
                <a:latin typeface="Courier New"/>
              </a:rPr>
              <a:t>"invoice" → [-0.72,  0.15,  0.04, … ]</a:t>
            </a:r>
          </a:p>
          <a:p>
            <a:pPr>
              <a:lnSpc>
                <a:spcPct val="110000"/>
              </a:lnSpc>
            </a:pPr>
            <a:r>
              <a:rPr sz="2152" b="0" i="0" u="none">
                <a:solidFill>
                  <a:srgbClr val="0F172A"/>
                </a:solidFill>
                <a:latin typeface="Courier New"/>
              </a:rPr>
              <a:t/>
            </a:r>
            <a:r>
              <a:rPr sz="2152" b="0" i="0" u="none">
                <a:solidFill>
                  <a:srgbClr val="0F172A"/>
                </a:solidFill>
                <a:latin typeface="Courier New"/>
              </a:rPr>
              <a:t> </a:t>
            </a:r>
          </a:p>
          <a:p>
            <a:pPr>
              <a:lnSpc>
                <a:spcPct val="110000"/>
              </a:lnSpc>
            </a:pPr>
            <a:r>
              <a:rPr sz="2152" b="0" i="0" u="none">
                <a:solidFill>
                  <a:srgbClr val="0F172A"/>
                </a:solidFill>
                <a:latin typeface="Courier New"/>
              </a:rPr>
              <a:t>-- query: "small cat"</a:t>
            </a:r>
          </a:p>
          <a:p>
            <a:pPr>
              <a:lnSpc>
                <a:spcPct val="110000"/>
              </a:lnSpc>
            </a:pPr>
            <a:r>
              <a:rPr sz="2152" b="0" i="0" u="none">
                <a:solidFill>
                  <a:srgbClr val="0F172A"/>
                </a:solidFill>
                <a:latin typeface="Courier New"/>
              </a:rPr>
              <a:t>nearest:  kitten 0.97 · cat 0.95</a:t>
            </a:r>
          </a:p>
          <a:p>
            <a:pPr>
              <a:lnSpc>
                <a:spcPct val="110000"/>
              </a:lnSpc>
            </a:pPr>
            <a:r>
              <a:rPr sz="2152" b="0" i="0" u="none">
                <a:solidFill>
                  <a:srgbClr val="0F172A"/>
                </a:solidFill>
                <a:latin typeface="Courier New"/>
              </a:rPr>
              <a:t>-- cosine similarity, 1 = same meaning</a:t>
            </a:r>
          </a:p>
        </p:txBody>
      </p:sp>
      <p:sp>
        <p:nvSpPr>
          <p:cNvPr id="9" name="Rectangle 8"/>
          <p:cNvSpPr/>
          <p:nvPr/>
        </p:nvSpPr>
        <p:spPr>
          <a:xfrm>
            <a:off x="914400" y="8086344"/>
            <a:ext cx="16459200" cy="1372476"/>
          </a:xfrm>
          <a:prstGeom prst="rect">
            <a:avLst/>
          </a:prstGeom>
          <a:solidFill>
            <a:srgbClr val="E6F4F4"/>
          </a:solidFill>
          <a:ln>
            <a:noFill/>
          </a:ln>
        </p:spPr>
        <p:txBody>
          <a:bodyPr rtlCol="0" anchor="ctr" lIns="0" rIns="0" tIns="0" bIns="0"/>
          <a:lstStyle/>
          <a:p>
            <a:pPr algn="ctr"/>
          </a:p>
        </p:txBody>
      </p:sp>
      <p:sp>
        <p:nvSpPr>
          <p:cNvPr id="10" name="Rectangle 9"/>
          <p:cNvSpPr/>
          <p:nvPr/>
        </p:nvSpPr>
        <p:spPr>
          <a:xfrm>
            <a:off x="914400" y="8086344"/>
            <a:ext cx="47625" cy="1372476"/>
          </a:xfrm>
          <a:prstGeom prst="rect">
            <a:avLst/>
          </a:prstGeom>
          <a:solidFill>
            <a:srgbClr val="0E8A8A"/>
          </a:solidFill>
          <a:ln>
            <a:noFill/>
          </a:ln>
        </p:spPr>
        <p:txBody>
          <a:bodyPr rtlCol="0" anchor="ctr" lIns="0" rIns="0" tIns="0" bIns="0"/>
          <a:lstStyle/>
          <a:p>
            <a:pPr algn="ctr"/>
          </a:p>
        </p:txBody>
      </p:sp>
      <p:sp>
        <p:nvSpPr>
          <p:cNvPr id="11" name="TextBox 10"/>
          <p:cNvSpPr txBox="1"/>
          <p:nvPr/>
        </p:nvSpPr>
        <p:spPr>
          <a:xfrm>
            <a:off x="1310640" y="8333994"/>
            <a:ext cx="15666720" cy="877176"/>
          </a:xfrm>
          <a:prstGeom prst="rect">
            <a:avLst/>
          </a:prstGeom>
          <a:noFill/>
        </p:spPr>
        <p:txBody>
          <a:bodyPr wrap="square" lIns="0" rIns="0" tIns="0" bIns="0"/>
          <a:lstStyle/>
          <a:p>
            <a:pPr>
              <a:lnSpc>
                <a:spcPct val="112000"/>
              </a:lnSpc>
            </a:pPr>
            <a:r>
              <a:rPr sz="2511" b="0" i="0" u="none">
                <a:solidFill>
                  <a:srgbClr val="0F172A"/>
                </a:solidFill>
                <a:latin typeface="Calibri"/>
              </a:rPr>
              <a:t>Examples: </a:t>
            </a:r>
            <a:r>
              <a:rPr sz="2511" b="1" i="0" u="none">
                <a:solidFill>
                  <a:srgbClr val="0F172A"/>
                </a:solidFill>
                <a:latin typeface="Calibri"/>
              </a:rPr>
              <a:t>Pinecone, Milvus, Weaviate, Chroma</a:t>
            </a:r>
            <a:r>
              <a:rPr sz="2511" b="0" i="0" u="none">
                <a:solidFill>
                  <a:srgbClr val="0F172A"/>
                </a:solidFill>
                <a:latin typeface="Calibri"/>
              </a:rPr>
              <a:t>. Relational systems are adding vector search too: </a:t>
            </a:r>
            <a:r>
              <a:rPr sz="2511" b="1" i="0" u="none">
                <a:solidFill>
                  <a:srgbClr val="0F172A"/>
                </a:solidFill>
                <a:latin typeface="Calibri"/>
              </a:rPr>
              <a:t>pgvector</a:t>
            </a:r>
            <a:r>
              <a:rPr sz="2511" b="0" i="0" u="none">
                <a:solidFill>
                  <a:srgbClr val="0F172A"/>
                </a:solidFill>
                <a:latin typeface="Calibri"/>
              </a:rPr>
              <a:t> for PostgreSQL, the </a:t>
            </a:r>
            <a:r>
              <a:rPr sz="2511" b="1" i="0" u="none">
                <a:solidFill>
                  <a:srgbClr val="0F172A"/>
                </a:solidFill>
                <a:latin typeface="Calibri"/>
              </a:rPr>
              <a:t>VECTOR</a:t>
            </a:r>
            <a:r>
              <a:rPr sz="2511" b="0" i="0" u="none">
                <a:solidFill>
                  <a:srgbClr val="0F172A"/>
                </a:solidFill>
                <a:latin typeface="Calibri"/>
              </a:rPr>
              <a:t> type in Oracle 23ai.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26/35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Data warehouses</a:t>
            </a:r>
          </a:p>
        </p:txBody>
      </p:sp>
      <p:sp>
        <p:nvSpPr>
          <p:cNvPr id="6" name="TextBox 5"/>
          <p:cNvSpPr txBox="1"/>
          <p:nvPr/>
        </p:nvSpPr>
        <p:spPr>
          <a:xfrm>
            <a:off x="914400" y="2482024"/>
            <a:ext cx="164592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 </a:t>
            </a:r>
            <a:r>
              <a:rPr sz="3091" b="1" i="0" u="none">
                <a:solidFill>
                  <a:srgbClr val="334155"/>
                </a:solidFill>
                <a:latin typeface="Calibri"/>
              </a:rPr>
              <a:t>data warehouse</a:t>
            </a:r>
            <a:r>
              <a:rPr sz="3091" b="0" i="0" u="none">
                <a:solidFill>
                  <a:srgbClr val="334155"/>
                </a:solidFill>
                <a:latin typeface="Calibri"/>
              </a:rPr>
              <a:t> is a separate database, built for </a:t>
            </a:r>
            <a:r>
              <a:rPr sz="3091" b="1" i="0" u="none">
                <a:solidFill>
                  <a:srgbClr val="334155"/>
                </a:solidFill>
                <a:latin typeface="Calibri"/>
              </a:rPr>
              <a:t>analysis</a:t>
            </a:r>
            <a:r>
              <a:rPr sz="3091" b="0" i="0" u="none">
                <a:solidFill>
                  <a:srgbClr val="334155"/>
                </a:solidFill>
                <a:latin typeface="Calibri"/>
              </a:rPr>
              <a:t>, that integrates historical data from many operational systems.</a:t>
            </a:r>
          </a:p>
        </p:txBody>
      </p:sp>
      <p:graphicFrame>
        <p:nvGraphicFramePr>
          <p:cNvPr id="7" name="Table 6"/>
          <p:cNvGraphicFramePr>
            <a:graphicFrameLocks noGrp="1"/>
          </p:cNvGraphicFramePr>
          <p:nvPr/>
        </p:nvGraphicFramePr>
        <p:xfrm>
          <a:off x="914400" y="4015016"/>
          <a:ext cx="16459200" cy="3802647"/>
        </p:xfrm>
        <a:graphic>
          <a:graphicData uri="http://schemas.openxmlformats.org/drawingml/2006/table">
            <a:tbl>
              <a:tblPr firstRow="0" bandRow="0">
                <a:tableStyleId>{5940675A-B579-460E-94D1-54222C63F5DA}</a:tableStyleId>
              </a:tblPr>
              <a:tblGrid>
                <a:gridCol w="2962656"/>
                <a:gridCol w="6748272"/>
                <a:gridCol w="6748272"/>
              </a:tblGrid>
              <a:tr h="676713">
                <a:tc>
                  <a:txBody>
                    <a:bodyPr/>
                    <a:lstStyle/>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Operational DB (OLTP)</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Data warehouse (OLAP)</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Purpose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Run the business day to day</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Analyze the business over time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Typical query</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Insert one order; find one customer</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Total sales per region per year</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Data</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Current, detailed, constantly updated</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Historical, summarized, loaded in batches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Design</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Normalized (Lesson 5)</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Star schema (facts + dimensions)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8" name="TextBox 7"/>
          <p:cNvSpPr txBox="1"/>
          <p:nvPr/>
        </p:nvSpPr>
        <p:spPr>
          <a:xfrm>
            <a:off x="914400" y="8271057"/>
            <a:ext cx="16459200" cy="498088"/>
          </a:xfrm>
          <a:prstGeom prst="rect">
            <a:avLst/>
          </a:prstGeom>
          <a:noFill/>
        </p:spPr>
        <p:txBody>
          <a:bodyPr wrap="square" lIns="0" rIns="0" tIns="0" bIns="0" anchor="t"/>
          <a:lstStyle/>
          <a:p>
            <a:pPr algn="l">
              <a:lnSpc>
                <a:spcPct val="111800"/>
              </a:lnSpc>
            </a:pPr>
            <a:r>
              <a:rPr sz="2704" b="0" i="0" u="none">
                <a:solidFill>
                  <a:srgbClr val="334155"/>
                </a:solidFill>
                <a:latin typeface="Calibri"/>
              </a:rPr>
              <a:t>Data reaches the warehouse through </a:t>
            </a:r>
            <a:r>
              <a:rPr sz="2704" b="1" i="0" u="none">
                <a:solidFill>
                  <a:srgbClr val="334155"/>
                </a:solidFill>
                <a:latin typeface="Calibri"/>
              </a:rPr>
              <a:t>ETL</a:t>
            </a:r>
            <a:r>
              <a:rPr sz="2704" b="0" i="0" u="none">
                <a:solidFill>
                  <a:srgbClr val="334155"/>
                </a:solidFill>
                <a:latin typeface="Calibri"/>
              </a:rPr>
              <a:t>: Extract from sources → Transform (clean, unify) → Load.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27/35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Big Data</a:t>
            </a:r>
          </a:p>
        </p:txBody>
      </p:sp>
      <p:sp>
        <p:nvSpPr>
          <p:cNvPr id="6" name="Rectangle 5"/>
          <p:cNvSpPr/>
          <p:nvPr/>
        </p:nvSpPr>
        <p:spPr>
          <a:xfrm>
            <a:off x="914400" y="2482024"/>
            <a:ext cx="16459200" cy="1545526"/>
          </a:xfrm>
          <a:prstGeom prst="rect">
            <a:avLst/>
          </a:prstGeom>
          <a:solidFill>
            <a:srgbClr val="FEF3C7"/>
          </a:solidFill>
          <a:ln>
            <a:noFill/>
          </a:ln>
        </p:spPr>
        <p:txBody>
          <a:bodyPr rtlCol="0" anchor="ctr" lIns="0" rIns="0" tIns="0" bIns="0"/>
          <a:lstStyle/>
          <a:p>
            <a:pPr algn="ctr"/>
          </a:p>
        </p:txBody>
      </p:sp>
      <p:sp>
        <p:nvSpPr>
          <p:cNvPr id="7" name="Rectangle 6"/>
          <p:cNvSpPr/>
          <p:nvPr/>
        </p:nvSpPr>
        <p:spPr>
          <a:xfrm>
            <a:off x="914400" y="2482024"/>
            <a:ext cx="47625" cy="1545526"/>
          </a:xfrm>
          <a:prstGeom prst="rect">
            <a:avLst/>
          </a:prstGeom>
          <a:solidFill>
            <a:srgbClr val="B45309"/>
          </a:solidFill>
          <a:ln>
            <a:noFill/>
          </a:ln>
        </p:spPr>
        <p:txBody>
          <a:bodyPr rtlCol="0" anchor="ctr" lIns="0" rIns="0" tIns="0" bIns="0"/>
          <a:lstStyle/>
          <a:p>
            <a:pPr algn="ctr"/>
          </a:p>
        </p:txBody>
      </p:sp>
      <p:sp>
        <p:nvSpPr>
          <p:cNvPr id="8" name="TextBox 7"/>
          <p:cNvSpPr txBox="1"/>
          <p:nvPr/>
        </p:nvSpPr>
        <p:spPr>
          <a:xfrm>
            <a:off x="1341120" y="2748724"/>
            <a:ext cx="15605760" cy="1012126"/>
          </a:xfrm>
          <a:prstGeom prst="rect">
            <a:avLst/>
          </a:prstGeom>
          <a:noFill/>
        </p:spPr>
        <p:txBody>
          <a:bodyPr wrap="square" lIns="0" rIns="0" tIns="0" bIns="0"/>
          <a:lstStyle/>
          <a:p>
            <a:pPr>
              <a:lnSpc>
                <a:spcPct val="112000"/>
              </a:lnSpc>
            </a:pPr>
            <a:r>
              <a:rPr sz="2898" b="1" i="0" u="none">
                <a:solidFill>
                  <a:srgbClr val="B45309"/>
                </a:solidFill>
                <a:latin typeface="Arial"/>
              </a:rPr>
              <a:t>Definition: </a:t>
            </a:r>
            <a:r>
              <a:rPr sz="2898" b="0" i="0" u="none">
                <a:solidFill>
                  <a:srgbClr val="0F172A"/>
                </a:solidFill>
                <a:latin typeface="Calibri"/>
              </a:rPr>
              <a:t>“Datasets whose size is beyond the ability of typical database software tools to capture, store, manage, and analyze.”</a:t>
            </a:r>
          </a:p>
        </p:txBody>
      </p:sp>
      <p:sp>
        <p:nvSpPr>
          <p:cNvPr id="9" name="Rectangle 8"/>
          <p:cNvSpPr/>
          <p:nvPr/>
        </p:nvSpPr>
        <p:spPr>
          <a:xfrm>
            <a:off x="914400" y="4480940"/>
            <a:ext cx="5273040" cy="2914444"/>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1314450" y="4880990"/>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Volume</a:t>
            </a:r>
          </a:p>
        </p:txBody>
      </p:sp>
      <p:sp>
        <p:nvSpPr>
          <p:cNvPr id="11" name="TextBox 10"/>
          <p:cNvSpPr txBox="1"/>
          <p:nvPr/>
        </p:nvSpPr>
        <p:spPr>
          <a:xfrm>
            <a:off x="1314450" y="5604121"/>
            <a:ext cx="447294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Terabytes to petabytes: more than one server can store or process.</a:t>
            </a:r>
          </a:p>
        </p:txBody>
      </p:sp>
      <p:sp>
        <p:nvSpPr>
          <p:cNvPr id="12" name="Rectangle 11"/>
          <p:cNvSpPr/>
          <p:nvPr/>
        </p:nvSpPr>
        <p:spPr>
          <a:xfrm>
            <a:off x="6507480" y="4480940"/>
            <a:ext cx="5273040" cy="2914444"/>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6907530" y="4880990"/>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Velocity</a:t>
            </a:r>
          </a:p>
        </p:txBody>
      </p:sp>
      <p:sp>
        <p:nvSpPr>
          <p:cNvPr id="14" name="TextBox 13"/>
          <p:cNvSpPr txBox="1"/>
          <p:nvPr/>
        </p:nvSpPr>
        <p:spPr>
          <a:xfrm>
            <a:off x="6907530" y="5604121"/>
            <a:ext cx="447294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Data arrives fast and continuously: clicks, sensors, transactions.</a:t>
            </a:r>
          </a:p>
        </p:txBody>
      </p:sp>
      <p:sp>
        <p:nvSpPr>
          <p:cNvPr id="15" name="Rectangle 14"/>
          <p:cNvSpPr/>
          <p:nvPr/>
        </p:nvSpPr>
        <p:spPr>
          <a:xfrm>
            <a:off x="12100560" y="4480940"/>
            <a:ext cx="5273040" cy="2914444"/>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2500610" y="4880990"/>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Variety</a:t>
            </a:r>
          </a:p>
        </p:txBody>
      </p:sp>
      <p:sp>
        <p:nvSpPr>
          <p:cNvPr id="17" name="TextBox 16"/>
          <p:cNvSpPr txBox="1"/>
          <p:nvPr/>
        </p:nvSpPr>
        <p:spPr>
          <a:xfrm>
            <a:off x="12500610" y="5604121"/>
            <a:ext cx="447294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Structured tables, text, images, video, logs, JSON.</a:t>
            </a:r>
          </a:p>
        </p:txBody>
      </p:sp>
      <p:sp>
        <p:nvSpPr>
          <p:cNvPr id="18" name="TextBox 17"/>
          <p:cNvSpPr txBox="1"/>
          <p:nvPr/>
        </p:nvSpPr>
        <p:spPr>
          <a:xfrm>
            <a:off x="914400" y="7848775"/>
            <a:ext cx="16459200" cy="498088"/>
          </a:xfrm>
          <a:prstGeom prst="rect">
            <a:avLst/>
          </a:prstGeom>
          <a:noFill/>
        </p:spPr>
        <p:txBody>
          <a:bodyPr wrap="square" lIns="0" rIns="0" tIns="0" bIns="0" anchor="t"/>
          <a:lstStyle/>
          <a:p>
            <a:pPr algn="l">
              <a:lnSpc>
                <a:spcPct val="111800"/>
              </a:lnSpc>
            </a:pPr>
            <a:r>
              <a:rPr sz="2704" b="0" i="0" u="none">
                <a:solidFill>
                  <a:srgbClr val="334155"/>
                </a:solidFill>
                <a:latin typeface="Calibri"/>
              </a:rPr>
              <a:t>Two more Vs are often added: </a:t>
            </a:r>
            <a:r>
              <a:rPr sz="2704" b="1" i="0" u="none">
                <a:solidFill>
                  <a:srgbClr val="334155"/>
                </a:solidFill>
                <a:latin typeface="Calibri"/>
              </a:rPr>
              <a:t>Veracity</a:t>
            </a:r>
            <a:r>
              <a:rPr sz="2704" b="0" i="0" u="none">
                <a:solidFill>
                  <a:srgbClr val="334155"/>
                </a:solidFill>
                <a:latin typeface="Calibri"/>
              </a:rPr>
              <a:t> (can we trust it?) and </a:t>
            </a:r>
            <a:r>
              <a:rPr sz="2704" b="1" i="0" u="none">
                <a:solidFill>
                  <a:srgbClr val="334155"/>
                </a:solidFill>
                <a:latin typeface="Calibri"/>
              </a:rPr>
              <a:t>Value</a:t>
            </a:r>
            <a:r>
              <a:rPr sz="2704" b="0" i="0" u="none">
                <a:solidFill>
                  <a:srgbClr val="334155"/>
                </a:solidFill>
                <a:latin typeface="Calibri"/>
              </a:rPr>
              <a:t> (is it worth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28/35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Where databases run</a:t>
            </a:r>
          </a:p>
        </p:txBody>
      </p:sp>
      <p:sp>
        <p:nvSpPr>
          <p:cNvPr id="6" name="Rectangle 5"/>
          <p:cNvSpPr/>
          <p:nvPr/>
        </p:nvSpPr>
        <p:spPr>
          <a:xfrm>
            <a:off x="914400" y="2482024"/>
            <a:ext cx="5273040" cy="290094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Centralized / mainframe</a:t>
            </a:r>
          </a:p>
        </p:txBody>
      </p:sp>
      <p:sp>
        <p:nvSpPr>
          <p:cNvPr id="8" name="TextBox 7"/>
          <p:cNvSpPr txBox="1"/>
          <p:nvPr/>
        </p:nvSpPr>
        <p:spPr>
          <a:xfrm>
            <a:off x="1314450" y="4105747"/>
            <a:ext cx="4472940"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One powerful machine; users connect from terminals.</a:t>
            </a:r>
          </a:p>
        </p:txBody>
      </p:sp>
      <p:sp>
        <p:nvSpPr>
          <p:cNvPr id="9" name="Rectangle 8"/>
          <p:cNvSpPr/>
          <p:nvPr/>
        </p:nvSpPr>
        <p:spPr>
          <a:xfrm>
            <a:off x="6507480" y="2482024"/>
            <a:ext cx="5273040" cy="290094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Client/server</a:t>
            </a:r>
          </a:p>
        </p:txBody>
      </p:sp>
      <p:sp>
        <p:nvSpPr>
          <p:cNvPr id="11" name="TextBox 10"/>
          <p:cNvSpPr txBox="1"/>
          <p:nvPr/>
        </p:nvSpPr>
        <p:spPr>
          <a:xfrm>
            <a:off x="6907530" y="3605204"/>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The database lives on a server; each user's PC runs the client application.</a:t>
            </a:r>
          </a:p>
        </p:txBody>
      </p:sp>
      <p:sp>
        <p:nvSpPr>
          <p:cNvPr id="12" name="Rectangle 11"/>
          <p:cNvSpPr/>
          <p:nvPr/>
        </p:nvSpPr>
        <p:spPr>
          <a:xfrm>
            <a:off x="12100560" y="2482024"/>
            <a:ext cx="5273040" cy="290094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Three-tier / web</a:t>
            </a:r>
          </a:p>
        </p:txBody>
      </p:sp>
      <p:sp>
        <p:nvSpPr>
          <p:cNvPr id="14" name="TextBox 13"/>
          <p:cNvSpPr txBox="1"/>
          <p:nvPr/>
        </p:nvSpPr>
        <p:spPr>
          <a:xfrm>
            <a:off x="12500610" y="3605204"/>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Browser → web/app server → database server. Only the server needs the app installed.</a:t>
            </a:r>
          </a:p>
        </p:txBody>
      </p:sp>
      <p:sp>
        <p:nvSpPr>
          <p:cNvPr id="15" name="Rectangle 14"/>
          <p:cNvSpPr/>
          <p:nvPr/>
        </p:nvSpPr>
        <p:spPr>
          <a:xfrm>
            <a:off x="914400" y="5703013"/>
            <a:ext cx="5273040" cy="3229737"/>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6103063"/>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Distributed</a:t>
            </a:r>
          </a:p>
        </p:txBody>
      </p:sp>
      <p:sp>
        <p:nvSpPr>
          <p:cNvPr id="17" name="TextBox 16"/>
          <p:cNvSpPr txBox="1"/>
          <p:nvPr/>
        </p:nvSpPr>
        <p:spPr>
          <a:xfrm>
            <a:off x="1314450" y="6826194"/>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Data is spread over several sites but looks like one database to users.</a:t>
            </a:r>
          </a:p>
        </p:txBody>
      </p:sp>
      <p:sp>
        <p:nvSpPr>
          <p:cNvPr id="18" name="Rectangle 17"/>
          <p:cNvSpPr/>
          <p:nvPr/>
        </p:nvSpPr>
        <p:spPr>
          <a:xfrm>
            <a:off x="6507480" y="5703013"/>
            <a:ext cx="5273040" cy="3229737"/>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6103063"/>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Cloud (DBaaS)</a:t>
            </a:r>
          </a:p>
        </p:txBody>
      </p:sp>
      <p:sp>
        <p:nvSpPr>
          <p:cNvPr id="20" name="TextBox 19"/>
          <p:cNvSpPr txBox="1"/>
          <p:nvPr/>
        </p:nvSpPr>
        <p:spPr>
          <a:xfrm>
            <a:off x="6907530" y="6826194"/>
            <a:ext cx="4472940" cy="1706506"/>
          </a:xfrm>
          <a:prstGeom prst="rect">
            <a:avLst/>
          </a:prstGeom>
          <a:noFill/>
        </p:spPr>
        <p:txBody>
          <a:bodyPr wrap="square" lIns="0" rIns="0" tIns="0" bIns="0" anchor="t"/>
          <a:lstStyle/>
          <a:p>
            <a:pPr algn="l">
              <a:lnSpc>
                <a:spcPct val="111800"/>
              </a:lnSpc>
            </a:pPr>
            <a:r>
              <a:rPr sz="2511" b="0" i="0" u="none">
                <a:solidFill>
                  <a:srgbClr val="334155"/>
                </a:solidFill>
                <a:latin typeface="Calibri"/>
              </a:rPr>
              <a:t>A managed service: the provider runs backups, patching and scaling, e.g. Amazon RDS, Azure SQL, Cloud SQL.</a:t>
            </a:r>
          </a:p>
        </p:txBody>
      </p:sp>
      <p:sp>
        <p:nvSpPr>
          <p:cNvPr id="21" name="Rectangle 20"/>
          <p:cNvSpPr/>
          <p:nvPr/>
        </p:nvSpPr>
        <p:spPr>
          <a:xfrm>
            <a:off x="12100560" y="5703013"/>
            <a:ext cx="5273040" cy="3229737"/>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6103063"/>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Embedded</a:t>
            </a:r>
          </a:p>
        </p:txBody>
      </p:sp>
      <p:sp>
        <p:nvSpPr>
          <p:cNvPr id="23" name="TextBox 22"/>
          <p:cNvSpPr txBox="1"/>
          <p:nvPr/>
        </p:nvSpPr>
        <p:spPr>
          <a:xfrm>
            <a:off x="12500610" y="6826194"/>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The database is a library inside the app: SQLite in every phone and browser.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29/35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Two-tier vs three-tier</a:t>
            </a:r>
          </a:p>
        </p:txBody>
      </p:sp>
      <p:cxnSp>
        <p:nvCxnSpPr>
          <p:cNvPr id="6" name="Connector 5"/>
          <p:cNvCxnSpPr/>
          <p:nvPr/>
        </p:nvCxnSpPr>
        <p:spPr>
          <a:xfrm>
            <a:off x="2190750" y="4343400"/>
            <a:ext cx="1390650" cy="1809750"/>
          </a:xfrm>
          <a:prstGeom prst="line">
            <a:avLst/>
          </a:prstGeom>
          <a:ln w="23812">
            <a:solidFill>
              <a:srgbClr val="0F172A"/>
            </a:solidFill>
            <a:tailEnd type="triangle"/>
          </a:ln>
        </p:spPr>
      </p:cxnSp>
      <p:cxnSp>
        <p:nvCxnSpPr>
          <p:cNvPr id="7" name="Connector 6"/>
          <p:cNvCxnSpPr/>
          <p:nvPr/>
        </p:nvCxnSpPr>
        <p:spPr>
          <a:xfrm>
            <a:off x="4286250" y="4343400"/>
            <a:ext cx="0" cy="1809750"/>
          </a:xfrm>
          <a:prstGeom prst="line">
            <a:avLst/>
          </a:prstGeom>
          <a:ln w="23812">
            <a:solidFill>
              <a:srgbClr val="0F172A"/>
            </a:solidFill>
            <a:tailEnd type="triangle"/>
          </a:ln>
        </p:spPr>
      </p:cxnSp>
      <p:cxnSp>
        <p:nvCxnSpPr>
          <p:cNvPr id="8" name="Connector 7"/>
          <p:cNvCxnSpPr/>
          <p:nvPr/>
        </p:nvCxnSpPr>
        <p:spPr>
          <a:xfrm flipH="1">
            <a:off x="4981575" y="4343400"/>
            <a:ext cx="1400175" cy="1809750"/>
          </a:xfrm>
          <a:prstGeom prst="line">
            <a:avLst/>
          </a:prstGeom>
          <a:ln w="23812">
            <a:solidFill>
              <a:srgbClr val="0F172A"/>
            </a:solidFill>
            <a:tailEnd type="triangle"/>
          </a:ln>
        </p:spPr>
      </p:cxnSp>
      <p:cxnSp>
        <p:nvCxnSpPr>
          <p:cNvPr id="9" name="Connector 8"/>
          <p:cNvCxnSpPr/>
          <p:nvPr/>
        </p:nvCxnSpPr>
        <p:spPr>
          <a:xfrm>
            <a:off x="13335000" y="4219575"/>
            <a:ext cx="0" cy="800100"/>
          </a:xfrm>
          <a:prstGeom prst="line">
            <a:avLst/>
          </a:prstGeom>
          <a:ln w="23812">
            <a:solidFill>
              <a:srgbClr val="0F172A"/>
            </a:solidFill>
            <a:tailEnd type="triangle"/>
            <a:headEnd type="triangle"/>
          </a:ln>
        </p:spPr>
      </p:cxnSp>
      <p:cxnSp>
        <p:nvCxnSpPr>
          <p:cNvPr id="10" name="Connector 9"/>
          <p:cNvCxnSpPr/>
          <p:nvPr/>
        </p:nvCxnSpPr>
        <p:spPr>
          <a:xfrm>
            <a:off x="13335000" y="5838825"/>
            <a:ext cx="0" cy="800100"/>
          </a:xfrm>
          <a:prstGeom prst="line">
            <a:avLst/>
          </a:prstGeom>
          <a:ln w="23812">
            <a:solidFill>
              <a:srgbClr val="0F172A"/>
            </a:solidFill>
            <a:tailEnd type="triangle"/>
            <a:headEnd type="triangle"/>
          </a:ln>
        </p:spPr>
      </p:cxnSp>
      <p:sp>
        <p:nvSpPr>
          <p:cNvPr id="11" name="Rectangle 10"/>
          <p:cNvSpPr/>
          <p:nvPr/>
        </p:nvSpPr>
        <p:spPr>
          <a:xfrm>
            <a:off x="1285875" y="3657600"/>
            <a:ext cx="1809750" cy="6858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Client PC</a:t>
            </a:r>
          </a:p>
        </p:txBody>
      </p:sp>
      <p:sp>
        <p:nvSpPr>
          <p:cNvPr id="12" name="Rectangle 11"/>
          <p:cNvSpPr/>
          <p:nvPr/>
        </p:nvSpPr>
        <p:spPr>
          <a:xfrm>
            <a:off x="3381375" y="3657600"/>
            <a:ext cx="1809750" cy="6858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Client PC</a:t>
            </a:r>
          </a:p>
        </p:txBody>
      </p:sp>
      <p:sp>
        <p:nvSpPr>
          <p:cNvPr id="13" name="Rectangle 12"/>
          <p:cNvSpPr/>
          <p:nvPr/>
        </p:nvSpPr>
        <p:spPr>
          <a:xfrm>
            <a:off x="5476875" y="3657600"/>
            <a:ext cx="1809750" cy="6858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Client PC</a:t>
            </a:r>
          </a:p>
        </p:txBody>
      </p:sp>
      <p:sp>
        <p:nvSpPr>
          <p:cNvPr id="14" name="Rectangle 13"/>
          <p:cNvSpPr/>
          <p:nvPr/>
        </p:nvSpPr>
        <p:spPr>
          <a:xfrm>
            <a:off x="2286000" y="6162675"/>
            <a:ext cx="4000500" cy="81915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Database server</a:t>
            </a:r>
          </a:p>
        </p:txBody>
      </p:sp>
      <p:sp>
        <p:nvSpPr>
          <p:cNvPr id="15" name="Rectangle 14"/>
          <p:cNvSpPr/>
          <p:nvPr/>
        </p:nvSpPr>
        <p:spPr>
          <a:xfrm>
            <a:off x="10858500" y="3400425"/>
            <a:ext cx="4953000" cy="81915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Browser</a:t>
            </a:r>
          </a:p>
        </p:txBody>
      </p:sp>
      <p:sp>
        <p:nvSpPr>
          <p:cNvPr id="16" name="Rectangle 15"/>
          <p:cNvSpPr/>
          <p:nvPr/>
        </p:nvSpPr>
        <p:spPr>
          <a:xfrm>
            <a:off x="10858500" y="5019675"/>
            <a:ext cx="4953000" cy="81915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Web / application server</a:t>
            </a:r>
          </a:p>
        </p:txBody>
      </p:sp>
      <p:sp>
        <p:nvSpPr>
          <p:cNvPr id="17" name="Rectangle 16"/>
          <p:cNvSpPr/>
          <p:nvPr/>
        </p:nvSpPr>
        <p:spPr>
          <a:xfrm>
            <a:off x="10858500" y="6638925"/>
            <a:ext cx="4953000" cy="81915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Database server</a:t>
            </a:r>
          </a:p>
        </p:txBody>
      </p:sp>
      <p:sp>
        <p:nvSpPr>
          <p:cNvPr id="18" name="TextBox 17"/>
          <p:cNvSpPr txBox="1"/>
          <p:nvPr/>
        </p:nvSpPr>
        <p:spPr>
          <a:xfrm>
            <a:off x="1219200" y="2857500"/>
            <a:ext cx="6667500" cy="381190"/>
          </a:xfrm>
          <a:prstGeom prst="rect">
            <a:avLst/>
          </a:prstGeom>
          <a:noFill/>
        </p:spPr>
        <p:txBody>
          <a:bodyPr wrap="square" lIns="0" rIns="0" tIns="0" bIns="0" anchor="t"/>
          <a:lstStyle/>
          <a:p>
            <a:pPr algn="l">
              <a:lnSpc>
                <a:spcPct val="111800"/>
              </a:lnSpc>
            </a:pPr>
            <a:r>
              <a:rPr sz="2070" b="1" i="0" u="none">
                <a:solidFill>
                  <a:srgbClr val="C8102E"/>
                </a:solidFill>
                <a:latin typeface="Calibri"/>
              </a:rPr>
              <a:t>Two-tier (client/server)</a:t>
            </a:r>
          </a:p>
        </p:txBody>
      </p:sp>
      <p:sp>
        <p:nvSpPr>
          <p:cNvPr id="19" name="TextBox 18"/>
          <p:cNvSpPr txBox="1"/>
          <p:nvPr/>
        </p:nvSpPr>
        <p:spPr>
          <a:xfrm>
            <a:off x="9525000" y="2857500"/>
            <a:ext cx="7543800" cy="381190"/>
          </a:xfrm>
          <a:prstGeom prst="rect">
            <a:avLst/>
          </a:prstGeom>
          <a:noFill/>
        </p:spPr>
        <p:txBody>
          <a:bodyPr wrap="square" lIns="0" rIns="0" tIns="0" bIns="0" anchor="t"/>
          <a:lstStyle/>
          <a:p>
            <a:pPr algn="l">
              <a:lnSpc>
                <a:spcPct val="111800"/>
              </a:lnSpc>
            </a:pPr>
            <a:r>
              <a:rPr sz="2070" b="1" i="0" u="none">
                <a:solidFill>
                  <a:srgbClr val="0E8A8A"/>
                </a:solidFill>
                <a:latin typeface="Calibri"/>
              </a:rPr>
              <a:t>Three-tier (web)</a:t>
            </a:r>
          </a:p>
        </p:txBody>
      </p:sp>
      <p:sp>
        <p:nvSpPr>
          <p:cNvPr id="20" name="Rectangle 19"/>
          <p:cNvSpPr/>
          <p:nvPr/>
        </p:nvSpPr>
        <p:spPr>
          <a:xfrm>
            <a:off x="8572500" y="2857500"/>
            <a:ext cx="19050" cy="5715000"/>
          </a:xfrm>
          <a:prstGeom prst="rect">
            <a:avLst/>
          </a:prstGeom>
          <a:solidFill>
            <a:srgbClr val="E2E8F0"/>
          </a:solidFill>
          <a:ln>
            <a:noFill/>
          </a:ln>
        </p:spPr>
        <p:txBody>
          <a:bodyPr rtlCol="0" anchor="ctr" lIns="0" rIns="0" tIns="0" bIns="0"/>
          <a:lstStyle/>
          <a:p>
            <a:pPr algn="ctr"/>
          </a:p>
        </p:txBody>
      </p:sp>
      <p:sp>
        <p:nvSpPr>
          <p:cNvPr id="21" name="TextBox 20"/>
          <p:cNvSpPr txBox="1"/>
          <p:nvPr/>
        </p:nvSpPr>
        <p:spPr>
          <a:xfrm>
            <a:off x="1219200" y="7334250"/>
            <a:ext cx="68580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Each PC runs the application and talks to the database directly.</a:t>
            </a:r>
          </a:p>
        </p:txBody>
      </p:sp>
      <p:sp>
        <p:nvSpPr>
          <p:cNvPr id="22" name="TextBox 21"/>
          <p:cNvSpPr txBox="1"/>
          <p:nvPr/>
        </p:nvSpPr>
        <p:spPr>
          <a:xfrm>
            <a:off x="9525000" y="7810500"/>
            <a:ext cx="7543800" cy="922743"/>
          </a:xfrm>
          <a:prstGeom prst="rect">
            <a:avLst/>
          </a:prstGeom>
          <a:noFill/>
        </p:spPr>
        <p:txBody>
          <a:bodyPr wrap="square" lIns="0" rIns="0" tIns="0" bIns="0" anchor="t"/>
          <a:lstStyle/>
          <a:p>
            <a:pPr algn="l">
              <a:lnSpc>
                <a:spcPct val="111800"/>
              </a:lnSpc>
            </a:pPr>
            <a:r>
              <a:rPr sz="1794" b="0" i="0" u="none">
                <a:solidFill>
                  <a:srgbClr val="334155"/>
                </a:solidFill>
                <a:latin typeface="Calibri"/>
              </a:rPr>
              <a:t>Only the server runs the application; users need just a browser. The database server stays behind the app server, off the public internet.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857250"/>
            <a:ext cx="7620000" cy="331470"/>
          </a:xfrm>
          <a:prstGeom prst="rect">
            <a:avLst/>
          </a:prstGeom>
          <a:noFill/>
        </p:spPr>
        <p:txBody>
          <a:bodyPr wrap="square" lIns="0" rIns="0" tIns="0" bIns="0" anchor="t"/>
          <a:lstStyle/>
          <a:p>
            <a:pPr algn="l">
              <a:lnSpc>
                <a:spcPct val="111800"/>
              </a:lnSpc>
            </a:pPr>
            <a:r>
              <a:rPr sz="1800" b="1" i="0" u="none">
                <a:solidFill>
                  <a:srgbClr val="F87171"/>
                </a:solidFill>
                <a:latin typeface="Arial"/>
              </a:rPr>
              <a:t>KEY IDEA</a:t>
            </a:r>
          </a:p>
        </p:txBody>
      </p:sp>
      <p:cxnSp>
        <p:nvCxnSpPr>
          <p:cNvPr id="3" name="Connector 2"/>
          <p:cNvCxnSpPr/>
          <p:nvPr/>
        </p:nvCxnSpPr>
        <p:spPr>
          <a:xfrm>
            <a:off x="2438400" y="962025"/>
            <a:ext cx="14935200" cy="0"/>
          </a:xfrm>
          <a:prstGeom prst="line">
            <a:avLst/>
          </a:prstGeom>
          <a:ln w="19050">
            <a:solidFill>
              <a:srgbClr val="1E293B"/>
            </a:solidFill>
          </a:ln>
        </p:spPr>
      </p:cxnSp>
      <p:sp>
        <p:nvSpPr>
          <p:cNvPr id="4" name="TextBox 3"/>
          <p:cNvSpPr txBox="1"/>
          <p:nvPr/>
        </p:nvSpPr>
        <p:spPr>
          <a:xfrm>
            <a:off x="914400" y="3143250"/>
            <a:ext cx="14287500" cy="1752219"/>
          </a:xfrm>
          <a:prstGeom prst="rect">
            <a:avLst/>
          </a:prstGeom>
          <a:noFill/>
        </p:spPr>
        <p:txBody>
          <a:bodyPr wrap="square" lIns="0" rIns="0" tIns="0" bIns="0"/>
          <a:lstStyle/>
          <a:p>
            <a:pPr>
              <a:lnSpc>
                <a:spcPct val="90000"/>
              </a:lnSpc>
            </a:pPr>
            <a:r>
              <a:rPr sz="6300" b="1" i="0" u="none">
                <a:solidFill>
                  <a:srgbClr val="FFFFFF"/>
                </a:solidFill>
                <a:latin typeface="Arial"/>
              </a:rPr>
              <a:t>A DBMS separates </a:t>
            </a:r>
            <a:r>
              <a:rPr sz="6300" b="1" i="0" u="none">
                <a:solidFill>
                  <a:srgbClr val="F87171"/>
                </a:solidFill>
                <a:latin typeface="Arial"/>
              </a:rPr>
              <a:t>what</a:t>
            </a:r>
            <a:r>
              <a:rPr sz="6300" b="1" i="0" u="none">
                <a:solidFill>
                  <a:srgbClr val="FFFFFF"/>
                </a:solidFill>
                <a:latin typeface="Arial"/>
              </a:rPr>
              <a:t> the data means from </a:t>
            </a:r>
            <a:r>
              <a:rPr sz="6300" b="1" i="0" u="none">
                <a:solidFill>
                  <a:srgbClr val="F87171"/>
                </a:solidFill>
                <a:latin typeface="Arial"/>
              </a:rPr>
              <a:t>how</a:t>
            </a:r>
            <a:r>
              <a:rPr sz="6300" b="1" i="0" u="none">
                <a:solidFill>
                  <a:srgbClr val="FFFFFF"/>
                </a:solidFill>
                <a:latin typeface="Arial"/>
              </a:rPr>
              <a:t> it is stored.</a:t>
            </a:r>
          </a:p>
        </p:txBody>
      </p:sp>
      <p:sp>
        <p:nvSpPr>
          <p:cNvPr id="5" name="TextBox 4"/>
          <p:cNvSpPr txBox="1"/>
          <p:nvPr/>
        </p:nvSpPr>
        <p:spPr>
          <a:xfrm>
            <a:off x="914400" y="5466969"/>
            <a:ext cx="12382500" cy="1333500"/>
          </a:xfrm>
          <a:prstGeom prst="rect">
            <a:avLst/>
          </a:prstGeom>
          <a:noFill/>
        </p:spPr>
        <p:txBody>
          <a:bodyPr wrap="square" lIns="0" rIns="0" tIns="0" bIns="0"/>
          <a:lstStyle/>
          <a:p>
            <a:pPr>
              <a:lnSpc>
                <a:spcPct val="120000"/>
              </a:lnSpc>
            </a:pPr>
            <a:r>
              <a:rPr sz="2400" b="0" i="0" u="none">
                <a:solidFill>
                  <a:srgbClr val="CBD5E1"/>
                </a:solidFill>
                <a:latin typeface="Calibri"/>
              </a:rPr>
              <a:t>Everything in this course builds on that idea: we design the meaning (ERD, tables, normalization) and let the DBMS handle storage.</a:t>
            </a:r>
          </a:p>
        </p:txBody>
      </p:sp>
      <p:sp>
        <p:nvSpPr>
          <p:cNvPr id="6" name="TextBox 5"/>
          <p:cNvSpPr txBox="1"/>
          <p:nvPr/>
        </p:nvSpPr>
        <p:spPr>
          <a:xfrm>
            <a:off x="914400" y="9296400"/>
            <a:ext cx="7620000" cy="331470"/>
          </a:xfrm>
          <a:prstGeom prst="rect">
            <a:avLst/>
          </a:prstGeom>
          <a:noFill/>
        </p:spPr>
        <p:txBody>
          <a:bodyPr wrap="square" lIns="0" rIns="0" tIns="0" bIns="0" anchor="t"/>
          <a:lstStyle/>
          <a:p>
            <a:pPr algn="l">
              <a:lnSpc>
                <a:spcPct val="111800"/>
              </a:lnSpc>
            </a:pPr>
            <a:r>
              <a:rPr sz="1800" b="0" i="0" u="none">
                <a:solidFill>
                  <a:srgbClr val="94A3B8"/>
                </a:solidFill>
                <a:latin typeface="Calibri"/>
              </a:rPr>
              <a:t>ITI · Database Fundamentals</a:t>
            </a:r>
          </a:p>
        </p:txBody>
      </p:sp>
      <p:sp>
        <p:nvSpPr>
          <p:cNvPr id="7" name="TextBox 6"/>
          <p:cNvSpPr txBox="1"/>
          <p:nvPr/>
        </p:nvSpPr>
        <p:spPr>
          <a:xfrm>
            <a:off x="9753600" y="9296400"/>
            <a:ext cx="7620000" cy="331470"/>
          </a:xfrm>
          <a:prstGeom prst="rect">
            <a:avLst/>
          </a:prstGeom>
          <a:noFill/>
        </p:spPr>
        <p:txBody>
          <a:bodyPr wrap="square" lIns="0" rIns="0" tIns="0" bIns="0" anchor="t"/>
          <a:lstStyle/>
          <a:p>
            <a:pPr algn="r">
              <a:lnSpc>
                <a:spcPct val="111800"/>
              </a:lnSpc>
            </a:pPr>
            <a:r>
              <a:rPr sz="1800" b="0" i="0" u="none">
                <a:solidFill>
                  <a:srgbClr val="94A3B8"/>
                </a:solidFill>
                <a:latin typeface="Calibri"/>
              </a:rPr>
              <a:t>Lesson 1 · Introduction to Databases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31 · RECAP</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31/35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to walk out remembering</a:t>
            </a:r>
          </a:p>
        </p:txBody>
      </p:sp>
      <p:sp>
        <p:nvSpPr>
          <p:cNvPr id="6" name="TextBox 5"/>
          <p:cNvSpPr txBox="1"/>
          <p:nvPr/>
        </p:nvSpPr>
        <p:spPr>
          <a:xfrm>
            <a:off x="914400" y="30289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771650" y="30289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File-based systems duplicate data and tie programs to file layouts.</a:t>
            </a:r>
          </a:p>
        </p:txBody>
      </p:sp>
      <p:cxnSp>
        <p:nvCxnSpPr>
          <p:cNvPr id="8" name="Connector 7"/>
          <p:cNvCxnSpPr/>
          <p:nvPr/>
        </p:nvCxnSpPr>
        <p:spPr>
          <a:xfrm>
            <a:off x="914400" y="3886200"/>
            <a:ext cx="16459200" cy="0"/>
          </a:xfrm>
          <a:prstGeom prst="line">
            <a:avLst/>
          </a:prstGeom>
          <a:ln w="14287">
            <a:solidFill>
              <a:srgbClr val="E2E8F0"/>
            </a:solidFill>
          </a:ln>
        </p:spPr>
      </p:cxnSp>
      <p:sp>
        <p:nvSpPr>
          <p:cNvPr id="9" name="TextBox 8"/>
          <p:cNvSpPr txBox="1"/>
          <p:nvPr/>
        </p:nvSpPr>
        <p:spPr>
          <a:xfrm>
            <a:off x="914400" y="40576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0" name="TextBox 9"/>
          <p:cNvSpPr txBox="1"/>
          <p:nvPr/>
        </p:nvSpPr>
        <p:spPr>
          <a:xfrm>
            <a:off x="1771650" y="40576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A </a:t>
            </a:r>
            <a:r>
              <a:rPr sz="2250" b="1" i="0" u="none">
                <a:solidFill>
                  <a:srgbClr val="0F172A"/>
                </a:solidFill>
                <a:latin typeface="Calibri"/>
              </a:rPr>
              <a:t>DBMS</a:t>
            </a:r>
            <a:r>
              <a:rPr sz="2250" b="0" i="0" u="none">
                <a:solidFill>
                  <a:srgbClr val="0F172A"/>
                </a:solidFill>
                <a:latin typeface="Calibri"/>
              </a:rPr>
              <a:t> defines, stores, shares and protects data; database + DBMS = database system.</a:t>
            </a:r>
          </a:p>
        </p:txBody>
      </p:sp>
      <p:cxnSp>
        <p:nvCxnSpPr>
          <p:cNvPr id="11" name="Connector 10"/>
          <p:cNvCxnSpPr/>
          <p:nvPr/>
        </p:nvCxnSpPr>
        <p:spPr>
          <a:xfrm>
            <a:off x="914400" y="4914900"/>
            <a:ext cx="16459200" cy="0"/>
          </a:xfrm>
          <a:prstGeom prst="line">
            <a:avLst/>
          </a:prstGeom>
          <a:ln w="14287">
            <a:solidFill>
              <a:srgbClr val="E2E8F0"/>
            </a:solidFill>
          </a:ln>
        </p:spPr>
      </p:cxnSp>
      <p:sp>
        <p:nvSpPr>
          <p:cNvPr id="12" name="TextBox 11"/>
          <p:cNvSpPr txBox="1"/>
          <p:nvPr/>
        </p:nvSpPr>
        <p:spPr>
          <a:xfrm>
            <a:off x="914400" y="50863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3" name="TextBox 12"/>
          <p:cNvSpPr txBox="1"/>
          <p:nvPr/>
        </p:nvSpPr>
        <p:spPr>
          <a:xfrm>
            <a:off x="1771650" y="50863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The </a:t>
            </a:r>
            <a:r>
              <a:rPr sz="2250" b="1" i="0" u="none">
                <a:solidFill>
                  <a:srgbClr val="0F172A"/>
                </a:solidFill>
                <a:latin typeface="Calibri"/>
              </a:rPr>
              <a:t>three-schema architecture</a:t>
            </a:r>
            <a:r>
              <a:rPr sz="2250" b="0" i="0" u="none">
                <a:solidFill>
                  <a:srgbClr val="0F172A"/>
                </a:solidFill>
                <a:latin typeface="Calibri"/>
              </a:rPr>
              <a:t> separates user views, logical design and physical storage.</a:t>
            </a:r>
          </a:p>
        </p:txBody>
      </p:sp>
      <p:cxnSp>
        <p:nvCxnSpPr>
          <p:cNvPr id="14" name="Connector 13"/>
          <p:cNvCxnSpPr/>
          <p:nvPr/>
        </p:nvCxnSpPr>
        <p:spPr>
          <a:xfrm>
            <a:off x="914400" y="5943600"/>
            <a:ext cx="16459200" cy="0"/>
          </a:xfrm>
          <a:prstGeom prst="line">
            <a:avLst/>
          </a:prstGeom>
          <a:ln w="14287">
            <a:solidFill>
              <a:srgbClr val="E2E8F0"/>
            </a:solidFill>
          </a:ln>
        </p:spPr>
      </p:cxnSp>
      <p:sp>
        <p:nvSpPr>
          <p:cNvPr id="15" name="TextBox 14"/>
          <p:cNvSpPr txBox="1"/>
          <p:nvPr/>
        </p:nvSpPr>
        <p:spPr>
          <a:xfrm>
            <a:off x="914400" y="61150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04</a:t>
            </a:r>
          </a:p>
        </p:txBody>
      </p:sp>
      <p:sp>
        <p:nvSpPr>
          <p:cNvPr id="16" name="TextBox 15"/>
          <p:cNvSpPr txBox="1"/>
          <p:nvPr/>
        </p:nvSpPr>
        <p:spPr>
          <a:xfrm>
            <a:off x="1771650" y="6115050"/>
            <a:ext cx="15601950" cy="800100"/>
          </a:xfrm>
          <a:prstGeom prst="rect">
            <a:avLst/>
          </a:prstGeom>
          <a:noFill/>
        </p:spPr>
        <p:txBody>
          <a:bodyPr wrap="square" lIns="0" rIns="0" tIns="0" bIns="0" anchor="t"/>
          <a:lstStyle/>
          <a:p>
            <a:pPr algn="l">
              <a:lnSpc>
                <a:spcPct val="111800"/>
              </a:lnSpc>
            </a:pPr>
            <a:r>
              <a:rPr sz="2250" b="1" i="0" u="none">
                <a:solidFill>
                  <a:srgbClr val="0F172A"/>
                </a:solidFill>
                <a:latin typeface="Calibri"/>
              </a:rPr>
              <a:t>Data independence</a:t>
            </a:r>
            <a:r>
              <a:rPr sz="2250" b="0" i="0" u="none">
                <a:solidFill>
                  <a:srgbClr val="0F172A"/>
                </a:solidFill>
                <a:latin typeface="Calibri"/>
              </a:rPr>
              <a:t> lets one level change without breaking the level above.</a:t>
            </a:r>
          </a:p>
        </p:txBody>
      </p:sp>
      <p:cxnSp>
        <p:nvCxnSpPr>
          <p:cNvPr id="17" name="Connector 16"/>
          <p:cNvCxnSpPr/>
          <p:nvPr/>
        </p:nvCxnSpPr>
        <p:spPr>
          <a:xfrm>
            <a:off x="914400" y="6972300"/>
            <a:ext cx="16459200" cy="0"/>
          </a:xfrm>
          <a:prstGeom prst="line">
            <a:avLst/>
          </a:prstGeom>
          <a:ln w="14287">
            <a:solidFill>
              <a:srgbClr val="E2E8F0"/>
            </a:solidFill>
          </a:ln>
        </p:spPr>
      </p:cxnSp>
      <p:sp>
        <p:nvSpPr>
          <p:cNvPr id="18" name="TextBox 17"/>
          <p:cNvSpPr txBox="1"/>
          <p:nvPr/>
        </p:nvSpPr>
        <p:spPr>
          <a:xfrm>
            <a:off x="914400" y="71437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05</a:t>
            </a:r>
          </a:p>
        </p:txBody>
      </p:sp>
      <p:sp>
        <p:nvSpPr>
          <p:cNvPr id="19" name="TextBox 18"/>
          <p:cNvSpPr txBox="1"/>
          <p:nvPr/>
        </p:nvSpPr>
        <p:spPr>
          <a:xfrm>
            <a:off x="1771650" y="71437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Data models go from </a:t>
            </a:r>
            <a:r>
              <a:rPr sz="2250" b="1" i="0" u="none">
                <a:solidFill>
                  <a:srgbClr val="0F172A"/>
                </a:solidFill>
                <a:latin typeface="Calibri"/>
              </a:rPr>
              <a:t>conceptual</a:t>
            </a:r>
            <a:r>
              <a:rPr sz="2250" b="0" i="0" u="none">
                <a:solidFill>
                  <a:srgbClr val="0F172A"/>
                </a:solidFill>
                <a:latin typeface="Calibri"/>
              </a:rPr>
              <a:t> (ERD) to </a:t>
            </a:r>
            <a:r>
              <a:rPr sz="2250" b="1" i="0" u="none">
                <a:solidFill>
                  <a:srgbClr val="0F172A"/>
                </a:solidFill>
                <a:latin typeface="Calibri"/>
              </a:rPr>
              <a:t>logical</a:t>
            </a:r>
            <a:r>
              <a:rPr sz="2250" b="0" i="0" u="none">
                <a:solidFill>
                  <a:srgbClr val="0F172A"/>
                </a:solidFill>
                <a:latin typeface="Calibri"/>
              </a:rPr>
              <a:t> (tables) to </a:t>
            </a:r>
            <a:r>
              <a:rPr sz="2250" b="1" i="0" u="none">
                <a:solidFill>
                  <a:srgbClr val="0F172A"/>
                </a:solidFill>
                <a:latin typeface="Calibri"/>
              </a:rPr>
              <a:t>physical</a:t>
            </a:r>
            <a:r>
              <a:rPr sz="2250" b="0" i="0" u="none">
                <a:solidFill>
                  <a:srgbClr val="0F172A"/>
                </a:solidFill>
                <a:latin typeface="Calibri"/>
              </a:rPr>
              <a:t> (files, indexes).</a:t>
            </a:r>
          </a:p>
        </p:txBody>
      </p:sp>
      <p:cxnSp>
        <p:nvCxnSpPr>
          <p:cNvPr id="20" name="Connector 19"/>
          <p:cNvCxnSpPr/>
          <p:nvPr/>
        </p:nvCxnSpPr>
        <p:spPr>
          <a:xfrm>
            <a:off x="914400" y="8001000"/>
            <a:ext cx="16459200" cy="0"/>
          </a:xfrm>
          <a:prstGeom prst="line">
            <a:avLst/>
          </a:prstGeom>
          <a:ln w="14287">
            <a:solidFill>
              <a:srgbClr val="E2E8F0"/>
            </a:solidFill>
          </a:ln>
        </p:spPr>
      </p:cxnSp>
      <p:sp>
        <p:nvSpPr>
          <p:cNvPr id="21" name="TextBox 20"/>
          <p:cNvSpPr txBox="1"/>
          <p:nvPr/>
        </p:nvSpPr>
        <p:spPr>
          <a:xfrm>
            <a:off x="914400" y="81724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06</a:t>
            </a:r>
          </a:p>
        </p:txBody>
      </p:sp>
      <p:sp>
        <p:nvSpPr>
          <p:cNvPr id="22" name="TextBox 21"/>
          <p:cNvSpPr txBox="1"/>
          <p:nvPr/>
        </p:nvSpPr>
        <p:spPr>
          <a:xfrm>
            <a:off x="1771650" y="81724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NoSQL, warehouses and Big Data </a:t>
            </a:r>
            <a:r>
              <a:rPr sz="2250" b="1" i="0" u="none">
                <a:solidFill>
                  <a:srgbClr val="0F172A"/>
                </a:solidFill>
                <a:latin typeface="Calibri"/>
              </a:rPr>
              <a:t>complement</a:t>
            </a:r>
            <a:r>
              <a:rPr sz="2250" b="0" i="0" u="none">
                <a:solidFill>
                  <a:srgbClr val="0F172A"/>
                </a:solidFill>
                <a:latin typeface="Calibri"/>
              </a:rPr>
              <a:t> relational databases rather than replace them.</a:t>
            </a:r>
          </a:p>
        </p:txBody>
      </p:sp>
      <p:cxnSp>
        <p:nvCxnSpPr>
          <p:cNvPr id="23" name="Connector 22"/>
          <p:cNvCxnSpPr/>
          <p:nvPr/>
        </p:nvCxnSpPr>
        <p:spPr>
          <a:xfrm>
            <a:off x="914400" y="9029700"/>
            <a:ext cx="16459200" cy="0"/>
          </a:xfrm>
          <a:prstGeom prst="line">
            <a:avLst/>
          </a:prstGeom>
          <a:ln w="14287">
            <a:solidFill>
              <a:srgbClr val="E2E8F0"/>
            </a:solidFill>
          </a:ln>
        </p:spPr>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840926"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PRACTICE · OPTIONAL</a:t>
            </a:r>
          </a:p>
        </p:txBody>
      </p:sp>
      <p:cxnSp>
        <p:nvCxnSpPr>
          <p:cNvPr id="3" name="Connector 2"/>
          <p:cNvCxnSpPr/>
          <p:nvPr/>
        </p:nvCxnSpPr>
        <p:spPr>
          <a:xfrm>
            <a:off x="3831526" y="981075"/>
            <a:ext cx="12694349"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32/35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Practice: Lesson 1</a:t>
            </a:r>
          </a:p>
        </p:txBody>
      </p:sp>
      <p:sp>
        <p:nvSpPr>
          <p:cNvPr id="6" name="Rectangle 5"/>
          <p:cNvSpPr/>
          <p:nvPr/>
        </p:nvSpPr>
        <p:spPr>
          <a:xfrm>
            <a:off x="914400" y="2482024"/>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61110" y="2828734"/>
            <a:ext cx="4594859" cy="396438"/>
          </a:xfrm>
          <a:prstGeom prst="rect">
            <a:avLst/>
          </a:prstGeom>
          <a:noFill/>
        </p:spPr>
        <p:txBody>
          <a:bodyPr wrap="square" lIns="0" rIns="0" tIns="0" bIns="0" anchor="t"/>
          <a:lstStyle/>
          <a:p>
            <a:pPr algn="l">
              <a:lnSpc>
                <a:spcPct val="111800"/>
              </a:lnSpc>
            </a:pPr>
            <a:r>
              <a:rPr sz="2152" b="1" i="0" u="none">
                <a:solidFill>
                  <a:srgbClr val="0E8A8A"/>
                </a:solidFill>
                <a:latin typeface="Arial"/>
              </a:rPr>
              <a:t>Q1 · CORE</a:t>
            </a:r>
          </a:p>
        </p:txBody>
      </p:sp>
      <p:sp>
        <p:nvSpPr>
          <p:cNvPr id="8" name="TextBox 7"/>
          <p:cNvSpPr txBox="1"/>
          <p:nvPr/>
        </p:nvSpPr>
        <p:spPr>
          <a:xfrm>
            <a:off x="1261110" y="3348997"/>
            <a:ext cx="4594859" cy="1969659"/>
          </a:xfrm>
          <a:prstGeom prst="rect">
            <a:avLst/>
          </a:prstGeom>
          <a:noFill/>
        </p:spPr>
        <p:txBody>
          <a:bodyPr wrap="square" lIns="0" rIns="0" tIns="0" bIns="0" anchor="t"/>
          <a:lstStyle/>
          <a:p>
            <a:pPr algn="l">
              <a:lnSpc>
                <a:spcPct val="111800"/>
              </a:lnSpc>
            </a:pPr>
            <a:r>
              <a:rPr sz="2332" b="0" i="0" u="none">
                <a:solidFill>
                  <a:srgbClr val="0F172A"/>
                </a:solidFill>
                <a:latin typeface="Calibri"/>
              </a:rPr>
              <a:t>A university keeps a separate student file in Admissions, Finance and the Library. List </a:t>
            </a:r>
            <a:r>
              <a:rPr sz="2332" b="1" i="0" u="none">
                <a:solidFill>
                  <a:srgbClr val="0F172A"/>
                </a:solidFill>
                <a:latin typeface="Calibri"/>
              </a:rPr>
              <a:t>three problems</a:t>
            </a:r>
            <a:r>
              <a:rPr sz="2332" b="0" i="0" u="none">
                <a:solidFill>
                  <a:srgbClr val="0F172A"/>
                </a:solidFill>
                <a:latin typeface="Calibri"/>
              </a:rPr>
              <a:t> this causes, with a concrete example of each.</a:t>
            </a:r>
          </a:p>
        </p:txBody>
      </p:sp>
      <p:sp>
        <p:nvSpPr>
          <p:cNvPr id="9" name="Rectangle 8"/>
          <p:cNvSpPr/>
          <p:nvPr/>
        </p:nvSpPr>
        <p:spPr>
          <a:xfrm>
            <a:off x="6499860" y="2482024"/>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846570" y="2828734"/>
            <a:ext cx="4594859" cy="396438"/>
          </a:xfrm>
          <a:prstGeom prst="rect">
            <a:avLst/>
          </a:prstGeom>
          <a:noFill/>
        </p:spPr>
        <p:txBody>
          <a:bodyPr wrap="square" lIns="0" rIns="0" tIns="0" bIns="0" anchor="t"/>
          <a:lstStyle/>
          <a:p>
            <a:pPr algn="l">
              <a:lnSpc>
                <a:spcPct val="111800"/>
              </a:lnSpc>
            </a:pPr>
            <a:r>
              <a:rPr sz="2152" b="1" i="0" u="none">
                <a:solidFill>
                  <a:srgbClr val="0E8A8A"/>
                </a:solidFill>
                <a:latin typeface="Arial"/>
              </a:rPr>
              <a:t>Q2 · CORE</a:t>
            </a:r>
          </a:p>
        </p:txBody>
      </p:sp>
      <p:sp>
        <p:nvSpPr>
          <p:cNvPr id="11" name="TextBox 10"/>
          <p:cNvSpPr txBox="1"/>
          <p:nvPr/>
        </p:nvSpPr>
        <p:spPr>
          <a:xfrm>
            <a:off x="6846570" y="3348997"/>
            <a:ext cx="4594859" cy="1199567"/>
          </a:xfrm>
          <a:prstGeom prst="rect">
            <a:avLst/>
          </a:prstGeom>
          <a:noFill/>
        </p:spPr>
        <p:txBody>
          <a:bodyPr wrap="square" lIns="0" rIns="0" tIns="0" bIns="0" anchor="t"/>
          <a:lstStyle/>
          <a:p>
            <a:pPr algn="l">
              <a:lnSpc>
                <a:spcPct val="111800"/>
              </a:lnSpc>
            </a:pPr>
            <a:r>
              <a:rPr sz="2332" b="0" i="0" u="none">
                <a:solidFill>
                  <a:srgbClr val="0F172A"/>
                </a:solidFill>
                <a:latin typeface="Calibri"/>
              </a:rPr>
              <a:t>Is an Excel workbook a DBMS? Argue </a:t>
            </a:r>
            <a:r>
              <a:rPr sz="2332" b="1" i="0" u="none">
                <a:solidFill>
                  <a:srgbClr val="0F172A"/>
                </a:solidFill>
                <a:latin typeface="Calibri"/>
              </a:rPr>
              <a:t>yes or no</a:t>
            </a:r>
            <a:r>
              <a:rPr sz="2332" b="0" i="0" u="none">
                <a:solidFill>
                  <a:srgbClr val="0F172A"/>
                </a:solidFill>
                <a:latin typeface="Calibri"/>
              </a:rPr>
              <a:t> using the DBMS functions slide.</a:t>
            </a:r>
          </a:p>
        </p:txBody>
      </p:sp>
      <p:sp>
        <p:nvSpPr>
          <p:cNvPr id="12" name="Rectangle 11"/>
          <p:cNvSpPr/>
          <p:nvPr/>
        </p:nvSpPr>
        <p:spPr>
          <a:xfrm>
            <a:off x="12085320" y="2482024"/>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432030" y="2828734"/>
            <a:ext cx="4594859" cy="396438"/>
          </a:xfrm>
          <a:prstGeom prst="rect">
            <a:avLst/>
          </a:prstGeom>
          <a:noFill/>
        </p:spPr>
        <p:txBody>
          <a:bodyPr wrap="square" lIns="0" rIns="0" tIns="0" bIns="0" anchor="t"/>
          <a:lstStyle/>
          <a:p>
            <a:pPr algn="l">
              <a:lnSpc>
                <a:spcPct val="111800"/>
              </a:lnSpc>
            </a:pPr>
            <a:r>
              <a:rPr sz="2152" b="1" i="0" u="none">
                <a:solidFill>
                  <a:srgbClr val="0E8A8A"/>
                </a:solidFill>
                <a:latin typeface="Arial"/>
              </a:rPr>
              <a:t>Q3 · CORE</a:t>
            </a:r>
          </a:p>
        </p:txBody>
      </p:sp>
      <p:sp>
        <p:nvSpPr>
          <p:cNvPr id="14" name="TextBox 13"/>
          <p:cNvSpPr txBox="1"/>
          <p:nvPr/>
        </p:nvSpPr>
        <p:spPr>
          <a:xfrm>
            <a:off x="12432030" y="3348997"/>
            <a:ext cx="4594859" cy="1584613"/>
          </a:xfrm>
          <a:prstGeom prst="rect">
            <a:avLst/>
          </a:prstGeom>
          <a:noFill/>
        </p:spPr>
        <p:txBody>
          <a:bodyPr wrap="square" lIns="0" rIns="0" tIns="0" bIns="0" anchor="t"/>
          <a:lstStyle/>
          <a:p>
            <a:pPr algn="l">
              <a:lnSpc>
                <a:spcPct val="111800"/>
              </a:lnSpc>
            </a:pPr>
            <a:r>
              <a:rPr sz="2332" b="0" i="0" u="none">
                <a:solidFill>
                  <a:srgbClr val="0F172A"/>
                </a:solidFill>
                <a:latin typeface="Calibri"/>
              </a:rPr>
              <a:t>Which </a:t>
            </a:r>
            <a:r>
              <a:rPr sz="2332" b="1" i="0" u="none">
                <a:solidFill>
                  <a:srgbClr val="0F172A"/>
                </a:solidFill>
                <a:latin typeface="Calibri"/>
              </a:rPr>
              <a:t>role</a:t>
            </a:r>
            <a:r>
              <a:rPr sz="2332" b="0" i="0" u="none">
                <a:solidFill>
                  <a:srgbClr val="0F172A"/>
                </a:solidFill>
                <a:latin typeface="Calibri"/>
              </a:rPr>
              <a:t> does each task: design the ERD, restore a backup, build the payroll app, run the monthly report?</a:t>
            </a:r>
          </a:p>
        </p:txBody>
      </p:sp>
      <p:sp>
        <p:nvSpPr>
          <p:cNvPr id="15" name="Rectangle 14"/>
          <p:cNvSpPr/>
          <p:nvPr/>
        </p:nvSpPr>
        <p:spPr>
          <a:xfrm>
            <a:off x="914400" y="5962547"/>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261110" y="6309257"/>
            <a:ext cx="4594859"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Q4 · STRETCH</a:t>
            </a:r>
          </a:p>
        </p:txBody>
      </p:sp>
      <p:sp>
        <p:nvSpPr>
          <p:cNvPr id="17" name="TextBox 16"/>
          <p:cNvSpPr txBox="1"/>
          <p:nvPr/>
        </p:nvSpPr>
        <p:spPr>
          <a:xfrm>
            <a:off x="1261110" y="6829520"/>
            <a:ext cx="4594859" cy="1584613"/>
          </a:xfrm>
          <a:prstGeom prst="rect">
            <a:avLst/>
          </a:prstGeom>
          <a:noFill/>
        </p:spPr>
        <p:txBody>
          <a:bodyPr wrap="square" lIns="0" rIns="0" tIns="0" bIns="0" anchor="t"/>
          <a:lstStyle/>
          <a:p>
            <a:pPr algn="l">
              <a:lnSpc>
                <a:spcPct val="111800"/>
              </a:lnSpc>
            </a:pPr>
            <a:r>
              <a:rPr sz="2332" b="0" i="0" u="none">
                <a:solidFill>
                  <a:srgbClr val="0F172A"/>
                </a:solidFill>
                <a:latin typeface="Calibri"/>
              </a:rPr>
              <a:t>For a library database, give one change that needs </a:t>
            </a:r>
            <a:r>
              <a:rPr sz="2332" b="1" i="0" u="none">
                <a:solidFill>
                  <a:srgbClr val="0F172A"/>
                </a:solidFill>
                <a:latin typeface="Calibri"/>
              </a:rPr>
              <a:t>logical</a:t>
            </a:r>
            <a:r>
              <a:rPr sz="2332" b="0" i="0" u="none">
                <a:solidFill>
                  <a:srgbClr val="0F172A"/>
                </a:solidFill>
                <a:latin typeface="Calibri"/>
              </a:rPr>
              <a:t> data independence and one that needs </a:t>
            </a:r>
            <a:r>
              <a:rPr sz="2332" b="1" i="0" u="none">
                <a:solidFill>
                  <a:srgbClr val="0F172A"/>
                </a:solidFill>
                <a:latin typeface="Calibri"/>
              </a:rPr>
              <a:t>physical</a:t>
            </a:r>
            <a:r>
              <a:rPr sz="2332" b="0" i="0" u="none">
                <a:solidFill>
                  <a:srgbClr val="0F172A"/>
                </a:solidFill>
                <a:latin typeface="Calibri"/>
              </a:rPr>
              <a:t> data independence.</a:t>
            </a:r>
          </a:p>
        </p:txBody>
      </p:sp>
      <p:sp>
        <p:nvSpPr>
          <p:cNvPr id="18" name="Rectangle 17"/>
          <p:cNvSpPr/>
          <p:nvPr/>
        </p:nvSpPr>
        <p:spPr>
          <a:xfrm>
            <a:off x="6499860" y="5962547"/>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846570" y="6309257"/>
            <a:ext cx="4594859"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Q5 · STRETCH</a:t>
            </a:r>
          </a:p>
        </p:txBody>
      </p:sp>
      <p:sp>
        <p:nvSpPr>
          <p:cNvPr id="20" name="TextBox 19"/>
          <p:cNvSpPr txBox="1"/>
          <p:nvPr/>
        </p:nvSpPr>
        <p:spPr>
          <a:xfrm>
            <a:off x="6846570" y="6829520"/>
            <a:ext cx="4594859" cy="1969659"/>
          </a:xfrm>
          <a:prstGeom prst="rect">
            <a:avLst/>
          </a:prstGeom>
          <a:noFill/>
        </p:spPr>
        <p:txBody>
          <a:bodyPr wrap="square" lIns="0" rIns="0" tIns="0" bIns="0" anchor="t"/>
          <a:lstStyle/>
          <a:p>
            <a:pPr algn="l">
              <a:lnSpc>
                <a:spcPct val="111800"/>
              </a:lnSpc>
            </a:pPr>
            <a:r>
              <a:rPr sz="2332" b="0" i="0" u="none">
                <a:solidFill>
                  <a:srgbClr val="0F172A"/>
                </a:solidFill>
                <a:latin typeface="Calibri"/>
              </a:rPr>
              <a:t>Choose a NoSQL family for: a shopping cart, friend-of-a-friend search, a product catalog with varying attributes, sensor readings.</a:t>
            </a:r>
          </a:p>
        </p:txBody>
      </p:sp>
      <p:sp>
        <p:nvSpPr>
          <p:cNvPr id="21" name="Rectangle 20"/>
          <p:cNvSpPr/>
          <p:nvPr/>
        </p:nvSpPr>
        <p:spPr>
          <a:xfrm>
            <a:off x="12085320" y="5962547"/>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432030" y="6309257"/>
            <a:ext cx="4594859" cy="396438"/>
          </a:xfrm>
          <a:prstGeom prst="rect">
            <a:avLst/>
          </a:prstGeom>
          <a:noFill/>
        </p:spPr>
        <p:txBody>
          <a:bodyPr wrap="square" lIns="0" rIns="0" tIns="0" bIns="0" anchor="t"/>
          <a:lstStyle/>
          <a:p>
            <a:pPr algn="l">
              <a:lnSpc>
                <a:spcPct val="111800"/>
              </a:lnSpc>
            </a:pPr>
            <a:r>
              <a:rPr sz="2152" b="1" i="0" u="none">
                <a:solidFill>
                  <a:srgbClr val="0F172A"/>
                </a:solidFill>
                <a:latin typeface="Arial"/>
              </a:rPr>
              <a:t>Q6 · CHALLENGE</a:t>
            </a:r>
          </a:p>
        </p:txBody>
      </p:sp>
      <p:sp>
        <p:nvSpPr>
          <p:cNvPr id="23" name="TextBox 22"/>
          <p:cNvSpPr txBox="1"/>
          <p:nvPr/>
        </p:nvSpPr>
        <p:spPr>
          <a:xfrm>
            <a:off x="12432030" y="6829520"/>
            <a:ext cx="4594859" cy="1969659"/>
          </a:xfrm>
          <a:prstGeom prst="rect">
            <a:avLst/>
          </a:prstGeom>
          <a:noFill/>
        </p:spPr>
        <p:txBody>
          <a:bodyPr wrap="square" lIns="0" rIns="0" tIns="0" bIns="0" anchor="t"/>
          <a:lstStyle/>
          <a:p>
            <a:pPr algn="l">
              <a:lnSpc>
                <a:spcPct val="111800"/>
              </a:lnSpc>
            </a:pPr>
            <a:r>
              <a:rPr sz="2332" b="0" i="0" u="none">
                <a:solidFill>
                  <a:srgbClr val="0F172A"/>
                </a:solidFill>
                <a:latin typeface="Calibri"/>
              </a:rPr>
              <a:t>Open db-fiddle.com (PostgreSQL) and run CREATE TABLE, then CREATE INDEX on one column. Which level of the three-schema architecture does each statement change?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33 · STUDY MORE</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33/35</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Go deeper: Lesson 1</a:t>
            </a:r>
          </a:p>
        </p:txBody>
      </p:sp>
      <p:sp>
        <p:nvSpPr>
          <p:cNvPr id="6" name="TextBox 5"/>
          <p:cNvSpPr txBox="1"/>
          <p:nvPr/>
        </p:nvSpPr>
        <p:spPr>
          <a:xfrm>
            <a:off x="914400" y="30670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BOOK</a:t>
            </a:r>
          </a:p>
        </p:txBody>
      </p:sp>
      <p:sp>
        <p:nvSpPr>
          <p:cNvPr id="7" name="TextBox 6"/>
          <p:cNvSpPr txBox="1"/>
          <p:nvPr/>
        </p:nvSpPr>
        <p:spPr>
          <a:xfrm>
            <a:off x="3009900" y="3009900"/>
            <a:ext cx="14363700" cy="933450"/>
          </a:xfrm>
          <a:prstGeom prst="rect">
            <a:avLst/>
          </a:prstGeom>
          <a:noFill/>
        </p:spPr>
        <p:txBody>
          <a:bodyPr wrap="square" lIns="0" rIns="0" tIns="0" bIns="0"/>
          <a:lstStyle/>
          <a:p>
            <a:r>
              <a:rPr sz="2100" b="1" i="0" u="none">
                <a:solidFill>
                  <a:srgbClr val="0F172A"/>
                </a:solidFill>
                <a:latin typeface="Arial"/>
              </a:rPr>
              <a:t>Elmasri &amp; Navathe, Fundamentals of Database Systems (7th ed.)</a:t>
            </a:r>
            <a:r>
              <a:rPr sz="1950" b="0" i="0" u="none">
                <a:solidFill>
                  <a:srgbClr val="334155"/>
                </a:solidFill>
                <a:latin typeface="Calibri"/>
              </a:rPr>
              <a:t> — chapters 1–2: concepts and architecture</a:t>
            </a:r>
          </a:p>
        </p:txBody>
      </p:sp>
      <p:cxnSp>
        <p:nvCxnSpPr>
          <p:cNvPr id="8" name="Connector 7"/>
          <p:cNvCxnSpPr/>
          <p:nvPr/>
        </p:nvCxnSpPr>
        <p:spPr>
          <a:xfrm>
            <a:off x="914400" y="3981450"/>
            <a:ext cx="16459200" cy="0"/>
          </a:xfrm>
          <a:prstGeom prst="line">
            <a:avLst/>
          </a:prstGeom>
          <a:ln w="14287">
            <a:solidFill>
              <a:srgbClr val="E2E8F0"/>
            </a:solidFill>
          </a:ln>
        </p:spPr>
      </p:cxnSp>
      <p:sp>
        <p:nvSpPr>
          <p:cNvPr id="9" name="TextBox 8"/>
          <p:cNvSpPr txBox="1"/>
          <p:nvPr/>
        </p:nvSpPr>
        <p:spPr>
          <a:xfrm>
            <a:off x="914400" y="41910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BOOK</a:t>
            </a:r>
          </a:p>
        </p:txBody>
      </p:sp>
      <p:sp>
        <p:nvSpPr>
          <p:cNvPr id="10" name="TextBox 9"/>
          <p:cNvSpPr txBox="1"/>
          <p:nvPr/>
        </p:nvSpPr>
        <p:spPr>
          <a:xfrm>
            <a:off x="3009900" y="4133850"/>
            <a:ext cx="14363700" cy="933450"/>
          </a:xfrm>
          <a:prstGeom prst="rect">
            <a:avLst/>
          </a:prstGeom>
          <a:noFill/>
        </p:spPr>
        <p:txBody>
          <a:bodyPr wrap="square" lIns="0" rIns="0" tIns="0" bIns="0"/>
          <a:lstStyle/>
          <a:p>
            <a:r>
              <a:rPr sz="2100" b="1" i="0" u="none">
                <a:solidFill>
                  <a:srgbClr val="0F172A"/>
                </a:solidFill>
                <a:latin typeface="Arial"/>
              </a:rPr>
              <a:t>C. J. Date, An Introduction to Database Systems (8th ed.)</a:t>
            </a:r>
            <a:r>
              <a:rPr sz="1950" b="0" i="0" u="none">
                <a:solidFill>
                  <a:srgbClr val="334155"/>
                </a:solidFill>
                <a:latin typeface="Calibri"/>
              </a:rPr>
              <a:t> — the classic text on the relational model</a:t>
            </a:r>
          </a:p>
        </p:txBody>
      </p:sp>
      <p:cxnSp>
        <p:nvCxnSpPr>
          <p:cNvPr id="11" name="Connector 10"/>
          <p:cNvCxnSpPr/>
          <p:nvPr/>
        </p:nvCxnSpPr>
        <p:spPr>
          <a:xfrm>
            <a:off x="914400" y="5105400"/>
            <a:ext cx="16459200" cy="0"/>
          </a:xfrm>
          <a:prstGeom prst="line">
            <a:avLst/>
          </a:prstGeom>
          <a:ln w="14287">
            <a:solidFill>
              <a:srgbClr val="E2E8F0"/>
            </a:solidFill>
          </a:ln>
        </p:spPr>
      </p:cxnSp>
      <p:sp>
        <p:nvSpPr>
          <p:cNvPr id="12" name="TextBox 11"/>
          <p:cNvSpPr txBox="1"/>
          <p:nvPr/>
        </p:nvSpPr>
        <p:spPr>
          <a:xfrm>
            <a:off x="914400" y="53149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COURSE</a:t>
            </a:r>
          </a:p>
        </p:txBody>
      </p:sp>
      <p:sp>
        <p:nvSpPr>
          <p:cNvPr id="13" name="TextBox 12"/>
          <p:cNvSpPr txBox="1"/>
          <p:nvPr/>
        </p:nvSpPr>
        <p:spPr>
          <a:xfrm>
            <a:off x="3009900" y="5257800"/>
            <a:ext cx="14363700" cy="933450"/>
          </a:xfrm>
          <a:prstGeom prst="rect">
            <a:avLst/>
          </a:prstGeom>
          <a:noFill/>
        </p:spPr>
        <p:txBody>
          <a:bodyPr wrap="square" lIns="0" rIns="0" tIns="0" bIns="0"/>
          <a:lstStyle/>
          <a:p>
            <a:r>
              <a:rPr sz="2100" b="1" i="0" u="none">
                <a:solidFill>
                  <a:srgbClr val="0F172A"/>
                </a:solidFill>
                <a:latin typeface="Arial"/>
              </a:rPr>
              <a:t>CMU 15-445 Intro to Database Systems</a:t>
            </a:r>
            <a:r>
              <a:rPr sz="1950" b="0" i="0" u="none">
                <a:solidFill>
                  <a:srgbClr val="334155"/>
                </a:solidFill>
                <a:latin typeface="Calibri"/>
              </a:rPr>
              <a:t> — free lectures and slides on how a DBMS works inside</a:t>
            </a:r>
          </a:p>
          <a:p>
            <a:r>
              <a:rPr sz="1800" b="0" i="0" u="none">
                <a:solidFill>
                  <a:srgbClr val="0E8A8A"/>
                </a:solidFill>
                <a:latin typeface="Courier New"/>
                <a:hlinkClick r:id="rId2"/>
              </a:rPr>
              <a:t>15445.courses.cs.cmu.edu</a:t>
            </a:r>
          </a:p>
        </p:txBody>
      </p:sp>
      <p:cxnSp>
        <p:nvCxnSpPr>
          <p:cNvPr id="14" name="Connector 13"/>
          <p:cNvCxnSpPr/>
          <p:nvPr/>
        </p:nvCxnSpPr>
        <p:spPr>
          <a:xfrm>
            <a:off x="914400" y="6229350"/>
            <a:ext cx="16459200" cy="0"/>
          </a:xfrm>
          <a:prstGeom prst="line">
            <a:avLst/>
          </a:prstGeom>
          <a:ln w="14287">
            <a:solidFill>
              <a:srgbClr val="E2E8F0"/>
            </a:solidFill>
          </a:ln>
        </p:spPr>
      </p:cxnSp>
      <p:sp>
        <p:nvSpPr>
          <p:cNvPr id="15" name="TextBox 14"/>
          <p:cNvSpPr txBox="1"/>
          <p:nvPr/>
        </p:nvSpPr>
        <p:spPr>
          <a:xfrm>
            <a:off x="914400" y="64389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DOCS</a:t>
            </a:r>
          </a:p>
        </p:txBody>
      </p:sp>
      <p:sp>
        <p:nvSpPr>
          <p:cNvPr id="16" name="TextBox 15"/>
          <p:cNvSpPr txBox="1"/>
          <p:nvPr/>
        </p:nvSpPr>
        <p:spPr>
          <a:xfrm>
            <a:off x="3009900" y="6381750"/>
            <a:ext cx="14363700" cy="933450"/>
          </a:xfrm>
          <a:prstGeom prst="rect">
            <a:avLst/>
          </a:prstGeom>
          <a:noFill/>
        </p:spPr>
        <p:txBody>
          <a:bodyPr wrap="square" lIns="0" rIns="0" tIns="0" bIns="0"/>
          <a:lstStyle/>
          <a:p>
            <a:r>
              <a:rPr sz="2100" b="1" i="0" u="none">
                <a:solidFill>
                  <a:srgbClr val="0F172A"/>
                </a:solidFill>
                <a:latin typeface="Arial"/>
              </a:rPr>
              <a:t>PostgreSQL tutorial</a:t>
            </a:r>
            <a:r>
              <a:rPr sz="1950" b="0" i="0" u="none">
                <a:solidFill>
                  <a:srgbClr val="334155"/>
                </a:solidFill>
                <a:latin typeface="Calibri"/>
              </a:rPr>
              <a:t> — install a real DBMS and try it</a:t>
            </a:r>
          </a:p>
          <a:p>
            <a:r>
              <a:rPr sz="1800" b="0" i="0" u="none">
                <a:solidFill>
                  <a:srgbClr val="0E8A8A"/>
                </a:solidFill>
                <a:latin typeface="Courier New"/>
                <a:hlinkClick r:id="rId3"/>
              </a:rPr>
              <a:t>www.postgresql.org/docs/current/tutorial.html</a:t>
            </a:r>
          </a:p>
        </p:txBody>
      </p:sp>
      <p:cxnSp>
        <p:nvCxnSpPr>
          <p:cNvPr id="17" name="Connector 16"/>
          <p:cNvCxnSpPr/>
          <p:nvPr/>
        </p:nvCxnSpPr>
        <p:spPr>
          <a:xfrm>
            <a:off x="914400" y="7353300"/>
            <a:ext cx="16459200" cy="0"/>
          </a:xfrm>
          <a:prstGeom prst="line">
            <a:avLst/>
          </a:prstGeom>
          <a:ln w="14287">
            <a:solidFill>
              <a:srgbClr val="E2E8F0"/>
            </a:solidFill>
          </a:ln>
        </p:spPr>
      </p:cxnSp>
      <p:sp>
        <p:nvSpPr>
          <p:cNvPr id="18" name="TextBox 17"/>
          <p:cNvSpPr txBox="1"/>
          <p:nvPr/>
        </p:nvSpPr>
        <p:spPr>
          <a:xfrm>
            <a:off x="914400" y="75628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EXPLORE</a:t>
            </a:r>
          </a:p>
        </p:txBody>
      </p:sp>
      <p:sp>
        <p:nvSpPr>
          <p:cNvPr id="19" name="TextBox 18"/>
          <p:cNvSpPr txBox="1"/>
          <p:nvPr/>
        </p:nvSpPr>
        <p:spPr>
          <a:xfrm>
            <a:off x="3009900" y="7505700"/>
            <a:ext cx="14363700" cy="933450"/>
          </a:xfrm>
          <a:prstGeom prst="rect">
            <a:avLst/>
          </a:prstGeom>
          <a:noFill/>
        </p:spPr>
        <p:txBody>
          <a:bodyPr wrap="square" lIns="0" rIns="0" tIns="0" bIns="0"/>
          <a:lstStyle/>
          <a:p>
            <a:r>
              <a:rPr sz="2100" b="1" i="0" u="none">
                <a:solidFill>
                  <a:srgbClr val="0F172A"/>
                </a:solidFill>
                <a:latin typeface="Arial"/>
              </a:rPr>
              <a:t>DB-Engines ranking</a:t>
            </a:r>
            <a:r>
              <a:rPr sz="1950" b="0" i="0" u="none">
                <a:solidFill>
                  <a:srgbClr val="334155"/>
                </a:solidFill>
                <a:latin typeface="Calibri"/>
              </a:rPr>
              <a:t> — which DBMS products are popular, by family</a:t>
            </a:r>
          </a:p>
          <a:p>
            <a:r>
              <a:rPr sz="1800" b="0" i="0" u="none">
                <a:solidFill>
                  <a:srgbClr val="0E8A8A"/>
                </a:solidFill>
                <a:latin typeface="Courier New"/>
                <a:hlinkClick r:id="rId4"/>
              </a:rPr>
              <a:t>db-engines.com/en/ranking</a:t>
            </a:r>
          </a:p>
        </p:txBody>
      </p:sp>
      <p:cxnSp>
        <p:nvCxnSpPr>
          <p:cNvPr id="20" name="Connector 19"/>
          <p:cNvCxnSpPr/>
          <p:nvPr/>
        </p:nvCxnSpPr>
        <p:spPr>
          <a:xfrm>
            <a:off x="914400" y="8477250"/>
            <a:ext cx="16459200" cy="0"/>
          </a:xfrm>
          <a:prstGeom prst="line">
            <a:avLst/>
          </a:prstGeom>
          <a:ln w="14287">
            <a:solidFill>
              <a:srgbClr val="E2E8F0"/>
            </a:solidFill>
          </a:ln>
        </p:spPr>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857250"/>
            <a:ext cx="7620000" cy="331470"/>
          </a:xfrm>
          <a:prstGeom prst="rect">
            <a:avLst/>
          </a:prstGeom>
          <a:noFill/>
        </p:spPr>
        <p:txBody>
          <a:bodyPr wrap="square" lIns="0" rIns="0" tIns="0" bIns="0" anchor="t"/>
          <a:lstStyle/>
          <a:p>
            <a:pPr algn="l">
              <a:lnSpc>
                <a:spcPct val="111800"/>
              </a:lnSpc>
            </a:pPr>
            <a:r>
              <a:rPr sz="1800" b="1" i="0" u="none">
                <a:solidFill>
                  <a:srgbClr val="F87171"/>
                </a:solidFill>
                <a:latin typeface="Arial"/>
              </a:rPr>
              <a:t>UP NEXT · LESSON 2</a:t>
            </a:r>
          </a:p>
        </p:txBody>
      </p:sp>
      <p:cxnSp>
        <p:nvCxnSpPr>
          <p:cNvPr id="3" name="Connector 2"/>
          <p:cNvCxnSpPr/>
          <p:nvPr/>
        </p:nvCxnSpPr>
        <p:spPr>
          <a:xfrm>
            <a:off x="3867150" y="962025"/>
            <a:ext cx="13506450" cy="0"/>
          </a:xfrm>
          <a:prstGeom prst="line">
            <a:avLst/>
          </a:prstGeom>
          <a:ln w="19050">
            <a:solidFill>
              <a:srgbClr val="1E293B"/>
            </a:solidFill>
          </a:ln>
        </p:spPr>
      </p:cxnSp>
      <p:sp>
        <p:nvSpPr>
          <p:cNvPr id="4" name="TextBox 3"/>
          <p:cNvSpPr txBox="1"/>
          <p:nvPr/>
        </p:nvSpPr>
        <p:spPr>
          <a:xfrm>
            <a:off x="914400" y="3143250"/>
            <a:ext cx="8572500" cy="359092"/>
          </a:xfrm>
          <a:prstGeom prst="rect">
            <a:avLst/>
          </a:prstGeom>
          <a:noFill/>
        </p:spPr>
        <p:txBody>
          <a:bodyPr wrap="square" lIns="0" rIns="0" tIns="0" bIns="0" anchor="t"/>
          <a:lstStyle/>
          <a:p>
            <a:pPr algn="l">
              <a:lnSpc>
                <a:spcPct val="111800"/>
              </a:lnSpc>
            </a:pPr>
            <a:r>
              <a:rPr sz="1950" b="1" i="0" u="none">
                <a:solidFill>
                  <a:srgbClr val="94A3B8"/>
                </a:solidFill>
                <a:latin typeface="Arial"/>
              </a:rPr>
              <a:t>LESSON 2 · ERD</a:t>
            </a:r>
          </a:p>
        </p:txBody>
      </p:sp>
      <p:sp>
        <p:nvSpPr>
          <p:cNvPr id="5" name="TextBox 4"/>
          <p:cNvSpPr txBox="1"/>
          <p:nvPr/>
        </p:nvSpPr>
        <p:spPr>
          <a:xfrm>
            <a:off x="914400" y="3562350"/>
            <a:ext cx="14287500" cy="936117"/>
          </a:xfrm>
          <a:prstGeom prst="rect">
            <a:avLst/>
          </a:prstGeom>
          <a:noFill/>
        </p:spPr>
        <p:txBody>
          <a:bodyPr wrap="square" lIns="0" rIns="0" tIns="0" bIns="0"/>
          <a:lstStyle/>
          <a:p>
            <a:pPr>
              <a:lnSpc>
                <a:spcPct val="90000"/>
              </a:lnSpc>
            </a:pPr>
            <a:r>
              <a:rPr sz="6300" b="1" i="0" u="none">
                <a:solidFill>
                  <a:srgbClr val="FFFFFF"/>
                </a:solidFill>
                <a:latin typeface="Arial"/>
              </a:rPr>
              <a:t>From words to </a:t>
            </a:r>
            <a:r>
              <a:rPr sz="6300" b="1" i="0" u="none">
                <a:solidFill>
                  <a:srgbClr val="F87171"/>
                </a:solidFill>
                <a:latin typeface="Arial"/>
              </a:rPr>
              <a:t>diagrams</a:t>
            </a:r>
            <a:r>
              <a:rPr sz="6300" b="1" i="0" u="none">
                <a:solidFill>
                  <a:srgbClr val="FFFFFF"/>
                </a:solidFill>
                <a:latin typeface="Arial"/>
              </a:rPr>
              <a:t>.</a:t>
            </a:r>
          </a:p>
        </p:txBody>
      </p:sp>
      <p:sp>
        <p:nvSpPr>
          <p:cNvPr id="6" name="TextBox 5"/>
          <p:cNvSpPr txBox="1"/>
          <p:nvPr/>
        </p:nvSpPr>
        <p:spPr>
          <a:xfrm>
            <a:off x="914400" y="5069967"/>
            <a:ext cx="12382500" cy="1333500"/>
          </a:xfrm>
          <a:prstGeom prst="rect">
            <a:avLst/>
          </a:prstGeom>
          <a:noFill/>
        </p:spPr>
        <p:txBody>
          <a:bodyPr wrap="square" lIns="0" rIns="0" tIns="0" bIns="0"/>
          <a:lstStyle/>
          <a:p>
            <a:pPr>
              <a:lnSpc>
                <a:spcPct val="120000"/>
              </a:lnSpc>
            </a:pPr>
            <a:r>
              <a:rPr sz="2400" b="0" i="0" u="none">
                <a:solidFill>
                  <a:srgbClr val="CBD5E1"/>
                </a:solidFill>
                <a:latin typeface="Calibri"/>
              </a:rPr>
              <a:t>We turn a business narrative into entities, attributes and relationships — the COMPANY database first.</a:t>
            </a:r>
          </a:p>
        </p:txBody>
      </p:sp>
      <p:sp>
        <p:nvSpPr>
          <p:cNvPr id="7" name="TextBox 6"/>
          <p:cNvSpPr txBox="1"/>
          <p:nvPr/>
        </p:nvSpPr>
        <p:spPr>
          <a:xfrm>
            <a:off x="914400" y="9296400"/>
            <a:ext cx="7620000" cy="331470"/>
          </a:xfrm>
          <a:prstGeom prst="rect">
            <a:avLst/>
          </a:prstGeom>
          <a:noFill/>
        </p:spPr>
        <p:txBody>
          <a:bodyPr wrap="square" lIns="0" rIns="0" tIns="0" bIns="0" anchor="t"/>
          <a:lstStyle/>
          <a:p>
            <a:pPr algn="l">
              <a:lnSpc>
                <a:spcPct val="111800"/>
              </a:lnSpc>
            </a:pPr>
            <a:r>
              <a:rPr sz="1800" b="0" i="0" u="none">
                <a:solidFill>
                  <a:srgbClr val="94A3B8"/>
                </a:solidFill>
                <a:latin typeface="Calibri"/>
              </a:rPr>
              <a:t>ITI · Database Fundamentals</a:t>
            </a:r>
          </a:p>
        </p:txBody>
      </p:sp>
      <p:sp>
        <p:nvSpPr>
          <p:cNvPr id="8" name="TextBox 7"/>
          <p:cNvSpPr txBox="1"/>
          <p:nvPr/>
        </p:nvSpPr>
        <p:spPr>
          <a:xfrm>
            <a:off x="9753600" y="9296400"/>
            <a:ext cx="7620000" cy="331470"/>
          </a:xfrm>
          <a:prstGeom prst="rect">
            <a:avLst/>
          </a:prstGeom>
          <a:noFill/>
        </p:spPr>
        <p:txBody>
          <a:bodyPr wrap="square" lIns="0" rIns="0" tIns="0" bIns="0" anchor="t"/>
          <a:lstStyle/>
          <a:p>
            <a:pPr algn="r">
              <a:lnSpc>
                <a:spcPct val="111800"/>
              </a:lnSpc>
            </a:pPr>
            <a:r>
              <a:rPr sz="1800" b="0" i="0" u="none">
                <a:solidFill>
                  <a:srgbClr val="94A3B8"/>
                </a:solidFill>
                <a:latin typeface="Calibri"/>
              </a:rPr>
              <a:t>Thank you — questions?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3810000"/>
            <a:ext cx="16459200" cy="419100"/>
          </a:xfrm>
          <a:prstGeom prst="rect">
            <a:avLst/>
          </a:prstGeom>
          <a:noFill/>
        </p:spPr>
        <p:txBody>
          <a:bodyPr wrap="square" lIns="0" rIns="0" tIns="0" bIns="0" anchor="t"/>
          <a:lstStyle/>
          <a:p>
            <a:pPr algn="ctr">
              <a:lnSpc>
                <a:spcPct val="111800"/>
              </a:lnSpc>
            </a:pPr>
            <a:r>
              <a:rPr sz="2250" b="1" i="0" u="none">
                <a:solidFill>
                  <a:srgbClr val="F87171"/>
                </a:solidFill>
                <a:latin typeface="Arial"/>
              </a:rPr>
              <a:t>ITI · DATABASE FUNDAMENTALS</a:t>
            </a:r>
          </a:p>
        </p:txBody>
      </p:sp>
      <p:sp>
        <p:nvSpPr>
          <p:cNvPr id="3" name="TextBox 2"/>
          <p:cNvSpPr txBox="1"/>
          <p:nvPr/>
        </p:nvSpPr>
        <p:spPr>
          <a:xfrm>
            <a:off x="914400" y="4476750"/>
            <a:ext cx="16459200" cy="1714500"/>
          </a:xfrm>
          <a:prstGeom prst="rect">
            <a:avLst/>
          </a:prstGeom>
          <a:noFill/>
        </p:spPr>
        <p:txBody>
          <a:bodyPr wrap="square" lIns="0" rIns="0" tIns="0" bIns="0" anchor="t"/>
          <a:lstStyle/>
          <a:p>
            <a:pPr algn="ctr">
              <a:lnSpc>
                <a:spcPct val="86000"/>
              </a:lnSpc>
            </a:pPr>
            <a:r>
              <a:rPr sz="10500" b="1" i="0" u="none">
                <a:solidFill>
                  <a:srgbClr val="FFFFFF"/>
                </a:solidFill>
                <a:latin typeface="Arial"/>
              </a:rPr>
              <a:t>Thank You !</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