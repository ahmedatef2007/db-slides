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Welcome. This lesson sets the vocabulary we use for the whole course: database, DBMS, schema, data model, data independence.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Running examples: the COMPANY database (from Elmasri &amp; Navathe) appears in Lessons 2, 4 and 5; Lesson 3 maps ITI student, instructor and course examples. Students see the same kind of design travel from narrative -&gt; ERD -&gt; tables -&gt; SQL -&gt; normalization.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company where every department wrote its own program and file. Ask the students: what happens when a customer moves?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last two cards are additions that complete the picture: the DBMS functions on the next slides answer each of these six problems one by one.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three applications before and after a DBMS. Point at the duplicated customer data on the left and the single shared database on the right; every limitation on the previous slide disappears because the DBMS sits in the middle.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DBMS is a collection of programs that enables users to create and maintain a database. Defining a database involves specifying the data types and constraints. Constructing the database is storing the data on some storage medium. Manipulating includes querying the database to retrieve, update or delete specific data.</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Walk top-down: people use programs; programs send queries to the DBMS; the DBMS reads the catalog (metadata) to understand the data, then reads or writes the stored data. Applications never touch the files directly.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question to the class: 'What are the other functions of DBMS?' Answer: data security &amp; integrity, concurrency, recovery, performance, data dictionary. Each maps to a later lesson: SQL (Lesson 4) covers DDL, DCL, transactions and indexes.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listed only 'expensive' and 'may be incompatible with other DBMS'. Today cost depends on the product (many are free and open source); the incompatibility point is really vendor lock-in through SQL dialects and proprietary features.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Also called the ANSI/SPARC architecture. Each level is described by a schema; the DBMS maps requests and results between levels.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External: deals with how users access the schema, e.g. a data input form or a view. Conceptual: the basic database model with tables and constraints. Internal: physical storage, files and indexes; it hides hardware and OS details from the data model.</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named the two types but only defined physical data independence. Logical independence is harder to achieve because programs depend on the structure they query; views are the main tool for it. The arrows show where each kind of independence protects the level above.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showed only conceptual and physical models. The logical (representational / implementation) level, e.g. the relational model, is the bridge we will use when mapping ERDs to tables in Lesson 3.</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Preview only: we formalize this in Lesson 3. Point out that Dno links each employee to a department row in another table.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on the right is a JSON document: note the multi-valued phones and the nested address. In a relational design those would become separate tables (Lesson 3 steps 6 and 1).</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Document stores pair each key with a complex structure (a document). Key-value stores: each key maps to one value, like a dictionary; the simplest NoSQL type. Wide-column stores use tables, rows and columns, but column names and formats can vary per row. Graph stores use nodes, edges and properties for semantic queries.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helps students decide rather than memorize. ACID is covered in Lesson 4.</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had only the title 'Data Warehouse'. Examples of products: Snowflake, Google BigQuery, Amazon Redshift, Azure Synapse.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slide attributed a different definition ('data whose scale, distribution, diversity and/or timeliness require new technical architectures...') to this McKinsey report; the quote now on the slide is the report's own definition. Typical tools: Hadoop/HDFS and Spark for processing, data lakes on cloud object storage, streaming with Kafka.</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added cloud DBaaS and embedded databases, which are where most new databases run today. Mainframe: a powerful machine networked with dumb terminals. Client/server: a server holds the database, each user has a PC. Internet computing: the application is installed on a web server; users need only a browser.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for the 'Database environment' part of the original course. Mainframe: terminals talk to one powerful machine. Client/server: the database lives on a server and each PC runs the client. Internet computing: the application is installed on one web server; users only need a browser.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15445.courses.cs.cmu.edu/" TargetMode="External"/><Relationship Id="rId3" Type="http://schemas.openxmlformats.org/officeDocument/2006/relationships/hyperlink" Target="https://www.postgresql.org/docs/current/tutorial.html" TargetMode="External"/><Relationship Id="rId4" Type="http://schemas.openxmlformats.org/officeDocument/2006/relationships/hyperlink" Target="https://db-engines.com/en/ranking"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1</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Introduction to </a:t>
            </a:r>
            <a:r>
              <a:rPr sz="7500" b="1" i="0" u="none">
                <a:solidFill>
                  <a:srgbClr val="C8102E"/>
                </a:solidFill>
                <a:latin typeface="Arial"/>
              </a:rPr>
              <a:t>Databases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Why databases exist, what a DBMS does, and the landscape beyond relational systems.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From files to databases</a:t>
            </a:r>
          </a:p>
        </p:txBody>
      </p:sp>
      <p:sp>
        <p:nvSpPr>
          <p:cNvPr id="8" name="TextBox 7"/>
          <p:cNvSpPr txBox="1"/>
          <p:nvPr/>
        </p:nvSpPr>
        <p:spPr>
          <a:xfrm>
            <a:off x="1676400" y="33147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Why organizations moved from separate program files to a shared, managed database.</a:t>
            </a:r>
          </a:p>
        </p:txBody>
      </p:sp>
      <p:cxnSp>
        <p:nvCxnSpPr>
          <p:cNvPr id="9" name="Connector 8"/>
          <p:cNvCxnSpPr/>
          <p:nvPr/>
        </p:nvCxnSpPr>
        <p:spPr>
          <a:xfrm>
            <a:off x="914400" y="4114800"/>
            <a:ext cx="156972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Architecture &amp; data models</a:t>
            </a:r>
          </a:p>
        </p:txBody>
      </p:sp>
      <p:sp>
        <p:nvSpPr>
          <p:cNvPr id="12" name="TextBox 11"/>
          <p:cNvSpPr txBox="1"/>
          <p:nvPr/>
        </p:nvSpPr>
        <p:spPr>
          <a:xfrm>
            <a:off x="1676400" y="474345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a DBMS separates what users see from how data is stored, and why that matters.</a:t>
            </a:r>
          </a:p>
        </p:txBody>
      </p:sp>
      <p:cxnSp>
        <p:nvCxnSpPr>
          <p:cNvPr id="13" name="Connector 12"/>
          <p:cNvCxnSpPr/>
          <p:nvPr/>
        </p:nvCxnSpPr>
        <p:spPr>
          <a:xfrm>
            <a:off x="914400" y="5543550"/>
            <a:ext cx="156972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Beyond relational</a:t>
            </a:r>
          </a:p>
        </p:txBody>
      </p:sp>
      <p:sp>
        <p:nvSpPr>
          <p:cNvPr id="16" name="TextBox 15"/>
          <p:cNvSpPr txBox="1"/>
          <p:nvPr/>
        </p:nvSpPr>
        <p:spPr>
          <a:xfrm>
            <a:off x="1676400" y="61722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NoSQL stores, data warehouses, Big Data and where databases run.</a:t>
            </a:r>
          </a:p>
        </p:txBody>
      </p:sp>
      <p:cxnSp>
        <p:nvCxnSpPr>
          <p:cNvPr id="17" name="Connector 16"/>
          <p:cNvCxnSpPr/>
          <p:nvPr/>
        </p:nvCxnSpPr>
        <p:spPr>
          <a:xfrm>
            <a:off x="914400" y="6972300"/>
            <a:ext cx="156972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COURSE</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Five lessons, from data to SQL</a:t>
            </a:r>
          </a:p>
        </p:txBody>
      </p:sp>
      <p:graphicFrame>
        <p:nvGraphicFramePr>
          <p:cNvPr id="6" name="Table 5"/>
          <p:cNvGraphicFramePr>
            <a:graphicFrameLocks noGrp="1"/>
          </p:cNvGraphicFramePr>
          <p:nvPr/>
        </p:nvGraphicFramePr>
        <p:xfrm>
          <a:off x="914400" y="2482024"/>
          <a:ext cx="16459200" cy="3770262"/>
        </p:xfrm>
        <a:graphic>
          <a:graphicData uri="http://schemas.openxmlformats.org/drawingml/2006/table">
            <a:tbl>
              <a:tblPr firstRow="0" bandRow="0">
                <a:tableStyleId>{5940675A-B579-460E-94D1-54222C63F5DA}</a:tableStyleId>
              </a:tblPr>
              <a:tblGrid>
                <a:gridCol w="1975104"/>
                <a:gridCol w="5596128"/>
                <a:gridCol w="8887968"/>
              </a:tblGrid>
              <a:tr h="628377">
                <a:tc>
                  <a:txBody>
                    <a:bodyPr/>
                    <a:lstStyle/>
                    <a:p>
                      <a:r>
                        <a:rPr sz="2511" b="1" i="0" u="none">
                          <a:solidFill>
                            <a:srgbClr val="FFFFFF"/>
                          </a:solidFill>
                          <a:latin typeface="Arial"/>
                        </a:rPr>
                        <a:t>Lesson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Topic</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You will be able to</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1</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Introduction to databases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Explain what a DBMS does and why we use one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2</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Entity Relationship Diagrams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Model a business narrative as an ERD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3</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Mapping ERD to tables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Turn any ERD into a relational schema in 7 steps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4</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SQL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Create tables, query, join, group, and secure data</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5</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Normalization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Detect anomalies and normalize a table to 3NF / BCNF</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28587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Time</a:t>
            </a:r>
          </a:p>
        </p:txBody>
      </p:sp>
      <p:sp>
        <p:nvSpPr>
          <p:cNvPr id="9" name="TextBox 8"/>
          <p:cNvSpPr txBox="1"/>
          <p:nvPr/>
        </p:nvSpPr>
        <p:spPr>
          <a:xfrm>
            <a:off x="128587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15 hours of lectures · 12 hours of labs</a:t>
            </a:r>
          </a:p>
        </p:txBody>
      </p:sp>
      <p:sp>
        <p:nvSpPr>
          <p:cNvPr id="10" name="Rectangle 9"/>
          <p:cNvSpPr/>
          <p:nvPr/>
        </p:nvSpPr>
        <p:spPr>
          <a:xfrm>
            <a:off x="649986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Grading</a:t>
            </a:r>
          </a:p>
        </p:txBody>
      </p:sp>
      <p:sp>
        <p:nvSpPr>
          <p:cNvPr id="12" name="TextBox 11"/>
          <p:cNvSpPr txBox="1"/>
          <p:nvPr/>
        </p:nvSpPr>
        <p:spPr>
          <a:xfrm>
            <a:off x="687133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Assignments and labs </a:t>
            </a:r>
            <a:r>
              <a:rPr sz="2511" b="1" i="0" u="none">
                <a:solidFill>
                  <a:srgbClr val="334155"/>
                </a:solidFill>
                <a:latin typeface="Calibri"/>
              </a:rPr>
              <a:t>40%</a:t>
            </a:r>
            <a:r>
              <a:rPr sz="2511" b="0" i="0" u="none">
                <a:solidFill>
                  <a:srgbClr val="334155"/>
                </a:solidFill>
                <a:latin typeface="Calibri"/>
              </a:rPr>
              <a:t> · Final exam </a:t>
            </a:r>
            <a:r>
              <a:rPr sz="2511" b="1" i="0" u="none">
                <a:solidFill>
                  <a:srgbClr val="334155"/>
                </a:solidFill>
                <a:latin typeface="Calibri"/>
              </a:rPr>
              <a:t>60%</a:t>
            </a:r>
          </a:p>
        </p:txBody>
      </p:sp>
      <p:sp>
        <p:nvSpPr>
          <p:cNvPr id="13" name="Rectangle 12"/>
          <p:cNvSpPr/>
          <p:nvPr/>
        </p:nvSpPr>
        <p:spPr>
          <a:xfrm>
            <a:off x="1208532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45679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Running examples</a:t>
            </a:r>
          </a:p>
        </p:txBody>
      </p:sp>
      <p:sp>
        <p:nvSpPr>
          <p:cNvPr id="15" name="TextBox 14"/>
          <p:cNvSpPr txBox="1"/>
          <p:nvPr/>
        </p:nvSpPr>
        <p:spPr>
          <a:xfrm>
            <a:off x="1245679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The </a:t>
            </a:r>
            <a:r>
              <a:rPr sz="2511" b="1" i="0" u="none">
                <a:solidFill>
                  <a:srgbClr val="334155"/>
                </a:solidFill>
                <a:latin typeface="Calibri"/>
              </a:rPr>
              <a:t>COMPANY</a:t>
            </a:r>
            <a:r>
              <a:rPr sz="2511" b="0" i="0" u="none">
                <a:solidFill>
                  <a:srgbClr val="334155"/>
                </a:solidFill>
                <a:latin typeface="Calibri"/>
              </a:rPr>
              <a:t> database plus ITI student and course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1</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Define </a:t>
            </a:r>
            <a:r>
              <a:rPr sz="2898" b="1" i="0" u="none">
                <a:solidFill>
                  <a:srgbClr val="334155"/>
                </a:solidFill>
                <a:latin typeface="Calibri"/>
              </a:rPr>
              <a:t>database</a:t>
            </a:r>
            <a:r>
              <a:rPr sz="2898" b="0" i="0" u="none">
                <a:solidFill>
                  <a:srgbClr val="334155"/>
                </a:solidFill>
                <a:latin typeface="Calibri"/>
              </a:rPr>
              <a:t>, </a:t>
            </a:r>
            <a:r>
              <a:rPr sz="2898" b="1" i="0" u="none">
                <a:solidFill>
                  <a:srgbClr val="334155"/>
                </a:solidFill>
                <a:latin typeface="Calibri"/>
              </a:rPr>
              <a:t>DBMS</a:t>
            </a:r>
            <a:r>
              <a:rPr sz="2898" b="0" i="0" u="none">
                <a:solidFill>
                  <a:srgbClr val="334155"/>
                </a:solidFill>
                <a:latin typeface="Calibri"/>
              </a:rPr>
              <a:t> and </a:t>
            </a:r>
            <a:r>
              <a:rPr sz="2898" b="1" i="0" u="none">
                <a:solidFill>
                  <a:srgbClr val="334155"/>
                </a:solidFill>
                <a:latin typeface="Calibri"/>
              </a:rPr>
              <a:t>database system</a:t>
            </a:r>
          </a:p>
        </p:txBody>
      </p:sp>
      <p:sp>
        <p:nvSpPr>
          <p:cNvPr id="9" name="Rectangle 8"/>
          <p:cNvSpPr/>
          <p:nvPr/>
        </p:nvSpPr>
        <p:spPr>
          <a:xfrm>
            <a:off x="650748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the limits of </a:t>
            </a:r>
            <a:r>
              <a:rPr sz="2898" b="1" i="0" u="none">
                <a:solidFill>
                  <a:srgbClr val="334155"/>
                </a:solidFill>
                <a:latin typeface="Calibri"/>
              </a:rPr>
              <a:t>file-based</a:t>
            </a:r>
            <a:r>
              <a:rPr sz="2898" b="0" i="0" u="none">
                <a:solidFill>
                  <a:srgbClr val="334155"/>
                </a:solidFill>
                <a:latin typeface="Calibri"/>
              </a:rPr>
              <a:t> systems</a:t>
            </a:r>
          </a:p>
        </p:txBody>
      </p:sp>
      <p:sp>
        <p:nvSpPr>
          <p:cNvPr id="12" name="Rectangle 11"/>
          <p:cNvSpPr/>
          <p:nvPr/>
        </p:nvSpPr>
        <p:spPr>
          <a:xfrm>
            <a:off x="1210056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List the </a:t>
            </a:r>
            <a:r>
              <a:rPr sz="2898" b="1" i="0" u="none">
                <a:solidFill>
                  <a:srgbClr val="334155"/>
                </a:solidFill>
                <a:latin typeface="Calibri"/>
              </a:rPr>
              <a:t>functions</a:t>
            </a:r>
            <a:r>
              <a:rPr sz="2898" b="0" i="0" u="none">
                <a:solidFill>
                  <a:srgbClr val="334155"/>
                </a:solidFill>
                <a:latin typeface="Calibri"/>
              </a:rPr>
              <a:t>, advantages and costs of a DBMS</a:t>
            </a:r>
          </a:p>
        </p:txBody>
      </p:sp>
      <p:sp>
        <p:nvSpPr>
          <p:cNvPr id="15" name="Rectangle 14"/>
          <p:cNvSpPr/>
          <p:nvPr/>
        </p:nvSpPr>
        <p:spPr>
          <a:xfrm>
            <a:off x="91440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the </a:t>
            </a:r>
            <a:r>
              <a:rPr sz="2898" b="1" i="0" u="none">
                <a:solidFill>
                  <a:srgbClr val="334155"/>
                </a:solidFill>
                <a:latin typeface="Calibri"/>
              </a:rPr>
              <a:t>three-schema architecture</a:t>
            </a:r>
            <a:r>
              <a:rPr sz="2898" b="0" i="0" u="none">
                <a:solidFill>
                  <a:srgbClr val="334155"/>
                </a:solidFill>
                <a:latin typeface="Calibri"/>
              </a:rPr>
              <a:t> and data independence</a:t>
            </a:r>
          </a:p>
        </p:txBody>
      </p:sp>
      <p:sp>
        <p:nvSpPr>
          <p:cNvPr id="18" name="Rectangle 17"/>
          <p:cNvSpPr/>
          <p:nvPr/>
        </p:nvSpPr>
        <p:spPr>
          <a:xfrm>
            <a:off x="650748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Compare </a:t>
            </a:r>
            <a:r>
              <a:rPr sz="2898" b="1" i="0" u="none">
                <a:solidFill>
                  <a:srgbClr val="334155"/>
                </a:solidFill>
                <a:latin typeface="Calibri"/>
              </a:rPr>
              <a:t>conceptual, logical and physical</a:t>
            </a:r>
            <a:r>
              <a:rPr sz="2898" b="0" i="0" u="none">
                <a:solidFill>
                  <a:srgbClr val="334155"/>
                </a:solidFill>
                <a:latin typeface="Calibri"/>
              </a:rPr>
              <a:t> data models</a:t>
            </a:r>
          </a:p>
        </p:txBody>
      </p:sp>
      <p:sp>
        <p:nvSpPr>
          <p:cNvPr id="21" name="Rectangle 20"/>
          <p:cNvSpPr/>
          <p:nvPr/>
        </p:nvSpPr>
        <p:spPr>
          <a:xfrm>
            <a:off x="1210056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Place </a:t>
            </a:r>
            <a:r>
              <a:rPr sz="2898" b="1" i="0" u="none">
                <a:solidFill>
                  <a:srgbClr val="334155"/>
                </a:solidFill>
                <a:latin typeface="Calibri"/>
              </a:rPr>
              <a:t>NoSQL, data warehouses and Big Data</a:t>
            </a:r>
            <a:r>
              <a:rPr sz="2898" b="0" i="0" u="none">
                <a:solidFill>
                  <a:srgbClr val="334155"/>
                </a:solidFill>
                <a:latin typeface="Calibri"/>
              </a:rPr>
              <a:t> on the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From files to databases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Why organizations moved from separate program files to a shared, managed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file-based approach</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program defines and manages </a:t>
            </a:r>
            <a:r>
              <a:rPr sz="2898" b="1" i="0" u="none">
                <a:solidFill>
                  <a:srgbClr val="334155"/>
                </a:solidFill>
                <a:latin typeface="Calibri"/>
              </a:rPr>
              <a:t>its own data files</a:t>
            </a:r>
            <a:r>
              <a:rPr sz="2898" b="0" i="0" u="none">
                <a:solidFill>
                  <a:srgbClr val="334155"/>
                </a:solidFill>
                <a:latin typeface="Calibri"/>
              </a:rPr>
              <a:t>. It worked when computers ran one job at a time.</a:t>
            </a:r>
          </a:p>
        </p:txBody>
      </p:sp>
      <p:sp>
        <p:nvSpPr>
          <p:cNvPr id="7" name="Rectangle 6"/>
          <p:cNvSpPr/>
          <p:nvPr/>
        </p:nvSpPr>
        <p:spPr>
          <a:xfrm>
            <a:off x="91440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Sales program</a:t>
            </a:r>
          </a:p>
        </p:txBody>
      </p:sp>
      <p:sp>
        <p:nvSpPr>
          <p:cNvPr id="9" name="TextBox 8"/>
          <p:cNvSpPr txBox="1"/>
          <p:nvPr/>
        </p:nvSpPr>
        <p:spPr>
          <a:xfrm>
            <a:off x="131445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customers.dat</a:t>
            </a:r>
          </a:p>
          <a:p>
            <a:pPr algn="l" marL="350870" indent="-350870">
              <a:lnSpc>
                <a:spcPct val="111800"/>
              </a:lnSpc>
              <a:spcBef>
                <a:spcPts val="627"/>
              </a:spcBef>
              <a:buChar char="•"/>
            </a:pPr>
            <a:r>
              <a:rPr sz="2511" b="0" i="0" u="none">
                <a:solidFill>
                  <a:srgbClr val="334155"/>
                </a:solidFill>
                <a:latin typeface="Calibri"/>
              </a:rPr>
              <a:t>orders.dat</a:t>
            </a:r>
          </a:p>
        </p:txBody>
      </p:sp>
      <p:sp>
        <p:nvSpPr>
          <p:cNvPr id="10" name="Rectangle 9"/>
          <p:cNvSpPr/>
          <p:nvPr/>
        </p:nvSpPr>
        <p:spPr>
          <a:xfrm>
            <a:off x="650748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90753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Billing program</a:t>
            </a:r>
          </a:p>
        </p:txBody>
      </p:sp>
      <p:sp>
        <p:nvSpPr>
          <p:cNvPr id="12" name="TextBox 11"/>
          <p:cNvSpPr txBox="1"/>
          <p:nvPr/>
        </p:nvSpPr>
        <p:spPr>
          <a:xfrm>
            <a:off x="690753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customers.csv (again)</a:t>
            </a:r>
          </a:p>
          <a:p>
            <a:pPr algn="l" marL="350870" indent="-350870">
              <a:lnSpc>
                <a:spcPct val="111800"/>
              </a:lnSpc>
              <a:spcBef>
                <a:spcPts val="627"/>
              </a:spcBef>
              <a:buChar char="•"/>
            </a:pPr>
            <a:r>
              <a:rPr sz="2511" b="0" i="0" u="none">
                <a:solidFill>
                  <a:srgbClr val="334155"/>
                </a:solidFill>
                <a:latin typeface="Calibri"/>
              </a:rPr>
              <a:t>invoices.dat</a:t>
            </a:r>
          </a:p>
        </p:txBody>
      </p:sp>
      <p:sp>
        <p:nvSpPr>
          <p:cNvPr id="13" name="Rectangle 12"/>
          <p:cNvSpPr/>
          <p:nvPr/>
        </p:nvSpPr>
        <p:spPr>
          <a:xfrm>
            <a:off x="1210056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50061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HR program</a:t>
            </a:r>
          </a:p>
        </p:txBody>
      </p:sp>
      <p:sp>
        <p:nvSpPr>
          <p:cNvPr id="15" name="TextBox 14"/>
          <p:cNvSpPr txBox="1"/>
          <p:nvPr/>
        </p:nvSpPr>
        <p:spPr>
          <a:xfrm>
            <a:off x="1250061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employees.xls</a:t>
            </a:r>
          </a:p>
          <a:p>
            <a:pPr algn="l" marL="350870" indent="-350870">
              <a:lnSpc>
                <a:spcPct val="111800"/>
              </a:lnSpc>
              <a:spcBef>
                <a:spcPts val="627"/>
              </a:spcBef>
              <a:buChar char="•"/>
            </a:pPr>
            <a:r>
              <a:rPr sz="2511" b="0" i="0" u="none">
                <a:solidFill>
                  <a:srgbClr val="334155"/>
                </a:solidFill>
                <a:latin typeface="Calibri"/>
              </a:rPr>
              <a:t>payroll.dat</a:t>
            </a:r>
          </a:p>
        </p:txBody>
      </p:sp>
      <p:sp>
        <p:nvSpPr>
          <p:cNvPr id="16" name="Rectangle 15"/>
          <p:cNvSpPr/>
          <p:nvPr/>
        </p:nvSpPr>
        <p:spPr>
          <a:xfrm>
            <a:off x="914400" y="6881080"/>
            <a:ext cx="16459200" cy="1478051"/>
          </a:xfrm>
          <a:prstGeom prst="rect">
            <a:avLst/>
          </a:prstGeom>
          <a:solidFill>
            <a:srgbClr val="FEF3C7"/>
          </a:solidFill>
          <a:ln>
            <a:noFill/>
          </a:ln>
        </p:spPr>
        <p:txBody>
          <a:bodyPr rtlCol="0" anchor="ctr" lIns="0" rIns="0" tIns="0" bIns="0"/>
          <a:lstStyle/>
          <a:p>
            <a:pPr algn="ctr"/>
          </a:p>
        </p:txBody>
      </p:sp>
      <p:sp>
        <p:nvSpPr>
          <p:cNvPr id="17" name="Rectangle 16"/>
          <p:cNvSpPr/>
          <p:nvPr/>
        </p:nvSpPr>
        <p:spPr>
          <a:xfrm>
            <a:off x="914400" y="6881080"/>
            <a:ext cx="47625" cy="1478051"/>
          </a:xfrm>
          <a:prstGeom prst="rect">
            <a:avLst/>
          </a:prstGeom>
          <a:solidFill>
            <a:srgbClr val="B45309"/>
          </a:solidFill>
          <a:ln>
            <a:noFill/>
          </a:ln>
        </p:spPr>
        <p:txBody>
          <a:bodyPr rtlCol="0" anchor="ctr" lIns="0" rIns="0" tIns="0" bIns="0"/>
          <a:lstStyle/>
          <a:p>
            <a:pPr algn="ctr"/>
          </a:p>
        </p:txBody>
      </p:sp>
      <p:sp>
        <p:nvSpPr>
          <p:cNvPr id="18" name="TextBox 17"/>
          <p:cNvSpPr txBox="1"/>
          <p:nvPr/>
        </p:nvSpPr>
        <p:spPr>
          <a:xfrm>
            <a:off x="1341120" y="7147780"/>
            <a:ext cx="15605760" cy="944651"/>
          </a:xfrm>
          <a:prstGeom prst="rect">
            <a:avLst/>
          </a:prstGeom>
          <a:noFill/>
        </p:spPr>
        <p:txBody>
          <a:bodyPr wrap="square" lIns="0" rIns="0" tIns="0" bIns="0"/>
          <a:lstStyle/>
          <a:p>
            <a:pPr>
              <a:lnSpc>
                <a:spcPct val="112000"/>
              </a:lnSpc>
            </a:pPr>
            <a:r>
              <a:rPr sz="2704" b="1" i="0" u="none">
                <a:solidFill>
                  <a:srgbClr val="B45309"/>
                </a:solidFill>
                <a:latin typeface="Arial"/>
              </a:rPr>
              <a:t>Problem: </a:t>
            </a:r>
            <a:r>
              <a:rPr sz="2704" b="0" i="0" u="none">
                <a:solidFill>
                  <a:srgbClr val="0F172A"/>
                </a:solidFill>
                <a:latin typeface="Calibri"/>
              </a:rPr>
              <a:t>The same customer lives in two files with two formats. Change an address in Sales and Billing still sends the invoice to the old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Limitations of the file-based approach</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Separation &amp; isolation</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split across files; combining it needs custom code for every question.</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Duplication</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same facts are stored many times: wasted space and </a:t>
            </a:r>
            <a:r>
              <a:rPr sz="2511" b="1" i="0" u="none">
                <a:solidFill>
                  <a:srgbClr val="334155"/>
                </a:solidFill>
                <a:latin typeface="Calibri"/>
              </a:rPr>
              <a:t>inconsistent</a:t>
            </a:r>
            <a:r>
              <a:rPr sz="2511" b="0" i="0" u="none">
                <a:solidFill>
                  <a:srgbClr val="334155"/>
                </a:solidFill>
                <a:latin typeface="Calibri"/>
              </a:rPr>
              <a:t> copies.</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Program–data dependence</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file layout is coded into each program. Add a field and every program must change.</a:t>
            </a:r>
          </a:p>
        </p:txBody>
      </p:sp>
      <p:sp>
        <p:nvSpPr>
          <p:cNvPr id="15" name="Rectangle 14"/>
          <p:cNvSpPr/>
          <p:nvPr/>
        </p:nvSpPr>
        <p:spPr>
          <a:xfrm>
            <a:off x="91440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Incompatible formats</a:t>
            </a:r>
          </a:p>
        </p:txBody>
      </p:sp>
      <p:sp>
        <p:nvSpPr>
          <p:cNvPr id="17" name="TextBox 16"/>
          <p:cNvSpPr txBox="1"/>
          <p:nvPr/>
        </p:nvSpPr>
        <p:spPr>
          <a:xfrm>
            <a:off x="131445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COBOL, C, Excel, CSV… files written by one program cannot be read by another.</a:t>
            </a:r>
          </a:p>
        </p:txBody>
      </p:sp>
      <p:sp>
        <p:nvSpPr>
          <p:cNvPr id="18" name="Rectangle 17"/>
          <p:cNvSpPr/>
          <p:nvPr/>
        </p:nvSpPr>
        <p:spPr>
          <a:xfrm>
            <a:off x="650748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No integrity rules</a:t>
            </a:r>
          </a:p>
        </p:txBody>
      </p:sp>
      <p:sp>
        <p:nvSpPr>
          <p:cNvPr id="20" name="TextBox 19"/>
          <p:cNvSpPr txBox="1"/>
          <p:nvPr/>
        </p:nvSpPr>
        <p:spPr>
          <a:xfrm>
            <a:off x="690753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Nothing stops a negative salary or an order for a customer who does not exist.</a:t>
            </a:r>
          </a:p>
        </p:txBody>
      </p:sp>
      <p:sp>
        <p:nvSpPr>
          <p:cNvPr id="21" name="Rectangle 20"/>
          <p:cNvSpPr/>
          <p:nvPr/>
        </p:nvSpPr>
        <p:spPr>
          <a:xfrm>
            <a:off x="1210056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No concurrency or recovery</a:t>
            </a:r>
          </a:p>
        </p:txBody>
      </p:sp>
      <p:sp>
        <p:nvSpPr>
          <p:cNvPr id="23" name="TextBox 22"/>
          <p:cNvSpPr txBox="1"/>
          <p:nvPr/>
        </p:nvSpPr>
        <p:spPr>
          <a:xfrm>
            <a:off x="12500610" y="7741401"/>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Two users updating the same file at once, or a crash mid-write, can corrupt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File-based vs database approach</a:t>
            </a:r>
          </a:p>
        </p:txBody>
      </p:sp>
      <p:cxnSp>
        <p:nvCxnSpPr>
          <p:cNvPr id="6" name="Connector 5"/>
          <p:cNvCxnSpPr/>
          <p:nvPr/>
        </p:nvCxnSpPr>
        <p:spPr>
          <a:xfrm>
            <a:off x="2381250" y="4362450"/>
            <a:ext cx="0" cy="1019175"/>
          </a:xfrm>
          <a:prstGeom prst="line">
            <a:avLst/>
          </a:prstGeom>
          <a:ln w="23812">
            <a:solidFill>
              <a:srgbClr val="0F172A"/>
            </a:solidFill>
            <a:tailEnd type="triangle"/>
          </a:ln>
        </p:spPr>
      </p:cxnSp>
      <p:cxnSp>
        <p:nvCxnSpPr>
          <p:cNvPr id="7" name="Connector 6"/>
          <p:cNvCxnSpPr/>
          <p:nvPr/>
        </p:nvCxnSpPr>
        <p:spPr>
          <a:xfrm>
            <a:off x="4905375" y="4362450"/>
            <a:ext cx="0" cy="1019175"/>
          </a:xfrm>
          <a:prstGeom prst="line">
            <a:avLst/>
          </a:prstGeom>
          <a:ln w="23812">
            <a:solidFill>
              <a:srgbClr val="0F172A"/>
            </a:solidFill>
            <a:tailEnd type="triangle"/>
          </a:ln>
        </p:spPr>
      </p:cxnSp>
      <p:cxnSp>
        <p:nvCxnSpPr>
          <p:cNvPr id="8" name="Connector 7"/>
          <p:cNvCxnSpPr/>
          <p:nvPr/>
        </p:nvCxnSpPr>
        <p:spPr>
          <a:xfrm>
            <a:off x="7429500" y="4362450"/>
            <a:ext cx="0" cy="1019175"/>
          </a:xfrm>
          <a:prstGeom prst="line">
            <a:avLst/>
          </a:prstGeom>
          <a:ln w="23812">
            <a:solidFill>
              <a:srgbClr val="0F172A"/>
            </a:solidFill>
            <a:tailEnd type="triangle"/>
          </a:ln>
        </p:spPr>
      </p:cxnSp>
      <p:cxnSp>
        <p:nvCxnSpPr>
          <p:cNvPr id="9" name="Connector 8"/>
          <p:cNvCxnSpPr/>
          <p:nvPr/>
        </p:nvCxnSpPr>
        <p:spPr>
          <a:xfrm>
            <a:off x="10668000" y="4362450"/>
            <a:ext cx="1809750" cy="990600"/>
          </a:xfrm>
          <a:prstGeom prst="line">
            <a:avLst/>
          </a:prstGeom>
          <a:ln w="23812">
            <a:solidFill>
              <a:srgbClr val="0F172A"/>
            </a:solidFill>
            <a:tailEnd type="triangle"/>
          </a:ln>
        </p:spPr>
      </p:cxnSp>
      <p:cxnSp>
        <p:nvCxnSpPr>
          <p:cNvPr id="10" name="Connector 9"/>
          <p:cNvCxnSpPr/>
          <p:nvPr/>
        </p:nvCxnSpPr>
        <p:spPr>
          <a:xfrm>
            <a:off x="13382625" y="4362450"/>
            <a:ext cx="0" cy="990600"/>
          </a:xfrm>
          <a:prstGeom prst="line">
            <a:avLst/>
          </a:prstGeom>
          <a:ln w="23812">
            <a:solidFill>
              <a:srgbClr val="0F172A"/>
            </a:solidFill>
            <a:tailEnd type="triangle"/>
          </a:ln>
        </p:spPr>
      </p:cxnSp>
      <p:cxnSp>
        <p:nvCxnSpPr>
          <p:cNvPr id="11" name="Connector 10"/>
          <p:cNvCxnSpPr/>
          <p:nvPr/>
        </p:nvCxnSpPr>
        <p:spPr>
          <a:xfrm flipH="1">
            <a:off x="14287500" y="4362450"/>
            <a:ext cx="1809750" cy="990600"/>
          </a:xfrm>
          <a:prstGeom prst="line">
            <a:avLst/>
          </a:prstGeom>
          <a:ln w="23812">
            <a:solidFill>
              <a:srgbClr val="0F172A"/>
            </a:solidFill>
            <a:tailEnd type="triangle"/>
          </a:ln>
        </p:spPr>
      </p:cxnSp>
      <p:cxnSp>
        <p:nvCxnSpPr>
          <p:cNvPr id="12" name="Connector 11"/>
          <p:cNvCxnSpPr/>
          <p:nvPr/>
        </p:nvCxnSpPr>
        <p:spPr>
          <a:xfrm>
            <a:off x="13382625" y="6076950"/>
            <a:ext cx="0" cy="800100"/>
          </a:xfrm>
          <a:prstGeom prst="line">
            <a:avLst/>
          </a:prstGeom>
          <a:ln w="23812">
            <a:solidFill>
              <a:srgbClr val="0F172A"/>
            </a:solidFill>
            <a:tailEnd type="triangle"/>
          </a:ln>
        </p:spPr>
      </p:cxnSp>
      <p:sp>
        <p:nvSpPr>
          <p:cNvPr id="13" name="Rectangle 12"/>
          <p:cNvSpPr/>
          <p:nvPr/>
        </p:nvSpPr>
        <p:spPr>
          <a:xfrm>
            <a:off x="1285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14" name="Oval 13"/>
          <p:cNvSpPr/>
          <p:nvPr/>
        </p:nvSpPr>
        <p:spPr>
          <a:xfrm>
            <a:off x="133350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sales.dat</a:t>
            </a:r>
          </a:p>
        </p:txBody>
      </p:sp>
      <p:sp>
        <p:nvSpPr>
          <p:cNvPr id="15" name="Rectangle 14"/>
          <p:cNvSpPr/>
          <p:nvPr/>
        </p:nvSpPr>
        <p:spPr>
          <a:xfrm>
            <a:off x="381000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16" name="Oval 15"/>
          <p:cNvSpPr/>
          <p:nvPr/>
        </p:nvSpPr>
        <p:spPr>
          <a:xfrm>
            <a:off x="3857625"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billing.csv</a:t>
            </a:r>
          </a:p>
        </p:txBody>
      </p:sp>
      <p:sp>
        <p:nvSpPr>
          <p:cNvPr id="17" name="Rectangle 16"/>
          <p:cNvSpPr/>
          <p:nvPr/>
        </p:nvSpPr>
        <p:spPr>
          <a:xfrm>
            <a:off x="63341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18" name="Oval 17"/>
          <p:cNvSpPr/>
          <p:nvPr/>
        </p:nvSpPr>
        <p:spPr>
          <a:xfrm>
            <a:off x="638175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hr.xls</a:t>
            </a:r>
          </a:p>
        </p:txBody>
      </p:sp>
      <p:sp>
        <p:nvSpPr>
          <p:cNvPr id="19" name="Rectangle 18"/>
          <p:cNvSpPr/>
          <p:nvPr/>
        </p:nvSpPr>
        <p:spPr>
          <a:xfrm>
            <a:off x="95726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20" name="Rectangle 19"/>
          <p:cNvSpPr/>
          <p:nvPr/>
        </p:nvSpPr>
        <p:spPr>
          <a:xfrm>
            <a:off x="1228725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21" name="Rectangle 20"/>
          <p:cNvSpPr/>
          <p:nvPr/>
        </p:nvSpPr>
        <p:spPr>
          <a:xfrm>
            <a:off x="15001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22" name="Rectangle 21"/>
          <p:cNvSpPr/>
          <p:nvPr/>
        </p:nvSpPr>
        <p:spPr>
          <a:xfrm>
            <a:off x="10906125" y="5353050"/>
            <a:ext cx="4953000" cy="7239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a:t>
            </a:r>
          </a:p>
        </p:txBody>
      </p:sp>
      <p:sp>
        <p:nvSpPr>
          <p:cNvPr id="23" name="Rectangle 22"/>
          <p:cNvSpPr/>
          <p:nvPr/>
        </p:nvSpPr>
        <p:spPr>
          <a:xfrm>
            <a:off x="10906125" y="6877050"/>
            <a:ext cx="495300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One shared database + catalog</a:t>
            </a:r>
          </a:p>
        </p:txBody>
      </p:sp>
      <p:sp>
        <p:nvSpPr>
          <p:cNvPr id="24" name="TextBox 23"/>
          <p:cNvSpPr txBox="1"/>
          <p:nvPr/>
        </p:nvSpPr>
        <p:spPr>
          <a:xfrm>
            <a:off x="1219200" y="2857500"/>
            <a:ext cx="7429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File-based</a:t>
            </a:r>
          </a:p>
        </p:txBody>
      </p:sp>
      <p:sp>
        <p:nvSpPr>
          <p:cNvPr id="25" name="TextBox 24"/>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Database approach</a:t>
            </a:r>
          </a:p>
        </p:txBody>
      </p:sp>
      <p:sp>
        <p:nvSpPr>
          <p:cNvPr id="26" name="Rectangle 25"/>
          <p:cNvSpPr/>
          <p:nvPr/>
        </p:nvSpPr>
        <p:spPr>
          <a:xfrm>
            <a:off x="9048750" y="2857500"/>
            <a:ext cx="19050" cy="5334000"/>
          </a:xfrm>
          <a:prstGeom prst="rect">
            <a:avLst/>
          </a:prstGeom>
          <a:solidFill>
            <a:srgbClr val="E2E8F0"/>
          </a:solidFill>
          <a:ln>
            <a:noFill/>
          </a:ln>
        </p:spPr>
        <p:txBody>
          <a:bodyPr rtlCol="0" anchor="ctr" lIns="0" rIns="0" tIns="0" bIns="0"/>
          <a:lstStyle/>
          <a:p>
            <a:pPr algn="ctr"/>
          </a:p>
        </p:txBody>
      </p:sp>
      <p:sp>
        <p:nvSpPr>
          <p:cNvPr id="27" name="TextBox 26"/>
          <p:cNvSpPr txBox="1"/>
          <p:nvPr/>
        </p:nvSpPr>
        <p:spPr>
          <a:xfrm>
            <a:off x="1219200" y="6477000"/>
            <a:ext cx="74295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program defines its </a:t>
            </a:r>
            <a:r>
              <a:rPr sz="1794" b="1" i="0" u="none">
                <a:solidFill>
                  <a:srgbClr val="334155"/>
                </a:solidFill>
                <a:latin typeface="Calibri"/>
              </a:rPr>
              <a:t>own</a:t>
            </a:r>
            <a:r>
              <a:rPr sz="1794" b="0" i="0" u="none">
                <a:solidFill>
                  <a:srgbClr val="334155"/>
                </a:solidFill>
                <a:latin typeface="Calibri"/>
              </a:rPr>
              <a:t> file: the same data is stored three times, in three formats.</a:t>
            </a:r>
          </a:p>
        </p:txBody>
      </p:sp>
      <p:sp>
        <p:nvSpPr>
          <p:cNvPr id="28" name="TextBox 27"/>
          <p:cNvSpPr txBox="1"/>
          <p:nvPr/>
        </p:nvSpPr>
        <p:spPr>
          <a:xfrm>
            <a:off x="9525000" y="7905750"/>
            <a:ext cx="75438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Programs ask the DBMS; the data and its description are stored </a:t>
            </a:r>
            <a:r>
              <a:rPr sz="1794" b="1" i="0" u="none">
                <a:solidFill>
                  <a:srgbClr val="334155"/>
                </a:solidFill>
                <a:latin typeface="Calibri"/>
              </a:rPr>
              <a:t>once</a:t>
            </a:r>
            <a:r>
              <a:rPr sz="1794" b="0" i="0" u="none">
                <a:solidFill>
                  <a:srgbClr val="334155"/>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DBMS, database system</a:t>
            </a:r>
          </a:p>
        </p:txBody>
      </p:sp>
      <p:sp>
        <p:nvSpPr>
          <p:cNvPr id="6" name="Rectangle 5"/>
          <p:cNvSpPr/>
          <p:nvPr/>
        </p:nvSpPr>
        <p:spPr>
          <a:xfrm>
            <a:off x="91440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a:t>
            </a:r>
          </a:p>
        </p:txBody>
      </p:sp>
      <p:sp>
        <p:nvSpPr>
          <p:cNvPr id="8" name="TextBox 7"/>
          <p:cNvSpPr txBox="1"/>
          <p:nvPr/>
        </p:nvSpPr>
        <p:spPr>
          <a:xfrm>
            <a:off x="1314450" y="3605204"/>
            <a:ext cx="4472940" cy="1969046"/>
          </a:xfrm>
          <a:prstGeom prst="rect">
            <a:avLst/>
          </a:prstGeom>
          <a:noFill/>
        </p:spPr>
        <p:txBody>
          <a:bodyPr wrap="square" lIns="0" rIns="0" tIns="0" bIns="0" anchor="t"/>
          <a:lstStyle/>
          <a:p>
            <a:pPr algn="l">
              <a:lnSpc>
                <a:spcPct val="111800"/>
              </a:lnSpc>
            </a:pPr>
            <a:r>
              <a:rPr sz="2898" b="0" i="0" u="none">
                <a:solidFill>
                  <a:srgbClr val="334155"/>
                </a:solidFill>
                <a:latin typeface="Calibri"/>
              </a:rPr>
              <a:t>A collection of </a:t>
            </a:r>
            <a:r>
              <a:rPr sz="2898" b="1" i="0" u="none">
                <a:solidFill>
                  <a:srgbClr val="334155"/>
                </a:solidFill>
                <a:latin typeface="Calibri"/>
              </a:rPr>
              <a:t>related data</a:t>
            </a:r>
            <a:r>
              <a:rPr sz="2898" b="0" i="0" u="none">
                <a:solidFill>
                  <a:srgbClr val="334155"/>
                </a:solidFill>
                <a:latin typeface="Calibri"/>
              </a:rPr>
              <a:t> with a meaning, e.g. all students, courses and grades of a university.</a:t>
            </a:r>
          </a:p>
        </p:txBody>
      </p:sp>
      <p:sp>
        <p:nvSpPr>
          <p:cNvPr id="9" name="Rectangle 8"/>
          <p:cNvSpPr/>
          <p:nvPr/>
        </p:nvSpPr>
        <p:spPr>
          <a:xfrm>
            <a:off x="650748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DBMS</a:t>
            </a:r>
          </a:p>
        </p:txBody>
      </p:sp>
      <p:sp>
        <p:nvSpPr>
          <p:cNvPr id="11" name="TextBox 10"/>
          <p:cNvSpPr txBox="1"/>
          <p:nvPr/>
        </p:nvSpPr>
        <p:spPr>
          <a:xfrm>
            <a:off x="6907530" y="3605204"/>
            <a:ext cx="447294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Software to </a:t>
            </a:r>
            <a:r>
              <a:rPr sz="2898" b="1" i="0" u="none">
                <a:solidFill>
                  <a:srgbClr val="334155"/>
                </a:solidFill>
                <a:latin typeface="Calibri"/>
              </a:rPr>
              <a:t>define, construct, manipulate and share</a:t>
            </a:r>
            <a:r>
              <a:rPr sz="2898" b="0" i="0" u="none">
                <a:solidFill>
                  <a:srgbClr val="334155"/>
                </a:solidFill>
                <a:latin typeface="Calibri"/>
              </a:rPr>
              <a:t> databases, e.g. PostgreSQL, Oracle, SQL Server, MySQL.</a:t>
            </a:r>
          </a:p>
        </p:txBody>
      </p:sp>
      <p:sp>
        <p:nvSpPr>
          <p:cNvPr id="12" name="Rectangle 11"/>
          <p:cNvSpPr/>
          <p:nvPr/>
        </p:nvSpPr>
        <p:spPr>
          <a:xfrm>
            <a:off x="1210056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 system</a:t>
            </a:r>
          </a:p>
        </p:txBody>
      </p:sp>
      <p:sp>
        <p:nvSpPr>
          <p:cNvPr id="14" name="TextBox 13"/>
          <p:cNvSpPr txBox="1"/>
          <p:nvPr/>
        </p:nvSpPr>
        <p:spPr>
          <a:xfrm>
            <a:off x="12500610" y="3605204"/>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DBMS </a:t>
            </a:r>
            <a:r>
              <a:rPr sz="2898" b="1" i="0" u="none">
                <a:solidFill>
                  <a:srgbClr val="334155"/>
                </a:solidFill>
                <a:latin typeface="Calibri"/>
              </a:rPr>
              <a:t>plus</a:t>
            </a:r>
            <a:r>
              <a:rPr sz="2898" b="0" i="0" u="none">
                <a:solidFill>
                  <a:srgbClr val="334155"/>
                </a:solidFill>
                <a:latin typeface="Calibri"/>
              </a:rPr>
              <a:t> the database (and often the applications that use it).</a:t>
            </a:r>
          </a:p>
        </p:txBody>
      </p:sp>
      <p:sp>
        <p:nvSpPr>
          <p:cNvPr id="15" name="Rectangle 14"/>
          <p:cNvSpPr/>
          <p:nvPr/>
        </p:nvSpPr>
        <p:spPr>
          <a:xfrm>
            <a:off x="914400" y="6906150"/>
            <a:ext cx="16459200" cy="1478051"/>
          </a:xfrm>
          <a:prstGeom prst="rect">
            <a:avLst/>
          </a:prstGeom>
          <a:solidFill>
            <a:srgbClr val="E6F4F4"/>
          </a:solidFill>
          <a:ln>
            <a:noFill/>
          </a:ln>
        </p:spPr>
        <p:txBody>
          <a:bodyPr rtlCol="0" anchor="ctr" lIns="0" rIns="0" tIns="0" bIns="0"/>
          <a:lstStyle/>
          <a:p>
            <a:pPr algn="ctr"/>
          </a:p>
        </p:txBody>
      </p:sp>
      <p:sp>
        <p:nvSpPr>
          <p:cNvPr id="16" name="Rectangle 15"/>
          <p:cNvSpPr/>
          <p:nvPr/>
        </p:nvSpPr>
        <p:spPr>
          <a:xfrm>
            <a:off x="914400" y="6906150"/>
            <a:ext cx="47625" cy="1478051"/>
          </a:xfrm>
          <a:prstGeom prst="rect">
            <a:avLst/>
          </a:prstGeom>
          <a:solidFill>
            <a:srgbClr val="0E8A8A"/>
          </a:solidFill>
          <a:ln>
            <a:noFill/>
          </a:ln>
        </p:spPr>
        <p:txBody>
          <a:bodyPr rtlCol="0" anchor="ctr" lIns="0" rIns="0" tIns="0" bIns="0"/>
          <a:lstStyle/>
          <a:p>
            <a:pPr algn="ctr"/>
          </a:p>
        </p:txBody>
      </p:sp>
      <p:sp>
        <p:nvSpPr>
          <p:cNvPr id="17" name="TextBox 16"/>
          <p:cNvSpPr txBox="1"/>
          <p:nvPr/>
        </p:nvSpPr>
        <p:spPr>
          <a:xfrm>
            <a:off x="1341120" y="7172850"/>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Defining</a:t>
            </a:r>
            <a:r>
              <a:rPr sz="2704" b="0" i="0" u="none">
                <a:solidFill>
                  <a:srgbClr val="0F172A"/>
                </a:solidFill>
                <a:latin typeface="Calibri"/>
              </a:rPr>
              <a:t> = specifying data types and constraints. </a:t>
            </a:r>
            <a:r>
              <a:rPr sz="2704" b="1" i="0" u="none">
                <a:solidFill>
                  <a:srgbClr val="0F172A"/>
                </a:solidFill>
                <a:latin typeface="Calibri"/>
              </a:rPr>
              <a:t>Constructing</a:t>
            </a:r>
            <a:r>
              <a:rPr sz="2704" b="0" i="0" u="none">
                <a:solidFill>
                  <a:srgbClr val="0F172A"/>
                </a:solidFill>
                <a:latin typeface="Calibri"/>
              </a:rPr>
              <a:t> = storing the data. </a:t>
            </a:r>
            <a:r>
              <a:rPr sz="2704" b="1" i="0" u="none">
                <a:solidFill>
                  <a:srgbClr val="0F172A"/>
                </a:solidFill>
                <a:latin typeface="Calibri"/>
              </a:rPr>
              <a:t>Manipulating</a:t>
            </a:r>
            <a:r>
              <a:rPr sz="2704" b="0" i="0" u="none">
                <a:solidFill>
                  <a:srgbClr val="0F172A"/>
                </a:solidFill>
                <a:latin typeface="Calibri"/>
              </a:rPr>
              <a:t> = querying and updating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database system, simplified</a:t>
            </a:r>
          </a:p>
        </p:txBody>
      </p:sp>
      <p:cxnSp>
        <p:nvCxnSpPr>
          <p:cNvPr id="6" name="Connector 5"/>
          <p:cNvCxnSpPr/>
          <p:nvPr/>
        </p:nvCxnSpPr>
        <p:spPr>
          <a:xfrm>
            <a:off x="9144000" y="3486150"/>
            <a:ext cx="0" cy="552450"/>
          </a:xfrm>
          <a:prstGeom prst="line">
            <a:avLst/>
          </a:prstGeom>
          <a:ln w="23812">
            <a:solidFill>
              <a:srgbClr val="0F172A"/>
            </a:solidFill>
            <a:tailEnd type="triangle"/>
          </a:ln>
        </p:spPr>
      </p:cxnSp>
      <p:cxnSp>
        <p:nvCxnSpPr>
          <p:cNvPr id="7" name="Connector 6"/>
          <p:cNvCxnSpPr/>
          <p:nvPr/>
        </p:nvCxnSpPr>
        <p:spPr>
          <a:xfrm>
            <a:off x="9144000" y="4724400"/>
            <a:ext cx="0" cy="666750"/>
          </a:xfrm>
          <a:prstGeom prst="line">
            <a:avLst/>
          </a:prstGeom>
          <a:ln w="23812">
            <a:solidFill>
              <a:srgbClr val="0F172A"/>
            </a:solidFill>
            <a:tailEnd type="triangle"/>
          </a:ln>
        </p:spPr>
      </p:cxnSp>
      <p:cxnSp>
        <p:nvCxnSpPr>
          <p:cNvPr id="8" name="Connector 7"/>
          <p:cNvCxnSpPr/>
          <p:nvPr/>
        </p:nvCxnSpPr>
        <p:spPr>
          <a:xfrm flipH="1">
            <a:off x="7239000" y="6229350"/>
            <a:ext cx="381000" cy="876300"/>
          </a:xfrm>
          <a:prstGeom prst="line">
            <a:avLst/>
          </a:prstGeom>
          <a:ln w="23812">
            <a:solidFill>
              <a:srgbClr val="0F172A"/>
            </a:solidFill>
            <a:tailEnd type="triangle"/>
          </a:ln>
        </p:spPr>
      </p:cxnSp>
      <p:cxnSp>
        <p:nvCxnSpPr>
          <p:cNvPr id="9" name="Connector 8"/>
          <p:cNvCxnSpPr/>
          <p:nvPr/>
        </p:nvCxnSpPr>
        <p:spPr>
          <a:xfrm>
            <a:off x="10668000" y="6229350"/>
            <a:ext cx="952500" cy="876300"/>
          </a:xfrm>
          <a:prstGeom prst="line">
            <a:avLst/>
          </a:prstGeom>
          <a:ln w="23812">
            <a:solidFill>
              <a:srgbClr val="0F172A"/>
            </a:solidFill>
            <a:tailEnd type="triangle"/>
          </a:ln>
        </p:spPr>
      </p:cxnSp>
      <p:sp>
        <p:nvSpPr>
          <p:cNvPr id="10" name="Rectangle 9"/>
          <p:cNvSpPr/>
          <p:nvPr/>
        </p:nvSpPr>
        <p:spPr>
          <a:xfrm>
            <a:off x="6667500" y="2800350"/>
            <a:ext cx="49530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Users / programmers</a:t>
            </a:r>
          </a:p>
        </p:txBody>
      </p:sp>
      <p:sp>
        <p:nvSpPr>
          <p:cNvPr id="11" name="Rectangle 10"/>
          <p:cNvSpPr/>
          <p:nvPr/>
        </p:nvSpPr>
        <p:spPr>
          <a:xfrm>
            <a:off x="6191250" y="4038600"/>
            <a:ext cx="59055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Application programs / queries</a:t>
            </a:r>
          </a:p>
        </p:txBody>
      </p:sp>
      <p:sp>
        <p:nvSpPr>
          <p:cNvPr id="12" name="Rectangle 11"/>
          <p:cNvSpPr/>
          <p:nvPr/>
        </p:nvSpPr>
        <p:spPr>
          <a:xfrm>
            <a:off x="5238750" y="5391150"/>
            <a:ext cx="781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 query processor + storage manager</a:t>
            </a:r>
          </a:p>
        </p:txBody>
      </p:sp>
      <p:sp>
        <p:nvSpPr>
          <p:cNvPr id="13" name="Rectangle 12"/>
          <p:cNvSpPr/>
          <p:nvPr/>
        </p:nvSpPr>
        <p:spPr>
          <a:xfrm>
            <a:off x="4000500" y="7105650"/>
            <a:ext cx="5334000" cy="838200"/>
          </a:xfrm>
          <a:prstGeom prst="rect">
            <a:avLst/>
          </a:prstGeom>
          <a:solidFill>
            <a:srgbClr val="FFFFFF"/>
          </a:solidFill>
          <a:ln w="23812">
            <a:solidFill>
              <a:srgbClr val="0F172A"/>
            </a:solidFill>
          </a:ln>
        </p:spPr>
        <p:txBody>
          <a:bodyPr rtlCol="0" anchor="ctr" lIns="0" rIns="0" tIns="0" bIns="0" wrap="none"/>
          <a:lstStyle/>
          <a:p>
            <a:pPr algn="ctr"/>
            <a:r>
              <a:rPr sz="1790" b="1" i="0" u="none">
                <a:solidFill>
                  <a:srgbClr val="0F172A"/>
                </a:solidFill>
                <a:latin typeface="Arial"/>
              </a:rPr>
              <a:t>Stored DB definition (metadata / catalog)</a:t>
            </a:r>
          </a:p>
        </p:txBody>
      </p:sp>
      <p:sp>
        <p:nvSpPr>
          <p:cNvPr id="14" name="Rectangle 13"/>
          <p:cNvSpPr/>
          <p:nvPr/>
        </p:nvSpPr>
        <p:spPr>
          <a:xfrm>
            <a:off x="10096500" y="7105650"/>
            <a:ext cx="400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Stored database</a:t>
            </a:r>
          </a:p>
        </p:txBody>
      </p:sp>
      <p:sp>
        <p:nvSpPr>
          <p:cNvPr id="15" name="Rounded Rectangle 14"/>
          <p:cNvSpPr/>
          <p:nvPr/>
        </p:nvSpPr>
        <p:spPr>
          <a:xfrm>
            <a:off x="3810000" y="5334000"/>
            <a:ext cx="10668000" cy="2857500"/>
          </a:xfrm>
          <a:prstGeom prst="roundRect">
            <a:avLst>
              <a:gd name="adj" fmla="val 5333"/>
            </a:avLst>
          </a:prstGeom>
          <a:noFill/>
          <a:ln w="28575">
            <a:solidFill>
              <a:srgbClr val="C8102E"/>
            </a:solidFill>
            <a:prstDash val="dash"/>
          </a:ln>
        </p:spPr>
        <p:txBody>
          <a:bodyPr rtlCol="0" anchor="ctr" lIns="0" rIns="0" tIns="0" bIns="0"/>
          <a:lstStyle/>
          <a:p>
            <a:pPr algn="ctr"/>
          </a:p>
        </p:txBody>
      </p:sp>
      <p:sp>
        <p:nvSpPr>
          <p:cNvPr id="16" name="TextBox 15"/>
          <p:cNvSpPr txBox="1"/>
          <p:nvPr/>
        </p:nvSpPr>
        <p:spPr>
          <a:xfrm>
            <a:off x="14668500" y="5715000"/>
            <a:ext cx="24765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Database system</a:t>
            </a:r>
          </a:p>
        </p:txBody>
      </p:sp>
      <p:sp>
        <p:nvSpPr>
          <p:cNvPr id="17" name="TextBox 16"/>
          <p:cNvSpPr txBox="1"/>
          <p:nvPr/>
        </p:nvSpPr>
        <p:spPr>
          <a:xfrm>
            <a:off x="14668500" y="6096000"/>
            <a:ext cx="2476500" cy="578358"/>
          </a:xfrm>
          <a:prstGeom prst="rect">
            <a:avLst/>
          </a:prstGeom>
          <a:noFill/>
        </p:spPr>
        <p:txBody>
          <a:bodyPr wrap="square" lIns="0" rIns="0" tIns="0" bIns="0" anchor="t"/>
          <a:lstStyle/>
          <a:p>
            <a:pPr algn="l">
              <a:lnSpc>
                <a:spcPct val="111800"/>
              </a:lnSpc>
            </a:pPr>
            <a:r>
              <a:rPr sz="1656" b="0" i="0" u="none">
                <a:solidFill>
                  <a:srgbClr val="64748B"/>
                </a:solidFill>
                <a:latin typeface="Calibri"/>
              </a:rPr>
              <a:t>= DBMS software + data +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a DBMS does for you</a:t>
            </a:r>
          </a:p>
        </p:txBody>
      </p:sp>
      <p:sp>
        <p:nvSpPr>
          <p:cNvPr id="6" name="Rectangle 5"/>
          <p:cNvSpPr/>
          <p:nvPr/>
        </p:nvSpPr>
        <p:spPr>
          <a:xfrm>
            <a:off x="91440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Define</a:t>
            </a:r>
          </a:p>
        </p:txBody>
      </p:sp>
      <p:sp>
        <p:nvSpPr>
          <p:cNvPr id="8" name="TextBox 7"/>
          <p:cNvSpPr txBox="1"/>
          <p:nvPr/>
        </p:nvSpPr>
        <p:spPr>
          <a:xfrm>
            <a:off x="131445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types, structures, constraints (DDL)</a:t>
            </a:r>
          </a:p>
        </p:txBody>
      </p:sp>
      <p:sp>
        <p:nvSpPr>
          <p:cNvPr id="9" name="Rectangle 8"/>
          <p:cNvSpPr/>
          <p:nvPr/>
        </p:nvSpPr>
        <p:spPr>
          <a:xfrm>
            <a:off x="510921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5509260"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Store &amp; retrieve</a:t>
            </a:r>
          </a:p>
        </p:txBody>
      </p:sp>
      <p:sp>
        <p:nvSpPr>
          <p:cNvPr id="11" name="TextBox 10"/>
          <p:cNvSpPr txBox="1"/>
          <p:nvPr/>
        </p:nvSpPr>
        <p:spPr>
          <a:xfrm>
            <a:off x="5509260"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Efficient storage, indexes, a query language (SQL)</a:t>
            </a:r>
          </a:p>
        </p:txBody>
      </p:sp>
      <p:sp>
        <p:nvSpPr>
          <p:cNvPr id="12" name="Rectangle 11"/>
          <p:cNvSpPr/>
          <p:nvPr/>
        </p:nvSpPr>
        <p:spPr>
          <a:xfrm>
            <a:off x="930402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Share</a:t>
            </a:r>
          </a:p>
        </p:txBody>
      </p:sp>
      <p:sp>
        <p:nvSpPr>
          <p:cNvPr id="14" name="TextBox 13"/>
          <p:cNvSpPr txBox="1"/>
          <p:nvPr/>
        </p:nvSpPr>
        <p:spPr>
          <a:xfrm>
            <a:off x="970407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Many users and programs on the same data</a:t>
            </a:r>
          </a:p>
        </p:txBody>
      </p:sp>
      <p:sp>
        <p:nvSpPr>
          <p:cNvPr id="15" name="Rectangle 14"/>
          <p:cNvSpPr/>
          <p:nvPr/>
        </p:nvSpPr>
        <p:spPr>
          <a:xfrm>
            <a:off x="13498829"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898879"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Concurrency control</a:t>
            </a:r>
          </a:p>
        </p:txBody>
      </p:sp>
      <p:sp>
        <p:nvSpPr>
          <p:cNvPr id="17" name="TextBox 16"/>
          <p:cNvSpPr txBox="1"/>
          <p:nvPr/>
        </p:nvSpPr>
        <p:spPr>
          <a:xfrm>
            <a:off x="13898879"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Simultaneous updates without conflicts (transactions)</a:t>
            </a:r>
          </a:p>
        </p:txBody>
      </p:sp>
      <p:sp>
        <p:nvSpPr>
          <p:cNvPr id="18" name="Rectangle 17"/>
          <p:cNvSpPr/>
          <p:nvPr/>
        </p:nvSpPr>
        <p:spPr>
          <a:xfrm>
            <a:off x="91440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1445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Security</a:t>
            </a:r>
          </a:p>
        </p:txBody>
      </p:sp>
      <p:sp>
        <p:nvSpPr>
          <p:cNvPr id="20" name="TextBox 19"/>
          <p:cNvSpPr txBox="1"/>
          <p:nvPr/>
        </p:nvSpPr>
        <p:spPr>
          <a:xfrm>
            <a:off x="131445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Who may see or change what (GRANT / REVOKE)</a:t>
            </a:r>
          </a:p>
        </p:txBody>
      </p:sp>
      <p:sp>
        <p:nvSpPr>
          <p:cNvPr id="21" name="Rectangle 20"/>
          <p:cNvSpPr/>
          <p:nvPr/>
        </p:nvSpPr>
        <p:spPr>
          <a:xfrm>
            <a:off x="510921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550926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Integrity</a:t>
            </a:r>
          </a:p>
        </p:txBody>
      </p:sp>
      <p:sp>
        <p:nvSpPr>
          <p:cNvPr id="23" name="TextBox 22"/>
          <p:cNvSpPr txBox="1"/>
          <p:nvPr/>
        </p:nvSpPr>
        <p:spPr>
          <a:xfrm>
            <a:off x="550926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Constraints keep data valid (PK, FK, CHECK)</a:t>
            </a:r>
          </a:p>
        </p:txBody>
      </p:sp>
      <p:sp>
        <p:nvSpPr>
          <p:cNvPr id="24" name="Rectangle 23"/>
          <p:cNvSpPr/>
          <p:nvPr/>
        </p:nvSpPr>
        <p:spPr>
          <a:xfrm>
            <a:off x="930402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5" name="TextBox 24"/>
          <p:cNvSpPr txBox="1"/>
          <p:nvPr/>
        </p:nvSpPr>
        <p:spPr>
          <a:xfrm>
            <a:off x="9704070"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Backup &amp; recovery</a:t>
            </a:r>
          </a:p>
        </p:txBody>
      </p:sp>
      <p:sp>
        <p:nvSpPr>
          <p:cNvPr id="26" name="TextBox 25"/>
          <p:cNvSpPr txBox="1"/>
          <p:nvPr/>
        </p:nvSpPr>
        <p:spPr>
          <a:xfrm>
            <a:off x="9704070"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Restore a consistent state after a crash</a:t>
            </a:r>
          </a:p>
        </p:txBody>
      </p:sp>
      <p:sp>
        <p:nvSpPr>
          <p:cNvPr id="27" name="Rectangle 26"/>
          <p:cNvSpPr/>
          <p:nvPr/>
        </p:nvSpPr>
        <p:spPr>
          <a:xfrm>
            <a:off x="13498829"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8" name="TextBox 27"/>
          <p:cNvSpPr txBox="1"/>
          <p:nvPr/>
        </p:nvSpPr>
        <p:spPr>
          <a:xfrm>
            <a:off x="13898879"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Data dictionary</a:t>
            </a:r>
          </a:p>
        </p:txBody>
      </p:sp>
      <p:sp>
        <p:nvSpPr>
          <p:cNvPr id="29" name="TextBox 28"/>
          <p:cNvSpPr txBox="1"/>
          <p:nvPr/>
        </p:nvSpPr>
        <p:spPr>
          <a:xfrm>
            <a:off x="13898879"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 catalog describing every object (metadata)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Advantages and costs</a:t>
            </a:r>
          </a:p>
        </p:txBody>
      </p:sp>
      <p:sp>
        <p:nvSpPr>
          <p:cNvPr id="6" name="Rectangle 5"/>
          <p:cNvSpPr/>
          <p:nvPr/>
        </p:nvSpPr>
        <p:spPr>
          <a:xfrm>
            <a:off x="914400" y="2482024"/>
            <a:ext cx="8069580" cy="6383891"/>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Advantages</a:t>
            </a:r>
          </a:p>
        </p:txBody>
      </p:sp>
      <p:sp>
        <p:nvSpPr>
          <p:cNvPr id="8" name="TextBox 7"/>
          <p:cNvSpPr txBox="1"/>
          <p:nvPr/>
        </p:nvSpPr>
        <p:spPr>
          <a:xfrm>
            <a:off x="1314450" y="3605204"/>
            <a:ext cx="7269480" cy="405341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Controlled redundancy → no inconsistent copies</a:t>
            </a:r>
          </a:p>
          <a:p>
            <a:pPr algn="l" marL="377860" indent="-377860">
              <a:lnSpc>
                <a:spcPct val="111800"/>
              </a:lnSpc>
              <a:spcBef>
                <a:spcPts val="676"/>
              </a:spcBef>
              <a:buChar char="•"/>
            </a:pPr>
            <a:r>
              <a:rPr sz="2704" b="0" i="0" u="none">
                <a:solidFill>
                  <a:srgbClr val="334155"/>
                </a:solidFill>
                <a:latin typeface="Calibri"/>
              </a:rPr>
              <a:t>Restricted unauthorized access</a:t>
            </a:r>
          </a:p>
          <a:p>
            <a:pPr algn="l" marL="377860" indent="-377860">
              <a:lnSpc>
                <a:spcPct val="111800"/>
              </a:lnSpc>
              <a:spcBef>
                <a:spcPts val="676"/>
              </a:spcBef>
              <a:buChar char="•"/>
            </a:pPr>
            <a:r>
              <a:rPr sz="2704" b="0" i="0" u="none">
                <a:solidFill>
                  <a:srgbClr val="334155"/>
                </a:solidFill>
                <a:latin typeface="Calibri"/>
              </a:rPr>
              <a:t>Data shared by many users and apps</a:t>
            </a:r>
          </a:p>
          <a:p>
            <a:pPr algn="l" marL="377860" indent="-377860">
              <a:lnSpc>
                <a:spcPct val="111800"/>
              </a:lnSpc>
              <a:spcBef>
                <a:spcPts val="676"/>
              </a:spcBef>
              <a:buChar char="•"/>
            </a:pPr>
            <a:r>
              <a:rPr sz="2704" b="0" i="0" u="none">
                <a:solidFill>
                  <a:srgbClr val="334155"/>
                </a:solidFill>
                <a:latin typeface="Calibri"/>
              </a:rPr>
              <a:t>Integrity constraints enforced centrally</a:t>
            </a:r>
          </a:p>
          <a:p>
            <a:pPr algn="l" marL="377860" indent="-377860">
              <a:lnSpc>
                <a:spcPct val="111800"/>
              </a:lnSpc>
              <a:spcBef>
                <a:spcPts val="676"/>
              </a:spcBef>
              <a:buChar char="•"/>
            </a:pPr>
            <a:r>
              <a:rPr sz="2704" b="0" i="0" u="none">
                <a:solidFill>
                  <a:srgbClr val="334155"/>
                </a:solidFill>
                <a:latin typeface="Calibri"/>
              </a:rPr>
              <a:t>Backup and recovery built in</a:t>
            </a:r>
          </a:p>
          <a:p>
            <a:pPr algn="l" marL="377860" indent="-377860">
              <a:lnSpc>
                <a:spcPct val="111800"/>
              </a:lnSpc>
              <a:spcBef>
                <a:spcPts val="676"/>
              </a:spcBef>
              <a:buChar char="•"/>
            </a:pPr>
            <a:r>
              <a:rPr sz="2704" b="0" i="0" u="none">
                <a:solidFill>
                  <a:srgbClr val="334155"/>
                </a:solidFill>
                <a:latin typeface="Calibri"/>
              </a:rPr>
              <a:t>Program–data independence; faster development</a:t>
            </a:r>
          </a:p>
        </p:txBody>
      </p:sp>
      <p:sp>
        <p:nvSpPr>
          <p:cNvPr id="9" name="Rectangle 8"/>
          <p:cNvSpPr/>
          <p:nvPr/>
        </p:nvSpPr>
        <p:spPr>
          <a:xfrm>
            <a:off x="9304020" y="2482024"/>
            <a:ext cx="8069580" cy="6383891"/>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Costs to weigh</a:t>
            </a:r>
          </a:p>
        </p:txBody>
      </p:sp>
      <p:sp>
        <p:nvSpPr>
          <p:cNvPr id="11" name="TextBox 10"/>
          <p:cNvSpPr txBox="1"/>
          <p:nvPr/>
        </p:nvSpPr>
        <p:spPr>
          <a:xfrm>
            <a:off x="9704070" y="3605204"/>
            <a:ext cx="7269480" cy="486066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Licenses can be expensive (open-source options: PostgreSQL, MySQL, SQLite)</a:t>
            </a:r>
          </a:p>
          <a:p>
            <a:pPr algn="l" marL="377860" indent="-377860">
              <a:lnSpc>
                <a:spcPct val="111800"/>
              </a:lnSpc>
              <a:spcBef>
                <a:spcPts val="676"/>
              </a:spcBef>
              <a:buChar char="•"/>
            </a:pPr>
            <a:r>
              <a:rPr sz="2704" b="0" i="0" u="none">
                <a:solidFill>
                  <a:srgbClr val="334155"/>
                </a:solidFill>
                <a:latin typeface="Calibri"/>
              </a:rPr>
              <a:t>Skilled staff and training (DBA, designers)</a:t>
            </a:r>
          </a:p>
          <a:p>
            <a:pPr algn="l" marL="377860" indent="-377860">
              <a:lnSpc>
                <a:spcPct val="111800"/>
              </a:lnSpc>
              <a:spcBef>
                <a:spcPts val="676"/>
              </a:spcBef>
              <a:buChar char="•"/>
            </a:pPr>
            <a:r>
              <a:rPr sz="2704" b="0" i="0" u="none">
                <a:solidFill>
                  <a:srgbClr val="334155"/>
                </a:solidFill>
                <a:latin typeface="Calibri"/>
              </a:rPr>
              <a:t>Overhead for very small or single-purpose apps</a:t>
            </a:r>
          </a:p>
          <a:p>
            <a:pPr algn="l" marL="377860" indent="-377860">
              <a:lnSpc>
                <a:spcPct val="111800"/>
              </a:lnSpc>
              <a:spcBef>
                <a:spcPts val="676"/>
              </a:spcBef>
              <a:buChar char="•"/>
            </a:pPr>
            <a:r>
              <a:rPr sz="2704" b="0" i="0" u="none">
                <a:solidFill>
                  <a:srgbClr val="334155"/>
                </a:solidFill>
                <a:latin typeface="Calibri"/>
              </a:rPr>
              <a:t>Central point of failure → needs backups and replication</a:t>
            </a:r>
          </a:p>
          <a:p>
            <a:pPr algn="l" marL="377860" indent="-377860">
              <a:lnSpc>
                <a:spcPct val="111800"/>
              </a:lnSpc>
              <a:spcBef>
                <a:spcPts val="676"/>
              </a:spcBef>
              <a:buChar char="•"/>
            </a:pPr>
            <a:r>
              <a:rPr sz="2704" b="0" i="0" u="none">
                <a:solidFill>
                  <a:srgbClr val="334155"/>
                </a:solidFill>
                <a:latin typeface="Calibri"/>
              </a:rPr>
              <a:t>Vendor lock-in: SQL dialects differ between products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PEOPLE</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Who works with a database</a:t>
            </a:r>
          </a:p>
        </p:txBody>
      </p:sp>
      <p:graphicFrame>
        <p:nvGraphicFramePr>
          <p:cNvPr id="6" name="Table 5"/>
          <p:cNvGraphicFramePr>
            <a:graphicFrameLocks noGrp="1"/>
          </p:cNvGraphicFramePr>
          <p:nvPr/>
        </p:nvGraphicFramePr>
        <p:xfrm>
          <a:off x="914400" y="2482024"/>
          <a:ext cx="16459200" cy="6155688"/>
        </p:xfrm>
        <a:graphic>
          <a:graphicData uri="http://schemas.openxmlformats.org/drawingml/2006/table">
            <a:tbl>
              <a:tblPr firstRow="0" bandRow="0">
                <a:tableStyleId>{5940675A-B579-460E-94D1-54222C63F5DA}</a:tableStyleId>
              </a:tblPr>
              <a:tblGrid>
                <a:gridCol w="4608576"/>
                <a:gridCol w="6254496"/>
                <a:gridCol w="5596128"/>
              </a:tblGrid>
              <a:tr h="676713">
                <a:tc>
                  <a:txBody>
                    <a:bodyPr/>
                    <a:lstStyle/>
                    <a:p>
                      <a:r>
                        <a:rPr sz="2704" b="1" i="0" u="none">
                          <a:solidFill>
                            <a:srgbClr val="FFFFFF"/>
                          </a:solidFill>
                          <a:latin typeface="Arial"/>
                        </a:rPr>
                        <a:t>Role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What they do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task</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administrator (DBA)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Installs, secures, tunes, backs up the DBMS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Grant access; restore last night's backup</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designer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Designs the conceptual and logical schema</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Draw the ERD; map it to tables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System analyst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Captures requirements from the business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 the narrative the ERD is built from</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Application programmer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Writes programs that use the database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Build the payroll app with SQL inside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End user</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Queries and updates data through apps or reports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monthly sales report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Architecture &amp; data models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a DBMS separates what users see from how data is stored, and why that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three-schema architecture</a:t>
            </a:r>
          </a:p>
        </p:txBody>
      </p:sp>
      <p:cxnSp>
        <p:nvCxnSpPr>
          <p:cNvPr id="6" name="Connector 5"/>
          <p:cNvCxnSpPr/>
          <p:nvPr/>
        </p:nvCxnSpPr>
        <p:spPr>
          <a:xfrm>
            <a:off x="5334000" y="3524250"/>
            <a:ext cx="2533650" cy="1009650"/>
          </a:xfrm>
          <a:prstGeom prst="line">
            <a:avLst/>
          </a:prstGeom>
          <a:ln w="23812">
            <a:solidFill>
              <a:srgbClr val="0F172A"/>
            </a:solidFill>
          </a:ln>
        </p:spPr>
      </p:cxnSp>
      <p:cxnSp>
        <p:nvCxnSpPr>
          <p:cNvPr id="7" name="Connector 6"/>
          <p:cNvCxnSpPr/>
          <p:nvPr/>
        </p:nvCxnSpPr>
        <p:spPr>
          <a:xfrm>
            <a:off x="9144000" y="3524250"/>
            <a:ext cx="0" cy="1009650"/>
          </a:xfrm>
          <a:prstGeom prst="line">
            <a:avLst/>
          </a:prstGeom>
          <a:ln w="23812">
            <a:solidFill>
              <a:srgbClr val="0F172A"/>
            </a:solidFill>
          </a:ln>
        </p:spPr>
      </p:cxnSp>
      <p:cxnSp>
        <p:nvCxnSpPr>
          <p:cNvPr id="8" name="Connector 7"/>
          <p:cNvCxnSpPr/>
          <p:nvPr/>
        </p:nvCxnSpPr>
        <p:spPr>
          <a:xfrm flipH="1">
            <a:off x="10410825" y="3524250"/>
            <a:ext cx="2543175" cy="1009650"/>
          </a:xfrm>
          <a:prstGeom prst="line">
            <a:avLst/>
          </a:prstGeom>
          <a:ln w="23812">
            <a:solidFill>
              <a:srgbClr val="0F172A"/>
            </a:solidFill>
          </a:ln>
        </p:spPr>
      </p:cxnSp>
      <p:cxnSp>
        <p:nvCxnSpPr>
          <p:cNvPr id="9" name="Connector 8"/>
          <p:cNvCxnSpPr/>
          <p:nvPr/>
        </p:nvCxnSpPr>
        <p:spPr>
          <a:xfrm>
            <a:off x="9144000" y="5372100"/>
            <a:ext cx="0" cy="685800"/>
          </a:xfrm>
          <a:prstGeom prst="line">
            <a:avLst/>
          </a:prstGeom>
          <a:ln w="23812">
            <a:solidFill>
              <a:srgbClr val="0F172A"/>
            </a:solidFill>
          </a:ln>
        </p:spPr>
      </p:cxnSp>
      <p:cxnSp>
        <p:nvCxnSpPr>
          <p:cNvPr id="10" name="Connector 9"/>
          <p:cNvCxnSpPr/>
          <p:nvPr/>
        </p:nvCxnSpPr>
        <p:spPr>
          <a:xfrm>
            <a:off x="9144000" y="6896100"/>
            <a:ext cx="0" cy="762000"/>
          </a:xfrm>
          <a:prstGeom prst="line">
            <a:avLst/>
          </a:prstGeom>
          <a:ln w="23812">
            <a:solidFill>
              <a:srgbClr val="0F172A"/>
            </a:solidFill>
          </a:ln>
        </p:spPr>
      </p:cxnSp>
      <p:sp>
        <p:nvSpPr>
          <p:cNvPr id="11" name="Rectangle 10"/>
          <p:cNvSpPr/>
          <p:nvPr/>
        </p:nvSpPr>
        <p:spPr>
          <a:xfrm>
            <a:off x="371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1</a:t>
            </a:r>
          </a:p>
        </p:txBody>
      </p:sp>
      <p:sp>
        <p:nvSpPr>
          <p:cNvPr id="12" name="Rectangle 11"/>
          <p:cNvSpPr/>
          <p:nvPr/>
        </p:nvSpPr>
        <p:spPr>
          <a:xfrm>
            <a:off x="752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2</a:t>
            </a:r>
          </a:p>
        </p:txBody>
      </p:sp>
      <p:sp>
        <p:nvSpPr>
          <p:cNvPr id="13" name="Rectangle 12"/>
          <p:cNvSpPr/>
          <p:nvPr/>
        </p:nvSpPr>
        <p:spPr>
          <a:xfrm>
            <a:off x="1133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3</a:t>
            </a:r>
          </a:p>
        </p:txBody>
      </p:sp>
      <p:sp>
        <p:nvSpPr>
          <p:cNvPr id="14" name="Rectangle 13"/>
          <p:cNvSpPr/>
          <p:nvPr/>
        </p:nvSpPr>
        <p:spPr>
          <a:xfrm>
            <a:off x="5715000" y="4533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Conceptual schema</a:t>
            </a:r>
          </a:p>
        </p:txBody>
      </p:sp>
      <p:sp>
        <p:nvSpPr>
          <p:cNvPr id="15" name="Rectangle 14"/>
          <p:cNvSpPr/>
          <p:nvPr/>
        </p:nvSpPr>
        <p:spPr>
          <a:xfrm>
            <a:off x="5715000" y="6057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Internal (physical) schema</a:t>
            </a:r>
          </a:p>
        </p:txBody>
      </p:sp>
      <p:sp>
        <p:nvSpPr>
          <p:cNvPr id="16" name="Rectangle 15"/>
          <p:cNvSpPr/>
          <p:nvPr/>
        </p:nvSpPr>
        <p:spPr>
          <a:xfrm>
            <a:off x="5715000" y="7658100"/>
            <a:ext cx="6858000" cy="6858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Stored database on disk</a:t>
            </a:r>
          </a:p>
        </p:txBody>
      </p:sp>
      <p:sp>
        <p:nvSpPr>
          <p:cNvPr id="17" name="TextBox 16"/>
          <p:cNvSpPr txBox="1"/>
          <p:nvPr/>
        </p:nvSpPr>
        <p:spPr>
          <a:xfrm>
            <a:off x="1219200" y="297180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External level</a:t>
            </a:r>
          </a:p>
        </p:txBody>
      </p:sp>
      <p:sp>
        <p:nvSpPr>
          <p:cNvPr id="18" name="TextBox 17"/>
          <p:cNvSpPr txBox="1"/>
          <p:nvPr/>
        </p:nvSpPr>
        <p:spPr>
          <a:xfrm>
            <a:off x="1219200" y="4781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Conceptual level</a:t>
            </a:r>
          </a:p>
        </p:txBody>
      </p:sp>
      <p:sp>
        <p:nvSpPr>
          <p:cNvPr id="19" name="TextBox 18"/>
          <p:cNvSpPr txBox="1"/>
          <p:nvPr/>
        </p:nvSpPr>
        <p:spPr>
          <a:xfrm>
            <a:off x="1219200" y="6305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Internal level</a:t>
            </a:r>
          </a:p>
        </p:txBody>
      </p:sp>
      <p:sp>
        <p:nvSpPr>
          <p:cNvPr id="20" name="TextBox 19"/>
          <p:cNvSpPr txBox="1"/>
          <p:nvPr/>
        </p:nvSpPr>
        <p:spPr>
          <a:xfrm>
            <a:off x="12763500" y="39624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external / conceptual mapping</a:t>
            </a:r>
          </a:p>
        </p:txBody>
      </p:sp>
      <p:sp>
        <p:nvSpPr>
          <p:cNvPr id="21" name="TextBox 20"/>
          <p:cNvSpPr txBox="1"/>
          <p:nvPr/>
        </p:nvSpPr>
        <p:spPr>
          <a:xfrm>
            <a:off x="12763500" y="55626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conceptual / internal mapping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each level describes</a:t>
            </a:r>
          </a:p>
        </p:txBody>
      </p:sp>
      <p:graphicFrame>
        <p:nvGraphicFramePr>
          <p:cNvPr id="6" name="Table 5"/>
          <p:cNvGraphicFramePr>
            <a:graphicFrameLocks noGrp="1"/>
          </p:cNvGraphicFramePr>
          <p:nvPr/>
        </p:nvGraphicFramePr>
        <p:xfrm>
          <a:off x="914400" y="2482024"/>
          <a:ext cx="16459200" cy="3964098"/>
        </p:xfrm>
        <a:graphic>
          <a:graphicData uri="http://schemas.openxmlformats.org/drawingml/2006/table">
            <a:tbl>
              <a:tblPr firstRow="0" bandRow="0">
                <a:tableStyleId>{5940675A-B579-460E-94D1-54222C63F5DA}</a:tableStyleId>
              </a:tblPr>
              <a:tblGrid>
                <a:gridCol w="3950208"/>
                <a:gridCol w="4937760"/>
                <a:gridCol w="7571232"/>
              </a:tblGrid>
              <a:tr h="676713">
                <a:tc>
                  <a:txBody>
                    <a:bodyPr/>
                    <a:lstStyle/>
                    <a:p>
                      <a:r>
                        <a:rPr sz="2704" b="1" i="0" u="none">
                          <a:solidFill>
                            <a:srgbClr val="FFFFFF"/>
                          </a:solidFill>
                          <a:latin typeface="Arial"/>
                        </a:rPr>
                        <a:t>Level</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Answers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in the COMPANY database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External (user view)</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does </a:t>
                      </a:r>
                      <a:r>
                        <a:rPr sz="2704" b="0" i="1" u="none">
                          <a:solidFill>
                            <a:srgbClr val="334155"/>
                          </a:solidFill>
                          <a:latin typeface="Calibri"/>
                        </a:rPr>
                        <a:t>this</a:t>
                      </a:r>
                      <a:r>
                        <a:rPr sz="2704" b="0" i="0" u="none">
                          <a:solidFill>
                            <a:srgbClr val="334155"/>
                          </a:solidFill>
                          <a:latin typeface="Calibri"/>
                        </a:rPr>
                        <a:t> user see?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HR sees name + salary; a project manager sees name + project + hours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Conceptual (logical)</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data exists and how is it related?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Tables EMPLOYEE, DEPARTMENT, PROJECT with keys and constraints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Internal (physical)</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How is it stored and accessed?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Data files, pages, a B-tree index on SSN, compression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899515"/>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899515"/>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7166215"/>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Mappings</a:t>
            </a:r>
            <a:r>
              <a:rPr sz="2704" b="0" i="0" u="none">
                <a:solidFill>
                  <a:srgbClr val="0F172A"/>
                </a:solidFill>
                <a:latin typeface="Calibri"/>
              </a:rPr>
              <a:t> translate a request from one level to the next (e.g. a view query → a query on base tables → page reads). They cost time, which is why some systems collapse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independence</a:t>
            </a:r>
          </a:p>
        </p:txBody>
      </p:sp>
      <p:cxnSp>
        <p:nvCxnSpPr>
          <p:cNvPr id="6" name="Connector 5"/>
          <p:cNvCxnSpPr/>
          <p:nvPr/>
        </p:nvCxnSpPr>
        <p:spPr>
          <a:xfrm>
            <a:off x="6286500" y="4410075"/>
            <a:ext cx="0" cy="895350"/>
          </a:xfrm>
          <a:prstGeom prst="line">
            <a:avLst/>
          </a:prstGeom>
          <a:ln w="23812">
            <a:solidFill>
              <a:srgbClr val="0F172A"/>
            </a:solidFill>
          </a:ln>
        </p:spPr>
      </p:cxnSp>
      <p:cxnSp>
        <p:nvCxnSpPr>
          <p:cNvPr id="7" name="Connector 6"/>
          <p:cNvCxnSpPr/>
          <p:nvPr/>
        </p:nvCxnSpPr>
        <p:spPr>
          <a:xfrm>
            <a:off x="6286500" y="6124575"/>
            <a:ext cx="0" cy="895350"/>
          </a:xfrm>
          <a:prstGeom prst="line">
            <a:avLst/>
          </a:prstGeom>
          <a:ln w="23812">
            <a:solidFill>
              <a:srgbClr val="0F172A"/>
            </a:solidFill>
          </a:ln>
        </p:spPr>
      </p:cxnSp>
      <p:sp>
        <p:nvSpPr>
          <p:cNvPr id="8" name="Rectangle 7"/>
          <p:cNvSpPr/>
          <p:nvPr/>
        </p:nvSpPr>
        <p:spPr>
          <a:xfrm>
            <a:off x="4000500" y="3590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schemas (views)</a:t>
            </a:r>
          </a:p>
        </p:txBody>
      </p:sp>
      <p:sp>
        <p:nvSpPr>
          <p:cNvPr id="9" name="Rectangle 8"/>
          <p:cNvSpPr/>
          <p:nvPr/>
        </p:nvSpPr>
        <p:spPr>
          <a:xfrm>
            <a:off x="4000500" y="53054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Conceptual schema</a:t>
            </a:r>
          </a:p>
        </p:txBody>
      </p:sp>
      <p:sp>
        <p:nvSpPr>
          <p:cNvPr id="10" name="Rectangle 9"/>
          <p:cNvSpPr/>
          <p:nvPr/>
        </p:nvSpPr>
        <p:spPr>
          <a:xfrm>
            <a:off x="4000500" y="7019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Internal schema</a:t>
            </a:r>
          </a:p>
        </p:txBody>
      </p:sp>
      <p:sp>
        <p:nvSpPr>
          <p:cNvPr id="11" name="TextBox 10"/>
          <p:cNvSpPr txBox="1"/>
          <p:nvPr/>
        </p:nvSpPr>
        <p:spPr>
          <a:xfrm>
            <a:off x="1219200" y="2762250"/>
            <a:ext cx="15849600" cy="381190"/>
          </a:xfrm>
          <a:prstGeom prst="rect">
            <a:avLst/>
          </a:prstGeom>
          <a:noFill/>
        </p:spPr>
        <p:txBody>
          <a:bodyPr wrap="square" lIns="0" rIns="0" tIns="0" bIns="0" anchor="t"/>
          <a:lstStyle/>
          <a:p>
            <a:pPr algn="l">
              <a:lnSpc>
                <a:spcPct val="111800"/>
              </a:lnSpc>
            </a:pPr>
            <a:r>
              <a:rPr sz="2070" b="0" i="0" u="none">
                <a:solidFill>
                  <a:srgbClr val="0F172A"/>
                </a:solidFill>
                <a:latin typeface="Calibri"/>
              </a:rPr>
              <a:t>The capacity to change the schema at one level </a:t>
            </a:r>
            <a:r>
              <a:rPr sz="2070" b="1" i="0" u="none">
                <a:solidFill>
                  <a:srgbClr val="0F172A"/>
                </a:solidFill>
                <a:latin typeface="Calibri"/>
              </a:rPr>
              <a:t>without changing the level above it</a:t>
            </a:r>
            <a:r>
              <a:rPr sz="2070" b="0" i="0" u="none">
                <a:solidFill>
                  <a:srgbClr val="0F172A"/>
                </a:solidFill>
                <a:latin typeface="Calibri"/>
              </a:rPr>
              <a:t>.</a:t>
            </a:r>
          </a:p>
        </p:txBody>
      </p:sp>
      <p:cxnSp>
        <p:nvCxnSpPr>
          <p:cNvPr id="12" name="Connector 11"/>
          <p:cNvCxnSpPr/>
          <p:nvPr/>
        </p:nvCxnSpPr>
        <p:spPr>
          <a:xfrm>
            <a:off x="3810000" y="4048125"/>
            <a:ext cx="0" cy="1619250"/>
          </a:xfrm>
          <a:prstGeom prst="line">
            <a:avLst/>
          </a:prstGeom>
          <a:ln w="38100">
            <a:solidFill>
              <a:srgbClr val="0E8A8A"/>
            </a:solidFill>
            <a:tailEnd type="triangle"/>
            <a:headEnd type="triangle"/>
          </a:ln>
        </p:spPr>
      </p:cxnSp>
      <p:sp>
        <p:nvSpPr>
          <p:cNvPr id="13" name="TextBox 12"/>
          <p:cNvSpPr txBox="1"/>
          <p:nvPr/>
        </p:nvSpPr>
        <p:spPr>
          <a:xfrm>
            <a:off x="1219200" y="4476750"/>
            <a:ext cx="2476500" cy="330365"/>
          </a:xfrm>
          <a:prstGeom prst="rect">
            <a:avLst/>
          </a:prstGeom>
          <a:noFill/>
        </p:spPr>
        <p:txBody>
          <a:bodyPr wrap="square" lIns="0" rIns="0" tIns="0" bIns="0" anchor="t"/>
          <a:lstStyle/>
          <a:p>
            <a:pPr algn="r">
              <a:lnSpc>
                <a:spcPct val="111800"/>
              </a:lnSpc>
            </a:pPr>
            <a:r>
              <a:rPr sz="1794" b="1" i="0" u="none">
                <a:solidFill>
                  <a:srgbClr val="0E8A8A"/>
                </a:solidFill>
                <a:latin typeface="Calibri"/>
              </a:rPr>
              <a:t>Logical independence</a:t>
            </a:r>
          </a:p>
        </p:txBody>
      </p:sp>
      <p:cxnSp>
        <p:nvCxnSpPr>
          <p:cNvPr id="14" name="Connector 13"/>
          <p:cNvCxnSpPr/>
          <p:nvPr/>
        </p:nvCxnSpPr>
        <p:spPr>
          <a:xfrm>
            <a:off x="3810000" y="5762625"/>
            <a:ext cx="0" cy="1619250"/>
          </a:xfrm>
          <a:prstGeom prst="line">
            <a:avLst/>
          </a:prstGeom>
          <a:ln w="38100">
            <a:solidFill>
              <a:srgbClr val="C8102E"/>
            </a:solidFill>
            <a:tailEnd type="triangle"/>
            <a:headEnd type="triangle"/>
          </a:ln>
        </p:spPr>
      </p:cxnSp>
      <p:sp>
        <p:nvSpPr>
          <p:cNvPr id="15" name="TextBox 14"/>
          <p:cNvSpPr txBox="1"/>
          <p:nvPr/>
        </p:nvSpPr>
        <p:spPr>
          <a:xfrm>
            <a:off x="1219200" y="6191250"/>
            <a:ext cx="2476500" cy="330365"/>
          </a:xfrm>
          <a:prstGeom prst="rect">
            <a:avLst/>
          </a:prstGeom>
          <a:noFill/>
        </p:spPr>
        <p:txBody>
          <a:bodyPr wrap="square" lIns="0" rIns="0" tIns="0" bIns="0" anchor="t"/>
          <a:lstStyle/>
          <a:p>
            <a:pPr algn="r">
              <a:lnSpc>
                <a:spcPct val="111800"/>
              </a:lnSpc>
            </a:pPr>
            <a:r>
              <a:rPr sz="1794" b="1" i="0" u="none">
                <a:solidFill>
                  <a:srgbClr val="C8102E"/>
                </a:solidFill>
                <a:latin typeface="Calibri"/>
              </a:rPr>
              <a:t>Physical independence</a:t>
            </a:r>
          </a:p>
        </p:txBody>
      </p:sp>
      <p:sp>
        <p:nvSpPr>
          <p:cNvPr id="16" name="Rectangle 15"/>
          <p:cNvSpPr/>
          <p:nvPr/>
        </p:nvSpPr>
        <p:spPr>
          <a:xfrm>
            <a:off x="9525000" y="3619500"/>
            <a:ext cx="7543800" cy="2488730"/>
          </a:xfrm>
          <a:prstGeom prst="rect">
            <a:avLst/>
          </a:prstGeom>
          <a:solidFill>
            <a:srgbClr val="E6F4F4"/>
          </a:solidFill>
          <a:ln w="14287">
            <a:solidFill>
              <a:srgbClr val="B7DCDC"/>
            </a:solidFill>
          </a:ln>
        </p:spPr>
        <p:txBody>
          <a:bodyPr rtlCol="0" anchor="ctr" lIns="0" rIns="0" tIns="0" bIns="0"/>
          <a:lstStyle/>
          <a:p>
            <a:pPr algn="ctr"/>
          </a:p>
        </p:txBody>
      </p:sp>
      <p:sp>
        <p:nvSpPr>
          <p:cNvPr id="17" name="TextBox 16"/>
          <p:cNvSpPr txBox="1"/>
          <p:nvPr/>
        </p:nvSpPr>
        <p:spPr>
          <a:xfrm>
            <a:off x="9810750" y="3905250"/>
            <a:ext cx="6972300" cy="378561"/>
          </a:xfrm>
          <a:prstGeom prst="rect">
            <a:avLst/>
          </a:prstGeom>
          <a:noFill/>
        </p:spPr>
        <p:txBody>
          <a:bodyPr wrap="square" lIns="0" rIns="0" tIns="0" bIns="0" anchor="t"/>
          <a:lstStyle/>
          <a:p>
            <a:pPr algn="l">
              <a:lnSpc>
                <a:spcPct val="103200"/>
              </a:lnSpc>
            </a:pPr>
            <a:r>
              <a:rPr sz="2208" b="1" i="0" u="none">
                <a:solidFill>
                  <a:srgbClr val="0E8A8A"/>
                </a:solidFill>
                <a:latin typeface="Arial"/>
              </a:rPr>
              <a:t>Logical data independence</a:t>
            </a:r>
          </a:p>
        </p:txBody>
      </p:sp>
      <p:sp>
        <p:nvSpPr>
          <p:cNvPr id="18" name="TextBox 17"/>
          <p:cNvSpPr txBox="1"/>
          <p:nvPr/>
        </p:nvSpPr>
        <p:spPr>
          <a:xfrm>
            <a:off x="9810750" y="439811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conceptual</a:t>
            </a:r>
            <a:r>
              <a:rPr sz="1794" b="0" i="0" u="none">
                <a:solidFill>
                  <a:srgbClr val="334155"/>
                </a:solidFill>
                <a:latin typeface="Calibri"/>
              </a:rPr>
              <a:t> schema; external schemas and programs keep working.</a:t>
            </a:r>
          </a:p>
        </p:txBody>
      </p:sp>
      <p:sp>
        <p:nvSpPr>
          <p:cNvPr id="19" name="TextBox 18"/>
          <p:cNvSpPr txBox="1"/>
          <p:nvPr/>
        </p:nvSpPr>
        <p:spPr>
          <a:xfrm>
            <a:off x="9810750" y="513896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 column </a:t>
            </a:r>
            <a:r>
              <a:rPr sz="1794" b="0" i="0" u="none">
                <a:solidFill>
                  <a:srgbClr val="0F172A"/>
                </a:solidFill>
                <a:latin typeface="Courier New"/>
              </a:rPr>
              <a:t>Email</a:t>
            </a:r>
            <a:r>
              <a:rPr sz="1794" b="0" i="0" u="none">
                <a:solidFill>
                  <a:srgbClr val="334155"/>
                </a:solidFill>
                <a:latin typeface="Calibri"/>
              </a:rPr>
              <a:t> to EMPLOYEE</a:t>
            </a:r>
          </a:p>
          <a:p>
            <a:pPr algn="l" marL="250621" indent="-250621">
              <a:lnSpc>
                <a:spcPct val="111800"/>
              </a:lnSpc>
              <a:spcBef>
                <a:spcPts val="448"/>
              </a:spcBef>
              <a:buChar char="•"/>
            </a:pPr>
            <a:r>
              <a:rPr sz="1794" b="0" i="0" u="none">
                <a:solidFill>
                  <a:srgbClr val="334155"/>
                </a:solidFill>
                <a:latin typeface="Calibri"/>
              </a:rPr>
              <a:t>Split a table; old views still work</a:t>
            </a:r>
          </a:p>
        </p:txBody>
      </p:sp>
      <p:sp>
        <p:nvSpPr>
          <p:cNvPr id="20" name="Rectangle 19"/>
          <p:cNvSpPr/>
          <p:nvPr/>
        </p:nvSpPr>
        <p:spPr>
          <a:xfrm>
            <a:off x="9525000" y="6298730"/>
            <a:ext cx="7543800" cy="2488730"/>
          </a:xfrm>
          <a:prstGeom prst="rect">
            <a:avLst/>
          </a:prstGeom>
          <a:solidFill>
            <a:srgbClr val="FDECEF"/>
          </a:solidFill>
          <a:ln w="14287">
            <a:solidFill>
              <a:srgbClr val="F5C2CB"/>
            </a:solidFill>
          </a:ln>
        </p:spPr>
        <p:txBody>
          <a:bodyPr rtlCol="0" anchor="ctr" lIns="0" rIns="0" tIns="0" bIns="0"/>
          <a:lstStyle/>
          <a:p>
            <a:pPr algn="ctr"/>
          </a:p>
        </p:txBody>
      </p:sp>
      <p:sp>
        <p:nvSpPr>
          <p:cNvPr id="21" name="TextBox 20"/>
          <p:cNvSpPr txBox="1"/>
          <p:nvPr/>
        </p:nvSpPr>
        <p:spPr>
          <a:xfrm>
            <a:off x="9810750" y="6584480"/>
            <a:ext cx="6972300" cy="378561"/>
          </a:xfrm>
          <a:prstGeom prst="rect">
            <a:avLst/>
          </a:prstGeom>
          <a:noFill/>
        </p:spPr>
        <p:txBody>
          <a:bodyPr wrap="square" lIns="0" rIns="0" tIns="0" bIns="0" anchor="t"/>
          <a:lstStyle/>
          <a:p>
            <a:pPr algn="l">
              <a:lnSpc>
                <a:spcPct val="103200"/>
              </a:lnSpc>
            </a:pPr>
            <a:r>
              <a:rPr sz="2208" b="1" i="0" u="none">
                <a:solidFill>
                  <a:srgbClr val="C8102E"/>
                </a:solidFill>
                <a:latin typeface="Arial"/>
              </a:rPr>
              <a:t>Physical data independence</a:t>
            </a:r>
          </a:p>
        </p:txBody>
      </p:sp>
      <p:sp>
        <p:nvSpPr>
          <p:cNvPr id="22" name="TextBox 21"/>
          <p:cNvSpPr txBox="1"/>
          <p:nvPr/>
        </p:nvSpPr>
        <p:spPr>
          <a:xfrm>
            <a:off x="9810750" y="707734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internal</a:t>
            </a:r>
            <a:r>
              <a:rPr sz="1794" b="0" i="0" u="none">
                <a:solidFill>
                  <a:srgbClr val="334155"/>
                </a:solidFill>
                <a:latin typeface="Calibri"/>
              </a:rPr>
              <a:t> schema; the conceptual schema stays the same.</a:t>
            </a:r>
          </a:p>
        </p:txBody>
      </p:sp>
      <p:sp>
        <p:nvSpPr>
          <p:cNvPr id="23" name="TextBox 22"/>
          <p:cNvSpPr txBox="1"/>
          <p:nvPr/>
        </p:nvSpPr>
        <p:spPr>
          <a:xfrm>
            <a:off x="9810750" y="781819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an index on </a:t>
            </a:r>
            <a:r>
              <a:rPr sz="1794" b="0" i="0" u="none">
                <a:solidFill>
                  <a:srgbClr val="0F172A"/>
                </a:solidFill>
                <a:latin typeface="Courier New"/>
              </a:rPr>
              <a:t>Salary</a:t>
            </a:r>
          </a:p>
          <a:p>
            <a:pPr algn="l" marL="250621" indent="-250621">
              <a:lnSpc>
                <a:spcPct val="111800"/>
              </a:lnSpc>
              <a:spcBef>
                <a:spcPts val="448"/>
              </a:spcBef>
              <a:buChar char="•"/>
            </a:pPr>
            <a:r>
              <a:rPr sz="1794" b="0" i="0" u="none">
                <a:solidFill>
                  <a:srgbClr val="334155"/>
                </a:solidFill>
                <a:latin typeface="Calibri"/>
              </a:rPr>
              <a:t>Move data files to a faster disk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Three kinds of data models</a:t>
            </a:r>
          </a:p>
        </p:txBody>
      </p:sp>
      <p:sp>
        <p:nvSpPr>
          <p:cNvPr id="6" name="Rectangle 5"/>
          <p:cNvSpPr/>
          <p:nvPr/>
        </p:nvSpPr>
        <p:spPr>
          <a:xfrm>
            <a:off x="914400"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2</a:t>
            </a:r>
          </a:p>
        </p:txBody>
      </p:sp>
      <p:sp>
        <p:nvSpPr>
          <p:cNvPr id="8" name="TextBox 7"/>
          <p:cNvSpPr txBox="1"/>
          <p:nvPr/>
        </p:nvSpPr>
        <p:spPr>
          <a:xfrm>
            <a:off x="1285875"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Conceptual (high level)</a:t>
            </a:r>
          </a:p>
        </p:txBody>
      </p:sp>
      <p:sp>
        <p:nvSpPr>
          <p:cNvPr id="9" name="TextBox 8"/>
          <p:cNvSpPr txBox="1"/>
          <p:nvPr/>
        </p:nvSpPr>
        <p:spPr>
          <a:xfrm>
            <a:off x="1285875"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Close to how users think: </a:t>
            </a:r>
            <a:r>
              <a:rPr sz="2511" b="1" i="0" u="none">
                <a:solidFill>
                  <a:srgbClr val="334155"/>
                </a:solidFill>
                <a:latin typeface="Calibri"/>
              </a:rPr>
              <a:t>entities, attributes, relationships</a:t>
            </a:r>
            <a:r>
              <a:rPr sz="2511" b="0" i="0" u="none">
                <a:solidFill>
                  <a:srgbClr val="334155"/>
                </a:solidFill>
                <a:latin typeface="Calibri"/>
              </a:rPr>
              <a:t>.</a:t>
            </a:r>
          </a:p>
        </p:txBody>
      </p:sp>
      <p:sp>
        <p:nvSpPr>
          <p:cNvPr id="10" name="TextBox 9"/>
          <p:cNvSpPr txBox="1"/>
          <p:nvPr/>
        </p:nvSpPr>
        <p:spPr>
          <a:xfrm>
            <a:off x="1285875" y="5975226"/>
            <a:ext cx="4072889" cy="46251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an ERD</a:t>
            </a:r>
          </a:p>
        </p:txBody>
      </p:sp>
      <p:sp>
        <p:nvSpPr>
          <p:cNvPr id="11" name="Right Arrow 10"/>
          <p:cNvSpPr/>
          <p:nvPr/>
        </p:nvSpPr>
        <p:spPr>
          <a:xfrm>
            <a:off x="6004560" y="4909655"/>
            <a:ext cx="457200" cy="381000"/>
          </a:xfrm>
          <a:prstGeom prst="rightArrow">
            <a:avLst/>
          </a:prstGeom>
          <a:solidFill>
            <a:srgbClr val="E2E8F0"/>
          </a:solidFill>
          <a:ln>
            <a:noFill/>
          </a:ln>
        </p:spPr>
        <p:txBody>
          <a:bodyPr rtlCol="0" anchor="ctr" lIns="0" rIns="0" tIns="0" bIns="0"/>
          <a:lstStyle/>
          <a:p>
            <a:pPr algn="ctr"/>
          </a:p>
        </p:txBody>
      </p:sp>
      <p:sp>
        <p:nvSpPr>
          <p:cNvPr id="12" name="Rectangle 11"/>
          <p:cNvSpPr/>
          <p:nvPr/>
        </p:nvSpPr>
        <p:spPr>
          <a:xfrm>
            <a:off x="673607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710755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3</a:t>
            </a:r>
          </a:p>
        </p:txBody>
      </p:sp>
      <p:sp>
        <p:nvSpPr>
          <p:cNvPr id="14" name="TextBox 13"/>
          <p:cNvSpPr txBox="1"/>
          <p:nvPr/>
        </p:nvSpPr>
        <p:spPr>
          <a:xfrm>
            <a:off x="7107554"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Logical (representational)</a:t>
            </a:r>
          </a:p>
        </p:txBody>
      </p:sp>
      <p:sp>
        <p:nvSpPr>
          <p:cNvPr id="15" name="TextBox 14"/>
          <p:cNvSpPr txBox="1"/>
          <p:nvPr/>
        </p:nvSpPr>
        <p:spPr>
          <a:xfrm>
            <a:off x="7107554"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organized for a DBMS, independent of storage.</a:t>
            </a:r>
          </a:p>
        </p:txBody>
      </p:sp>
      <p:sp>
        <p:nvSpPr>
          <p:cNvPr id="16" name="TextBox 15"/>
          <p:cNvSpPr txBox="1"/>
          <p:nvPr/>
        </p:nvSpPr>
        <p:spPr>
          <a:xfrm>
            <a:off x="7107554" y="5975226"/>
            <a:ext cx="4072889" cy="1371584"/>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the relational model (tables)</a:t>
            </a:r>
          </a:p>
          <a:p>
            <a:pPr algn="l" marL="350870" indent="-350870">
              <a:lnSpc>
                <a:spcPct val="111800"/>
              </a:lnSpc>
              <a:spcBef>
                <a:spcPts val="627"/>
              </a:spcBef>
              <a:buChar char="•"/>
            </a:pPr>
            <a:r>
              <a:rPr sz="2511" b="0" i="0" u="none">
                <a:solidFill>
                  <a:srgbClr val="334155"/>
                </a:solidFill>
                <a:latin typeface="Calibri"/>
              </a:rPr>
              <a:t>Others: document, graph</a:t>
            </a:r>
          </a:p>
        </p:txBody>
      </p:sp>
      <p:sp>
        <p:nvSpPr>
          <p:cNvPr id="17" name="Right Arrow 16"/>
          <p:cNvSpPr/>
          <p:nvPr/>
        </p:nvSpPr>
        <p:spPr>
          <a:xfrm>
            <a:off x="11826240" y="4909655"/>
            <a:ext cx="457200" cy="381000"/>
          </a:xfrm>
          <a:prstGeom prst="rightArrow">
            <a:avLst/>
          </a:prstGeom>
          <a:solidFill>
            <a:srgbClr val="E2E8F0"/>
          </a:solidFill>
          <a:ln>
            <a:noFill/>
          </a:ln>
        </p:spPr>
        <p:txBody>
          <a:bodyPr rtlCol="0" anchor="ctr" lIns="0" rIns="0" tIns="0" bIns="0"/>
          <a:lstStyle/>
          <a:p>
            <a:pPr algn="ctr"/>
          </a:p>
        </p:txBody>
      </p:sp>
      <p:sp>
        <p:nvSpPr>
          <p:cNvPr id="18" name="Rectangle 17"/>
          <p:cNvSpPr/>
          <p:nvPr/>
        </p:nvSpPr>
        <p:spPr>
          <a:xfrm>
            <a:off x="1255775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292923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4</a:t>
            </a:r>
          </a:p>
        </p:txBody>
      </p:sp>
      <p:sp>
        <p:nvSpPr>
          <p:cNvPr id="20" name="TextBox 19"/>
          <p:cNvSpPr txBox="1"/>
          <p:nvPr/>
        </p:nvSpPr>
        <p:spPr>
          <a:xfrm>
            <a:off x="12929234" y="3398527"/>
            <a:ext cx="407288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Physical (low level)</a:t>
            </a:r>
          </a:p>
        </p:txBody>
      </p:sp>
      <p:sp>
        <p:nvSpPr>
          <p:cNvPr id="21" name="TextBox 20"/>
          <p:cNvSpPr txBox="1"/>
          <p:nvPr/>
        </p:nvSpPr>
        <p:spPr>
          <a:xfrm>
            <a:off x="12929234" y="407000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stored on disk and the </a:t>
            </a:r>
            <a:r>
              <a:rPr sz="2511" b="1" i="0" u="none">
                <a:solidFill>
                  <a:srgbClr val="334155"/>
                </a:solidFill>
                <a:latin typeface="Calibri"/>
              </a:rPr>
              <a:t>access paths</a:t>
            </a:r>
            <a:r>
              <a:rPr sz="2511" b="0" i="0" u="none">
                <a:solidFill>
                  <a:srgbClr val="334155"/>
                </a:solidFill>
                <a:latin typeface="Calibri"/>
              </a:rPr>
              <a:t> to find it.</a:t>
            </a:r>
          </a:p>
        </p:txBody>
      </p:sp>
      <p:sp>
        <p:nvSpPr>
          <p:cNvPr id="22" name="TextBox 21"/>
          <p:cNvSpPr txBox="1"/>
          <p:nvPr/>
        </p:nvSpPr>
        <p:spPr>
          <a:xfrm>
            <a:off x="12929234" y="5510437"/>
            <a:ext cx="407288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files, pages, indexes</a:t>
            </a:r>
          </a:p>
        </p:txBody>
      </p:sp>
      <p:sp>
        <p:nvSpPr>
          <p:cNvPr id="23" name="Rectangle 22"/>
          <p:cNvSpPr/>
          <p:nvPr/>
        </p:nvSpPr>
        <p:spPr>
          <a:xfrm>
            <a:off x="914400" y="8139291"/>
            <a:ext cx="16459200" cy="1372476"/>
          </a:xfrm>
          <a:prstGeom prst="rect">
            <a:avLst/>
          </a:prstGeom>
          <a:solidFill>
            <a:srgbClr val="E6F4F4"/>
          </a:solidFill>
          <a:ln>
            <a:noFill/>
          </a:ln>
        </p:spPr>
        <p:txBody>
          <a:bodyPr rtlCol="0" anchor="ctr" lIns="0" rIns="0" tIns="0" bIns="0"/>
          <a:lstStyle/>
          <a:p>
            <a:pPr algn="ctr"/>
          </a:p>
        </p:txBody>
      </p:sp>
      <p:sp>
        <p:nvSpPr>
          <p:cNvPr id="24" name="Rectangle 23"/>
          <p:cNvSpPr/>
          <p:nvPr/>
        </p:nvSpPr>
        <p:spPr>
          <a:xfrm>
            <a:off x="914400" y="8139291"/>
            <a:ext cx="47625" cy="1372476"/>
          </a:xfrm>
          <a:prstGeom prst="rect">
            <a:avLst/>
          </a:prstGeom>
          <a:solidFill>
            <a:srgbClr val="0E8A8A"/>
          </a:solidFill>
          <a:ln>
            <a:noFill/>
          </a:ln>
        </p:spPr>
        <p:txBody>
          <a:bodyPr rtlCol="0" anchor="ctr" lIns="0" rIns="0" tIns="0" bIns="0"/>
          <a:lstStyle/>
          <a:p>
            <a:pPr algn="ctr"/>
          </a:p>
        </p:txBody>
      </p:sp>
      <p:sp>
        <p:nvSpPr>
          <p:cNvPr id="25" name="TextBox 24"/>
          <p:cNvSpPr txBox="1"/>
          <p:nvPr/>
        </p:nvSpPr>
        <p:spPr>
          <a:xfrm>
            <a:off x="1310640" y="8386941"/>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A </a:t>
            </a:r>
            <a:r>
              <a:rPr sz="2511" b="1" i="0" u="none">
                <a:solidFill>
                  <a:srgbClr val="0F172A"/>
                </a:solidFill>
                <a:latin typeface="Calibri"/>
              </a:rPr>
              <a:t>data model</a:t>
            </a:r>
            <a:r>
              <a:rPr sz="2511" b="0" i="0" u="none">
                <a:solidFill>
                  <a:srgbClr val="0F172A"/>
                </a:solidFill>
                <a:latin typeface="Calibri"/>
              </a:rPr>
              <a:t> is a set of concepts used to describe the structure of a database, the relationships in it and the constraints on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first look at the relational model</a:t>
            </a:r>
          </a:p>
        </p:txBody>
      </p:sp>
      <p:graphicFrame>
        <p:nvGraphicFramePr>
          <p:cNvPr id="6" name="Table 5"/>
          <p:cNvGraphicFramePr>
            <a:graphicFrameLocks noGrp="1"/>
          </p:cNvGraphicFramePr>
          <p:nvPr/>
        </p:nvGraphicFramePr>
        <p:xfrm>
          <a:off x="914400" y="2482024"/>
          <a:ext cx="9555478" cy="2706852"/>
        </p:xfrm>
        <a:graphic>
          <a:graphicData uri="http://schemas.openxmlformats.org/drawingml/2006/table">
            <a:tbl>
              <a:tblPr firstRow="0" bandRow="0">
                <a:tableStyleId>{5940675A-B579-460E-94D1-54222C63F5DA}</a:tableStyleId>
              </a:tblPr>
              <a:tblGrid>
                <a:gridCol w="2866644"/>
                <a:gridCol w="2484424"/>
                <a:gridCol w="2102205"/>
                <a:gridCol w="2102205"/>
              </a:tblGrid>
              <a:tr h="676713">
                <a:tc>
                  <a:txBody>
                    <a:bodyPr/>
                    <a:lstStyle/>
                    <a:p>
                      <a:r>
                        <a:rPr sz="2704" b="1" i="0" u="none">
                          <a:solidFill>
                            <a:srgbClr val="FFFFFF"/>
                          </a:solidFill>
                          <a:latin typeface="Arial"/>
                        </a:rPr>
                        <a:t>SSN</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Fname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Salary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Dno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123456789</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John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30000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333445555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Franklin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40000</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999887777</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Alicia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25000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5402240"/>
            <a:ext cx="9555480" cy="462511"/>
          </a:xfrm>
          <a:prstGeom prst="rect">
            <a:avLst/>
          </a:prstGeom>
          <a:noFill/>
        </p:spPr>
        <p:txBody>
          <a:bodyPr wrap="square" lIns="0" rIns="0" tIns="0" bIns="0" anchor="t"/>
          <a:lstStyle/>
          <a:p>
            <a:pPr algn="l">
              <a:lnSpc>
                <a:spcPct val="111800"/>
              </a:lnSpc>
            </a:pPr>
            <a:r>
              <a:rPr sz="2511" b="0" i="0" u="none">
                <a:solidFill>
                  <a:srgbClr val="64748B"/>
                </a:solidFill>
                <a:latin typeface="Calibri"/>
              </a:rPr>
              <a:t>Table </a:t>
            </a:r>
            <a:r>
              <a:rPr sz="2511" b="1" i="0" u="none">
                <a:solidFill>
                  <a:srgbClr val="64748B"/>
                </a:solidFill>
                <a:latin typeface="Calibri"/>
              </a:rPr>
              <a:t>EMPLOYEE</a:t>
            </a:r>
          </a:p>
        </p:txBody>
      </p:sp>
      <p:sp>
        <p:nvSpPr>
          <p:cNvPr id="8" name="Rectangle 7"/>
          <p:cNvSpPr/>
          <p:nvPr/>
        </p:nvSpPr>
        <p:spPr>
          <a:xfrm>
            <a:off x="11003280" y="2482024"/>
            <a:ext cx="6370320" cy="45639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403330" y="2882074"/>
            <a:ext cx="5570220" cy="3763883"/>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Relation</a:t>
            </a:r>
            <a:r>
              <a:rPr sz="2511" b="0" i="0" u="none">
                <a:solidFill>
                  <a:srgbClr val="334155"/>
                </a:solidFill>
                <a:latin typeface="Calibri"/>
              </a:rPr>
              <a:t> = table</a:t>
            </a:r>
          </a:p>
          <a:p>
            <a:pPr algn="l" marL="350870" indent="-350870">
              <a:lnSpc>
                <a:spcPct val="111800"/>
              </a:lnSpc>
              <a:spcBef>
                <a:spcPts val="627"/>
              </a:spcBef>
              <a:buChar char="•"/>
            </a:pPr>
            <a:r>
              <a:rPr sz="2511" b="1" i="0" u="none">
                <a:solidFill>
                  <a:srgbClr val="334155"/>
                </a:solidFill>
                <a:latin typeface="Calibri"/>
              </a:rPr>
              <a:t>Tuple</a:t>
            </a:r>
            <a:r>
              <a:rPr sz="2511" b="0" i="0" u="none">
                <a:solidFill>
                  <a:srgbClr val="334155"/>
                </a:solidFill>
                <a:latin typeface="Calibri"/>
              </a:rPr>
              <a:t> = row (one employee)</a:t>
            </a:r>
          </a:p>
          <a:p>
            <a:pPr algn="l" marL="350870" indent="-350870">
              <a:lnSpc>
                <a:spcPct val="111800"/>
              </a:lnSpc>
              <a:spcBef>
                <a:spcPts val="627"/>
              </a:spcBef>
              <a:buChar char="•"/>
            </a:pPr>
            <a:r>
              <a:rPr sz="2511" b="1" i="0" u="none">
                <a:solidFill>
                  <a:srgbClr val="334155"/>
                </a:solidFill>
                <a:latin typeface="Calibri"/>
              </a:rPr>
              <a:t>Attribute</a:t>
            </a:r>
            <a:r>
              <a:rPr sz="2511" b="0" i="0" u="none">
                <a:solidFill>
                  <a:srgbClr val="334155"/>
                </a:solidFill>
                <a:latin typeface="Calibri"/>
              </a:rPr>
              <a:t> = column</a:t>
            </a:r>
          </a:p>
          <a:p>
            <a:pPr algn="l" marL="350870" indent="-350870">
              <a:lnSpc>
                <a:spcPct val="111800"/>
              </a:lnSpc>
              <a:spcBef>
                <a:spcPts val="627"/>
              </a:spcBef>
              <a:buChar char="•"/>
            </a:pPr>
            <a:r>
              <a:rPr sz="2511" b="1" i="0" u="none">
                <a:solidFill>
                  <a:srgbClr val="334155"/>
                </a:solidFill>
                <a:latin typeface="Calibri"/>
              </a:rPr>
              <a:t>Domain</a:t>
            </a:r>
            <a:r>
              <a:rPr sz="2511" b="0" i="0" u="none">
                <a:solidFill>
                  <a:srgbClr val="334155"/>
                </a:solidFill>
                <a:latin typeface="Calibri"/>
              </a:rPr>
              <a:t> = allowed values of a column</a:t>
            </a:r>
          </a:p>
          <a:p>
            <a:pPr algn="l" marL="350870" indent="-350870">
              <a:lnSpc>
                <a:spcPct val="111800"/>
              </a:lnSpc>
              <a:spcBef>
                <a:spcPts val="627"/>
              </a:spcBef>
              <a:buChar char="•"/>
            </a:pPr>
            <a:r>
              <a:rPr sz="2511" b="1" i="0" u="none">
                <a:solidFill>
                  <a:srgbClr val="334155"/>
                </a:solidFill>
                <a:latin typeface="Calibri"/>
              </a:rPr>
              <a:t>Primary key</a:t>
            </a:r>
            <a:r>
              <a:rPr sz="2511" b="0" i="0" u="none">
                <a:solidFill>
                  <a:srgbClr val="334155"/>
                </a:solidFill>
                <a:latin typeface="Calibri"/>
              </a:rPr>
              <a:t> = SSN (unique per row)</a:t>
            </a:r>
          </a:p>
          <a:p>
            <a:pPr algn="l" marL="350870" indent="-350870">
              <a:lnSpc>
                <a:spcPct val="111800"/>
              </a:lnSpc>
              <a:spcBef>
                <a:spcPts val="627"/>
              </a:spcBef>
              <a:buChar char="•"/>
            </a:pPr>
            <a:r>
              <a:rPr sz="2511" b="1" i="0" u="none">
                <a:solidFill>
                  <a:srgbClr val="334155"/>
                </a:solidFill>
                <a:latin typeface="Calibri"/>
              </a:rPr>
              <a:t>Foreign key</a:t>
            </a:r>
            <a:r>
              <a:rPr sz="2511" b="0" i="0" u="none">
                <a:solidFill>
                  <a:srgbClr val="334155"/>
                </a:solidFill>
                <a:latin typeface="Calibri"/>
              </a:rPr>
              <a:t> = Dno → DEPARTMENT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Beyond relational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NoSQL stores, data warehouses, Big Data and where databases run.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Non-relational (NoSQL) databases</a:t>
            </a:r>
          </a:p>
        </p:txBody>
      </p:sp>
      <p:sp>
        <p:nvSpPr>
          <p:cNvPr id="6" name="TextBox 5"/>
          <p:cNvSpPr txBox="1"/>
          <p:nvPr/>
        </p:nvSpPr>
        <p:spPr>
          <a:xfrm>
            <a:off x="914400" y="2482024"/>
            <a:ext cx="6660682"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Usually </a:t>
            </a:r>
            <a:r>
              <a:rPr sz="3091" b="1" i="0" u="none">
                <a:solidFill>
                  <a:srgbClr val="334155"/>
                </a:solidFill>
                <a:latin typeface="Calibri"/>
              </a:rPr>
              <a:t>no fixed schema and no foreign keys</a:t>
            </a:r>
            <a:r>
              <a:rPr sz="3091" b="0" i="0" u="none">
                <a:solidFill>
                  <a:srgbClr val="334155"/>
                </a:solidFill>
                <a:latin typeface="Calibri"/>
              </a:rPr>
              <a:t>. Each store uses a </a:t>
            </a:r>
            <a:r>
              <a:rPr sz="3091" b="1" i="0" u="none">
                <a:solidFill>
                  <a:srgbClr val="334155"/>
                </a:solidFill>
                <a:latin typeface="Calibri"/>
              </a:rPr>
              <a:t>data model optimized for one kind of data</a:t>
            </a:r>
            <a:r>
              <a:rPr sz="3091" b="0" i="0" u="none">
                <a:solidFill>
                  <a:srgbClr val="334155"/>
                </a:solidFill>
                <a:latin typeface="Calibri"/>
              </a:rPr>
              <a:t> and access pattern.</a:t>
            </a:r>
          </a:p>
        </p:txBody>
      </p:sp>
      <p:sp>
        <p:nvSpPr>
          <p:cNvPr id="7" name="TextBox 6"/>
          <p:cNvSpPr txBox="1"/>
          <p:nvPr/>
        </p:nvSpPr>
        <p:spPr>
          <a:xfrm>
            <a:off x="914400" y="4902380"/>
            <a:ext cx="6660682" cy="3202000"/>
          </a:xfrm>
          <a:prstGeom prst="rect">
            <a:avLst/>
          </a:prstGeom>
          <a:noFill/>
        </p:spPr>
        <p:txBody>
          <a:bodyPr wrap="square" lIns="0" rIns="0" tIns="0" bIns="0" anchor="t"/>
          <a:lstStyle/>
          <a:p>
            <a:pPr algn="l" marL="404850" indent="-404850">
              <a:lnSpc>
                <a:spcPct val="111800"/>
              </a:lnSpc>
              <a:buChar char="•"/>
            </a:pPr>
            <a:r>
              <a:rPr sz="2898" b="0" i="0" u="none">
                <a:solidFill>
                  <a:srgbClr val="334155"/>
                </a:solidFill>
                <a:latin typeface="Calibri"/>
              </a:rPr>
              <a:t>NoSQL = </a:t>
            </a:r>
            <a:r>
              <a:rPr sz="2898" b="1" i="0" u="none">
                <a:solidFill>
                  <a:srgbClr val="334155"/>
                </a:solidFill>
                <a:latin typeface="Calibri"/>
              </a:rPr>
              <a:t>Not Only SQL</a:t>
            </a:r>
          </a:p>
          <a:p>
            <a:pPr algn="l" marL="404850" indent="-404850">
              <a:lnSpc>
                <a:spcPct val="111800"/>
              </a:lnSpc>
              <a:spcBef>
                <a:spcPts val="724"/>
              </a:spcBef>
              <a:buChar char="•"/>
            </a:pPr>
            <a:r>
              <a:rPr sz="2898" b="0" i="0" u="none">
                <a:solidFill>
                  <a:srgbClr val="334155"/>
                </a:solidFill>
                <a:latin typeface="Calibri"/>
              </a:rPr>
              <a:t>Usually schema-flexible</a:t>
            </a:r>
          </a:p>
          <a:p>
            <a:pPr algn="l" marL="404850" indent="-404850">
              <a:lnSpc>
                <a:spcPct val="111800"/>
              </a:lnSpc>
              <a:spcBef>
                <a:spcPts val="724"/>
              </a:spcBef>
              <a:buChar char="•"/>
            </a:pPr>
            <a:r>
              <a:rPr sz="2898" b="0" i="0" u="none">
                <a:solidFill>
                  <a:srgbClr val="334155"/>
                </a:solidFill>
                <a:latin typeface="Calibri"/>
              </a:rPr>
              <a:t>Built to scale out across many servers</a:t>
            </a:r>
          </a:p>
          <a:p>
            <a:pPr algn="l" marL="404850" indent="-404850">
              <a:lnSpc>
                <a:spcPct val="111800"/>
              </a:lnSpc>
              <a:spcBef>
                <a:spcPts val="724"/>
              </a:spcBef>
              <a:buChar char="•"/>
            </a:pPr>
            <a:r>
              <a:rPr sz="2898" b="0" i="0" u="none">
                <a:solidFill>
                  <a:srgbClr val="334155"/>
                </a:solidFill>
                <a:latin typeface="Calibri"/>
              </a:rPr>
              <a:t>Some offer SQL-like query languages (e.g. Cassandra CQL)</a:t>
            </a:r>
          </a:p>
        </p:txBody>
      </p:sp>
      <p:sp>
        <p:nvSpPr>
          <p:cNvPr id="8" name="Rectangle 7"/>
          <p:cNvSpPr/>
          <p:nvPr/>
        </p:nvSpPr>
        <p:spPr>
          <a:xfrm>
            <a:off x="8215162" y="2482024"/>
            <a:ext cx="9158437" cy="325399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8481862" y="2748724"/>
            <a:ext cx="8625037" cy="2720596"/>
          </a:xfrm>
          <a:prstGeom prst="rect">
            <a:avLst/>
          </a:prstGeom>
          <a:noFill/>
        </p:spPr>
        <p:txBody>
          <a:bodyPr wrap="none" lIns="0" rIns="0" tIns="0" bIns="0"/>
          <a:lstStyle/>
          <a:p>
            <a:pPr>
              <a:lnSpc>
                <a:spcPct val="110000"/>
              </a:lnSpc>
            </a:pPr>
            <a:r>
              <a:rPr sz="2704" b="0" i="0" u="none">
                <a:solidFill>
                  <a:srgbClr val="0F172A"/>
                </a:solidFill>
                <a:latin typeface="Courier New"/>
              </a:rPr>
              <a:t>{</a:t>
            </a:r>
          </a:p>
          <a:p>
            <a:pPr>
              <a:lnSpc>
                <a:spcPct val="110000"/>
              </a:lnSpc>
            </a:pPr>
            <a:r>
              <a:rPr sz="2704" b="0" i="0" u="none">
                <a:solidFill>
                  <a:srgbClr val="0F172A"/>
                </a:solidFill>
                <a:latin typeface="Courier New"/>
              </a:rPr>
              <a:t>  </a:t>
            </a:r>
            <a:r>
              <a:rPr sz="2704" b="0" i="0" u="none">
                <a:solidFill>
                  <a:srgbClr val="0F172A"/>
                </a:solidFill>
                <a:latin typeface="Courier New"/>
              </a:rPr>
              <a:t>"_id": 1042,</a:t>
            </a:r>
          </a:p>
          <a:p>
            <a:pPr>
              <a:lnSpc>
                <a:spcPct val="110000"/>
              </a:lnSpc>
            </a:pPr>
            <a:r>
              <a:rPr sz="2704" b="0" i="0" u="none">
                <a:solidFill>
                  <a:srgbClr val="0F172A"/>
                </a:solidFill>
                <a:latin typeface="Courier New"/>
              </a:rPr>
              <a:t>  </a:t>
            </a:r>
            <a:r>
              <a:rPr sz="2704" b="0" i="0" u="none">
                <a:solidFill>
                  <a:srgbClr val="0F172A"/>
                </a:solidFill>
                <a:latin typeface="Courier New"/>
              </a:rPr>
              <a:t>"name": "Mai",</a:t>
            </a:r>
          </a:p>
          <a:p>
            <a:pPr>
              <a:lnSpc>
                <a:spcPct val="110000"/>
              </a:lnSpc>
            </a:pPr>
            <a:r>
              <a:rPr sz="2704" b="0" i="0" u="none">
                <a:solidFill>
                  <a:srgbClr val="0F172A"/>
                </a:solidFill>
                <a:latin typeface="Courier New"/>
              </a:rPr>
              <a:t>  </a:t>
            </a:r>
            <a:r>
              <a:rPr sz="2704" b="0" i="0" u="none">
                <a:solidFill>
                  <a:srgbClr val="0F172A"/>
                </a:solidFill>
                <a:latin typeface="Courier New"/>
              </a:rPr>
              <a:t>"phones": ["010...", "011..."],</a:t>
            </a:r>
          </a:p>
          <a:p>
            <a:pPr>
              <a:lnSpc>
                <a:spcPct val="110000"/>
              </a:lnSpc>
            </a:pPr>
            <a:r>
              <a:rPr sz="2704" b="0" i="0" u="none">
                <a:solidFill>
                  <a:srgbClr val="0F172A"/>
                </a:solidFill>
                <a:latin typeface="Courier New"/>
              </a:rPr>
              <a:t>  </a:t>
            </a:r>
            <a:r>
              <a:rPr sz="2704" b="0" i="0" u="none">
                <a:solidFill>
                  <a:srgbClr val="0F172A"/>
                </a:solidFill>
                <a:latin typeface="Courier New"/>
              </a:rPr>
              <a:t>"address": { "city": "Giza" }</a:t>
            </a:r>
          </a:p>
          <a:p>
            <a:pPr>
              <a:lnSpc>
                <a:spcPct val="110000"/>
              </a:lnSpc>
            </a:pPr>
            <a:r>
              <a:rPr sz="2704" b="0" i="0" u="none">
                <a:solidFill>
                  <a:srgbClr val="0F172A"/>
                </a:solidFill>
                <a:latin typeface="Courier New"/>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NoSQL stores</a:t>
            </a:r>
          </a:p>
        </p:txBody>
      </p:sp>
      <p:graphicFrame>
        <p:nvGraphicFramePr>
          <p:cNvPr id="6" name="Table 5"/>
          <p:cNvGraphicFramePr>
            <a:graphicFrameLocks noGrp="1"/>
          </p:cNvGraphicFramePr>
          <p:nvPr/>
        </p:nvGraphicFramePr>
        <p:xfrm>
          <a:off x="914400" y="2482024"/>
          <a:ext cx="16459200" cy="5059893"/>
        </p:xfrm>
        <a:graphic>
          <a:graphicData uri="http://schemas.openxmlformats.org/drawingml/2006/table">
            <a:tbl>
              <a:tblPr firstRow="0" bandRow="0">
                <a:tableStyleId>{5940675A-B579-460E-94D1-54222C63F5DA}</a:tableStyleId>
              </a:tblPr>
              <a:tblGrid>
                <a:gridCol w="2798064"/>
                <a:gridCol w="4773168"/>
                <a:gridCol w="4114800"/>
                <a:gridCol w="4773168"/>
              </a:tblGrid>
              <a:tr h="676713">
                <a:tc>
                  <a:txBody>
                    <a:bodyPr/>
                    <a:lstStyle/>
                    <a:p>
                      <a:r>
                        <a:rPr sz="2704" b="1" i="0" u="none">
                          <a:solidFill>
                            <a:srgbClr val="FFFFFF"/>
                          </a:solidFill>
                          <a:latin typeface="Arial"/>
                        </a:rPr>
                        <a:t>Family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shape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Good for</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Document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JSON-like documents per key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MongoDB, Couchbase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Catalogs, content, user profiles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Key–value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 dictionary: key → 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Redis, DynamoDB</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Caching, sessions, shopping carts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Wide-column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Rows whose columns can vary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Cassandra, 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Huge write-heavy data, time series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Graph</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Nodes + edges + properties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Neo4j, Amazon Neptune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Social networks, recommendations, fraud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Relational or NoSQL?</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6748272"/>
                <a:gridCol w="6748272"/>
              </a:tblGrid>
              <a:tr h="628377">
                <a:tc>
                  <a:txBody>
                    <a:bodyPr/>
                    <a:lstStyle/>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Relational (SQL)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NoSQL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Schema</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Fixed, defined first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Flexible, per record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Consistency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ACID transactions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Often </a:t>
                      </a:r>
                      <a:r>
                        <a:rPr sz="2511" b="0" i="1" u="none">
                          <a:solidFill>
                            <a:srgbClr val="334155"/>
                          </a:solidFill>
                          <a:latin typeface="Calibri"/>
                        </a:rPr>
                        <a:t>eventual</a:t>
                      </a:r>
                      <a:r>
                        <a:rPr sz="2511" b="0" i="0" u="none">
                          <a:solidFill>
                            <a:srgbClr val="334155"/>
                          </a:solidFill>
                          <a:latin typeface="Calibri"/>
                        </a:rPr>
                        <a:t> consistency (BASE); many now offer ACID too</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Scaling</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Mostly up (bigger server); scale-out is possible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Out (more servers) by design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Queries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Rich SQL: joins, aggregates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Fast lookups by key; joins limited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Pick it when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Data is structured and related; correctness matters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Huge volume, changing shape, simple access patterns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40734"/>
            <a:ext cx="16459200" cy="1372476"/>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40734"/>
            <a:ext cx="47625" cy="1372476"/>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10640" y="8088384"/>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Most real systems use </a:t>
            </a:r>
            <a:r>
              <a:rPr sz="2511" b="1" i="0" u="none">
                <a:solidFill>
                  <a:srgbClr val="0F172A"/>
                </a:solidFill>
                <a:latin typeface="Calibri"/>
              </a:rPr>
              <a:t>both</a:t>
            </a:r>
            <a:r>
              <a:rPr sz="2511" b="0" i="0" u="none">
                <a:solidFill>
                  <a:srgbClr val="0F172A"/>
                </a:solidFill>
                <a:latin typeface="Calibri"/>
              </a:rPr>
              <a:t> (</a:t>
            </a:r>
            <a:r>
              <a:rPr sz="2511" b="0" i="1" u="none">
                <a:solidFill>
                  <a:srgbClr val="0F172A"/>
                </a:solidFill>
                <a:latin typeface="Calibri"/>
              </a:rPr>
              <a:t>polyglot persistence</a:t>
            </a:r>
            <a:r>
              <a:rPr sz="2511" b="0" i="0" u="none">
                <a:solidFill>
                  <a:srgbClr val="0F172A"/>
                </a:solidFill>
                <a:latin typeface="Calibri"/>
              </a:rPr>
              <a:t>): e.g. PostgreSQL for orders and payments, Redis for sessions.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warehouses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data warehouse</a:t>
            </a:r>
            <a:r>
              <a:rPr sz="3091" b="0" i="0" u="none">
                <a:solidFill>
                  <a:srgbClr val="334155"/>
                </a:solidFill>
                <a:latin typeface="Calibri"/>
              </a:rPr>
              <a:t> is a separate database, built for </a:t>
            </a:r>
            <a:r>
              <a:rPr sz="3091" b="1" i="0" u="none">
                <a:solidFill>
                  <a:srgbClr val="334155"/>
                </a:solidFill>
                <a:latin typeface="Calibri"/>
              </a:rPr>
              <a:t>analysis</a:t>
            </a:r>
            <a:r>
              <a:rPr sz="3091" b="0" i="0" u="none">
                <a:solidFill>
                  <a:srgbClr val="334155"/>
                </a:solidFill>
                <a:latin typeface="Calibri"/>
              </a:rPr>
              <a:t>, that integrates historical data from many operational systems.</a:t>
            </a:r>
          </a:p>
        </p:txBody>
      </p:sp>
      <p:graphicFrame>
        <p:nvGraphicFramePr>
          <p:cNvPr id="7" name="Table 6"/>
          <p:cNvGraphicFramePr>
            <a:graphicFrameLocks noGrp="1"/>
          </p:cNvGraphicFramePr>
          <p:nvPr/>
        </p:nvGraphicFramePr>
        <p:xfrm>
          <a:off x="914400" y="4015016"/>
          <a:ext cx="16459200" cy="3802647"/>
        </p:xfrm>
        <a:graphic>
          <a:graphicData uri="http://schemas.openxmlformats.org/drawingml/2006/table">
            <a:tbl>
              <a:tblPr firstRow="0" bandRow="0">
                <a:tableStyleId>{5940675A-B579-460E-94D1-54222C63F5DA}</a:tableStyleId>
              </a:tblPr>
              <a:tblGrid>
                <a:gridCol w="2962656"/>
                <a:gridCol w="6748272"/>
                <a:gridCol w="6748272"/>
              </a:tblGrid>
              <a:tr h="676713">
                <a:tc>
                  <a:txBody>
                    <a:bodyPr/>
                    <a:lstStyle/>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Operational DB (OLTP)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warehouse (OLAP)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Purpose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business day to day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Analyze the business over time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Typical query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Insert one order; find one customer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Total sales per region per year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Current, detailed, constantly updated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Historical, summarized, loaded in batches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Design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Normalized (Lesson 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Star schema (facts + dimensions)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14400" y="8271057"/>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reaches the warehouse through </a:t>
            </a:r>
            <a:r>
              <a:rPr sz="2704" b="1" i="0" u="none">
                <a:solidFill>
                  <a:srgbClr val="334155"/>
                </a:solidFill>
                <a:latin typeface="Calibri"/>
              </a:rPr>
              <a:t>ETL</a:t>
            </a:r>
            <a:r>
              <a:rPr sz="2704" b="0" i="0" u="none">
                <a:solidFill>
                  <a:srgbClr val="334155"/>
                </a:solidFill>
                <a:latin typeface="Calibri"/>
              </a:rPr>
              <a:t>: Extract from sources → Transform (clean, unify) → Load.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Big Data</a:t>
            </a:r>
          </a:p>
        </p:txBody>
      </p:sp>
      <p:sp>
        <p:nvSpPr>
          <p:cNvPr id="6" name="Rectangle 5"/>
          <p:cNvSpPr/>
          <p:nvPr/>
        </p:nvSpPr>
        <p:spPr>
          <a:xfrm>
            <a:off x="914400" y="2482024"/>
            <a:ext cx="16459200" cy="1545526"/>
          </a:xfrm>
          <a:prstGeom prst="rect">
            <a:avLst/>
          </a:prstGeom>
          <a:solidFill>
            <a:srgbClr val="FEF3C7"/>
          </a:solidFill>
          <a:ln>
            <a:noFill/>
          </a:ln>
        </p:spPr>
        <p:txBody>
          <a:bodyPr rtlCol="0" anchor="ctr" lIns="0" rIns="0" tIns="0" bIns="0"/>
          <a:lstStyle/>
          <a:p>
            <a:pPr algn="ctr"/>
          </a:p>
        </p:txBody>
      </p:sp>
      <p:sp>
        <p:nvSpPr>
          <p:cNvPr id="7" name="Rectangle 6"/>
          <p:cNvSpPr/>
          <p:nvPr/>
        </p:nvSpPr>
        <p:spPr>
          <a:xfrm>
            <a:off x="914400" y="2482024"/>
            <a:ext cx="47625" cy="1545526"/>
          </a:xfrm>
          <a:prstGeom prst="rect">
            <a:avLst/>
          </a:prstGeom>
          <a:solidFill>
            <a:srgbClr val="B45309"/>
          </a:solidFill>
          <a:ln>
            <a:noFill/>
          </a:ln>
        </p:spPr>
        <p:txBody>
          <a:bodyPr rtlCol="0" anchor="ctr" lIns="0" rIns="0" tIns="0" bIns="0"/>
          <a:lstStyle/>
          <a:p>
            <a:pPr algn="ctr"/>
          </a:p>
        </p:txBody>
      </p:sp>
      <p:sp>
        <p:nvSpPr>
          <p:cNvPr id="8" name="TextBox 7"/>
          <p:cNvSpPr txBox="1"/>
          <p:nvPr/>
        </p:nvSpPr>
        <p:spPr>
          <a:xfrm>
            <a:off x="1341120" y="2748724"/>
            <a:ext cx="15605760" cy="1012126"/>
          </a:xfrm>
          <a:prstGeom prst="rect">
            <a:avLst/>
          </a:prstGeom>
          <a:noFill/>
        </p:spPr>
        <p:txBody>
          <a:bodyPr wrap="square" lIns="0" rIns="0" tIns="0" bIns="0"/>
          <a:lstStyle/>
          <a:p>
            <a:pPr>
              <a:lnSpc>
                <a:spcPct val="112000"/>
              </a:lnSpc>
            </a:pPr>
            <a:r>
              <a:rPr sz="2898" b="1" i="0" u="none">
                <a:solidFill>
                  <a:srgbClr val="B45309"/>
                </a:solidFill>
                <a:latin typeface="Arial"/>
              </a:rPr>
              <a:t>Definition: </a:t>
            </a:r>
            <a:r>
              <a:rPr sz="2898" b="0" i="0" u="none">
                <a:solidFill>
                  <a:srgbClr val="0F172A"/>
                </a:solidFill>
                <a:latin typeface="Calibri"/>
              </a:rPr>
              <a:t>“Datasets whose size is beyond the ability of typical database software tools to capture, store, manage, and analyze.”</a:t>
            </a:r>
          </a:p>
        </p:txBody>
      </p:sp>
      <p:sp>
        <p:nvSpPr>
          <p:cNvPr id="9" name="Rectangle 8"/>
          <p:cNvSpPr/>
          <p:nvPr/>
        </p:nvSpPr>
        <p:spPr>
          <a:xfrm>
            <a:off x="91440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131445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Volume</a:t>
            </a:r>
          </a:p>
        </p:txBody>
      </p:sp>
      <p:sp>
        <p:nvSpPr>
          <p:cNvPr id="11" name="TextBox 10"/>
          <p:cNvSpPr txBox="1"/>
          <p:nvPr/>
        </p:nvSpPr>
        <p:spPr>
          <a:xfrm>
            <a:off x="131445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Terabytes to petabytes: more than one server can store or process.</a:t>
            </a:r>
          </a:p>
        </p:txBody>
      </p:sp>
      <p:sp>
        <p:nvSpPr>
          <p:cNvPr id="12" name="Rectangle 11"/>
          <p:cNvSpPr/>
          <p:nvPr/>
        </p:nvSpPr>
        <p:spPr>
          <a:xfrm>
            <a:off x="650748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690753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Velocity</a:t>
            </a:r>
          </a:p>
        </p:txBody>
      </p:sp>
      <p:sp>
        <p:nvSpPr>
          <p:cNvPr id="14" name="TextBox 13"/>
          <p:cNvSpPr txBox="1"/>
          <p:nvPr/>
        </p:nvSpPr>
        <p:spPr>
          <a:xfrm>
            <a:off x="690753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arrives fast and continuously: clicks, sensors, transactions.</a:t>
            </a:r>
          </a:p>
        </p:txBody>
      </p:sp>
      <p:sp>
        <p:nvSpPr>
          <p:cNvPr id="15" name="Rectangle 14"/>
          <p:cNvSpPr/>
          <p:nvPr/>
        </p:nvSpPr>
        <p:spPr>
          <a:xfrm>
            <a:off x="1210056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Variety</a:t>
            </a:r>
          </a:p>
        </p:txBody>
      </p:sp>
      <p:sp>
        <p:nvSpPr>
          <p:cNvPr id="17" name="TextBox 16"/>
          <p:cNvSpPr txBox="1"/>
          <p:nvPr/>
        </p:nvSpPr>
        <p:spPr>
          <a:xfrm>
            <a:off x="12500610" y="5604121"/>
            <a:ext cx="447294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Structured tables, text, images, video, logs, JSON.</a:t>
            </a:r>
          </a:p>
        </p:txBody>
      </p:sp>
      <p:sp>
        <p:nvSpPr>
          <p:cNvPr id="18" name="TextBox 17"/>
          <p:cNvSpPr txBox="1"/>
          <p:nvPr/>
        </p:nvSpPr>
        <p:spPr>
          <a:xfrm>
            <a:off x="914400" y="7848775"/>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Two more Vs are often added: </a:t>
            </a:r>
            <a:r>
              <a:rPr sz="2704" b="1" i="0" u="none">
                <a:solidFill>
                  <a:srgbClr val="334155"/>
                </a:solidFill>
                <a:latin typeface="Calibri"/>
              </a:rPr>
              <a:t>Veracity</a:t>
            </a:r>
            <a:r>
              <a:rPr sz="2704" b="0" i="0" u="none">
                <a:solidFill>
                  <a:srgbClr val="334155"/>
                </a:solidFill>
                <a:latin typeface="Calibri"/>
              </a:rPr>
              <a:t> (can we trust it?) and </a:t>
            </a:r>
            <a:r>
              <a:rPr sz="2704" b="1" i="0" u="none">
                <a:solidFill>
                  <a:srgbClr val="334155"/>
                </a:solidFill>
                <a:latin typeface="Calibri"/>
              </a:rPr>
              <a:t>Value</a:t>
            </a:r>
            <a:r>
              <a:rPr sz="2704" b="0" i="0" u="none">
                <a:solidFill>
                  <a:srgbClr val="334155"/>
                </a:solidFill>
                <a:latin typeface="Calibri"/>
              </a:rPr>
              <a:t> (is it worth it?).</a:t>
            </a:r>
          </a:p>
        </p:txBody>
      </p:sp>
      <p:sp>
        <p:nvSpPr>
          <p:cNvPr id="19" name="TextBox 18"/>
          <p:cNvSpPr txBox="1"/>
          <p:nvPr/>
        </p:nvSpPr>
        <p:spPr>
          <a:xfrm>
            <a:off x="914400" y="8800254"/>
            <a:ext cx="16459200" cy="809701"/>
          </a:xfrm>
          <a:prstGeom prst="rect">
            <a:avLst/>
          </a:prstGeom>
          <a:noFill/>
        </p:spPr>
        <p:txBody>
          <a:bodyPr wrap="square" lIns="0" rIns="0" tIns="0" bIns="0" anchor="t"/>
          <a:lstStyle/>
          <a:p>
            <a:pPr algn="l">
              <a:lnSpc>
                <a:spcPct val="111800"/>
              </a:lnSpc>
            </a:pPr>
            <a:r>
              <a:rPr sz="2318" b="0" i="0" u="none">
                <a:solidFill>
                  <a:srgbClr val="64748B"/>
                </a:solidFill>
                <a:latin typeface="Calibri"/>
              </a:rPr>
              <a:t>Source of the definition: McKinsey Global Institute, </a:t>
            </a:r>
            <a:r>
              <a:rPr sz="2318" b="0" i="1" u="none">
                <a:solidFill>
                  <a:srgbClr val="64748B"/>
                </a:solidFill>
                <a:latin typeface="Calibri"/>
              </a:rPr>
              <a:t>Big data: The next frontier for innovation, competition, and productivity</a:t>
            </a:r>
            <a:r>
              <a:rPr sz="2318" b="0" i="0" u="none">
                <a:solidFill>
                  <a:srgbClr val="64748B"/>
                </a:solidFill>
                <a:latin typeface="Calibri"/>
              </a:rPr>
              <a:t>, May 2011.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databases run</a:t>
            </a:r>
          </a:p>
        </p:txBody>
      </p:sp>
      <p:sp>
        <p:nvSpPr>
          <p:cNvPr id="6" name="Rectangle 5"/>
          <p:cNvSpPr/>
          <p:nvPr/>
        </p:nvSpPr>
        <p:spPr>
          <a:xfrm>
            <a:off x="91440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Centralized / mainframe</a:t>
            </a:r>
          </a:p>
        </p:txBody>
      </p:sp>
      <p:sp>
        <p:nvSpPr>
          <p:cNvPr id="8" name="TextBox 7"/>
          <p:cNvSpPr txBox="1"/>
          <p:nvPr/>
        </p:nvSpPr>
        <p:spPr>
          <a:xfrm>
            <a:off x="1314450" y="4105747"/>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powerful machine; users connect from terminals.</a:t>
            </a:r>
          </a:p>
        </p:txBody>
      </p:sp>
      <p:sp>
        <p:nvSpPr>
          <p:cNvPr id="9" name="Rectangle 8"/>
          <p:cNvSpPr/>
          <p:nvPr/>
        </p:nvSpPr>
        <p:spPr>
          <a:xfrm>
            <a:off x="650748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Client/server</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lives on a server; each user's PC runs the client application.</a:t>
            </a:r>
          </a:p>
        </p:txBody>
      </p:sp>
      <p:sp>
        <p:nvSpPr>
          <p:cNvPr id="12" name="Rectangle 11"/>
          <p:cNvSpPr/>
          <p:nvPr/>
        </p:nvSpPr>
        <p:spPr>
          <a:xfrm>
            <a:off x="1210056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Three-tier / web</a:t>
            </a:r>
          </a:p>
        </p:txBody>
      </p:sp>
      <p:sp>
        <p:nvSpPr>
          <p:cNvPr id="14" name="TextBox 13"/>
          <p:cNvSpPr txBox="1"/>
          <p:nvPr/>
        </p:nvSpPr>
        <p:spPr>
          <a:xfrm>
            <a:off x="1250061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Browser → web/app server → database server. Only the server needs the app installed.</a:t>
            </a:r>
          </a:p>
        </p:txBody>
      </p:sp>
      <p:sp>
        <p:nvSpPr>
          <p:cNvPr id="15" name="Rectangle 14"/>
          <p:cNvSpPr/>
          <p:nvPr/>
        </p:nvSpPr>
        <p:spPr>
          <a:xfrm>
            <a:off x="91440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Distributed</a:t>
            </a:r>
          </a:p>
        </p:txBody>
      </p:sp>
      <p:sp>
        <p:nvSpPr>
          <p:cNvPr id="17" name="TextBox 16"/>
          <p:cNvSpPr txBox="1"/>
          <p:nvPr/>
        </p:nvSpPr>
        <p:spPr>
          <a:xfrm>
            <a:off x="131445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spread over several sites but looks like one database to users.</a:t>
            </a:r>
          </a:p>
        </p:txBody>
      </p:sp>
      <p:sp>
        <p:nvSpPr>
          <p:cNvPr id="18" name="Rectangle 17"/>
          <p:cNvSpPr/>
          <p:nvPr/>
        </p:nvSpPr>
        <p:spPr>
          <a:xfrm>
            <a:off x="650748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Cloud (DBaaS)</a:t>
            </a:r>
          </a:p>
        </p:txBody>
      </p:sp>
      <p:sp>
        <p:nvSpPr>
          <p:cNvPr id="20" name="TextBox 19"/>
          <p:cNvSpPr txBox="1"/>
          <p:nvPr/>
        </p:nvSpPr>
        <p:spPr>
          <a:xfrm>
            <a:off x="6907530" y="6826194"/>
            <a:ext cx="447294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A managed service: the provider runs backups, patching and scaling, e.g. Amazon RDS, Azure SQL, Cloud SQL.</a:t>
            </a:r>
          </a:p>
        </p:txBody>
      </p:sp>
      <p:sp>
        <p:nvSpPr>
          <p:cNvPr id="21" name="Rectangle 20"/>
          <p:cNvSpPr/>
          <p:nvPr/>
        </p:nvSpPr>
        <p:spPr>
          <a:xfrm>
            <a:off x="1210056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Embedded</a:t>
            </a:r>
          </a:p>
        </p:txBody>
      </p:sp>
      <p:sp>
        <p:nvSpPr>
          <p:cNvPr id="23" name="TextBox 22"/>
          <p:cNvSpPr txBox="1"/>
          <p:nvPr/>
        </p:nvSpPr>
        <p:spPr>
          <a:xfrm>
            <a:off x="1250061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is a library inside the app: SQLite in every phone and browser.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Two-tier vs three-tier</a:t>
            </a:r>
          </a:p>
        </p:txBody>
      </p:sp>
      <p:cxnSp>
        <p:nvCxnSpPr>
          <p:cNvPr id="6" name="Connector 5"/>
          <p:cNvCxnSpPr/>
          <p:nvPr/>
        </p:nvCxnSpPr>
        <p:spPr>
          <a:xfrm>
            <a:off x="2190750" y="4343400"/>
            <a:ext cx="1390650" cy="1809750"/>
          </a:xfrm>
          <a:prstGeom prst="line">
            <a:avLst/>
          </a:prstGeom>
          <a:ln w="23812">
            <a:solidFill>
              <a:srgbClr val="0F172A"/>
            </a:solidFill>
            <a:tailEnd type="triangle"/>
          </a:ln>
        </p:spPr>
      </p:cxnSp>
      <p:cxnSp>
        <p:nvCxnSpPr>
          <p:cNvPr id="7" name="Connector 6"/>
          <p:cNvCxnSpPr/>
          <p:nvPr/>
        </p:nvCxnSpPr>
        <p:spPr>
          <a:xfrm>
            <a:off x="4286250" y="4343400"/>
            <a:ext cx="0" cy="1809750"/>
          </a:xfrm>
          <a:prstGeom prst="line">
            <a:avLst/>
          </a:prstGeom>
          <a:ln w="23812">
            <a:solidFill>
              <a:srgbClr val="0F172A"/>
            </a:solidFill>
            <a:tailEnd type="triangle"/>
          </a:ln>
        </p:spPr>
      </p:cxnSp>
      <p:cxnSp>
        <p:nvCxnSpPr>
          <p:cNvPr id="8" name="Connector 7"/>
          <p:cNvCxnSpPr/>
          <p:nvPr/>
        </p:nvCxnSpPr>
        <p:spPr>
          <a:xfrm flipH="1">
            <a:off x="4981575" y="4343400"/>
            <a:ext cx="1400175" cy="1809750"/>
          </a:xfrm>
          <a:prstGeom prst="line">
            <a:avLst/>
          </a:prstGeom>
          <a:ln w="23812">
            <a:solidFill>
              <a:srgbClr val="0F172A"/>
            </a:solidFill>
            <a:tailEnd type="triangle"/>
          </a:ln>
        </p:spPr>
      </p:cxnSp>
      <p:cxnSp>
        <p:nvCxnSpPr>
          <p:cNvPr id="9" name="Connector 8"/>
          <p:cNvCxnSpPr/>
          <p:nvPr/>
        </p:nvCxnSpPr>
        <p:spPr>
          <a:xfrm>
            <a:off x="13335000" y="4219575"/>
            <a:ext cx="0" cy="800100"/>
          </a:xfrm>
          <a:prstGeom prst="line">
            <a:avLst/>
          </a:prstGeom>
          <a:ln w="23812">
            <a:solidFill>
              <a:srgbClr val="0F172A"/>
            </a:solidFill>
            <a:tailEnd type="triangle"/>
            <a:headEnd type="triangle"/>
          </a:ln>
        </p:spPr>
      </p:cxnSp>
      <p:cxnSp>
        <p:nvCxnSpPr>
          <p:cNvPr id="10" name="Connector 9"/>
          <p:cNvCxnSpPr/>
          <p:nvPr/>
        </p:nvCxnSpPr>
        <p:spPr>
          <a:xfrm>
            <a:off x="13335000" y="5838825"/>
            <a:ext cx="0" cy="800100"/>
          </a:xfrm>
          <a:prstGeom prst="line">
            <a:avLst/>
          </a:prstGeom>
          <a:ln w="23812">
            <a:solidFill>
              <a:srgbClr val="0F172A"/>
            </a:solidFill>
            <a:tailEnd type="triangle"/>
            <a:headEnd type="triangle"/>
          </a:ln>
        </p:spPr>
      </p:cxnSp>
      <p:sp>
        <p:nvSpPr>
          <p:cNvPr id="11" name="Rectangle 10"/>
          <p:cNvSpPr/>
          <p:nvPr/>
        </p:nvSpPr>
        <p:spPr>
          <a:xfrm>
            <a:off x="1285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2" name="Rectangle 11"/>
          <p:cNvSpPr/>
          <p:nvPr/>
        </p:nvSpPr>
        <p:spPr>
          <a:xfrm>
            <a:off x="33813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3" name="Rectangle 12"/>
          <p:cNvSpPr/>
          <p:nvPr/>
        </p:nvSpPr>
        <p:spPr>
          <a:xfrm>
            <a:off x="5476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4" name="Rectangle 13"/>
          <p:cNvSpPr/>
          <p:nvPr/>
        </p:nvSpPr>
        <p:spPr>
          <a:xfrm>
            <a:off x="2286000" y="6162675"/>
            <a:ext cx="40005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5" name="Rectangle 14"/>
          <p:cNvSpPr/>
          <p:nvPr/>
        </p:nvSpPr>
        <p:spPr>
          <a:xfrm>
            <a:off x="10858500" y="34004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Browser</a:t>
            </a:r>
          </a:p>
        </p:txBody>
      </p:sp>
      <p:sp>
        <p:nvSpPr>
          <p:cNvPr id="16" name="Rectangle 15"/>
          <p:cNvSpPr/>
          <p:nvPr/>
        </p:nvSpPr>
        <p:spPr>
          <a:xfrm>
            <a:off x="10858500" y="501967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Web / application server</a:t>
            </a:r>
          </a:p>
        </p:txBody>
      </p:sp>
      <p:sp>
        <p:nvSpPr>
          <p:cNvPr id="17" name="Rectangle 16"/>
          <p:cNvSpPr/>
          <p:nvPr/>
        </p:nvSpPr>
        <p:spPr>
          <a:xfrm>
            <a:off x="10858500" y="66389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8" name="TextBox 17"/>
          <p:cNvSpPr txBox="1"/>
          <p:nvPr/>
        </p:nvSpPr>
        <p:spPr>
          <a:xfrm>
            <a:off x="1219200" y="2857500"/>
            <a:ext cx="6667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Two-tier (client/server)</a:t>
            </a:r>
          </a:p>
        </p:txBody>
      </p:sp>
      <p:sp>
        <p:nvSpPr>
          <p:cNvPr id="19" name="TextBox 18"/>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Three-tier (web)</a:t>
            </a:r>
          </a:p>
        </p:txBody>
      </p:sp>
      <p:sp>
        <p:nvSpPr>
          <p:cNvPr id="20" name="Rectangle 19"/>
          <p:cNvSpPr/>
          <p:nvPr/>
        </p:nvSpPr>
        <p:spPr>
          <a:xfrm>
            <a:off x="8572500" y="2857500"/>
            <a:ext cx="19050" cy="5715000"/>
          </a:xfrm>
          <a:prstGeom prst="rect">
            <a:avLst/>
          </a:prstGeom>
          <a:solidFill>
            <a:srgbClr val="E2E8F0"/>
          </a:solidFill>
          <a:ln>
            <a:noFill/>
          </a:ln>
        </p:spPr>
        <p:txBody>
          <a:bodyPr rtlCol="0" anchor="ctr" lIns="0" rIns="0" tIns="0" bIns="0"/>
          <a:lstStyle/>
          <a:p>
            <a:pPr algn="ctr"/>
          </a:p>
        </p:txBody>
      </p:sp>
      <p:sp>
        <p:nvSpPr>
          <p:cNvPr id="21" name="TextBox 20"/>
          <p:cNvSpPr txBox="1"/>
          <p:nvPr/>
        </p:nvSpPr>
        <p:spPr>
          <a:xfrm>
            <a:off x="1219200" y="7334250"/>
            <a:ext cx="6858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PC runs the application and talks to the database directly.</a:t>
            </a:r>
          </a:p>
        </p:txBody>
      </p:sp>
      <p:sp>
        <p:nvSpPr>
          <p:cNvPr id="22" name="TextBox 21"/>
          <p:cNvSpPr txBox="1"/>
          <p:nvPr/>
        </p:nvSpPr>
        <p:spPr>
          <a:xfrm>
            <a:off x="9525000" y="7810500"/>
            <a:ext cx="7543800" cy="922743"/>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the server runs the application; users need just a browser. The database server stays behind the app server, off the public internet.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1752219"/>
          </a:xfrm>
          <a:prstGeom prst="rect">
            <a:avLst/>
          </a:prstGeom>
          <a:noFill/>
        </p:spPr>
        <p:txBody>
          <a:bodyPr wrap="square" lIns="0" rIns="0" tIns="0" bIns="0"/>
          <a:lstStyle/>
          <a:p>
            <a:pPr>
              <a:lnSpc>
                <a:spcPct val="90000"/>
              </a:lnSpc>
            </a:pPr>
            <a:r>
              <a:rPr sz="6300" b="1" i="0" u="none">
                <a:solidFill>
                  <a:srgbClr val="FFFFFF"/>
                </a:solidFill>
                <a:latin typeface="Arial"/>
              </a:rPr>
              <a:t>A DBMS separates </a:t>
            </a:r>
            <a:r>
              <a:rPr sz="6300" b="1" i="0" u="none">
                <a:solidFill>
                  <a:srgbClr val="F87171"/>
                </a:solidFill>
                <a:latin typeface="Arial"/>
              </a:rPr>
              <a:t>what</a:t>
            </a:r>
            <a:r>
              <a:rPr sz="6300" b="1" i="0" u="none">
                <a:solidFill>
                  <a:srgbClr val="FFFFFF"/>
                </a:solidFill>
                <a:latin typeface="Arial"/>
              </a:rPr>
              <a:t> the data means from </a:t>
            </a:r>
            <a:r>
              <a:rPr sz="6300" b="1" i="0" u="none">
                <a:solidFill>
                  <a:srgbClr val="F87171"/>
                </a:solidFill>
                <a:latin typeface="Arial"/>
              </a:rPr>
              <a:t>how</a:t>
            </a:r>
            <a:r>
              <a:rPr sz="6300" b="1" i="0" u="none">
                <a:solidFill>
                  <a:srgbClr val="FFFFFF"/>
                </a:solidFill>
                <a:latin typeface="Arial"/>
              </a:rPr>
              <a:t> it is stored.</a:t>
            </a:r>
          </a:p>
        </p:txBody>
      </p:sp>
      <p:sp>
        <p:nvSpPr>
          <p:cNvPr id="5" name="TextBox 4"/>
          <p:cNvSpPr txBox="1"/>
          <p:nvPr/>
        </p:nvSpPr>
        <p:spPr>
          <a:xfrm>
            <a:off x="914400" y="5466969"/>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Everything in this course builds on that idea: we design the meaning (ERD, tables, normalization) and let the DBMS handle storage.</a:t>
            </a:r>
          </a:p>
        </p:txBody>
      </p:sp>
      <p:sp>
        <p:nvSpPr>
          <p:cNvPr id="6" name="TextBox 5"/>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7" name="TextBox 6"/>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1 · Introduction to Databases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29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File-based systems duplicate data and tie programs to file layouts.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DBMS</a:t>
            </a:r>
            <a:r>
              <a:rPr sz="2250" b="0" i="0" u="none">
                <a:solidFill>
                  <a:srgbClr val="0F172A"/>
                </a:solidFill>
                <a:latin typeface="Calibri"/>
              </a:rPr>
              <a:t> defines, stores, shares and protects data; database + DBMS = database system.</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The </a:t>
            </a:r>
            <a:r>
              <a:rPr sz="2250" b="1" i="0" u="none">
                <a:solidFill>
                  <a:srgbClr val="0F172A"/>
                </a:solidFill>
                <a:latin typeface="Calibri"/>
              </a:rPr>
              <a:t>three-schema architecture</a:t>
            </a:r>
            <a:r>
              <a:rPr sz="2250" b="0" i="0" u="none">
                <a:solidFill>
                  <a:srgbClr val="0F172A"/>
                </a:solidFill>
                <a:latin typeface="Calibri"/>
              </a:rPr>
              <a:t> separates user views, logical design and physical storage.</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1" i="0" u="none">
                <a:solidFill>
                  <a:srgbClr val="0F172A"/>
                </a:solidFill>
                <a:latin typeface="Calibri"/>
              </a:rPr>
              <a:t>Data independence</a:t>
            </a:r>
            <a:r>
              <a:rPr sz="2250" b="0" i="0" u="none">
                <a:solidFill>
                  <a:srgbClr val="0F172A"/>
                </a:solidFill>
                <a:latin typeface="Calibri"/>
              </a:rPr>
              <a:t> lets one level change without breaking the level above.</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Data models go from </a:t>
            </a:r>
            <a:r>
              <a:rPr sz="2250" b="1" i="0" u="none">
                <a:solidFill>
                  <a:srgbClr val="0F172A"/>
                </a:solidFill>
                <a:latin typeface="Calibri"/>
              </a:rPr>
              <a:t>conceptual</a:t>
            </a:r>
            <a:r>
              <a:rPr sz="2250" b="0" i="0" u="none">
                <a:solidFill>
                  <a:srgbClr val="0F172A"/>
                </a:solidFill>
                <a:latin typeface="Calibri"/>
              </a:rPr>
              <a:t> (ERD) to </a:t>
            </a:r>
            <a:r>
              <a:rPr sz="2250" b="1" i="0" u="none">
                <a:solidFill>
                  <a:srgbClr val="0F172A"/>
                </a:solidFill>
                <a:latin typeface="Calibri"/>
              </a:rPr>
              <a:t>logical</a:t>
            </a:r>
            <a:r>
              <a:rPr sz="2250" b="0" i="0" u="none">
                <a:solidFill>
                  <a:srgbClr val="0F172A"/>
                </a:solidFill>
                <a:latin typeface="Calibri"/>
              </a:rPr>
              <a:t> (tables) to </a:t>
            </a:r>
            <a:r>
              <a:rPr sz="2250" b="1" i="0" u="none">
                <a:solidFill>
                  <a:srgbClr val="0F172A"/>
                </a:solidFill>
                <a:latin typeface="Calibri"/>
              </a:rPr>
              <a:t>physical</a:t>
            </a:r>
            <a:r>
              <a:rPr sz="2250" b="0" i="0" u="none">
                <a:solidFill>
                  <a:srgbClr val="0F172A"/>
                </a:solidFill>
                <a:latin typeface="Calibri"/>
              </a:rPr>
              <a:t> (files, indexes).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NoSQL, warehouses and Big Data </a:t>
            </a:r>
            <a:r>
              <a:rPr sz="2250" b="1" i="0" u="none">
                <a:solidFill>
                  <a:srgbClr val="0F172A"/>
                </a:solidFill>
                <a:latin typeface="Calibri"/>
              </a:rPr>
              <a:t>complement</a:t>
            </a:r>
            <a:r>
              <a:rPr sz="2250" b="0" i="0" u="none">
                <a:solidFill>
                  <a:srgbClr val="0F172A"/>
                </a:solidFill>
                <a:latin typeface="Calibri"/>
              </a:rPr>
              <a:t> relational databases rather than replace them.</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1</a:t>
            </a:r>
          </a:p>
        </p:txBody>
      </p:sp>
      <p:sp>
        <p:nvSpPr>
          <p:cNvPr id="6" name="Rectangle 5"/>
          <p:cNvSpPr/>
          <p:nvPr/>
        </p:nvSpPr>
        <p:spPr>
          <a:xfrm>
            <a:off x="91440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6111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Q1 · CORE</a:t>
            </a:r>
          </a:p>
        </p:txBody>
      </p:sp>
      <p:sp>
        <p:nvSpPr>
          <p:cNvPr id="8" name="TextBox 7"/>
          <p:cNvSpPr txBox="1"/>
          <p:nvPr/>
        </p:nvSpPr>
        <p:spPr>
          <a:xfrm>
            <a:off x="1261110" y="3348997"/>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A university keeps a separate student file in Admissions, Finance and the Library. List </a:t>
            </a:r>
            <a:r>
              <a:rPr sz="2332" b="1" i="0" u="none">
                <a:solidFill>
                  <a:srgbClr val="0F172A"/>
                </a:solidFill>
                <a:latin typeface="Calibri"/>
              </a:rPr>
              <a:t>three problems</a:t>
            </a:r>
            <a:r>
              <a:rPr sz="2332" b="0" i="0" u="none">
                <a:solidFill>
                  <a:srgbClr val="0F172A"/>
                </a:solidFill>
                <a:latin typeface="Calibri"/>
              </a:rPr>
              <a:t> this causes, with a concrete example of each.</a:t>
            </a:r>
          </a:p>
        </p:txBody>
      </p:sp>
      <p:sp>
        <p:nvSpPr>
          <p:cNvPr id="9" name="Rectangle 8"/>
          <p:cNvSpPr/>
          <p:nvPr/>
        </p:nvSpPr>
        <p:spPr>
          <a:xfrm>
            <a:off x="649986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4657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Q2 · CORE</a:t>
            </a:r>
          </a:p>
        </p:txBody>
      </p:sp>
      <p:sp>
        <p:nvSpPr>
          <p:cNvPr id="11" name="TextBox 10"/>
          <p:cNvSpPr txBox="1"/>
          <p:nvPr/>
        </p:nvSpPr>
        <p:spPr>
          <a:xfrm>
            <a:off x="6846570" y="3348997"/>
            <a:ext cx="4594859" cy="1199567"/>
          </a:xfrm>
          <a:prstGeom prst="rect">
            <a:avLst/>
          </a:prstGeom>
          <a:noFill/>
        </p:spPr>
        <p:txBody>
          <a:bodyPr wrap="square" lIns="0" rIns="0" tIns="0" bIns="0" anchor="t"/>
          <a:lstStyle/>
          <a:p>
            <a:pPr algn="l">
              <a:lnSpc>
                <a:spcPct val="111800"/>
              </a:lnSpc>
            </a:pPr>
            <a:r>
              <a:rPr sz="2332" b="0" i="0" u="none">
                <a:solidFill>
                  <a:srgbClr val="0F172A"/>
                </a:solidFill>
                <a:latin typeface="Calibri"/>
              </a:rPr>
              <a:t>Is an Excel workbook a DBMS? Argue </a:t>
            </a:r>
            <a:r>
              <a:rPr sz="2332" b="1" i="0" u="none">
                <a:solidFill>
                  <a:srgbClr val="0F172A"/>
                </a:solidFill>
                <a:latin typeface="Calibri"/>
              </a:rPr>
              <a:t>yes or no</a:t>
            </a:r>
            <a:r>
              <a:rPr sz="2332" b="0" i="0" u="none">
                <a:solidFill>
                  <a:srgbClr val="0F172A"/>
                </a:solidFill>
                <a:latin typeface="Calibri"/>
              </a:rPr>
              <a:t> using the DBMS functions slide.</a:t>
            </a:r>
          </a:p>
        </p:txBody>
      </p:sp>
      <p:sp>
        <p:nvSpPr>
          <p:cNvPr id="12" name="Rectangle 11"/>
          <p:cNvSpPr/>
          <p:nvPr/>
        </p:nvSpPr>
        <p:spPr>
          <a:xfrm>
            <a:off x="1208532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3203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Q3 · CORE</a:t>
            </a:r>
          </a:p>
        </p:txBody>
      </p:sp>
      <p:sp>
        <p:nvSpPr>
          <p:cNvPr id="14" name="TextBox 13"/>
          <p:cNvSpPr txBox="1"/>
          <p:nvPr/>
        </p:nvSpPr>
        <p:spPr>
          <a:xfrm>
            <a:off x="12432030" y="3348997"/>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Which </a:t>
            </a:r>
            <a:r>
              <a:rPr sz="2332" b="1" i="0" u="none">
                <a:solidFill>
                  <a:srgbClr val="0F172A"/>
                </a:solidFill>
                <a:latin typeface="Calibri"/>
              </a:rPr>
              <a:t>role</a:t>
            </a:r>
            <a:r>
              <a:rPr sz="2332" b="0" i="0" u="none">
                <a:solidFill>
                  <a:srgbClr val="0F172A"/>
                </a:solidFill>
                <a:latin typeface="Calibri"/>
              </a:rPr>
              <a:t> does each task: design the ERD, restore a backup, build the payroll app, run the monthly report?</a:t>
            </a:r>
          </a:p>
        </p:txBody>
      </p:sp>
      <p:sp>
        <p:nvSpPr>
          <p:cNvPr id="15" name="Rectangle 14"/>
          <p:cNvSpPr/>
          <p:nvPr/>
        </p:nvSpPr>
        <p:spPr>
          <a:xfrm>
            <a:off x="91440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6111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Q4 · STRETCH</a:t>
            </a:r>
          </a:p>
        </p:txBody>
      </p:sp>
      <p:sp>
        <p:nvSpPr>
          <p:cNvPr id="17" name="TextBox 16"/>
          <p:cNvSpPr txBox="1"/>
          <p:nvPr/>
        </p:nvSpPr>
        <p:spPr>
          <a:xfrm>
            <a:off x="1261110" y="6829520"/>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For a library database, give one change that needs </a:t>
            </a:r>
            <a:r>
              <a:rPr sz="2332" b="1" i="0" u="none">
                <a:solidFill>
                  <a:srgbClr val="0F172A"/>
                </a:solidFill>
                <a:latin typeface="Calibri"/>
              </a:rPr>
              <a:t>logical</a:t>
            </a:r>
            <a:r>
              <a:rPr sz="2332" b="0" i="0" u="none">
                <a:solidFill>
                  <a:srgbClr val="0F172A"/>
                </a:solidFill>
                <a:latin typeface="Calibri"/>
              </a:rPr>
              <a:t> data independence and one that needs </a:t>
            </a:r>
            <a:r>
              <a:rPr sz="2332" b="1" i="0" u="none">
                <a:solidFill>
                  <a:srgbClr val="0F172A"/>
                </a:solidFill>
                <a:latin typeface="Calibri"/>
              </a:rPr>
              <a:t>physical</a:t>
            </a:r>
            <a:r>
              <a:rPr sz="2332" b="0" i="0" u="none">
                <a:solidFill>
                  <a:srgbClr val="0F172A"/>
                </a:solidFill>
                <a:latin typeface="Calibri"/>
              </a:rPr>
              <a:t> data independence.</a:t>
            </a:r>
          </a:p>
        </p:txBody>
      </p:sp>
      <p:sp>
        <p:nvSpPr>
          <p:cNvPr id="18" name="Rectangle 17"/>
          <p:cNvSpPr/>
          <p:nvPr/>
        </p:nvSpPr>
        <p:spPr>
          <a:xfrm>
            <a:off x="649986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4657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Q5 · STRETCH</a:t>
            </a:r>
          </a:p>
        </p:txBody>
      </p:sp>
      <p:sp>
        <p:nvSpPr>
          <p:cNvPr id="20" name="TextBox 19"/>
          <p:cNvSpPr txBox="1"/>
          <p:nvPr/>
        </p:nvSpPr>
        <p:spPr>
          <a:xfrm>
            <a:off x="684657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Choose a NoSQL family for: a shopping cart, friend-of-a-friend search, a product catalog with varying attributes, sensor readings.</a:t>
            </a:r>
          </a:p>
        </p:txBody>
      </p:sp>
      <p:sp>
        <p:nvSpPr>
          <p:cNvPr id="21" name="Rectangle 20"/>
          <p:cNvSpPr/>
          <p:nvPr/>
        </p:nvSpPr>
        <p:spPr>
          <a:xfrm>
            <a:off x="1208532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32030" y="6309257"/>
            <a:ext cx="4594859" cy="396438"/>
          </a:xfrm>
          <a:prstGeom prst="rect">
            <a:avLst/>
          </a:prstGeom>
          <a:noFill/>
        </p:spPr>
        <p:txBody>
          <a:bodyPr wrap="square" lIns="0" rIns="0" tIns="0" bIns="0" anchor="t"/>
          <a:lstStyle/>
          <a:p>
            <a:pPr algn="l">
              <a:lnSpc>
                <a:spcPct val="111800"/>
              </a:lnSpc>
            </a:pPr>
            <a:r>
              <a:rPr sz="2152" b="1" i="0" u="none">
                <a:solidFill>
                  <a:srgbClr val="0F172A"/>
                </a:solidFill>
                <a:latin typeface="Arial"/>
              </a:rPr>
              <a:t>Q6 · CHALLENGE</a:t>
            </a:r>
          </a:p>
        </p:txBody>
      </p:sp>
      <p:sp>
        <p:nvSpPr>
          <p:cNvPr id="23" name="TextBox 22"/>
          <p:cNvSpPr txBox="1"/>
          <p:nvPr/>
        </p:nvSpPr>
        <p:spPr>
          <a:xfrm>
            <a:off x="1243203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Open db-fiddle.com (PostgreSQL) and run CREATE TABLE, then CREATE INDEX on one column. Which level of the three-schema architecture does each statement change?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31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1</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chapters 1–2: concepts and architecture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C. J. Date, An Introduction to Database Systems (8th ed.)</a:t>
            </a:r>
            <a:r>
              <a:rPr sz="1950" b="0" i="0" u="none">
                <a:solidFill>
                  <a:srgbClr val="334155"/>
                </a:solidFill>
                <a:latin typeface="Calibri"/>
              </a:rPr>
              <a:t> — the classic text on the relational model</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COURSE</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CMU 15-445 Intro to Database Systems</a:t>
            </a:r>
            <a:r>
              <a:rPr sz="1950" b="0" i="0" u="none">
                <a:solidFill>
                  <a:srgbClr val="334155"/>
                </a:solidFill>
                <a:latin typeface="Calibri"/>
              </a:rPr>
              <a:t> — free lectures and slides on how a DBMS works inside</a:t>
            </a:r>
          </a:p>
          <a:p>
            <a:r>
              <a:rPr sz="1800" b="0" i="0" u="none">
                <a:solidFill>
                  <a:srgbClr val="0E8A8A"/>
                </a:solidFill>
                <a:latin typeface="Courier New"/>
                <a:hlinkClick r:id="rId2"/>
              </a:rPr>
              <a:t>15445.courses.cs.cmu.edu</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tutorial</a:t>
            </a:r>
            <a:r>
              <a:rPr sz="1950" b="0" i="0" u="none">
                <a:solidFill>
                  <a:srgbClr val="334155"/>
                </a:solidFill>
                <a:latin typeface="Calibri"/>
              </a:rPr>
              <a:t> — install a real DBMS and try it</a:t>
            </a:r>
          </a:p>
          <a:p>
            <a:r>
              <a:rPr sz="1800" b="0" i="0" u="none">
                <a:solidFill>
                  <a:srgbClr val="0E8A8A"/>
                </a:solidFill>
                <a:latin typeface="Courier New"/>
                <a:hlinkClick r:id="rId3"/>
              </a:rPr>
              <a:t>www.postgresql.org/docs/current/tutorial.html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EXPLORE</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DB-Engines ranking</a:t>
            </a:r>
            <a:r>
              <a:rPr sz="1950" b="0" i="0" u="none">
                <a:solidFill>
                  <a:srgbClr val="334155"/>
                </a:solidFill>
                <a:latin typeface="Calibri"/>
              </a:rPr>
              <a:t> — which DBMS products are popular, by family</a:t>
            </a:r>
          </a:p>
          <a:p>
            <a:r>
              <a:rPr sz="1800" b="0" i="0" u="none">
                <a:solidFill>
                  <a:srgbClr val="0E8A8A"/>
                </a:solidFill>
                <a:latin typeface="Courier New"/>
                <a:hlinkClick r:id="rId4"/>
              </a:rPr>
              <a:t>db-engines.com/en/ranking</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2</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2 · ERD</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From words to </a:t>
            </a:r>
            <a:r>
              <a:rPr sz="6300" b="1" i="0" u="none">
                <a:solidFill>
                  <a:srgbClr val="F87171"/>
                </a:solidFill>
                <a:latin typeface="Arial"/>
              </a:rPr>
              <a:t>diagrams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We turn a business narrative into entities, attributes and relationships — the COMPANY database first.</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