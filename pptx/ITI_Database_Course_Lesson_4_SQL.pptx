
<file path=[Content_Types].xml><?xml version="1.0" encoding="utf-8"?>
<Types xmlns="http://schemas.openxmlformats.org/package/2006/content-types">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Added TCL, which the original slides used (rollback in the TRUNCATE notes) without naming. Some books also separate SELECT as DQL (data query language).</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Atomicity: performed in its entirety or not at all. Consistency preservation: if executed completely without interference, it takes the database from one consistent state to another. Isolation: it should appear to run alone even though many run concurrently. Durability: committed changes must not be lost because of any failure.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slide: the original defined transactions but never showed COMMIT/ROLLBACK.</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diagram (state diagram from Elmasri &amp; Navathe, chapter 20). A transaction starts Active, becomes Partially committed after its last operation, and Committed once its changes are safely recorded. Any failure moves it to Failed, after which the DBMS rolls it back (Aborted) so the database returns to its state before the transaction.</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Oracle each user automatically owns a schema with the same name. In SQL Server the default schema is dbo; in PostgreSQL it is public.</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Updated: the original only listed alphanumeric, numeric and date/time. The examples in the original used CHAR(50) for names; VARCHAR is the better default.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Modernized from the original Students example (NUMBER(15), CHAR(50)), now with UNIQUE, DEFAULT and CHECK.</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Fixed: the original said TRUNCATE 'can't be rolled back because it's a DDL statement'. That is true in Oracle and MySQL but not in SQL Server or PostgreSQL, where TRUNCATE inside an explicit transaction can be rolled back. Also TRUNCATE usually fails on a table referenced by a foreign key, and resets identity columns in SQL Server.</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Modernized: the original used 'Jan-10-1999' style dates, which depend on the DBMS's date format settings.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Columns not listed get NULL (or their DEFAULT). If a missing column is NOT NULL without a default, the INSERT fails: that is why this example uses a simple persons table, not students (whose id and first_name are required).</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Fixed: in the original slide the SET value (500) and the result (300) did not match; the Before table already showed 500. Before now shows 300 and After shows 500.</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slide: the written order (SELECT first) is not the evaluation order. This explains why a column alias defined in SELECT cannot be used in WHERE but can be used in ORDER BY.</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DISTINCT applies to the whole row of selected columns, not just the first column.</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Original note examples: BETWEEN with dates and NOT BETWEEN. ALL is a subquery operator; it is covered with subqueries.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slide: NULL handling was missing from the original and causes many real bugs. Also warn: NOT IN (subquery) returns no rows if the subquery returns a NULL; prefer NOT EXISTS.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slide: CASE is standard SQL and very common in reports.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Fixed: the original defined FULL JOIN as 'Return rows when there is a match in one of the tables'. A FULL OUTER JOIN returns all rows from both tables: matched pairs, plus unmatched rows from each side padded with NULLs. In the diagrams, the shaded area is what the join returns: A is the left table, B the right one, and the middle is the matched rows.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Modernized: the original used only the comma (theta) join syntax.</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original claimed prefixing improves performance; the main benefit is clarity and avoiding ambiguity errors.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Oracle's old notation WHERE e.dept_id(+) = d.id is equivalent to this RIGHT JOIN. The same result: departments d LEFT JOIN employees e.</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Small fix: the grade ranges in the original overlapped at 4000 (1000-4000 and 4000-7000), so a salary of exactly 4000 would match both grades. Ranges now do not overlap.</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Completes the original's one-line mention of the Cartesian product.</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Completes the original: ANY/SOME was missing. Note: if the subquery returns no rows, &gt; ALL is TRUE for every row while &gt; (SELECT MAX…) compares with NULL and returns nothing.</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Completes the original, which covered only UNION and UNION ALL. Example 2 from the original: SELECT name FROM employees UNION SELECT name FROM employees_retired (current and previous employees).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slide: modern SQL feature that makes subquery-heavy queries readable.</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Rule: every column in SELECT must be either in GROUP BY or inside an aggregate. Result values are from the COMPANY sample data in Elmasri &amp; Navathe.</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slide: window functions (OVER, PARTITION BY) are standard SQL supported by all major DBMSs. GROUP BY would return one row per department; a window keeps one row per employee.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Modernized: the original wrote GRANT SELECT ON TABLE employees; the TABLE keyword is optional in most DBMSs. Roles are new.</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Views are the main tool for the external level of the three-schema architecture (Lesson 1) and for logical data independence.</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diagram. The view holds only its query (in the data dictionary). Users and applications query the view like a table; the DBMS merges their query with the view's SELECT and reads the base tables.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Like the index at the back of a book: sorted keys with pointers to the rows, so the DBMS doesn't scan the whole table.</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New slide (added in the Google Slides edition). A clustered index decides the physical order of the rows, so there can be only one; non-clustered indexes are extra structures that point back to the rows. PostgreSQL's CLUSTER command reorders a table once but does not keep it ordered.</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Fixed: in the original slide, the four 'create an index when' rules were listed under 'Do not create an index when'. The notes had them right. To enforce uniqueness, define a UNIQUE constraint; a unique index is then created automatically.</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sqlbolt.com/" TargetMode="External"/><Relationship Id="rId3" Type="http://schemas.openxmlformats.org/officeDocument/2006/relationships/hyperlink" Target="https://pgexercises.com/" TargetMode="External"/><Relationship Id="rId4" Type="http://schemas.openxmlformats.org/officeDocument/2006/relationships/hyperlink" Target="https://mode.com/sql-tutorial/" TargetMode="External"/><Relationship Id="rId5" Type="http://schemas.openxmlformats.org/officeDocument/2006/relationships/hyperlink" Target="https://www.postgresql.org/docs/current/sql.html" TargetMode="External"/><Relationship Id="rId6" Type="http://schemas.openxmlformats.org/officeDocument/2006/relationships/hyperlink" Target="https://learn.microsoft.com/en-us/sql/t-sql/language-reference" TargetMode="External"/><Relationship Id="rId7" Type="http://schemas.openxmlformats.org/officeDocument/2006/relationships/hyperlink" Target="https://use-the-index-luke.com/"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38200"/>
            <a:ext cx="133350" cy="495300"/>
          </a:xfrm>
          <a:prstGeom prst="rect">
            <a:avLst/>
          </a:prstGeom>
          <a:solidFill>
            <a:srgbClr val="C8102E"/>
          </a:solidFill>
          <a:ln>
            <a:noFill/>
          </a:ln>
        </p:spPr>
        <p:txBody>
          <a:bodyPr rtlCol="0" anchor="ctr" lIns="0" rIns="0" tIns="0" bIns="0"/>
          <a:lstStyle/>
          <a:p>
            <a:pPr algn="ctr"/>
          </a:p>
        </p:txBody>
      </p:sp>
      <p:sp>
        <p:nvSpPr>
          <p:cNvPr id="3" name="TextBox 2"/>
          <p:cNvSpPr txBox="1"/>
          <p:nvPr/>
        </p:nvSpPr>
        <p:spPr>
          <a:xfrm>
            <a:off x="1238250" y="952500"/>
            <a:ext cx="13335000" cy="342900"/>
          </a:xfrm>
          <a:prstGeom prst="rect">
            <a:avLst/>
          </a:prstGeom>
          <a:noFill/>
        </p:spPr>
        <p:txBody>
          <a:bodyPr wrap="square" lIns="0" rIns="0" tIns="0" bIns="0" anchor="t"/>
          <a:lstStyle/>
          <a:p>
            <a:pPr algn="l">
              <a:lnSpc>
                <a:spcPct val="111800"/>
              </a:lnSpc>
            </a:pPr>
            <a:r>
              <a:rPr sz="1800" b="1" i="0" u="none">
                <a:solidFill>
                  <a:srgbClr val="64748B"/>
                </a:solidFill>
                <a:latin typeface="Arial"/>
              </a:rPr>
              <a:t>ITI · DATABASE FUNDAMENTALS · LESSON 4</a:t>
            </a:r>
          </a:p>
        </p:txBody>
      </p:sp>
      <p:sp>
        <p:nvSpPr>
          <p:cNvPr id="4" name="TextBox 3"/>
          <p:cNvSpPr txBox="1"/>
          <p:nvPr/>
        </p:nvSpPr>
        <p:spPr>
          <a:xfrm>
            <a:off x="914400" y="3143250"/>
            <a:ext cx="16459200" cy="2857500"/>
          </a:xfrm>
          <a:prstGeom prst="rect">
            <a:avLst/>
          </a:prstGeom>
          <a:noFill/>
        </p:spPr>
        <p:txBody>
          <a:bodyPr wrap="square" lIns="0" rIns="0" tIns="0" bIns="0" anchor="ctr"/>
          <a:lstStyle/>
          <a:p>
            <a:pPr>
              <a:lnSpc>
                <a:spcPct val="95000"/>
              </a:lnSpc>
            </a:pPr>
            <a:r>
              <a:rPr sz="7500" b="1" i="0" u="none">
                <a:solidFill>
                  <a:srgbClr val="0F172A"/>
                </a:solidFill>
                <a:latin typeface="Arial"/>
              </a:rPr>
              <a:t>Structured Query </a:t>
            </a:r>
            <a:r>
              <a:rPr sz="7500" b="1" i="0" u="none">
                <a:solidFill>
                  <a:srgbClr val="C8102E"/>
                </a:solidFill>
                <a:latin typeface="Arial"/>
              </a:rPr>
              <a:t>Language</a:t>
            </a:r>
          </a:p>
        </p:txBody>
      </p:sp>
      <p:sp>
        <p:nvSpPr>
          <p:cNvPr id="5" name="TextBox 4"/>
          <p:cNvSpPr txBox="1"/>
          <p:nvPr/>
        </p:nvSpPr>
        <p:spPr>
          <a:xfrm>
            <a:off x="914400" y="6191250"/>
            <a:ext cx="14287500" cy="571500"/>
          </a:xfrm>
          <a:prstGeom prst="rect">
            <a:avLst/>
          </a:prstGeom>
          <a:noFill/>
        </p:spPr>
        <p:txBody>
          <a:bodyPr wrap="square" lIns="0" rIns="0" tIns="0" bIns="0" anchor="t"/>
          <a:lstStyle/>
          <a:p>
            <a:pPr algn="l">
              <a:lnSpc>
                <a:spcPct val="111800"/>
              </a:lnSpc>
            </a:pPr>
            <a:r>
              <a:rPr sz="2550" b="0" i="0" u="none">
                <a:solidFill>
                  <a:srgbClr val="334155"/>
                </a:solidFill>
                <a:latin typeface="Calibri"/>
              </a:rPr>
              <a:t>Define, change, query and protect data with SQL.</a:t>
            </a:r>
          </a:p>
        </p:txBody>
      </p:sp>
      <p:sp>
        <p:nvSpPr>
          <p:cNvPr id="6" name="TextBox 5"/>
          <p:cNvSpPr txBox="1"/>
          <p:nvPr/>
        </p:nvSpPr>
        <p:spPr>
          <a:xfrm>
            <a:off x="914400" y="8877300"/>
            <a:ext cx="8572500" cy="359092"/>
          </a:xfrm>
          <a:prstGeom prst="rect">
            <a:avLst/>
          </a:prstGeom>
          <a:noFill/>
        </p:spPr>
        <p:txBody>
          <a:bodyPr wrap="square" lIns="0" rIns="0" tIns="0" bIns="0" anchor="t"/>
          <a:lstStyle/>
          <a:p>
            <a:pPr algn="l">
              <a:lnSpc>
                <a:spcPct val="111800"/>
              </a:lnSpc>
            </a:pPr>
            <a:r>
              <a:rPr sz="1950" b="1" i="0" u="none">
                <a:solidFill>
                  <a:srgbClr val="0F172A"/>
                </a:solidFill>
                <a:latin typeface="Arial"/>
              </a:rPr>
              <a:t>Lecturer: Rana Salah</a:t>
            </a:r>
          </a:p>
        </p:txBody>
      </p:sp>
      <p:sp>
        <p:nvSpPr>
          <p:cNvPr id="7" name="TextBox 6"/>
          <p:cNvSpPr txBox="1"/>
          <p:nvPr/>
        </p:nvSpPr>
        <p:spPr>
          <a:xfrm>
            <a:off x="914400" y="9277350"/>
            <a:ext cx="8572500" cy="359092"/>
          </a:xfrm>
          <a:prstGeom prst="rect">
            <a:avLst/>
          </a:prstGeom>
          <a:noFill/>
        </p:spPr>
        <p:txBody>
          <a:bodyPr wrap="square" lIns="0" rIns="0" tIns="0" bIns="0" anchor="t"/>
          <a:lstStyle/>
          <a:p>
            <a:pPr algn="l">
              <a:lnSpc>
                <a:spcPct val="111800"/>
              </a:lnSpc>
            </a:pPr>
            <a:r>
              <a:rPr sz="1950" b="0" i="0" u="none">
                <a:solidFill>
                  <a:srgbClr val="334155"/>
                </a:solidFill>
                <a:latin typeface="Calibri"/>
              </a:rPr>
              <a:t>rsalah@mcit.gov.eg · Room 3005</a:t>
            </a:r>
          </a:p>
        </p:txBody>
      </p:sp>
      <p:sp>
        <p:nvSpPr>
          <p:cNvPr id="8" name="TextBox 7"/>
          <p:cNvSpPr txBox="1"/>
          <p:nvPr/>
        </p:nvSpPr>
        <p:spPr>
          <a:xfrm>
            <a:off x="8801100" y="8934450"/>
            <a:ext cx="8572500" cy="331470"/>
          </a:xfrm>
          <a:prstGeom prst="rect">
            <a:avLst/>
          </a:prstGeom>
          <a:noFill/>
        </p:spPr>
        <p:txBody>
          <a:bodyPr wrap="square" lIns="0" rIns="0" tIns="0" bIns="0" anchor="t"/>
          <a:lstStyle/>
          <a:p>
            <a:pPr algn="r">
              <a:lnSpc>
                <a:spcPct val="111800"/>
              </a:lnSpc>
            </a:pPr>
            <a:r>
              <a:rPr sz="1800" b="0" i="0" u="none">
                <a:solidFill>
                  <a:srgbClr val="64748B"/>
                </a:solidFill>
                <a:latin typeface="Calibri"/>
              </a:rPr>
              <a:t>Based on original slides by</a:t>
            </a:r>
          </a:p>
        </p:txBody>
      </p:sp>
      <p:sp>
        <p:nvSpPr>
          <p:cNvPr id="9" name="TextBox 8"/>
          <p:cNvSpPr txBox="1"/>
          <p:nvPr/>
        </p:nvSpPr>
        <p:spPr>
          <a:xfrm>
            <a:off x="8801100" y="9296400"/>
            <a:ext cx="8572500" cy="331470"/>
          </a:xfrm>
          <a:prstGeom prst="rect">
            <a:avLst/>
          </a:prstGeom>
          <a:noFill/>
        </p:spPr>
        <p:txBody>
          <a:bodyPr wrap="square" lIns="0" rIns="0" tIns="0" bIns="0" anchor="t"/>
          <a:lstStyle/>
          <a:p>
            <a:pPr algn="r">
              <a:lnSpc>
                <a:spcPct val="111800"/>
              </a:lnSpc>
            </a:pPr>
            <a:r>
              <a:rPr sz="1800" b="0" i="0" u="none">
                <a:solidFill>
                  <a:srgbClr val="334155"/>
                </a:solidFill>
                <a:latin typeface="Calibri"/>
              </a:rPr>
              <a:t>Shahinaz S. Azab · edited by Mona Saleh · Rana Salah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02 · AGENDA</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02/71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What this lesson covers</a:t>
            </a:r>
          </a:p>
        </p:txBody>
      </p:sp>
      <p:sp>
        <p:nvSpPr>
          <p:cNvPr id="6" name="TextBox 5"/>
          <p:cNvSpPr txBox="1"/>
          <p:nvPr/>
        </p:nvSpPr>
        <p:spPr>
          <a:xfrm>
            <a:off x="914400" y="285750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01</a:t>
            </a:r>
          </a:p>
        </p:txBody>
      </p:sp>
      <p:sp>
        <p:nvSpPr>
          <p:cNvPr id="7" name="TextBox 6"/>
          <p:cNvSpPr txBox="1"/>
          <p:nvPr/>
        </p:nvSpPr>
        <p:spPr>
          <a:xfrm>
            <a:off x="1676400" y="2857500"/>
            <a:ext cx="70866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SQL foundations</a:t>
            </a:r>
          </a:p>
        </p:txBody>
      </p:sp>
      <p:sp>
        <p:nvSpPr>
          <p:cNvPr id="8" name="TextBox 7"/>
          <p:cNvSpPr txBox="1"/>
          <p:nvPr/>
        </p:nvSpPr>
        <p:spPr>
          <a:xfrm>
            <a:off x="1676400" y="3314700"/>
            <a:ext cx="70866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The four families of SQL statements, transactions, schemas and data types.</a:t>
            </a:r>
          </a:p>
        </p:txBody>
      </p:sp>
      <p:cxnSp>
        <p:nvCxnSpPr>
          <p:cNvPr id="9" name="Connector 8"/>
          <p:cNvCxnSpPr/>
          <p:nvPr/>
        </p:nvCxnSpPr>
        <p:spPr>
          <a:xfrm>
            <a:off x="914400" y="4114800"/>
            <a:ext cx="7848600" cy="0"/>
          </a:xfrm>
          <a:prstGeom prst="line">
            <a:avLst/>
          </a:prstGeom>
          <a:ln w="14287">
            <a:solidFill>
              <a:srgbClr val="E2E8F0"/>
            </a:solidFill>
          </a:ln>
        </p:spPr>
      </p:cxnSp>
      <p:sp>
        <p:nvSpPr>
          <p:cNvPr id="10" name="TextBox 9"/>
          <p:cNvSpPr txBox="1"/>
          <p:nvPr/>
        </p:nvSpPr>
        <p:spPr>
          <a:xfrm>
            <a:off x="914400" y="428625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02</a:t>
            </a:r>
          </a:p>
        </p:txBody>
      </p:sp>
      <p:sp>
        <p:nvSpPr>
          <p:cNvPr id="11" name="TextBox 10"/>
          <p:cNvSpPr txBox="1"/>
          <p:nvPr/>
        </p:nvSpPr>
        <p:spPr>
          <a:xfrm>
            <a:off x="1676400" y="4286250"/>
            <a:ext cx="70866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Defining structure (DDL)</a:t>
            </a:r>
          </a:p>
        </p:txBody>
      </p:sp>
      <p:sp>
        <p:nvSpPr>
          <p:cNvPr id="12" name="TextBox 11"/>
          <p:cNvSpPr txBox="1"/>
          <p:nvPr/>
        </p:nvSpPr>
        <p:spPr>
          <a:xfrm>
            <a:off x="1676400" y="4743450"/>
            <a:ext cx="70866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CREATE, ALTER, DROP and TRUNCATE, with constraints and foreign keys.</a:t>
            </a:r>
          </a:p>
        </p:txBody>
      </p:sp>
      <p:cxnSp>
        <p:nvCxnSpPr>
          <p:cNvPr id="13" name="Connector 12"/>
          <p:cNvCxnSpPr/>
          <p:nvPr/>
        </p:nvCxnSpPr>
        <p:spPr>
          <a:xfrm>
            <a:off x="914400" y="5543550"/>
            <a:ext cx="7848600" cy="0"/>
          </a:xfrm>
          <a:prstGeom prst="line">
            <a:avLst/>
          </a:prstGeom>
          <a:ln w="14287">
            <a:solidFill>
              <a:srgbClr val="E2E8F0"/>
            </a:solidFill>
          </a:ln>
        </p:spPr>
      </p:cxnSp>
      <p:sp>
        <p:nvSpPr>
          <p:cNvPr id="14" name="TextBox 13"/>
          <p:cNvSpPr txBox="1"/>
          <p:nvPr/>
        </p:nvSpPr>
        <p:spPr>
          <a:xfrm>
            <a:off x="914400" y="571500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03</a:t>
            </a:r>
          </a:p>
        </p:txBody>
      </p:sp>
      <p:sp>
        <p:nvSpPr>
          <p:cNvPr id="15" name="TextBox 14"/>
          <p:cNvSpPr txBox="1"/>
          <p:nvPr/>
        </p:nvSpPr>
        <p:spPr>
          <a:xfrm>
            <a:off x="1676400" y="5715000"/>
            <a:ext cx="70866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Changing data (DML)</a:t>
            </a:r>
          </a:p>
        </p:txBody>
      </p:sp>
      <p:sp>
        <p:nvSpPr>
          <p:cNvPr id="16" name="TextBox 15"/>
          <p:cNvSpPr txBox="1"/>
          <p:nvPr/>
        </p:nvSpPr>
        <p:spPr>
          <a:xfrm>
            <a:off x="1676400" y="6172200"/>
            <a:ext cx="70866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INSERT, UPDATE and DELETE, and how not to update every row by accident.</a:t>
            </a:r>
          </a:p>
        </p:txBody>
      </p:sp>
      <p:cxnSp>
        <p:nvCxnSpPr>
          <p:cNvPr id="17" name="Connector 16"/>
          <p:cNvCxnSpPr/>
          <p:nvPr/>
        </p:nvCxnSpPr>
        <p:spPr>
          <a:xfrm>
            <a:off x="914400" y="6972300"/>
            <a:ext cx="7848600" cy="0"/>
          </a:xfrm>
          <a:prstGeom prst="line">
            <a:avLst/>
          </a:prstGeom>
          <a:ln w="14287">
            <a:solidFill>
              <a:srgbClr val="E2E8F0"/>
            </a:solidFill>
          </a:ln>
        </p:spPr>
      </p:cxnSp>
      <p:sp>
        <p:nvSpPr>
          <p:cNvPr id="18" name="TextBox 17"/>
          <p:cNvSpPr txBox="1"/>
          <p:nvPr/>
        </p:nvSpPr>
        <p:spPr>
          <a:xfrm>
            <a:off x="914400" y="714375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04</a:t>
            </a:r>
          </a:p>
        </p:txBody>
      </p:sp>
      <p:sp>
        <p:nvSpPr>
          <p:cNvPr id="19" name="TextBox 18"/>
          <p:cNvSpPr txBox="1"/>
          <p:nvPr/>
        </p:nvSpPr>
        <p:spPr>
          <a:xfrm>
            <a:off x="1676400" y="7143750"/>
            <a:ext cx="70866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Querying one table</a:t>
            </a:r>
          </a:p>
        </p:txBody>
      </p:sp>
      <p:sp>
        <p:nvSpPr>
          <p:cNvPr id="20" name="TextBox 19"/>
          <p:cNvSpPr txBox="1"/>
          <p:nvPr/>
        </p:nvSpPr>
        <p:spPr>
          <a:xfrm>
            <a:off x="1676400" y="7600950"/>
            <a:ext cx="70866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SELECT, DISTINCT, filtering, NULLs, sorting, computed columns and CASE.</a:t>
            </a:r>
          </a:p>
        </p:txBody>
      </p:sp>
      <p:cxnSp>
        <p:nvCxnSpPr>
          <p:cNvPr id="21" name="Connector 20"/>
          <p:cNvCxnSpPr/>
          <p:nvPr/>
        </p:nvCxnSpPr>
        <p:spPr>
          <a:xfrm>
            <a:off x="914400" y="8401050"/>
            <a:ext cx="7848600" cy="0"/>
          </a:xfrm>
          <a:prstGeom prst="line">
            <a:avLst/>
          </a:prstGeom>
          <a:ln w="14287">
            <a:solidFill>
              <a:srgbClr val="E2E8F0"/>
            </a:solidFill>
          </a:ln>
        </p:spPr>
      </p:cxnSp>
      <p:sp>
        <p:nvSpPr>
          <p:cNvPr id="22" name="TextBox 21"/>
          <p:cNvSpPr txBox="1"/>
          <p:nvPr/>
        </p:nvSpPr>
        <p:spPr>
          <a:xfrm>
            <a:off x="9525000" y="285750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05</a:t>
            </a:r>
          </a:p>
        </p:txBody>
      </p:sp>
      <p:sp>
        <p:nvSpPr>
          <p:cNvPr id="23" name="TextBox 22"/>
          <p:cNvSpPr txBox="1"/>
          <p:nvPr/>
        </p:nvSpPr>
        <p:spPr>
          <a:xfrm>
            <a:off x="10287000" y="2857500"/>
            <a:ext cx="70866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Joining tables</a:t>
            </a:r>
          </a:p>
        </p:txBody>
      </p:sp>
      <p:sp>
        <p:nvSpPr>
          <p:cNvPr id="24" name="TextBox 23"/>
          <p:cNvSpPr txBox="1"/>
          <p:nvPr/>
        </p:nvSpPr>
        <p:spPr>
          <a:xfrm>
            <a:off x="10287000" y="3314700"/>
            <a:ext cx="70866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Combine rows from several tables: inner, outer, self, non-equi and cross joins.</a:t>
            </a:r>
          </a:p>
        </p:txBody>
      </p:sp>
      <p:cxnSp>
        <p:nvCxnSpPr>
          <p:cNvPr id="25" name="Connector 24"/>
          <p:cNvCxnSpPr/>
          <p:nvPr/>
        </p:nvCxnSpPr>
        <p:spPr>
          <a:xfrm>
            <a:off x="9525000" y="4114800"/>
            <a:ext cx="7848600" cy="0"/>
          </a:xfrm>
          <a:prstGeom prst="line">
            <a:avLst/>
          </a:prstGeom>
          <a:ln w="14287">
            <a:solidFill>
              <a:srgbClr val="E2E8F0"/>
            </a:solidFill>
          </a:ln>
        </p:spPr>
      </p:cxnSp>
      <p:sp>
        <p:nvSpPr>
          <p:cNvPr id="26" name="TextBox 25"/>
          <p:cNvSpPr txBox="1"/>
          <p:nvPr/>
        </p:nvSpPr>
        <p:spPr>
          <a:xfrm>
            <a:off x="9525000" y="428625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06</a:t>
            </a:r>
          </a:p>
        </p:txBody>
      </p:sp>
      <p:sp>
        <p:nvSpPr>
          <p:cNvPr id="27" name="TextBox 26"/>
          <p:cNvSpPr txBox="1"/>
          <p:nvPr/>
        </p:nvSpPr>
        <p:spPr>
          <a:xfrm>
            <a:off x="10287000" y="4286250"/>
            <a:ext cx="70866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Subqueries &amp; set operators</a:t>
            </a:r>
          </a:p>
        </p:txBody>
      </p:sp>
      <p:sp>
        <p:nvSpPr>
          <p:cNvPr id="28" name="TextBox 27"/>
          <p:cNvSpPr txBox="1"/>
          <p:nvPr/>
        </p:nvSpPr>
        <p:spPr>
          <a:xfrm>
            <a:off x="10287000" y="4743450"/>
            <a:ext cx="70866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Queries inside queries, EXISTS, UNION and friends, and CTEs.</a:t>
            </a:r>
          </a:p>
        </p:txBody>
      </p:sp>
      <p:cxnSp>
        <p:nvCxnSpPr>
          <p:cNvPr id="29" name="Connector 28"/>
          <p:cNvCxnSpPr/>
          <p:nvPr/>
        </p:nvCxnSpPr>
        <p:spPr>
          <a:xfrm>
            <a:off x="9525000" y="5543550"/>
            <a:ext cx="7848600" cy="0"/>
          </a:xfrm>
          <a:prstGeom prst="line">
            <a:avLst/>
          </a:prstGeom>
          <a:ln w="14287">
            <a:solidFill>
              <a:srgbClr val="E2E8F0"/>
            </a:solidFill>
          </a:ln>
        </p:spPr>
      </p:cxnSp>
      <p:sp>
        <p:nvSpPr>
          <p:cNvPr id="30" name="TextBox 29"/>
          <p:cNvSpPr txBox="1"/>
          <p:nvPr/>
        </p:nvSpPr>
        <p:spPr>
          <a:xfrm>
            <a:off x="9525000" y="571500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07</a:t>
            </a:r>
          </a:p>
        </p:txBody>
      </p:sp>
      <p:sp>
        <p:nvSpPr>
          <p:cNvPr id="31" name="TextBox 30"/>
          <p:cNvSpPr txBox="1"/>
          <p:nvPr/>
        </p:nvSpPr>
        <p:spPr>
          <a:xfrm>
            <a:off x="10287000" y="5715000"/>
            <a:ext cx="70866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Summarizing data</a:t>
            </a:r>
          </a:p>
        </p:txBody>
      </p:sp>
      <p:sp>
        <p:nvSpPr>
          <p:cNvPr id="32" name="TextBox 31"/>
          <p:cNvSpPr txBox="1"/>
          <p:nvPr/>
        </p:nvSpPr>
        <p:spPr>
          <a:xfrm>
            <a:off x="10287000" y="6172200"/>
            <a:ext cx="70866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Aggregate functions, GROUP BY, HAVING and window functions.</a:t>
            </a:r>
          </a:p>
        </p:txBody>
      </p:sp>
      <p:cxnSp>
        <p:nvCxnSpPr>
          <p:cNvPr id="33" name="Connector 32"/>
          <p:cNvCxnSpPr/>
          <p:nvPr/>
        </p:nvCxnSpPr>
        <p:spPr>
          <a:xfrm>
            <a:off x="9525000" y="6972300"/>
            <a:ext cx="7848600" cy="0"/>
          </a:xfrm>
          <a:prstGeom prst="line">
            <a:avLst/>
          </a:prstGeom>
          <a:ln w="14287">
            <a:solidFill>
              <a:srgbClr val="E2E8F0"/>
            </a:solidFill>
          </a:ln>
        </p:spPr>
      </p:cxnSp>
      <p:sp>
        <p:nvSpPr>
          <p:cNvPr id="34" name="TextBox 33"/>
          <p:cNvSpPr txBox="1"/>
          <p:nvPr/>
        </p:nvSpPr>
        <p:spPr>
          <a:xfrm>
            <a:off x="9525000" y="7143750"/>
            <a:ext cx="66675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08</a:t>
            </a:r>
          </a:p>
        </p:txBody>
      </p:sp>
      <p:sp>
        <p:nvSpPr>
          <p:cNvPr id="35" name="TextBox 34"/>
          <p:cNvSpPr txBox="1"/>
          <p:nvPr/>
        </p:nvSpPr>
        <p:spPr>
          <a:xfrm>
            <a:off x="10287000" y="7143750"/>
            <a:ext cx="7086600" cy="441960"/>
          </a:xfrm>
          <a:prstGeom prst="rect">
            <a:avLst/>
          </a:prstGeom>
          <a:noFill/>
        </p:spPr>
        <p:txBody>
          <a:bodyPr wrap="square" lIns="0" rIns="0" tIns="0" bIns="0" anchor="t"/>
          <a:lstStyle/>
          <a:p>
            <a:pPr algn="l">
              <a:lnSpc>
                <a:spcPct val="111800"/>
              </a:lnSpc>
            </a:pPr>
            <a:r>
              <a:rPr sz="2400" b="1" i="0" u="none">
                <a:solidFill>
                  <a:srgbClr val="0F172A"/>
                </a:solidFill>
                <a:latin typeface="Arial"/>
              </a:rPr>
              <a:t>Security, views &amp; indexes</a:t>
            </a:r>
          </a:p>
        </p:txBody>
      </p:sp>
      <p:sp>
        <p:nvSpPr>
          <p:cNvPr id="36" name="TextBox 35"/>
          <p:cNvSpPr txBox="1"/>
          <p:nvPr/>
        </p:nvSpPr>
        <p:spPr>
          <a:xfrm>
            <a:off x="10287000" y="7600950"/>
            <a:ext cx="7086600" cy="666750"/>
          </a:xfrm>
          <a:prstGeom prst="rect">
            <a:avLst/>
          </a:prstGeom>
          <a:noFill/>
        </p:spPr>
        <p:txBody>
          <a:bodyPr wrap="square" lIns="0" rIns="0" tIns="0" bIns="0" anchor="t"/>
          <a:lstStyle/>
          <a:p>
            <a:pPr algn="l">
              <a:lnSpc>
                <a:spcPct val="111800"/>
              </a:lnSpc>
            </a:pPr>
            <a:r>
              <a:rPr sz="1800" b="0" i="0" u="none">
                <a:solidFill>
                  <a:srgbClr val="64748B"/>
                </a:solidFill>
                <a:latin typeface="Calibri"/>
              </a:rPr>
              <a:t>Control access, simplify queries and speed up searches.</a:t>
            </a:r>
          </a:p>
        </p:txBody>
      </p:sp>
      <p:cxnSp>
        <p:nvCxnSpPr>
          <p:cNvPr id="37" name="Connector 36"/>
          <p:cNvCxnSpPr/>
          <p:nvPr/>
        </p:nvCxnSpPr>
        <p:spPr>
          <a:xfrm>
            <a:off x="9525000" y="8401050"/>
            <a:ext cx="7848600" cy="0"/>
          </a:xfrm>
          <a:prstGeom prst="line">
            <a:avLst/>
          </a:prstGeom>
          <a:ln w="14287">
            <a:solidFill>
              <a:srgbClr val="E2E8F0"/>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52704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LESSON 4</a:t>
            </a:r>
          </a:p>
        </p:txBody>
      </p:sp>
      <p:cxnSp>
        <p:nvCxnSpPr>
          <p:cNvPr id="3" name="Connector 2"/>
          <p:cNvCxnSpPr/>
          <p:nvPr/>
        </p:nvCxnSpPr>
        <p:spPr>
          <a:xfrm>
            <a:off x="2517648" y="981075"/>
            <a:ext cx="1400822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03/71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By the end of this lesson you can</a:t>
            </a:r>
          </a:p>
        </p:txBody>
      </p:sp>
      <p:sp>
        <p:nvSpPr>
          <p:cNvPr id="6" name="Rectangle 5"/>
          <p:cNvSpPr/>
          <p:nvPr/>
        </p:nvSpPr>
        <p:spPr>
          <a:xfrm>
            <a:off x="914400" y="2482024"/>
            <a:ext cx="5273040" cy="2399179"/>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01</a:t>
            </a:r>
          </a:p>
        </p:txBody>
      </p:sp>
      <p:sp>
        <p:nvSpPr>
          <p:cNvPr id="8" name="TextBox 7"/>
          <p:cNvSpPr txBox="1"/>
          <p:nvPr/>
        </p:nvSpPr>
        <p:spPr>
          <a:xfrm>
            <a:off x="1314450" y="3469027"/>
            <a:ext cx="4472940" cy="1012126"/>
          </a:xfrm>
          <a:prstGeom prst="rect">
            <a:avLst/>
          </a:prstGeom>
          <a:noFill/>
        </p:spPr>
        <p:txBody>
          <a:bodyPr wrap="square" lIns="0" rIns="0" tIns="0" bIns="0" anchor="t"/>
          <a:lstStyle/>
          <a:p>
            <a:pPr algn="l">
              <a:lnSpc>
                <a:spcPct val="111800"/>
              </a:lnSpc>
            </a:pPr>
            <a:r>
              <a:rPr sz="2898" b="0" i="0" u="none">
                <a:solidFill>
                  <a:srgbClr val="334155"/>
                </a:solidFill>
                <a:latin typeface="Calibri"/>
              </a:rPr>
              <a:t>Explain </a:t>
            </a:r>
            <a:r>
              <a:rPr sz="2898" b="1" i="0" u="none">
                <a:solidFill>
                  <a:srgbClr val="334155"/>
                </a:solidFill>
                <a:latin typeface="Calibri"/>
              </a:rPr>
              <a:t>transactions</a:t>
            </a:r>
            <a:r>
              <a:rPr sz="2898" b="0" i="0" u="none">
                <a:solidFill>
                  <a:srgbClr val="334155"/>
                </a:solidFill>
                <a:latin typeface="Calibri"/>
              </a:rPr>
              <a:t> and the ACID properties</a:t>
            </a:r>
          </a:p>
        </p:txBody>
      </p:sp>
      <p:sp>
        <p:nvSpPr>
          <p:cNvPr id="9" name="Rectangle 8"/>
          <p:cNvSpPr/>
          <p:nvPr/>
        </p:nvSpPr>
        <p:spPr>
          <a:xfrm>
            <a:off x="6507480" y="2482024"/>
            <a:ext cx="5273040" cy="2399179"/>
          </a:xfrm>
          <a:prstGeom prst="rect">
            <a:avLst/>
          </a:prstGeom>
          <a:solidFill>
            <a:srgbClr val="FFFFFF"/>
          </a:solidFill>
          <a:ln w="14287">
            <a:solidFill>
              <a:srgbClr val="E2E8F0"/>
            </a:solidFill>
          </a:ln>
        </p:spPr>
        <p:txBody>
          <a:bodyPr rtlCol="0" anchor="ctr" lIns="0" rIns="0" tIns="0" bIns="0"/>
          <a:lstStyle/>
          <a:p>
            <a:pPr algn="ctr"/>
          </a:p>
        </p:txBody>
      </p:sp>
      <p:sp>
        <p:nvSpPr>
          <p:cNvPr id="10" name="TextBox 9"/>
          <p:cNvSpPr txBox="1"/>
          <p:nvPr/>
        </p:nvSpPr>
        <p:spPr>
          <a:xfrm>
            <a:off x="6907530" y="288207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02</a:t>
            </a:r>
          </a:p>
        </p:txBody>
      </p:sp>
      <p:sp>
        <p:nvSpPr>
          <p:cNvPr id="11" name="TextBox 10"/>
          <p:cNvSpPr txBox="1"/>
          <p:nvPr/>
        </p:nvSpPr>
        <p:spPr>
          <a:xfrm>
            <a:off x="6907530" y="3469027"/>
            <a:ext cx="4472940" cy="1012126"/>
          </a:xfrm>
          <a:prstGeom prst="rect">
            <a:avLst/>
          </a:prstGeom>
          <a:noFill/>
        </p:spPr>
        <p:txBody>
          <a:bodyPr wrap="square" lIns="0" rIns="0" tIns="0" bIns="0" anchor="t"/>
          <a:lstStyle/>
          <a:p>
            <a:pPr algn="l">
              <a:lnSpc>
                <a:spcPct val="111800"/>
              </a:lnSpc>
            </a:pPr>
            <a:r>
              <a:rPr sz="2898" b="0" i="0" u="none">
                <a:solidFill>
                  <a:srgbClr val="334155"/>
                </a:solidFill>
                <a:latin typeface="Calibri"/>
              </a:rPr>
              <a:t>Create and change tables with </a:t>
            </a:r>
            <a:r>
              <a:rPr sz="2898" b="1" i="0" u="none">
                <a:solidFill>
                  <a:srgbClr val="334155"/>
                </a:solidFill>
                <a:latin typeface="Calibri"/>
              </a:rPr>
              <a:t>DDL</a:t>
            </a:r>
            <a:r>
              <a:rPr sz="2898" b="0" i="0" u="none">
                <a:solidFill>
                  <a:srgbClr val="334155"/>
                </a:solidFill>
                <a:latin typeface="Calibri"/>
              </a:rPr>
              <a:t> and constraints</a:t>
            </a:r>
          </a:p>
        </p:txBody>
      </p:sp>
      <p:sp>
        <p:nvSpPr>
          <p:cNvPr id="12" name="Rectangle 11"/>
          <p:cNvSpPr/>
          <p:nvPr/>
        </p:nvSpPr>
        <p:spPr>
          <a:xfrm>
            <a:off x="12100560" y="2482024"/>
            <a:ext cx="5273040" cy="2399179"/>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12500610" y="288207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03</a:t>
            </a:r>
          </a:p>
        </p:txBody>
      </p:sp>
      <p:sp>
        <p:nvSpPr>
          <p:cNvPr id="14" name="TextBox 13"/>
          <p:cNvSpPr txBox="1"/>
          <p:nvPr/>
        </p:nvSpPr>
        <p:spPr>
          <a:xfrm>
            <a:off x="12500610" y="3469027"/>
            <a:ext cx="4472940" cy="1012126"/>
          </a:xfrm>
          <a:prstGeom prst="rect">
            <a:avLst/>
          </a:prstGeom>
          <a:noFill/>
        </p:spPr>
        <p:txBody>
          <a:bodyPr wrap="square" lIns="0" rIns="0" tIns="0" bIns="0" anchor="t"/>
          <a:lstStyle/>
          <a:p>
            <a:pPr algn="l">
              <a:lnSpc>
                <a:spcPct val="111800"/>
              </a:lnSpc>
            </a:pPr>
            <a:r>
              <a:rPr sz="2898" b="0" i="0" u="none">
                <a:solidFill>
                  <a:srgbClr val="334155"/>
                </a:solidFill>
                <a:latin typeface="Calibri"/>
              </a:rPr>
              <a:t>Insert, update and delete rows </a:t>
            </a:r>
            <a:r>
              <a:rPr sz="2898" b="1" i="0" u="none">
                <a:solidFill>
                  <a:srgbClr val="334155"/>
                </a:solidFill>
                <a:latin typeface="Calibri"/>
              </a:rPr>
              <a:t>safely</a:t>
            </a:r>
          </a:p>
        </p:txBody>
      </p:sp>
      <p:sp>
        <p:nvSpPr>
          <p:cNvPr id="15" name="Rectangle 14"/>
          <p:cNvSpPr/>
          <p:nvPr/>
        </p:nvSpPr>
        <p:spPr>
          <a:xfrm>
            <a:off x="914400" y="5201244"/>
            <a:ext cx="5273040" cy="2877639"/>
          </a:xfrm>
          <a:prstGeom prst="rect">
            <a:avLst/>
          </a:prstGeom>
          <a:solidFill>
            <a:srgbClr val="FFFFFF"/>
          </a:solidFill>
          <a:ln w="14287">
            <a:solidFill>
              <a:srgbClr val="E2E8F0"/>
            </a:solidFill>
          </a:ln>
        </p:spPr>
        <p:txBody>
          <a:bodyPr rtlCol="0" anchor="ctr" lIns="0" rIns="0" tIns="0" bIns="0"/>
          <a:lstStyle/>
          <a:p>
            <a:pPr algn="ctr"/>
          </a:p>
        </p:txBody>
      </p:sp>
      <p:sp>
        <p:nvSpPr>
          <p:cNvPr id="16" name="TextBox 15"/>
          <p:cNvSpPr txBox="1"/>
          <p:nvPr/>
        </p:nvSpPr>
        <p:spPr>
          <a:xfrm>
            <a:off x="1314450" y="560129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04</a:t>
            </a:r>
          </a:p>
        </p:txBody>
      </p:sp>
      <p:sp>
        <p:nvSpPr>
          <p:cNvPr id="17" name="TextBox 16"/>
          <p:cNvSpPr txBox="1"/>
          <p:nvPr/>
        </p:nvSpPr>
        <p:spPr>
          <a:xfrm>
            <a:off x="1314450" y="6188247"/>
            <a:ext cx="4472940" cy="1012126"/>
          </a:xfrm>
          <a:prstGeom prst="rect">
            <a:avLst/>
          </a:prstGeom>
          <a:noFill/>
        </p:spPr>
        <p:txBody>
          <a:bodyPr wrap="square" lIns="0" rIns="0" tIns="0" bIns="0" anchor="t"/>
          <a:lstStyle/>
          <a:p>
            <a:pPr algn="l">
              <a:lnSpc>
                <a:spcPct val="111800"/>
              </a:lnSpc>
            </a:pPr>
            <a:r>
              <a:rPr sz="2898" b="0" i="0" u="none">
                <a:solidFill>
                  <a:srgbClr val="334155"/>
                </a:solidFill>
                <a:latin typeface="Calibri"/>
              </a:rPr>
              <a:t>Write queries with </a:t>
            </a:r>
            <a:r>
              <a:rPr sz="2898" b="1" i="0" u="none">
                <a:solidFill>
                  <a:srgbClr val="334155"/>
                </a:solidFill>
                <a:latin typeface="Calibri"/>
              </a:rPr>
              <a:t>filters, joins and subqueries</a:t>
            </a:r>
          </a:p>
        </p:txBody>
      </p:sp>
      <p:sp>
        <p:nvSpPr>
          <p:cNvPr id="18" name="Rectangle 17"/>
          <p:cNvSpPr/>
          <p:nvPr/>
        </p:nvSpPr>
        <p:spPr>
          <a:xfrm>
            <a:off x="6507480" y="5201244"/>
            <a:ext cx="5273040" cy="2877639"/>
          </a:xfrm>
          <a:prstGeom prst="rect">
            <a:avLst/>
          </a:prstGeom>
          <a:solidFill>
            <a:srgbClr val="FFFFFF"/>
          </a:solidFill>
          <a:ln w="14287">
            <a:solidFill>
              <a:srgbClr val="E2E8F0"/>
            </a:solidFill>
          </a:ln>
        </p:spPr>
        <p:txBody>
          <a:bodyPr rtlCol="0" anchor="ctr" lIns="0" rIns="0" tIns="0" bIns="0"/>
          <a:lstStyle/>
          <a:p>
            <a:pPr algn="ctr"/>
          </a:p>
        </p:txBody>
      </p:sp>
      <p:sp>
        <p:nvSpPr>
          <p:cNvPr id="19" name="TextBox 18"/>
          <p:cNvSpPr txBox="1"/>
          <p:nvPr/>
        </p:nvSpPr>
        <p:spPr>
          <a:xfrm>
            <a:off x="6907530" y="560129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05</a:t>
            </a:r>
          </a:p>
        </p:txBody>
      </p:sp>
      <p:sp>
        <p:nvSpPr>
          <p:cNvPr id="20" name="TextBox 19"/>
          <p:cNvSpPr txBox="1"/>
          <p:nvPr/>
        </p:nvSpPr>
        <p:spPr>
          <a:xfrm>
            <a:off x="6907530" y="6188247"/>
            <a:ext cx="4472940" cy="1490586"/>
          </a:xfrm>
          <a:prstGeom prst="rect">
            <a:avLst/>
          </a:prstGeom>
          <a:noFill/>
        </p:spPr>
        <p:txBody>
          <a:bodyPr wrap="square" lIns="0" rIns="0" tIns="0" bIns="0" anchor="t"/>
          <a:lstStyle/>
          <a:p>
            <a:pPr algn="l">
              <a:lnSpc>
                <a:spcPct val="111800"/>
              </a:lnSpc>
            </a:pPr>
            <a:r>
              <a:rPr sz="2898" b="0" i="0" u="none">
                <a:solidFill>
                  <a:srgbClr val="334155"/>
                </a:solidFill>
                <a:latin typeface="Calibri"/>
              </a:rPr>
              <a:t>Summarize data with </a:t>
            </a:r>
            <a:r>
              <a:rPr sz="2898" b="1" i="0" u="none">
                <a:solidFill>
                  <a:srgbClr val="334155"/>
                </a:solidFill>
                <a:latin typeface="Calibri"/>
              </a:rPr>
              <a:t>GROUP BY, HAVING</a:t>
            </a:r>
            <a:r>
              <a:rPr sz="2898" b="0" i="0" u="none">
                <a:solidFill>
                  <a:srgbClr val="334155"/>
                </a:solidFill>
                <a:latin typeface="Calibri"/>
              </a:rPr>
              <a:t> and window functions</a:t>
            </a:r>
          </a:p>
        </p:txBody>
      </p:sp>
      <p:sp>
        <p:nvSpPr>
          <p:cNvPr id="21" name="Rectangle 20"/>
          <p:cNvSpPr/>
          <p:nvPr/>
        </p:nvSpPr>
        <p:spPr>
          <a:xfrm>
            <a:off x="12100560" y="5201244"/>
            <a:ext cx="5273040" cy="2877639"/>
          </a:xfrm>
          <a:prstGeom prst="rect">
            <a:avLst/>
          </a:prstGeom>
          <a:solidFill>
            <a:srgbClr val="FFFFFF"/>
          </a:solidFill>
          <a:ln w="14287">
            <a:solidFill>
              <a:srgbClr val="E2E8F0"/>
            </a:solidFill>
          </a:ln>
        </p:spPr>
        <p:txBody>
          <a:bodyPr rtlCol="0" anchor="ctr" lIns="0" rIns="0" tIns="0" bIns="0"/>
          <a:lstStyle/>
          <a:p>
            <a:pPr algn="ctr"/>
          </a:p>
        </p:txBody>
      </p:sp>
      <p:sp>
        <p:nvSpPr>
          <p:cNvPr id="22" name="TextBox 21"/>
          <p:cNvSpPr txBox="1"/>
          <p:nvPr/>
        </p:nvSpPr>
        <p:spPr>
          <a:xfrm>
            <a:off x="12500610" y="5601294"/>
            <a:ext cx="447294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06</a:t>
            </a:r>
          </a:p>
        </p:txBody>
      </p:sp>
      <p:sp>
        <p:nvSpPr>
          <p:cNvPr id="23" name="TextBox 22"/>
          <p:cNvSpPr txBox="1"/>
          <p:nvPr/>
        </p:nvSpPr>
        <p:spPr>
          <a:xfrm>
            <a:off x="12500610" y="6188247"/>
            <a:ext cx="4472940" cy="1012126"/>
          </a:xfrm>
          <a:prstGeom prst="rect">
            <a:avLst/>
          </a:prstGeom>
          <a:noFill/>
        </p:spPr>
        <p:txBody>
          <a:bodyPr wrap="square" lIns="0" rIns="0" tIns="0" bIns="0" anchor="t"/>
          <a:lstStyle/>
          <a:p>
            <a:pPr algn="l">
              <a:lnSpc>
                <a:spcPct val="111800"/>
              </a:lnSpc>
            </a:pPr>
            <a:r>
              <a:rPr sz="2898" b="0" i="0" u="none">
                <a:solidFill>
                  <a:srgbClr val="334155"/>
                </a:solidFill>
                <a:latin typeface="Calibri"/>
              </a:rPr>
              <a:t>Use </a:t>
            </a:r>
            <a:r>
              <a:rPr sz="2898" b="1" i="0" u="none">
                <a:solidFill>
                  <a:srgbClr val="334155"/>
                </a:solidFill>
                <a:latin typeface="Calibri"/>
              </a:rPr>
              <a:t>views, indexes</a:t>
            </a:r>
            <a:r>
              <a:rPr sz="2898" b="0" i="0" u="none">
                <a:solidFill>
                  <a:srgbClr val="334155"/>
                </a:solidFill>
                <a:latin typeface="Calibri"/>
              </a:rPr>
              <a:t> and </a:t>
            </a:r>
            <a:r>
              <a:rPr sz="2898" b="1" i="0" u="none">
                <a:solidFill>
                  <a:srgbClr val="334155"/>
                </a:solidFill>
                <a:latin typeface="Calibri"/>
              </a:rPr>
              <a:t>GRANT/REVOKE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01</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04/71</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01</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SQL foundations</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The four families of SQL statements, transactions, schemas and data types.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FOUNDATIONS</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05/71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Four categories of SQL statements</a:t>
            </a:r>
          </a:p>
        </p:txBody>
      </p:sp>
      <p:sp>
        <p:nvSpPr>
          <p:cNvPr id="6" name="Rectangle 5"/>
          <p:cNvSpPr/>
          <p:nvPr/>
        </p:nvSpPr>
        <p:spPr>
          <a:xfrm>
            <a:off x="914400" y="2482024"/>
            <a:ext cx="3874770" cy="4723310"/>
          </a:xfrm>
          <a:prstGeom prst="rect">
            <a:avLst/>
          </a:prstGeom>
          <a:solidFill>
            <a:srgbClr val="E6F4F4"/>
          </a:solidFill>
          <a:ln w="14287">
            <a:solidFill>
              <a:srgbClr val="B7DCDC"/>
            </a:solidFill>
          </a:ln>
        </p:spPr>
        <p:txBody>
          <a:bodyPr rtlCol="0" anchor="ctr" lIns="0" rIns="0" tIns="0" bIns="0"/>
          <a:lstStyle/>
          <a:p>
            <a:pPr algn="ctr"/>
          </a:p>
        </p:txBody>
      </p:sp>
      <p:sp>
        <p:nvSpPr>
          <p:cNvPr id="7" name="TextBox 6"/>
          <p:cNvSpPr txBox="1"/>
          <p:nvPr/>
        </p:nvSpPr>
        <p:spPr>
          <a:xfrm>
            <a:off x="1314450" y="2882074"/>
            <a:ext cx="3074670" cy="563110"/>
          </a:xfrm>
          <a:prstGeom prst="rect">
            <a:avLst/>
          </a:prstGeom>
          <a:noFill/>
        </p:spPr>
        <p:txBody>
          <a:bodyPr wrap="square" lIns="0" rIns="0" tIns="0" bIns="0" anchor="t"/>
          <a:lstStyle/>
          <a:p>
            <a:pPr algn="l">
              <a:lnSpc>
                <a:spcPct val="103200"/>
              </a:lnSpc>
            </a:pPr>
            <a:r>
              <a:rPr sz="3284" b="1" i="0" u="none">
                <a:solidFill>
                  <a:srgbClr val="0E8A8A"/>
                </a:solidFill>
                <a:latin typeface="Arial"/>
              </a:rPr>
              <a:t>DDL</a:t>
            </a:r>
          </a:p>
        </p:txBody>
      </p:sp>
      <p:sp>
        <p:nvSpPr>
          <p:cNvPr id="8" name="TextBox 7"/>
          <p:cNvSpPr txBox="1"/>
          <p:nvPr/>
        </p:nvSpPr>
        <p:spPr>
          <a:xfrm>
            <a:off x="1314450" y="3605204"/>
            <a:ext cx="3074670" cy="944651"/>
          </a:xfrm>
          <a:prstGeom prst="rect">
            <a:avLst/>
          </a:prstGeom>
          <a:noFill/>
        </p:spPr>
        <p:txBody>
          <a:bodyPr wrap="square" lIns="0" rIns="0" tIns="0" bIns="0" anchor="t"/>
          <a:lstStyle/>
          <a:p>
            <a:pPr algn="l">
              <a:lnSpc>
                <a:spcPct val="111800"/>
              </a:lnSpc>
            </a:pPr>
            <a:r>
              <a:rPr sz="2704" b="0" i="0" u="none">
                <a:solidFill>
                  <a:srgbClr val="334155"/>
                </a:solidFill>
                <a:latin typeface="Calibri"/>
              </a:rPr>
              <a:t>Data </a:t>
            </a:r>
            <a:r>
              <a:rPr sz="2704" b="1" i="0" u="none">
                <a:solidFill>
                  <a:srgbClr val="334155"/>
                </a:solidFill>
                <a:latin typeface="Calibri"/>
              </a:rPr>
              <a:t>Definition</a:t>
            </a:r>
            <a:r>
              <a:rPr sz="2704" b="0" i="0" u="none">
                <a:solidFill>
                  <a:srgbClr val="334155"/>
                </a:solidFill>
                <a:latin typeface="Calibri"/>
              </a:rPr>
              <a:t>: structure</a:t>
            </a:r>
          </a:p>
        </p:txBody>
      </p:sp>
      <p:sp>
        <p:nvSpPr>
          <p:cNvPr id="9" name="TextBox 8"/>
          <p:cNvSpPr txBox="1"/>
          <p:nvPr/>
        </p:nvSpPr>
        <p:spPr>
          <a:xfrm>
            <a:off x="1314450" y="4709876"/>
            <a:ext cx="3074670" cy="2095408"/>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CREATE</a:t>
            </a:r>
          </a:p>
          <a:p>
            <a:pPr algn="l" marL="377860" indent="-377860">
              <a:lnSpc>
                <a:spcPct val="111800"/>
              </a:lnSpc>
              <a:spcBef>
                <a:spcPts val="676"/>
              </a:spcBef>
              <a:buChar char="•"/>
            </a:pPr>
            <a:r>
              <a:rPr sz="2704" b="0" i="0" u="none">
                <a:solidFill>
                  <a:srgbClr val="334155"/>
                </a:solidFill>
                <a:latin typeface="Calibri"/>
              </a:rPr>
              <a:t>ALTER</a:t>
            </a:r>
          </a:p>
          <a:p>
            <a:pPr algn="l" marL="377860" indent="-377860">
              <a:lnSpc>
                <a:spcPct val="111800"/>
              </a:lnSpc>
              <a:spcBef>
                <a:spcPts val="676"/>
              </a:spcBef>
              <a:buChar char="•"/>
            </a:pPr>
            <a:r>
              <a:rPr sz="2704" b="0" i="0" u="none">
                <a:solidFill>
                  <a:srgbClr val="334155"/>
                </a:solidFill>
                <a:latin typeface="Calibri"/>
              </a:rPr>
              <a:t>DROP</a:t>
            </a:r>
          </a:p>
          <a:p>
            <a:pPr algn="l" marL="377860" indent="-377860">
              <a:lnSpc>
                <a:spcPct val="111800"/>
              </a:lnSpc>
              <a:spcBef>
                <a:spcPts val="676"/>
              </a:spcBef>
              <a:buChar char="•"/>
            </a:pPr>
            <a:r>
              <a:rPr sz="2704" b="0" i="0" u="none">
                <a:solidFill>
                  <a:srgbClr val="334155"/>
                </a:solidFill>
                <a:latin typeface="Calibri"/>
              </a:rPr>
              <a:t>TRUNCATE</a:t>
            </a:r>
          </a:p>
        </p:txBody>
      </p:sp>
      <p:sp>
        <p:nvSpPr>
          <p:cNvPr id="10" name="Rectangle 9"/>
          <p:cNvSpPr/>
          <p:nvPr/>
        </p:nvSpPr>
        <p:spPr>
          <a:xfrm>
            <a:off x="5109210" y="2482024"/>
            <a:ext cx="3874770" cy="4723310"/>
          </a:xfrm>
          <a:prstGeom prst="rect">
            <a:avLst/>
          </a:prstGeom>
          <a:solidFill>
            <a:srgbClr val="FFFFFF"/>
          </a:solidFill>
          <a:ln w="14287">
            <a:solidFill>
              <a:srgbClr val="E2E8F0"/>
            </a:solidFill>
          </a:ln>
        </p:spPr>
        <p:txBody>
          <a:bodyPr rtlCol="0" anchor="ctr" lIns="0" rIns="0" tIns="0" bIns="0"/>
          <a:lstStyle/>
          <a:p>
            <a:pPr algn="ctr"/>
          </a:p>
        </p:txBody>
      </p:sp>
      <p:sp>
        <p:nvSpPr>
          <p:cNvPr id="11" name="TextBox 10"/>
          <p:cNvSpPr txBox="1"/>
          <p:nvPr/>
        </p:nvSpPr>
        <p:spPr>
          <a:xfrm>
            <a:off x="5509260" y="2882074"/>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DML</a:t>
            </a:r>
          </a:p>
        </p:txBody>
      </p:sp>
      <p:sp>
        <p:nvSpPr>
          <p:cNvPr id="12" name="TextBox 11"/>
          <p:cNvSpPr txBox="1"/>
          <p:nvPr/>
        </p:nvSpPr>
        <p:spPr>
          <a:xfrm>
            <a:off x="5509260" y="3605204"/>
            <a:ext cx="3074670" cy="944651"/>
          </a:xfrm>
          <a:prstGeom prst="rect">
            <a:avLst/>
          </a:prstGeom>
          <a:noFill/>
        </p:spPr>
        <p:txBody>
          <a:bodyPr wrap="square" lIns="0" rIns="0" tIns="0" bIns="0" anchor="t"/>
          <a:lstStyle/>
          <a:p>
            <a:pPr algn="l">
              <a:lnSpc>
                <a:spcPct val="111800"/>
              </a:lnSpc>
            </a:pPr>
            <a:r>
              <a:rPr sz="2704" b="0" i="0" u="none">
                <a:solidFill>
                  <a:srgbClr val="334155"/>
                </a:solidFill>
                <a:latin typeface="Calibri"/>
              </a:rPr>
              <a:t>Data </a:t>
            </a:r>
            <a:r>
              <a:rPr sz="2704" b="1" i="0" u="none">
                <a:solidFill>
                  <a:srgbClr val="334155"/>
                </a:solidFill>
                <a:latin typeface="Calibri"/>
              </a:rPr>
              <a:t>Manipulation</a:t>
            </a:r>
            <a:r>
              <a:rPr sz="2704" b="0" i="0" u="none">
                <a:solidFill>
                  <a:srgbClr val="334155"/>
                </a:solidFill>
                <a:latin typeface="Calibri"/>
              </a:rPr>
              <a:t>: rows</a:t>
            </a:r>
          </a:p>
        </p:txBody>
      </p:sp>
      <p:sp>
        <p:nvSpPr>
          <p:cNvPr id="13" name="TextBox 12"/>
          <p:cNvSpPr txBox="1"/>
          <p:nvPr/>
        </p:nvSpPr>
        <p:spPr>
          <a:xfrm>
            <a:off x="5509260" y="4709876"/>
            <a:ext cx="3074670" cy="2095408"/>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SELECT</a:t>
            </a:r>
          </a:p>
          <a:p>
            <a:pPr algn="l" marL="377860" indent="-377860">
              <a:lnSpc>
                <a:spcPct val="111800"/>
              </a:lnSpc>
              <a:spcBef>
                <a:spcPts val="676"/>
              </a:spcBef>
              <a:buChar char="•"/>
            </a:pPr>
            <a:r>
              <a:rPr sz="2704" b="0" i="0" u="none">
                <a:solidFill>
                  <a:srgbClr val="334155"/>
                </a:solidFill>
                <a:latin typeface="Calibri"/>
              </a:rPr>
              <a:t>INSERT</a:t>
            </a:r>
          </a:p>
          <a:p>
            <a:pPr algn="l" marL="377860" indent="-377860">
              <a:lnSpc>
                <a:spcPct val="111800"/>
              </a:lnSpc>
              <a:spcBef>
                <a:spcPts val="676"/>
              </a:spcBef>
              <a:buChar char="•"/>
            </a:pPr>
            <a:r>
              <a:rPr sz="2704" b="0" i="0" u="none">
                <a:solidFill>
                  <a:srgbClr val="334155"/>
                </a:solidFill>
                <a:latin typeface="Calibri"/>
              </a:rPr>
              <a:t>UPDATE</a:t>
            </a:r>
          </a:p>
          <a:p>
            <a:pPr algn="l" marL="377860" indent="-377860">
              <a:lnSpc>
                <a:spcPct val="111800"/>
              </a:lnSpc>
              <a:spcBef>
                <a:spcPts val="676"/>
              </a:spcBef>
              <a:buChar char="•"/>
            </a:pPr>
            <a:r>
              <a:rPr sz="2704" b="0" i="0" u="none">
                <a:solidFill>
                  <a:srgbClr val="334155"/>
                </a:solidFill>
                <a:latin typeface="Calibri"/>
              </a:rPr>
              <a:t>DELETE</a:t>
            </a:r>
          </a:p>
        </p:txBody>
      </p:sp>
      <p:sp>
        <p:nvSpPr>
          <p:cNvPr id="14" name="Rectangle 13"/>
          <p:cNvSpPr/>
          <p:nvPr/>
        </p:nvSpPr>
        <p:spPr>
          <a:xfrm>
            <a:off x="9304020" y="2482024"/>
            <a:ext cx="3874770" cy="4723310"/>
          </a:xfrm>
          <a:prstGeom prst="rect">
            <a:avLst/>
          </a:prstGeom>
          <a:solidFill>
            <a:srgbClr val="FFFFFF"/>
          </a:solidFill>
          <a:ln w="14287">
            <a:solidFill>
              <a:srgbClr val="E2E8F0"/>
            </a:solidFill>
          </a:ln>
        </p:spPr>
        <p:txBody>
          <a:bodyPr rtlCol="0" anchor="ctr" lIns="0" rIns="0" tIns="0" bIns="0"/>
          <a:lstStyle/>
          <a:p>
            <a:pPr algn="ctr"/>
          </a:p>
        </p:txBody>
      </p:sp>
      <p:sp>
        <p:nvSpPr>
          <p:cNvPr id="15" name="TextBox 14"/>
          <p:cNvSpPr txBox="1"/>
          <p:nvPr/>
        </p:nvSpPr>
        <p:spPr>
          <a:xfrm>
            <a:off x="9704070" y="2882074"/>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DCL</a:t>
            </a:r>
          </a:p>
        </p:txBody>
      </p:sp>
      <p:sp>
        <p:nvSpPr>
          <p:cNvPr id="16" name="TextBox 15"/>
          <p:cNvSpPr txBox="1"/>
          <p:nvPr/>
        </p:nvSpPr>
        <p:spPr>
          <a:xfrm>
            <a:off x="9704070" y="3605204"/>
            <a:ext cx="3074670" cy="944651"/>
          </a:xfrm>
          <a:prstGeom prst="rect">
            <a:avLst/>
          </a:prstGeom>
          <a:noFill/>
        </p:spPr>
        <p:txBody>
          <a:bodyPr wrap="square" lIns="0" rIns="0" tIns="0" bIns="0" anchor="t"/>
          <a:lstStyle/>
          <a:p>
            <a:pPr algn="l">
              <a:lnSpc>
                <a:spcPct val="111800"/>
              </a:lnSpc>
            </a:pPr>
            <a:r>
              <a:rPr sz="2704" b="0" i="0" u="none">
                <a:solidFill>
                  <a:srgbClr val="334155"/>
                </a:solidFill>
                <a:latin typeface="Calibri"/>
              </a:rPr>
              <a:t>Data </a:t>
            </a:r>
            <a:r>
              <a:rPr sz="2704" b="1" i="0" u="none">
                <a:solidFill>
                  <a:srgbClr val="334155"/>
                </a:solidFill>
                <a:latin typeface="Calibri"/>
              </a:rPr>
              <a:t>Control</a:t>
            </a:r>
            <a:r>
              <a:rPr sz="2704" b="0" i="0" u="none">
                <a:solidFill>
                  <a:srgbClr val="334155"/>
                </a:solidFill>
                <a:latin typeface="Calibri"/>
              </a:rPr>
              <a:t>: permissions</a:t>
            </a:r>
          </a:p>
        </p:txBody>
      </p:sp>
      <p:sp>
        <p:nvSpPr>
          <p:cNvPr id="17" name="TextBox 16"/>
          <p:cNvSpPr txBox="1"/>
          <p:nvPr/>
        </p:nvSpPr>
        <p:spPr>
          <a:xfrm>
            <a:off x="9704070" y="4709876"/>
            <a:ext cx="3074670" cy="1030528"/>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GRANT</a:t>
            </a:r>
          </a:p>
          <a:p>
            <a:pPr algn="l" marL="377860" indent="-377860">
              <a:lnSpc>
                <a:spcPct val="111800"/>
              </a:lnSpc>
              <a:spcBef>
                <a:spcPts val="676"/>
              </a:spcBef>
              <a:buChar char="•"/>
            </a:pPr>
            <a:r>
              <a:rPr sz="2704" b="0" i="0" u="none">
                <a:solidFill>
                  <a:srgbClr val="334155"/>
                </a:solidFill>
                <a:latin typeface="Calibri"/>
              </a:rPr>
              <a:t>REVOKE</a:t>
            </a:r>
          </a:p>
        </p:txBody>
      </p:sp>
      <p:sp>
        <p:nvSpPr>
          <p:cNvPr id="18" name="Rectangle 17"/>
          <p:cNvSpPr/>
          <p:nvPr/>
        </p:nvSpPr>
        <p:spPr>
          <a:xfrm>
            <a:off x="13498829" y="2482024"/>
            <a:ext cx="3874770" cy="4723310"/>
          </a:xfrm>
          <a:prstGeom prst="rect">
            <a:avLst/>
          </a:prstGeom>
          <a:solidFill>
            <a:srgbClr val="FDECEF"/>
          </a:solidFill>
          <a:ln w="14287">
            <a:solidFill>
              <a:srgbClr val="F5C2CB"/>
            </a:solidFill>
          </a:ln>
        </p:spPr>
        <p:txBody>
          <a:bodyPr rtlCol="0" anchor="ctr" lIns="0" rIns="0" tIns="0" bIns="0"/>
          <a:lstStyle/>
          <a:p>
            <a:pPr algn="ctr"/>
          </a:p>
        </p:txBody>
      </p:sp>
      <p:sp>
        <p:nvSpPr>
          <p:cNvPr id="19" name="TextBox 18"/>
          <p:cNvSpPr txBox="1"/>
          <p:nvPr/>
        </p:nvSpPr>
        <p:spPr>
          <a:xfrm>
            <a:off x="13898879" y="2882074"/>
            <a:ext cx="3074670" cy="563110"/>
          </a:xfrm>
          <a:prstGeom prst="rect">
            <a:avLst/>
          </a:prstGeom>
          <a:noFill/>
        </p:spPr>
        <p:txBody>
          <a:bodyPr wrap="square" lIns="0" rIns="0" tIns="0" bIns="0" anchor="t"/>
          <a:lstStyle/>
          <a:p>
            <a:pPr algn="l">
              <a:lnSpc>
                <a:spcPct val="103200"/>
              </a:lnSpc>
            </a:pPr>
            <a:r>
              <a:rPr sz="3284" b="1" i="0" u="none">
                <a:solidFill>
                  <a:srgbClr val="C8102E"/>
                </a:solidFill>
                <a:latin typeface="Arial"/>
              </a:rPr>
              <a:t>TCL</a:t>
            </a:r>
          </a:p>
        </p:txBody>
      </p:sp>
      <p:sp>
        <p:nvSpPr>
          <p:cNvPr id="20" name="TextBox 19"/>
          <p:cNvSpPr txBox="1"/>
          <p:nvPr/>
        </p:nvSpPr>
        <p:spPr>
          <a:xfrm>
            <a:off x="13898879" y="3605204"/>
            <a:ext cx="3074670" cy="944651"/>
          </a:xfrm>
          <a:prstGeom prst="rect">
            <a:avLst/>
          </a:prstGeom>
          <a:noFill/>
        </p:spPr>
        <p:txBody>
          <a:bodyPr wrap="square" lIns="0" rIns="0" tIns="0" bIns="0" anchor="t"/>
          <a:lstStyle/>
          <a:p>
            <a:pPr algn="l">
              <a:lnSpc>
                <a:spcPct val="111800"/>
              </a:lnSpc>
            </a:pPr>
            <a:r>
              <a:rPr sz="2704" b="0" i="0" u="none">
                <a:solidFill>
                  <a:srgbClr val="334155"/>
                </a:solidFill>
                <a:latin typeface="Calibri"/>
              </a:rPr>
              <a:t>Transaction </a:t>
            </a:r>
            <a:r>
              <a:rPr sz="2704" b="1" i="0" u="none">
                <a:solidFill>
                  <a:srgbClr val="334155"/>
                </a:solidFill>
                <a:latin typeface="Calibri"/>
              </a:rPr>
              <a:t>Control</a:t>
            </a:r>
          </a:p>
        </p:txBody>
      </p:sp>
      <p:sp>
        <p:nvSpPr>
          <p:cNvPr id="21" name="TextBox 20"/>
          <p:cNvSpPr txBox="1"/>
          <p:nvPr/>
        </p:nvSpPr>
        <p:spPr>
          <a:xfrm>
            <a:off x="13898879" y="4709876"/>
            <a:ext cx="3074670" cy="1562968"/>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COMMIT</a:t>
            </a:r>
          </a:p>
          <a:p>
            <a:pPr algn="l" marL="377860" indent="-377860">
              <a:lnSpc>
                <a:spcPct val="111800"/>
              </a:lnSpc>
              <a:spcBef>
                <a:spcPts val="676"/>
              </a:spcBef>
              <a:buChar char="•"/>
            </a:pPr>
            <a:r>
              <a:rPr sz="2704" b="0" i="0" u="none">
                <a:solidFill>
                  <a:srgbClr val="334155"/>
                </a:solidFill>
                <a:latin typeface="Calibri"/>
              </a:rPr>
              <a:t>ROLLBACK</a:t>
            </a:r>
          </a:p>
          <a:p>
            <a:pPr algn="l" marL="377860" indent="-377860">
              <a:lnSpc>
                <a:spcPct val="111800"/>
              </a:lnSpc>
              <a:spcBef>
                <a:spcPts val="676"/>
              </a:spcBef>
              <a:buChar char="•"/>
            </a:pPr>
            <a:r>
              <a:rPr sz="2704" b="0" i="0" u="none">
                <a:solidFill>
                  <a:srgbClr val="334155"/>
                </a:solidFill>
                <a:latin typeface="Calibri"/>
              </a:rPr>
              <a:t>SAVEPOINT</a:t>
            </a:r>
          </a:p>
        </p:txBody>
      </p:sp>
      <p:sp>
        <p:nvSpPr>
          <p:cNvPr id="22" name="Rectangle 21"/>
          <p:cNvSpPr/>
          <p:nvPr/>
        </p:nvSpPr>
        <p:spPr>
          <a:xfrm>
            <a:off x="914400" y="7658724"/>
            <a:ext cx="16459200" cy="1478051"/>
          </a:xfrm>
          <a:prstGeom prst="rect">
            <a:avLst/>
          </a:prstGeom>
          <a:solidFill>
            <a:srgbClr val="E6F4F4"/>
          </a:solidFill>
          <a:ln>
            <a:noFill/>
          </a:ln>
        </p:spPr>
        <p:txBody>
          <a:bodyPr rtlCol="0" anchor="ctr" lIns="0" rIns="0" tIns="0" bIns="0"/>
          <a:lstStyle/>
          <a:p>
            <a:pPr algn="ctr"/>
          </a:p>
        </p:txBody>
      </p:sp>
      <p:sp>
        <p:nvSpPr>
          <p:cNvPr id="23" name="Rectangle 22"/>
          <p:cNvSpPr/>
          <p:nvPr/>
        </p:nvSpPr>
        <p:spPr>
          <a:xfrm>
            <a:off x="914400" y="7658724"/>
            <a:ext cx="47625" cy="1478051"/>
          </a:xfrm>
          <a:prstGeom prst="rect">
            <a:avLst/>
          </a:prstGeom>
          <a:solidFill>
            <a:srgbClr val="0E8A8A"/>
          </a:solidFill>
          <a:ln>
            <a:noFill/>
          </a:ln>
        </p:spPr>
        <p:txBody>
          <a:bodyPr rtlCol="0" anchor="ctr" lIns="0" rIns="0" tIns="0" bIns="0"/>
          <a:lstStyle/>
          <a:p>
            <a:pPr algn="ctr"/>
          </a:p>
        </p:txBody>
      </p:sp>
      <p:sp>
        <p:nvSpPr>
          <p:cNvPr id="24" name="TextBox 23"/>
          <p:cNvSpPr txBox="1"/>
          <p:nvPr/>
        </p:nvSpPr>
        <p:spPr>
          <a:xfrm>
            <a:off x="1341120" y="7925424"/>
            <a:ext cx="15605760" cy="944651"/>
          </a:xfrm>
          <a:prstGeom prst="rect">
            <a:avLst/>
          </a:prstGeom>
          <a:noFill/>
        </p:spPr>
        <p:txBody>
          <a:bodyPr wrap="square" lIns="0" rIns="0" tIns="0" bIns="0"/>
          <a:lstStyle/>
          <a:p>
            <a:pPr>
              <a:lnSpc>
                <a:spcPct val="112000"/>
              </a:lnSpc>
            </a:pPr>
            <a:r>
              <a:rPr sz="2704" b="0" i="0" u="none">
                <a:solidFill>
                  <a:srgbClr val="0F172A"/>
                </a:solidFill>
                <a:latin typeface="Calibri"/>
              </a:rPr>
              <a:t>SQL is a </a:t>
            </a:r>
            <a:r>
              <a:rPr sz="2704" b="1" i="0" u="none">
                <a:solidFill>
                  <a:srgbClr val="0F172A"/>
                </a:solidFill>
                <a:latin typeface="Calibri"/>
              </a:rPr>
              <a:t>declarative</a:t>
            </a:r>
            <a:r>
              <a:rPr sz="2704" b="0" i="0" u="none">
                <a:solidFill>
                  <a:srgbClr val="0F172A"/>
                </a:solidFill>
                <a:latin typeface="Calibri"/>
              </a:rPr>
              <a:t> language: you say </a:t>
            </a:r>
            <a:r>
              <a:rPr sz="2704" b="0" i="1" u="none">
                <a:solidFill>
                  <a:srgbClr val="0F172A"/>
                </a:solidFill>
                <a:latin typeface="Calibri"/>
              </a:rPr>
              <a:t>what</a:t>
            </a:r>
            <a:r>
              <a:rPr sz="2704" b="0" i="0" u="none">
                <a:solidFill>
                  <a:srgbClr val="0F172A"/>
                </a:solidFill>
                <a:latin typeface="Calibri"/>
              </a:rPr>
              <a:t> you want and the DBMS's optimizer decides </a:t>
            </a:r>
            <a:r>
              <a:rPr sz="2704" b="0" i="1" u="none">
                <a:solidFill>
                  <a:srgbClr val="0F172A"/>
                </a:solidFill>
                <a:latin typeface="Calibri"/>
              </a:rPr>
              <a:t>how</a:t>
            </a:r>
            <a:r>
              <a:rPr sz="2704" b="0" i="0" u="none">
                <a:solidFill>
                  <a:srgbClr val="0F172A"/>
                </a:solidFill>
                <a:latin typeface="Calibri"/>
              </a:rPr>
              <a:t> to get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004821"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TRANSACTIONS</a:t>
            </a:r>
          </a:p>
        </p:txBody>
      </p:sp>
      <p:cxnSp>
        <p:nvCxnSpPr>
          <p:cNvPr id="3" name="Connector 2"/>
          <p:cNvCxnSpPr/>
          <p:nvPr/>
        </p:nvCxnSpPr>
        <p:spPr>
          <a:xfrm>
            <a:off x="2995421" y="981075"/>
            <a:ext cx="1353045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06/71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Transactions and ACID</a:t>
            </a:r>
          </a:p>
        </p:txBody>
      </p:sp>
      <p:sp>
        <p:nvSpPr>
          <p:cNvPr id="6" name="TextBox 5"/>
          <p:cNvSpPr txBox="1"/>
          <p:nvPr/>
        </p:nvSpPr>
        <p:spPr>
          <a:xfrm>
            <a:off x="914400" y="2482024"/>
            <a:ext cx="16459200" cy="1012126"/>
          </a:xfrm>
          <a:prstGeom prst="rect">
            <a:avLst/>
          </a:prstGeom>
          <a:noFill/>
        </p:spPr>
        <p:txBody>
          <a:bodyPr wrap="square" lIns="0" rIns="0" tIns="0" bIns="0" anchor="t"/>
          <a:lstStyle/>
          <a:p>
            <a:pPr algn="l">
              <a:lnSpc>
                <a:spcPct val="111800"/>
              </a:lnSpc>
            </a:pPr>
            <a:r>
              <a:rPr sz="2898" b="0" i="0" u="none">
                <a:solidFill>
                  <a:srgbClr val="334155"/>
                </a:solidFill>
                <a:latin typeface="Calibri"/>
              </a:rPr>
              <a:t>A </a:t>
            </a:r>
            <a:r>
              <a:rPr sz="2898" b="1" i="0" u="none">
                <a:solidFill>
                  <a:srgbClr val="334155"/>
                </a:solidFill>
                <a:latin typeface="Calibri"/>
              </a:rPr>
              <a:t>transaction</a:t>
            </a:r>
            <a:r>
              <a:rPr sz="2898" b="0" i="0" u="none">
                <a:solidFill>
                  <a:srgbClr val="334155"/>
                </a:solidFill>
                <a:latin typeface="Calibri"/>
              </a:rPr>
              <a:t> is a logical unit of work: one or more reads/writes (INSERT, UPDATE, DELETE) that must succeed or fail </a:t>
            </a:r>
            <a:r>
              <a:rPr sz="2898" b="1" i="0" u="none">
                <a:solidFill>
                  <a:srgbClr val="334155"/>
                </a:solidFill>
                <a:latin typeface="Calibri"/>
              </a:rPr>
              <a:t>together</a:t>
            </a:r>
            <a:r>
              <a:rPr sz="2898" b="0" i="0" u="none">
                <a:solidFill>
                  <a:srgbClr val="334155"/>
                </a:solidFill>
                <a:latin typeface="Calibri"/>
              </a:rPr>
              <a:t>.</a:t>
            </a:r>
          </a:p>
        </p:txBody>
      </p:sp>
      <p:sp>
        <p:nvSpPr>
          <p:cNvPr id="7" name="Rectangle 6"/>
          <p:cNvSpPr/>
          <p:nvPr/>
        </p:nvSpPr>
        <p:spPr>
          <a:xfrm>
            <a:off x="914400" y="3947541"/>
            <a:ext cx="3874770" cy="3816690"/>
          </a:xfrm>
          <a:prstGeom prst="rect">
            <a:avLst/>
          </a:prstGeom>
          <a:solidFill>
            <a:srgbClr val="FFFFFF"/>
          </a:solidFill>
          <a:ln w="14287">
            <a:solidFill>
              <a:srgbClr val="E2E8F0"/>
            </a:solidFill>
          </a:ln>
        </p:spPr>
        <p:txBody>
          <a:bodyPr rtlCol="0" anchor="ctr" lIns="0" rIns="0" tIns="0" bIns="0"/>
          <a:lstStyle/>
          <a:p>
            <a:pPr algn="ctr"/>
          </a:p>
        </p:txBody>
      </p:sp>
      <p:sp>
        <p:nvSpPr>
          <p:cNvPr id="8" name="TextBox 7"/>
          <p:cNvSpPr txBox="1"/>
          <p:nvPr/>
        </p:nvSpPr>
        <p:spPr>
          <a:xfrm>
            <a:off x="1314450" y="4347591"/>
            <a:ext cx="307467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A</a:t>
            </a:r>
          </a:p>
        </p:txBody>
      </p:sp>
      <p:sp>
        <p:nvSpPr>
          <p:cNvPr id="9" name="TextBox 8"/>
          <p:cNvSpPr txBox="1"/>
          <p:nvPr/>
        </p:nvSpPr>
        <p:spPr>
          <a:xfrm>
            <a:off x="1314450" y="4934544"/>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Atomicity</a:t>
            </a:r>
          </a:p>
        </p:txBody>
      </p:sp>
      <p:sp>
        <p:nvSpPr>
          <p:cNvPr id="10" name="TextBox 9"/>
          <p:cNvSpPr txBox="1"/>
          <p:nvPr/>
        </p:nvSpPr>
        <p:spPr>
          <a:xfrm>
            <a:off x="1314450" y="5657674"/>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All or nothing: a half-finished transfer is undone.</a:t>
            </a:r>
          </a:p>
        </p:txBody>
      </p:sp>
      <p:sp>
        <p:nvSpPr>
          <p:cNvPr id="11" name="Rectangle 10"/>
          <p:cNvSpPr/>
          <p:nvPr/>
        </p:nvSpPr>
        <p:spPr>
          <a:xfrm>
            <a:off x="5109210" y="3947541"/>
            <a:ext cx="3874770" cy="3816690"/>
          </a:xfrm>
          <a:prstGeom prst="rect">
            <a:avLst/>
          </a:prstGeom>
          <a:solidFill>
            <a:srgbClr val="FFFFFF"/>
          </a:solidFill>
          <a:ln w="14287">
            <a:solidFill>
              <a:srgbClr val="E2E8F0"/>
            </a:solidFill>
          </a:ln>
        </p:spPr>
        <p:txBody>
          <a:bodyPr rtlCol="0" anchor="ctr" lIns="0" rIns="0" tIns="0" bIns="0"/>
          <a:lstStyle/>
          <a:p>
            <a:pPr algn="ctr"/>
          </a:p>
        </p:txBody>
      </p:sp>
      <p:sp>
        <p:nvSpPr>
          <p:cNvPr id="12" name="TextBox 11"/>
          <p:cNvSpPr txBox="1"/>
          <p:nvPr/>
        </p:nvSpPr>
        <p:spPr>
          <a:xfrm>
            <a:off x="5509260" y="4347591"/>
            <a:ext cx="307467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C</a:t>
            </a:r>
          </a:p>
        </p:txBody>
      </p:sp>
      <p:sp>
        <p:nvSpPr>
          <p:cNvPr id="13" name="TextBox 12"/>
          <p:cNvSpPr txBox="1"/>
          <p:nvPr/>
        </p:nvSpPr>
        <p:spPr>
          <a:xfrm>
            <a:off x="5509260" y="4934544"/>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Consistency</a:t>
            </a:r>
          </a:p>
        </p:txBody>
      </p:sp>
      <p:sp>
        <p:nvSpPr>
          <p:cNvPr id="14" name="TextBox 13"/>
          <p:cNvSpPr txBox="1"/>
          <p:nvPr/>
        </p:nvSpPr>
        <p:spPr>
          <a:xfrm>
            <a:off x="5509260" y="5657674"/>
            <a:ext cx="3074670" cy="1706506"/>
          </a:xfrm>
          <a:prstGeom prst="rect">
            <a:avLst/>
          </a:prstGeom>
          <a:noFill/>
        </p:spPr>
        <p:txBody>
          <a:bodyPr wrap="square" lIns="0" rIns="0" tIns="0" bIns="0" anchor="t"/>
          <a:lstStyle/>
          <a:p>
            <a:pPr algn="l">
              <a:lnSpc>
                <a:spcPct val="111800"/>
              </a:lnSpc>
            </a:pPr>
            <a:r>
              <a:rPr sz="2511" b="0" i="0" u="none">
                <a:solidFill>
                  <a:srgbClr val="334155"/>
                </a:solidFill>
                <a:latin typeface="Calibri"/>
              </a:rPr>
              <a:t>Moves the database from one valid state to another; constraints hold.</a:t>
            </a:r>
          </a:p>
        </p:txBody>
      </p:sp>
      <p:sp>
        <p:nvSpPr>
          <p:cNvPr id="15" name="Rectangle 14"/>
          <p:cNvSpPr/>
          <p:nvPr/>
        </p:nvSpPr>
        <p:spPr>
          <a:xfrm>
            <a:off x="9304020" y="3947541"/>
            <a:ext cx="3874770" cy="3816690"/>
          </a:xfrm>
          <a:prstGeom prst="rect">
            <a:avLst/>
          </a:prstGeom>
          <a:solidFill>
            <a:srgbClr val="FFFFFF"/>
          </a:solidFill>
          <a:ln w="14287">
            <a:solidFill>
              <a:srgbClr val="E2E8F0"/>
            </a:solidFill>
          </a:ln>
        </p:spPr>
        <p:txBody>
          <a:bodyPr rtlCol="0" anchor="ctr" lIns="0" rIns="0" tIns="0" bIns="0"/>
          <a:lstStyle/>
          <a:p>
            <a:pPr algn="ctr"/>
          </a:p>
        </p:txBody>
      </p:sp>
      <p:sp>
        <p:nvSpPr>
          <p:cNvPr id="16" name="TextBox 15"/>
          <p:cNvSpPr txBox="1"/>
          <p:nvPr/>
        </p:nvSpPr>
        <p:spPr>
          <a:xfrm>
            <a:off x="9704070" y="4347591"/>
            <a:ext cx="307467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I</a:t>
            </a:r>
          </a:p>
        </p:txBody>
      </p:sp>
      <p:sp>
        <p:nvSpPr>
          <p:cNvPr id="17" name="TextBox 16"/>
          <p:cNvSpPr txBox="1"/>
          <p:nvPr/>
        </p:nvSpPr>
        <p:spPr>
          <a:xfrm>
            <a:off x="9704070" y="4934544"/>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Isolation</a:t>
            </a:r>
          </a:p>
        </p:txBody>
      </p:sp>
      <p:sp>
        <p:nvSpPr>
          <p:cNvPr id="18" name="TextBox 17"/>
          <p:cNvSpPr txBox="1"/>
          <p:nvPr/>
        </p:nvSpPr>
        <p:spPr>
          <a:xfrm>
            <a:off x="9704070" y="5657674"/>
            <a:ext cx="3074670" cy="1706506"/>
          </a:xfrm>
          <a:prstGeom prst="rect">
            <a:avLst/>
          </a:prstGeom>
          <a:noFill/>
        </p:spPr>
        <p:txBody>
          <a:bodyPr wrap="square" lIns="0" rIns="0" tIns="0" bIns="0" anchor="t"/>
          <a:lstStyle/>
          <a:p>
            <a:pPr algn="l">
              <a:lnSpc>
                <a:spcPct val="111800"/>
              </a:lnSpc>
            </a:pPr>
            <a:r>
              <a:rPr sz="2511" b="0" i="0" u="none">
                <a:solidFill>
                  <a:srgbClr val="334155"/>
                </a:solidFill>
                <a:latin typeface="Calibri"/>
              </a:rPr>
              <a:t>Concurrent transactions don't see each other's partial work.</a:t>
            </a:r>
          </a:p>
        </p:txBody>
      </p:sp>
      <p:sp>
        <p:nvSpPr>
          <p:cNvPr id="19" name="Rectangle 18"/>
          <p:cNvSpPr/>
          <p:nvPr/>
        </p:nvSpPr>
        <p:spPr>
          <a:xfrm>
            <a:off x="13498829" y="3947541"/>
            <a:ext cx="3874770" cy="3816690"/>
          </a:xfrm>
          <a:prstGeom prst="rect">
            <a:avLst/>
          </a:prstGeom>
          <a:solidFill>
            <a:srgbClr val="FFFFFF"/>
          </a:solidFill>
          <a:ln w="14287">
            <a:solidFill>
              <a:srgbClr val="E2E8F0"/>
            </a:solidFill>
          </a:ln>
        </p:spPr>
        <p:txBody>
          <a:bodyPr rtlCol="0" anchor="ctr" lIns="0" rIns="0" tIns="0" bIns="0"/>
          <a:lstStyle/>
          <a:p>
            <a:pPr algn="ctr"/>
          </a:p>
        </p:txBody>
      </p:sp>
      <p:sp>
        <p:nvSpPr>
          <p:cNvPr id="20" name="TextBox 19"/>
          <p:cNvSpPr txBox="1"/>
          <p:nvPr/>
        </p:nvSpPr>
        <p:spPr>
          <a:xfrm>
            <a:off x="13898879" y="4347591"/>
            <a:ext cx="307467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D</a:t>
            </a:r>
          </a:p>
        </p:txBody>
      </p:sp>
      <p:sp>
        <p:nvSpPr>
          <p:cNvPr id="21" name="TextBox 20"/>
          <p:cNvSpPr txBox="1"/>
          <p:nvPr/>
        </p:nvSpPr>
        <p:spPr>
          <a:xfrm>
            <a:off x="13898879" y="4934544"/>
            <a:ext cx="307467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Durability</a:t>
            </a:r>
          </a:p>
        </p:txBody>
      </p:sp>
      <p:sp>
        <p:nvSpPr>
          <p:cNvPr id="22" name="TextBox 21"/>
          <p:cNvSpPr txBox="1"/>
          <p:nvPr/>
        </p:nvSpPr>
        <p:spPr>
          <a:xfrm>
            <a:off x="13898879" y="5657674"/>
            <a:ext cx="307467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Once committed, changes survive crashes.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004821"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TRANSACTIONS</a:t>
            </a:r>
          </a:p>
        </p:txBody>
      </p:sp>
      <p:cxnSp>
        <p:nvCxnSpPr>
          <p:cNvPr id="3" name="Connector 2"/>
          <p:cNvCxnSpPr/>
          <p:nvPr/>
        </p:nvCxnSpPr>
        <p:spPr>
          <a:xfrm>
            <a:off x="2995421" y="981075"/>
            <a:ext cx="1353045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07/71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 transaction in practice</a:t>
            </a:r>
          </a:p>
        </p:txBody>
      </p:sp>
      <p:sp>
        <p:nvSpPr>
          <p:cNvPr id="6" name="Rectangle 5"/>
          <p:cNvSpPr/>
          <p:nvPr/>
        </p:nvSpPr>
        <p:spPr>
          <a:xfrm>
            <a:off x="914400" y="2482024"/>
            <a:ext cx="8639175" cy="3895523"/>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105775" cy="3362123"/>
          </a:xfrm>
          <a:prstGeom prst="rect">
            <a:avLst/>
          </a:prstGeom>
          <a:noFill/>
        </p:spPr>
        <p:txBody>
          <a:bodyPr wrap="none" lIns="0" rIns="0" tIns="0" bIns="0"/>
          <a:lstStyle/>
          <a:p>
            <a:pPr>
              <a:lnSpc>
                <a:spcPct val="110000"/>
              </a:lnSpc>
            </a:pPr>
            <a:r>
              <a:rPr sz="2005" b="1" i="0" u="none">
                <a:solidFill>
                  <a:srgbClr val="0E8A8A"/>
                </a:solidFill>
                <a:latin typeface="Courier New"/>
              </a:rPr>
              <a:t>BEGIN</a:t>
            </a:r>
            <a:r>
              <a:rPr sz="2005" b="0" i="0" u="none">
                <a:solidFill>
                  <a:srgbClr val="0F172A"/>
                </a:solidFill>
                <a:latin typeface="Courier New"/>
              </a:rPr>
              <a:t>;</a:t>
            </a:r>
            <a:r>
              <a:rPr sz="2005" b="0" i="0" u="none">
                <a:solidFill>
                  <a:srgbClr val="0F172A"/>
                </a:solidFill>
                <a:latin typeface="Courier New"/>
              </a:rPr>
              <a:t>  </a:t>
            </a:r>
            <a:r>
              <a:rPr sz="2005" b="0" i="1" u="none">
                <a:solidFill>
                  <a:srgbClr val="64748B"/>
                </a:solidFill>
                <a:latin typeface="Courier New"/>
              </a:rPr>
              <a:t>-- or BEGIN TRANSACTION / implicit in Oracle</a:t>
            </a:r>
          </a:p>
          <a:p>
            <a:pPr>
              <a:lnSpc>
                <a:spcPct val="110000"/>
              </a:lnSpc>
            </a:pPr>
            <a:r>
              <a:rPr sz="2005" b="0" i="0" u="none">
                <a:solidFill>
                  <a:srgbClr val="0F172A"/>
                </a:solidFill>
                <a:latin typeface="Courier New"/>
              </a:rPr>
              <a:t> </a:t>
            </a:r>
          </a:p>
          <a:p>
            <a:pPr>
              <a:lnSpc>
                <a:spcPct val="110000"/>
              </a:lnSpc>
            </a:pPr>
            <a:r>
              <a:rPr sz="2005" b="1" i="0" u="none">
                <a:solidFill>
                  <a:srgbClr val="0E8A8A"/>
                </a:solidFill>
                <a:latin typeface="Courier New"/>
              </a:rPr>
              <a:t>UPDATE</a:t>
            </a:r>
            <a:r>
              <a:rPr sz="2005" b="0" i="0" u="none">
                <a:solidFill>
                  <a:srgbClr val="0F172A"/>
                </a:solidFill>
                <a:latin typeface="Courier New"/>
              </a:rPr>
              <a:t> </a:t>
            </a:r>
            <a:r>
              <a:rPr sz="2005" b="0" i="0" u="none">
                <a:solidFill>
                  <a:srgbClr val="0F172A"/>
                </a:solidFill>
                <a:latin typeface="Courier New"/>
              </a:rPr>
              <a:t>account</a:t>
            </a:r>
            <a:r>
              <a:rPr sz="2005" b="0" i="0" u="none">
                <a:solidFill>
                  <a:srgbClr val="0F172A"/>
                </a:solidFill>
                <a:latin typeface="Courier New"/>
              </a:rPr>
              <a:t> </a:t>
            </a:r>
            <a:r>
              <a:rPr sz="2005" b="1" i="0" u="none">
                <a:solidFill>
                  <a:srgbClr val="0E8A8A"/>
                </a:solidFill>
                <a:latin typeface="Courier New"/>
              </a:rPr>
              <a:t>SET</a:t>
            </a:r>
            <a:r>
              <a:rPr sz="2005" b="0" i="0" u="none">
                <a:solidFill>
                  <a:srgbClr val="0F172A"/>
                </a:solidFill>
                <a:latin typeface="Courier New"/>
              </a:rPr>
              <a:t> </a:t>
            </a:r>
            <a:r>
              <a:rPr sz="2005" b="0" i="0" u="none">
                <a:solidFill>
                  <a:srgbClr val="0F172A"/>
                </a:solidFill>
                <a:latin typeface="Courier New"/>
              </a:rPr>
              <a:t>balance</a:t>
            </a:r>
            <a:r>
              <a:rPr sz="2005" b="0" i="0" u="none">
                <a:solidFill>
                  <a:srgbClr val="0F172A"/>
                </a:solidFill>
                <a:latin typeface="Courier New"/>
              </a:rPr>
              <a:t> </a:t>
            </a:r>
            <a:r>
              <a:rPr sz="2005" b="0" i="0" u="none">
                <a:solidFill>
                  <a:srgbClr val="0F172A"/>
                </a:solidFill>
                <a:latin typeface="Courier New"/>
              </a:rPr>
              <a:t>=</a:t>
            </a:r>
            <a:r>
              <a:rPr sz="2005" b="0" i="0" u="none">
                <a:solidFill>
                  <a:srgbClr val="0F172A"/>
                </a:solidFill>
                <a:latin typeface="Courier New"/>
              </a:rPr>
              <a:t> </a:t>
            </a:r>
            <a:r>
              <a:rPr sz="2005" b="0" i="0" u="none">
                <a:solidFill>
                  <a:srgbClr val="0F172A"/>
                </a:solidFill>
                <a:latin typeface="Courier New"/>
              </a:rPr>
              <a:t>balance</a:t>
            </a:r>
            <a:r>
              <a:rPr sz="2005" b="0" i="0" u="none">
                <a:solidFill>
                  <a:srgbClr val="0F172A"/>
                </a:solidFill>
                <a:latin typeface="Courier New"/>
              </a:rPr>
              <a:t> </a:t>
            </a:r>
            <a:r>
              <a:rPr sz="2005" b="0" i="0" u="none">
                <a:solidFill>
                  <a:srgbClr val="0F172A"/>
                </a:solidFill>
                <a:latin typeface="Courier New"/>
              </a:rPr>
              <a:t>-</a:t>
            </a:r>
            <a:r>
              <a:rPr sz="2005" b="0" i="0" u="none">
                <a:solidFill>
                  <a:srgbClr val="0F172A"/>
                </a:solidFill>
                <a:latin typeface="Courier New"/>
              </a:rPr>
              <a:t> </a:t>
            </a:r>
            <a:r>
              <a:rPr sz="2005" b="0" i="0" u="none">
                <a:solidFill>
                  <a:srgbClr val="B45309"/>
                </a:solidFill>
                <a:latin typeface="Courier New"/>
              </a:rPr>
              <a:t>500</a:t>
            </a:r>
          </a:p>
          <a:p>
            <a:pPr>
              <a:lnSpc>
                <a:spcPct val="110000"/>
              </a:lnSpc>
            </a:pPr>
            <a:r>
              <a:rPr sz="2005" b="1" i="0" u="none">
                <a:solidFill>
                  <a:srgbClr val="0E8A8A"/>
                </a:solidFill>
                <a:latin typeface="Courier New"/>
              </a:rPr>
              <a:t>WHERE</a:t>
            </a:r>
            <a:r>
              <a:rPr sz="2005" b="0" i="0" u="none">
                <a:solidFill>
                  <a:srgbClr val="0F172A"/>
                </a:solidFill>
                <a:latin typeface="Courier New"/>
              </a:rPr>
              <a:t>  </a:t>
            </a:r>
            <a:r>
              <a:rPr sz="2005" b="0" i="0" u="none">
                <a:solidFill>
                  <a:srgbClr val="0F172A"/>
                </a:solidFill>
                <a:latin typeface="Courier New"/>
              </a:rPr>
              <a:t>acc_no</a:t>
            </a:r>
            <a:r>
              <a:rPr sz="2005" b="0" i="0" u="none">
                <a:solidFill>
                  <a:srgbClr val="0F172A"/>
                </a:solidFill>
                <a:latin typeface="Courier New"/>
              </a:rPr>
              <a:t> </a:t>
            </a:r>
            <a:r>
              <a:rPr sz="2005" b="0" i="0" u="none">
                <a:solidFill>
                  <a:srgbClr val="0F172A"/>
                </a:solidFill>
                <a:latin typeface="Courier New"/>
              </a:rPr>
              <a:t>=</a:t>
            </a:r>
            <a:r>
              <a:rPr sz="2005" b="0" i="0" u="none">
                <a:solidFill>
                  <a:srgbClr val="0F172A"/>
                </a:solidFill>
                <a:latin typeface="Courier New"/>
              </a:rPr>
              <a:t> </a:t>
            </a:r>
            <a:r>
              <a:rPr sz="2005" b="0" i="0" u="none">
                <a:solidFill>
                  <a:srgbClr val="B45309"/>
                </a:solidFill>
                <a:latin typeface="Courier New"/>
              </a:rPr>
              <a:t>'A-101'</a:t>
            </a:r>
            <a:r>
              <a:rPr sz="2005" b="0" i="0" u="none">
                <a:solidFill>
                  <a:srgbClr val="0F172A"/>
                </a:solidFill>
                <a:latin typeface="Courier New"/>
              </a:rPr>
              <a:t>;</a:t>
            </a:r>
          </a:p>
          <a:p>
            <a:pPr>
              <a:lnSpc>
                <a:spcPct val="110000"/>
              </a:lnSpc>
            </a:pPr>
            <a:r>
              <a:rPr sz="2005" b="0" i="0" u="none">
                <a:solidFill>
                  <a:srgbClr val="0F172A"/>
                </a:solidFill>
                <a:latin typeface="Courier New"/>
              </a:rPr>
              <a:t> </a:t>
            </a:r>
          </a:p>
          <a:p>
            <a:pPr>
              <a:lnSpc>
                <a:spcPct val="110000"/>
              </a:lnSpc>
            </a:pPr>
            <a:r>
              <a:rPr sz="2005" b="1" i="0" u="none">
                <a:solidFill>
                  <a:srgbClr val="0E8A8A"/>
                </a:solidFill>
                <a:latin typeface="Courier New"/>
              </a:rPr>
              <a:t>UPDATE</a:t>
            </a:r>
            <a:r>
              <a:rPr sz="2005" b="0" i="0" u="none">
                <a:solidFill>
                  <a:srgbClr val="0F172A"/>
                </a:solidFill>
                <a:latin typeface="Courier New"/>
              </a:rPr>
              <a:t> </a:t>
            </a:r>
            <a:r>
              <a:rPr sz="2005" b="0" i="0" u="none">
                <a:solidFill>
                  <a:srgbClr val="0F172A"/>
                </a:solidFill>
                <a:latin typeface="Courier New"/>
              </a:rPr>
              <a:t>account</a:t>
            </a:r>
            <a:r>
              <a:rPr sz="2005" b="0" i="0" u="none">
                <a:solidFill>
                  <a:srgbClr val="0F172A"/>
                </a:solidFill>
                <a:latin typeface="Courier New"/>
              </a:rPr>
              <a:t> </a:t>
            </a:r>
            <a:r>
              <a:rPr sz="2005" b="1" i="0" u="none">
                <a:solidFill>
                  <a:srgbClr val="0E8A8A"/>
                </a:solidFill>
                <a:latin typeface="Courier New"/>
              </a:rPr>
              <a:t>SET</a:t>
            </a:r>
            <a:r>
              <a:rPr sz="2005" b="0" i="0" u="none">
                <a:solidFill>
                  <a:srgbClr val="0F172A"/>
                </a:solidFill>
                <a:latin typeface="Courier New"/>
              </a:rPr>
              <a:t> </a:t>
            </a:r>
            <a:r>
              <a:rPr sz="2005" b="0" i="0" u="none">
                <a:solidFill>
                  <a:srgbClr val="0F172A"/>
                </a:solidFill>
                <a:latin typeface="Courier New"/>
              </a:rPr>
              <a:t>balance</a:t>
            </a:r>
            <a:r>
              <a:rPr sz="2005" b="0" i="0" u="none">
                <a:solidFill>
                  <a:srgbClr val="0F172A"/>
                </a:solidFill>
                <a:latin typeface="Courier New"/>
              </a:rPr>
              <a:t> </a:t>
            </a:r>
            <a:r>
              <a:rPr sz="2005" b="0" i="0" u="none">
                <a:solidFill>
                  <a:srgbClr val="0F172A"/>
                </a:solidFill>
                <a:latin typeface="Courier New"/>
              </a:rPr>
              <a:t>=</a:t>
            </a:r>
            <a:r>
              <a:rPr sz="2005" b="0" i="0" u="none">
                <a:solidFill>
                  <a:srgbClr val="0F172A"/>
                </a:solidFill>
                <a:latin typeface="Courier New"/>
              </a:rPr>
              <a:t> </a:t>
            </a:r>
            <a:r>
              <a:rPr sz="2005" b="0" i="0" u="none">
                <a:solidFill>
                  <a:srgbClr val="0F172A"/>
                </a:solidFill>
                <a:latin typeface="Courier New"/>
              </a:rPr>
              <a:t>balance</a:t>
            </a:r>
            <a:r>
              <a:rPr sz="2005" b="0" i="0" u="none">
                <a:solidFill>
                  <a:srgbClr val="0F172A"/>
                </a:solidFill>
                <a:latin typeface="Courier New"/>
              </a:rPr>
              <a:t> </a:t>
            </a:r>
            <a:r>
              <a:rPr sz="2005" b="0" i="0" u="none">
                <a:solidFill>
                  <a:srgbClr val="0F172A"/>
                </a:solidFill>
                <a:latin typeface="Courier New"/>
              </a:rPr>
              <a:t>+</a:t>
            </a:r>
            <a:r>
              <a:rPr sz="2005" b="0" i="0" u="none">
                <a:solidFill>
                  <a:srgbClr val="0F172A"/>
                </a:solidFill>
                <a:latin typeface="Courier New"/>
              </a:rPr>
              <a:t> </a:t>
            </a:r>
            <a:r>
              <a:rPr sz="2005" b="0" i="0" u="none">
                <a:solidFill>
                  <a:srgbClr val="B45309"/>
                </a:solidFill>
                <a:latin typeface="Courier New"/>
              </a:rPr>
              <a:t>500</a:t>
            </a:r>
          </a:p>
          <a:p>
            <a:pPr>
              <a:lnSpc>
                <a:spcPct val="110000"/>
              </a:lnSpc>
            </a:pPr>
            <a:r>
              <a:rPr sz="2005" b="1" i="0" u="none">
                <a:solidFill>
                  <a:srgbClr val="0E8A8A"/>
                </a:solidFill>
                <a:latin typeface="Courier New"/>
              </a:rPr>
              <a:t>WHERE</a:t>
            </a:r>
            <a:r>
              <a:rPr sz="2005" b="0" i="0" u="none">
                <a:solidFill>
                  <a:srgbClr val="0F172A"/>
                </a:solidFill>
                <a:latin typeface="Courier New"/>
              </a:rPr>
              <a:t>  </a:t>
            </a:r>
            <a:r>
              <a:rPr sz="2005" b="0" i="0" u="none">
                <a:solidFill>
                  <a:srgbClr val="0F172A"/>
                </a:solidFill>
                <a:latin typeface="Courier New"/>
              </a:rPr>
              <a:t>acc_no</a:t>
            </a:r>
            <a:r>
              <a:rPr sz="2005" b="0" i="0" u="none">
                <a:solidFill>
                  <a:srgbClr val="0F172A"/>
                </a:solidFill>
                <a:latin typeface="Courier New"/>
              </a:rPr>
              <a:t> </a:t>
            </a:r>
            <a:r>
              <a:rPr sz="2005" b="0" i="0" u="none">
                <a:solidFill>
                  <a:srgbClr val="0F172A"/>
                </a:solidFill>
                <a:latin typeface="Courier New"/>
              </a:rPr>
              <a:t>=</a:t>
            </a:r>
            <a:r>
              <a:rPr sz="2005" b="0" i="0" u="none">
                <a:solidFill>
                  <a:srgbClr val="0F172A"/>
                </a:solidFill>
                <a:latin typeface="Courier New"/>
              </a:rPr>
              <a:t> </a:t>
            </a:r>
            <a:r>
              <a:rPr sz="2005" b="0" i="0" u="none">
                <a:solidFill>
                  <a:srgbClr val="B45309"/>
                </a:solidFill>
                <a:latin typeface="Courier New"/>
              </a:rPr>
              <a:t>'B-202'</a:t>
            </a:r>
            <a:r>
              <a:rPr sz="2005" b="0" i="0" u="none">
                <a:solidFill>
                  <a:srgbClr val="0F172A"/>
                </a:solidFill>
                <a:latin typeface="Courier New"/>
              </a:rPr>
              <a:t>;</a:t>
            </a:r>
          </a:p>
          <a:p>
            <a:pPr>
              <a:lnSpc>
                <a:spcPct val="110000"/>
              </a:lnSpc>
            </a:pPr>
            <a:r>
              <a:rPr sz="2005" b="0" i="0" u="none">
                <a:solidFill>
                  <a:srgbClr val="0F172A"/>
                </a:solidFill>
                <a:latin typeface="Courier New"/>
              </a:rPr>
              <a:t> </a:t>
            </a:r>
          </a:p>
          <a:p>
            <a:pPr>
              <a:lnSpc>
                <a:spcPct val="110000"/>
              </a:lnSpc>
            </a:pPr>
            <a:r>
              <a:rPr sz="2005" b="1" i="0" u="none">
                <a:solidFill>
                  <a:srgbClr val="0E8A8A"/>
                </a:solidFill>
                <a:latin typeface="Courier New"/>
              </a:rPr>
              <a:t>COMMIT</a:t>
            </a:r>
            <a:r>
              <a:rPr sz="2005" b="0" i="0" u="none">
                <a:solidFill>
                  <a:srgbClr val="0F172A"/>
                </a:solidFill>
                <a:latin typeface="Courier New"/>
              </a:rPr>
              <a:t>;</a:t>
            </a:r>
            <a:r>
              <a:rPr sz="2005" b="0" i="0" u="none">
                <a:solidFill>
                  <a:srgbClr val="0F172A"/>
                </a:solidFill>
                <a:latin typeface="Courier New"/>
              </a:rPr>
              <a:t>     </a:t>
            </a:r>
            <a:r>
              <a:rPr sz="2005" b="0" i="1" u="none">
                <a:solidFill>
                  <a:srgbClr val="64748B"/>
                </a:solidFill>
                <a:latin typeface="Courier New"/>
              </a:rPr>
              <a:t>-- make both changes permanent</a:t>
            </a:r>
          </a:p>
          <a:p>
            <a:pPr>
              <a:lnSpc>
                <a:spcPct val="110000"/>
              </a:lnSpc>
            </a:pPr>
            <a:r>
              <a:rPr sz="2005" b="0" i="1" u="none">
                <a:solidFill>
                  <a:srgbClr val="64748B"/>
                </a:solidFill>
                <a:latin typeface="Courier New"/>
              </a:rPr>
              <a:t>-- ROLLBACK;  would undo both instead</a:t>
            </a:r>
          </a:p>
        </p:txBody>
      </p:sp>
      <p:sp>
        <p:nvSpPr>
          <p:cNvPr id="8" name="Rectangle 7"/>
          <p:cNvSpPr/>
          <p:nvPr/>
        </p:nvSpPr>
        <p:spPr>
          <a:xfrm>
            <a:off x="9980295" y="2482024"/>
            <a:ext cx="7393305" cy="2815071"/>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80345" y="2882074"/>
            <a:ext cx="6593205"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Why both or none?</a:t>
            </a:r>
          </a:p>
        </p:txBody>
      </p:sp>
      <p:sp>
        <p:nvSpPr>
          <p:cNvPr id="10" name="TextBox 9"/>
          <p:cNvSpPr txBox="1"/>
          <p:nvPr/>
        </p:nvSpPr>
        <p:spPr>
          <a:xfrm>
            <a:off x="10380345" y="3605204"/>
            <a:ext cx="6593205"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If the system crashes after the first UPDATE, 500 would vanish. The transaction guarantees </a:t>
            </a:r>
            <a:r>
              <a:rPr sz="2511" b="1" i="0" u="none">
                <a:solidFill>
                  <a:srgbClr val="334155"/>
                </a:solidFill>
                <a:latin typeface="Calibri"/>
              </a:rPr>
              <a:t>atomicity</a:t>
            </a:r>
            <a:r>
              <a:rPr sz="2511" b="0" i="0" u="none">
                <a:solidFill>
                  <a:srgbClr val="334155"/>
                </a:solidFill>
                <a:latin typeface="Calibri"/>
              </a:rPr>
              <a:t>.</a:t>
            </a:r>
          </a:p>
        </p:txBody>
      </p:sp>
      <p:sp>
        <p:nvSpPr>
          <p:cNvPr id="11" name="Rectangle 10"/>
          <p:cNvSpPr/>
          <p:nvPr/>
        </p:nvSpPr>
        <p:spPr>
          <a:xfrm>
            <a:off x="9980295" y="5510456"/>
            <a:ext cx="7393305" cy="2108636"/>
          </a:xfrm>
          <a:prstGeom prst="rect">
            <a:avLst/>
          </a:prstGeom>
          <a:solidFill>
            <a:srgbClr val="E6F4F4"/>
          </a:solidFill>
          <a:ln>
            <a:noFill/>
          </a:ln>
        </p:spPr>
        <p:txBody>
          <a:bodyPr rtlCol="0" anchor="ctr" lIns="0" rIns="0" tIns="0" bIns="0"/>
          <a:lstStyle/>
          <a:p>
            <a:pPr algn="ctr"/>
          </a:p>
        </p:txBody>
      </p:sp>
      <p:sp>
        <p:nvSpPr>
          <p:cNvPr id="12" name="Rectangle 11"/>
          <p:cNvSpPr/>
          <p:nvPr/>
        </p:nvSpPr>
        <p:spPr>
          <a:xfrm>
            <a:off x="9980295" y="5510456"/>
            <a:ext cx="47625" cy="2108636"/>
          </a:xfrm>
          <a:prstGeom prst="rect">
            <a:avLst/>
          </a:prstGeom>
          <a:solidFill>
            <a:srgbClr val="0E8A8A"/>
          </a:solidFill>
          <a:ln>
            <a:noFill/>
          </a:ln>
        </p:spPr>
        <p:txBody>
          <a:bodyPr rtlCol="0" anchor="ctr" lIns="0" rIns="0" tIns="0" bIns="0"/>
          <a:lstStyle/>
          <a:p>
            <a:pPr algn="ctr"/>
          </a:p>
        </p:txBody>
      </p:sp>
      <p:sp>
        <p:nvSpPr>
          <p:cNvPr id="13" name="TextBox 12"/>
          <p:cNvSpPr txBox="1"/>
          <p:nvPr/>
        </p:nvSpPr>
        <p:spPr>
          <a:xfrm>
            <a:off x="10407015" y="5777156"/>
            <a:ext cx="6539865" cy="1575236"/>
          </a:xfrm>
          <a:prstGeom prst="rect">
            <a:avLst/>
          </a:prstGeom>
          <a:noFill/>
        </p:spPr>
        <p:txBody>
          <a:bodyPr wrap="square" lIns="0" rIns="0" tIns="0" bIns="0"/>
          <a:lstStyle/>
          <a:p>
            <a:pPr>
              <a:lnSpc>
                <a:spcPct val="112000"/>
              </a:lnSpc>
            </a:pPr>
            <a:r>
              <a:rPr sz="2318" b="0" i="0" u="none">
                <a:solidFill>
                  <a:srgbClr val="0F172A"/>
                </a:solidFill>
                <a:latin typeface="Calibri"/>
              </a:rPr>
              <a:t>Oracle starts a transaction automatically with the first DML; SQL Server and PostgreSQL run each statement alone (</a:t>
            </a:r>
            <a:r>
              <a:rPr sz="2318" b="1" i="0" u="none">
                <a:solidFill>
                  <a:srgbClr val="0F172A"/>
                </a:solidFill>
                <a:latin typeface="Calibri"/>
              </a:rPr>
              <a:t>autocommit</a:t>
            </a:r>
            <a:r>
              <a:rPr sz="2318" b="0" i="0" u="none">
                <a:solidFill>
                  <a:srgbClr val="0F172A"/>
                </a:solidFill>
                <a:latin typeface="Calibri"/>
              </a:rPr>
              <a:t>) unless you BEGIN.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004821"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TRANSACTIONS</a:t>
            </a:r>
          </a:p>
        </p:txBody>
      </p:sp>
      <p:cxnSp>
        <p:nvCxnSpPr>
          <p:cNvPr id="3" name="Connector 2"/>
          <p:cNvCxnSpPr/>
          <p:nvPr/>
        </p:nvCxnSpPr>
        <p:spPr>
          <a:xfrm>
            <a:off x="2995421" y="981075"/>
            <a:ext cx="1353045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08/71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The life of a transaction</a:t>
            </a:r>
          </a:p>
        </p:txBody>
      </p:sp>
      <p:cxnSp>
        <p:nvCxnSpPr>
          <p:cNvPr id="6" name="Connector 5"/>
          <p:cNvCxnSpPr/>
          <p:nvPr/>
        </p:nvCxnSpPr>
        <p:spPr>
          <a:xfrm>
            <a:off x="1619250" y="5524500"/>
            <a:ext cx="1123950" cy="0"/>
          </a:xfrm>
          <a:prstGeom prst="line">
            <a:avLst/>
          </a:prstGeom>
          <a:ln w="23812">
            <a:solidFill>
              <a:srgbClr val="0E8A8A"/>
            </a:solidFill>
            <a:tailEnd type="triangle"/>
          </a:ln>
        </p:spPr>
      </p:cxnSp>
      <p:cxnSp>
        <p:nvCxnSpPr>
          <p:cNvPr id="7" name="Connector 6"/>
          <p:cNvCxnSpPr/>
          <p:nvPr/>
        </p:nvCxnSpPr>
        <p:spPr>
          <a:xfrm flipV="1">
            <a:off x="5238750" y="4095750"/>
            <a:ext cx="1600200" cy="1095375"/>
          </a:xfrm>
          <a:prstGeom prst="line">
            <a:avLst/>
          </a:prstGeom>
          <a:ln w="23812">
            <a:solidFill>
              <a:srgbClr val="0F172A"/>
            </a:solidFill>
            <a:tailEnd type="triangle"/>
          </a:ln>
        </p:spPr>
      </p:cxnSp>
      <p:cxnSp>
        <p:nvCxnSpPr>
          <p:cNvPr id="8" name="Connector 7"/>
          <p:cNvCxnSpPr/>
          <p:nvPr/>
        </p:nvCxnSpPr>
        <p:spPr>
          <a:xfrm>
            <a:off x="10287000" y="3810000"/>
            <a:ext cx="2362200" cy="0"/>
          </a:xfrm>
          <a:prstGeom prst="line">
            <a:avLst/>
          </a:prstGeom>
          <a:ln w="23812">
            <a:solidFill>
              <a:srgbClr val="0E8A8A"/>
            </a:solidFill>
            <a:tailEnd type="triangle"/>
          </a:ln>
        </p:spPr>
      </p:cxnSp>
      <p:cxnSp>
        <p:nvCxnSpPr>
          <p:cNvPr id="9" name="Connector 8"/>
          <p:cNvCxnSpPr/>
          <p:nvPr/>
        </p:nvCxnSpPr>
        <p:spPr>
          <a:xfrm>
            <a:off x="5238750" y="5857875"/>
            <a:ext cx="2076450" cy="1143000"/>
          </a:xfrm>
          <a:prstGeom prst="line">
            <a:avLst/>
          </a:prstGeom>
          <a:ln w="23812">
            <a:solidFill>
              <a:srgbClr val="C8102E"/>
            </a:solidFill>
            <a:tailEnd type="triangle"/>
          </a:ln>
        </p:spPr>
      </p:cxnSp>
      <p:cxnSp>
        <p:nvCxnSpPr>
          <p:cNvPr id="10" name="Connector 9"/>
          <p:cNvCxnSpPr/>
          <p:nvPr/>
        </p:nvCxnSpPr>
        <p:spPr>
          <a:xfrm>
            <a:off x="8572500" y="4238625"/>
            <a:ext cx="0" cy="2571750"/>
          </a:xfrm>
          <a:prstGeom prst="line">
            <a:avLst/>
          </a:prstGeom>
          <a:ln w="23812">
            <a:solidFill>
              <a:srgbClr val="C8102E"/>
            </a:solidFill>
            <a:tailEnd type="triangle"/>
          </a:ln>
        </p:spPr>
      </p:cxnSp>
      <p:cxnSp>
        <p:nvCxnSpPr>
          <p:cNvPr id="11" name="Connector 10"/>
          <p:cNvCxnSpPr/>
          <p:nvPr/>
        </p:nvCxnSpPr>
        <p:spPr>
          <a:xfrm>
            <a:off x="9810750" y="7239000"/>
            <a:ext cx="2362200" cy="0"/>
          </a:xfrm>
          <a:prstGeom prst="line">
            <a:avLst/>
          </a:prstGeom>
          <a:ln w="23812">
            <a:solidFill>
              <a:srgbClr val="C8102E"/>
            </a:solidFill>
            <a:tailEnd type="triangle"/>
          </a:ln>
        </p:spPr>
      </p:cxnSp>
      <p:sp>
        <p:nvSpPr>
          <p:cNvPr id="12" name="Rectangle 11"/>
          <p:cNvSpPr/>
          <p:nvPr/>
        </p:nvSpPr>
        <p:spPr>
          <a:xfrm>
            <a:off x="2762250" y="5095875"/>
            <a:ext cx="2476500" cy="85725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Active</a:t>
            </a:r>
          </a:p>
        </p:txBody>
      </p:sp>
      <p:sp>
        <p:nvSpPr>
          <p:cNvPr id="13" name="Rectangle 12"/>
          <p:cNvSpPr/>
          <p:nvPr/>
        </p:nvSpPr>
        <p:spPr>
          <a:xfrm>
            <a:off x="6858000" y="3381375"/>
            <a:ext cx="3429000" cy="85725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Partially committed</a:t>
            </a:r>
          </a:p>
        </p:txBody>
      </p:sp>
      <p:sp>
        <p:nvSpPr>
          <p:cNvPr id="14" name="Rectangle 13"/>
          <p:cNvSpPr/>
          <p:nvPr/>
        </p:nvSpPr>
        <p:spPr>
          <a:xfrm>
            <a:off x="12668250" y="3381375"/>
            <a:ext cx="2476500" cy="85725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Committed</a:t>
            </a:r>
          </a:p>
        </p:txBody>
      </p:sp>
      <p:sp>
        <p:nvSpPr>
          <p:cNvPr id="15" name="Rectangle 14"/>
          <p:cNvSpPr/>
          <p:nvPr/>
        </p:nvSpPr>
        <p:spPr>
          <a:xfrm>
            <a:off x="7334250" y="6810375"/>
            <a:ext cx="2476500" cy="85725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Failed</a:t>
            </a:r>
          </a:p>
        </p:txBody>
      </p:sp>
      <p:sp>
        <p:nvSpPr>
          <p:cNvPr id="16" name="Rectangle 15"/>
          <p:cNvSpPr/>
          <p:nvPr/>
        </p:nvSpPr>
        <p:spPr>
          <a:xfrm>
            <a:off x="12192000" y="6810375"/>
            <a:ext cx="3429000" cy="85725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Aborted (rolled back)</a:t>
            </a:r>
          </a:p>
        </p:txBody>
      </p:sp>
      <p:sp>
        <p:nvSpPr>
          <p:cNvPr id="17" name="TextBox 16"/>
          <p:cNvSpPr txBox="1"/>
          <p:nvPr/>
        </p:nvSpPr>
        <p:spPr>
          <a:xfrm>
            <a:off x="1428750" y="4953000"/>
            <a:ext cx="1333500" cy="304952"/>
          </a:xfrm>
          <a:prstGeom prst="rect">
            <a:avLst/>
          </a:prstGeom>
          <a:noFill/>
        </p:spPr>
        <p:txBody>
          <a:bodyPr wrap="square" lIns="0" rIns="0" tIns="0" bIns="0" anchor="t"/>
          <a:lstStyle/>
          <a:p>
            <a:pPr algn="l">
              <a:lnSpc>
                <a:spcPct val="111800"/>
              </a:lnSpc>
            </a:pPr>
            <a:r>
              <a:rPr sz="1656" b="1" i="0" u="none">
                <a:solidFill>
                  <a:srgbClr val="0E8A8A"/>
                </a:solidFill>
                <a:latin typeface="Calibri"/>
              </a:rPr>
              <a:t>BEGIN</a:t>
            </a:r>
          </a:p>
        </p:txBody>
      </p:sp>
      <p:sp>
        <p:nvSpPr>
          <p:cNvPr id="18" name="TextBox 17"/>
          <p:cNvSpPr txBox="1"/>
          <p:nvPr/>
        </p:nvSpPr>
        <p:spPr>
          <a:xfrm>
            <a:off x="4000500" y="4095750"/>
            <a:ext cx="2857500" cy="304952"/>
          </a:xfrm>
          <a:prstGeom prst="rect">
            <a:avLst/>
          </a:prstGeom>
          <a:noFill/>
        </p:spPr>
        <p:txBody>
          <a:bodyPr wrap="square" lIns="0" rIns="0" tIns="0" bIns="0" anchor="t"/>
          <a:lstStyle/>
          <a:p>
            <a:pPr algn="l">
              <a:lnSpc>
                <a:spcPct val="111800"/>
              </a:lnSpc>
            </a:pPr>
            <a:r>
              <a:rPr sz="1656" b="0" i="1" u="none">
                <a:solidFill>
                  <a:srgbClr val="64748B"/>
                </a:solidFill>
                <a:latin typeface="Calibri"/>
              </a:rPr>
              <a:t>last statement done</a:t>
            </a:r>
          </a:p>
        </p:txBody>
      </p:sp>
      <p:sp>
        <p:nvSpPr>
          <p:cNvPr id="19" name="TextBox 18"/>
          <p:cNvSpPr txBox="1"/>
          <p:nvPr/>
        </p:nvSpPr>
        <p:spPr>
          <a:xfrm>
            <a:off x="10572750" y="3238500"/>
            <a:ext cx="2095500" cy="304952"/>
          </a:xfrm>
          <a:prstGeom prst="rect">
            <a:avLst/>
          </a:prstGeom>
          <a:noFill/>
        </p:spPr>
        <p:txBody>
          <a:bodyPr wrap="square" lIns="0" rIns="0" tIns="0" bIns="0" anchor="t"/>
          <a:lstStyle/>
          <a:p>
            <a:pPr algn="ctr">
              <a:lnSpc>
                <a:spcPct val="111800"/>
              </a:lnSpc>
            </a:pPr>
            <a:r>
              <a:rPr sz="1656" b="1" i="0" u="none">
                <a:solidFill>
                  <a:srgbClr val="0E8A8A"/>
                </a:solidFill>
                <a:latin typeface="Calibri"/>
              </a:rPr>
              <a:t>COMMIT</a:t>
            </a:r>
          </a:p>
        </p:txBody>
      </p:sp>
      <p:sp>
        <p:nvSpPr>
          <p:cNvPr id="20" name="TextBox 19"/>
          <p:cNvSpPr txBox="1"/>
          <p:nvPr/>
        </p:nvSpPr>
        <p:spPr>
          <a:xfrm>
            <a:off x="3714750" y="6667500"/>
            <a:ext cx="2857500" cy="304952"/>
          </a:xfrm>
          <a:prstGeom prst="rect">
            <a:avLst/>
          </a:prstGeom>
          <a:noFill/>
        </p:spPr>
        <p:txBody>
          <a:bodyPr wrap="square" lIns="0" rIns="0" tIns="0" bIns="0" anchor="t"/>
          <a:lstStyle/>
          <a:p>
            <a:pPr algn="l">
              <a:lnSpc>
                <a:spcPct val="111800"/>
              </a:lnSpc>
            </a:pPr>
            <a:r>
              <a:rPr sz="1656" b="0" i="1" u="none">
                <a:solidFill>
                  <a:srgbClr val="C8102E"/>
                </a:solidFill>
                <a:latin typeface="Calibri"/>
              </a:rPr>
              <a:t>error / crash</a:t>
            </a:r>
          </a:p>
        </p:txBody>
      </p:sp>
      <p:sp>
        <p:nvSpPr>
          <p:cNvPr id="21" name="TextBox 20"/>
          <p:cNvSpPr txBox="1"/>
          <p:nvPr/>
        </p:nvSpPr>
        <p:spPr>
          <a:xfrm>
            <a:off x="8763000" y="5334000"/>
            <a:ext cx="2476500" cy="304952"/>
          </a:xfrm>
          <a:prstGeom prst="rect">
            <a:avLst/>
          </a:prstGeom>
          <a:noFill/>
        </p:spPr>
        <p:txBody>
          <a:bodyPr wrap="square" lIns="0" rIns="0" tIns="0" bIns="0" anchor="t"/>
          <a:lstStyle/>
          <a:p>
            <a:pPr algn="l">
              <a:lnSpc>
                <a:spcPct val="111800"/>
              </a:lnSpc>
            </a:pPr>
            <a:r>
              <a:rPr sz="1656" b="0" i="1" u="none">
                <a:solidFill>
                  <a:srgbClr val="C8102E"/>
                </a:solidFill>
                <a:latin typeface="Calibri"/>
              </a:rPr>
              <a:t>write fails</a:t>
            </a:r>
          </a:p>
        </p:txBody>
      </p:sp>
      <p:sp>
        <p:nvSpPr>
          <p:cNvPr id="22" name="TextBox 21"/>
          <p:cNvSpPr txBox="1"/>
          <p:nvPr/>
        </p:nvSpPr>
        <p:spPr>
          <a:xfrm>
            <a:off x="10287000" y="7620000"/>
            <a:ext cx="2286000" cy="304952"/>
          </a:xfrm>
          <a:prstGeom prst="rect">
            <a:avLst/>
          </a:prstGeom>
          <a:noFill/>
        </p:spPr>
        <p:txBody>
          <a:bodyPr wrap="square" lIns="0" rIns="0" tIns="0" bIns="0" anchor="t"/>
          <a:lstStyle/>
          <a:p>
            <a:pPr algn="ctr">
              <a:lnSpc>
                <a:spcPct val="111800"/>
              </a:lnSpc>
            </a:pPr>
            <a:r>
              <a:rPr sz="1656" b="1" i="0" u="none">
                <a:solidFill>
                  <a:srgbClr val="C8102E"/>
                </a:solidFill>
                <a:latin typeface="Calibri"/>
              </a:rPr>
              <a:t>ROLLBACK</a:t>
            </a:r>
          </a:p>
        </p:txBody>
      </p:sp>
      <p:sp>
        <p:nvSpPr>
          <p:cNvPr id="23" name="TextBox 22"/>
          <p:cNvSpPr txBox="1"/>
          <p:nvPr/>
        </p:nvSpPr>
        <p:spPr>
          <a:xfrm>
            <a:off x="1219200" y="8382000"/>
            <a:ext cx="15849600" cy="330365"/>
          </a:xfrm>
          <a:prstGeom prst="rect">
            <a:avLst/>
          </a:prstGeom>
          <a:noFill/>
        </p:spPr>
        <p:txBody>
          <a:bodyPr wrap="square" lIns="0" rIns="0" tIns="0" bIns="0" anchor="t"/>
          <a:lstStyle/>
          <a:p>
            <a:pPr algn="l">
              <a:lnSpc>
                <a:spcPct val="111800"/>
              </a:lnSpc>
            </a:pPr>
            <a:r>
              <a:rPr sz="1794" b="0" i="0" u="none">
                <a:solidFill>
                  <a:srgbClr val="334155"/>
                </a:solidFill>
                <a:latin typeface="Calibri"/>
              </a:rPr>
              <a:t>Only </a:t>
            </a:r>
            <a:r>
              <a:rPr sz="1794" b="1" i="0" u="none">
                <a:solidFill>
                  <a:srgbClr val="334155"/>
                </a:solidFill>
                <a:latin typeface="Calibri"/>
              </a:rPr>
              <a:t>Committed</a:t>
            </a:r>
            <a:r>
              <a:rPr sz="1794" b="0" i="0" u="none">
                <a:solidFill>
                  <a:srgbClr val="334155"/>
                </a:solidFill>
                <a:latin typeface="Calibri"/>
              </a:rPr>
              <a:t> changes are permanent (durability); everything an </a:t>
            </a:r>
            <a:r>
              <a:rPr sz="1794" b="1" i="0" u="none">
                <a:solidFill>
                  <a:srgbClr val="334155"/>
                </a:solidFill>
                <a:latin typeface="Calibri"/>
              </a:rPr>
              <a:t>Aborted</a:t>
            </a:r>
            <a:r>
              <a:rPr sz="1794" b="0" i="0" u="none">
                <a:solidFill>
                  <a:srgbClr val="334155"/>
                </a:solidFill>
                <a:latin typeface="Calibri"/>
              </a:rPr>
              <a:t> transaction did is undone (atomicity).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FOUNDATIONS</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09/71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Database schema</a:t>
            </a:r>
          </a:p>
        </p:txBody>
      </p:sp>
      <p:sp>
        <p:nvSpPr>
          <p:cNvPr id="6" name="Rectangle 5"/>
          <p:cNvSpPr/>
          <p:nvPr/>
        </p:nvSpPr>
        <p:spPr>
          <a:xfrm>
            <a:off x="914400" y="2482024"/>
            <a:ext cx="8572500" cy="2638623"/>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2105223"/>
          </a:xfrm>
          <a:prstGeom prst="rect">
            <a:avLst/>
          </a:prstGeom>
          <a:noFill/>
        </p:spPr>
        <p:txBody>
          <a:bodyPr wrap="none" lIns="0" rIns="0" tIns="0" bIns="0"/>
          <a:lstStyle/>
          <a:p>
            <a:pPr>
              <a:lnSpc>
                <a:spcPct val="110000"/>
              </a:lnSpc>
            </a:pPr>
            <a:r>
              <a:rPr sz="2511" b="1" i="0" u="none">
                <a:solidFill>
                  <a:srgbClr val="0E8A8A"/>
                </a:solidFill>
                <a:latin typeface="Courier New"/>
              </a:rPr>
              <a:t>CREATE</a:t>
            </a:r>
            <a:r>
              <a:rPr sz="2511" b="0" i="0" u="none">
                <a:solidFill>
                  <a:srgbClr val="0F172A"/>
                </a:solidFill>
                <a:latin typeface="Courier New"/>
              </a:rPr>
              <a:t> </a:t>
            </a:r>
            <a:r>
              <a:rPr sz="2511" b="1" i="0" u="none">
                <a:solidFill>
                  <a:srgbClr val="0E8A8A"/>
                </a:solidFill>
                <a:latin typeface="Courier New"/>
              </a:rPr>
              <a:t>SCHEMA</a:t>
            </a:r>
            <a:r>
              <a:rPr sz="2511" b="0" i="0" u="none">
                <a:solidFill>
                  <a:srgbClr val="0F172A"/>
                </a:solidFill>
                <a:latin typeface="Courier New"/>
              </a:rPr>
              <a:t> </a:t>
            </a:r>
            <a:r>
              <a:rPr sz="2511" b="0" i="0" u="none">
                <a:solidFill>
                  <a:srgbClr val="0F172A"/>
                </a:solidFill>
                <a:latin typeface="Courier New"/>
              </a:rPr>
              <a:t>hr</a:t>
            </a:r>
            <a:r>
              <a:rPr sz="2511" b="0" i="0" u="none">
                <a:solidFill>
                  <a:srgbClr val="0F172A"/>
                </a:solidFill>
                <a:latin typeface="Courier New"/>
              </a:rPr>
              <a:t> </a:t>
            </a:r>
            <a:r>
              <a:rPr sz="2511" b="1" i="0" u="none">
                <a:solidFill>
                  <a:srgbClr val="0E8A8A"/>
                </a:solidFill>
                <a:latin typeface="Courier New"/>
              </a:rPr>
              <a:t>AUTHORIZATION</a:t>
            </a:r>
            <a:r>
              <a:rPr sz="2511" b="0" i="0" u="none">
                <a:solidFill>
                  <a:srgbClr val="0F172A"/>
                </a:solidFill>
                <a:latin typeface="Courier New"/>
              </a:rPr>
              <a:t> </a:t>
            </a:r>
            <a:r>
              <a:rPr sz="2511" b="0" i="0" u="none">
                <a:solidFill>
                  <a:srgbClr val="0F172A"/>
                </a:solidFill>
                <a:latin typeface="Courier New"/>
              </a:rPr>
              <a:t>ahmed</a:t>
            </a:r>
            <a:r>
              <a:rPr sz="2511" b="0" i="0" u="none">
                <a:solidFill>
                  <a:srgbClr val="0F172A"/>
                </a:solidFill>
                <a:latin typeface="Courier New"/>
              </a:rPr>
              <a:t>;</a:t>
            </a:r>
          </a:p>
          <a:p>
            <a:pPr>
              <a:lnSpc>
                <a:spcPct val="110000"/>
              </a:lnSpc>
            </a:pPr>
            <a:r>
              <a:rPr sz="2511" b="0" i="0" u="none">
                <a:solidFill>
                  <a:srgbClr val="0F172A"/>
                </a:solidFill>
                <a:latin typeface="Courier New"/>
              </a:rPr>
              <a:t> </a:t>
            </a:r>
          </a:p>
          <a:p>
            <a:pPr>
              <a:lnSpc>
                <a:spcPct val="110000"/>
              </a:lnSpc>
            </a:pPr>
            <a:r>
              <a:rPr sz="2511" b="1" i="0" u="none">
                <a:solidFill>
                  <a:srgbClr val="0E8A8A"/>
                </a:solidFill>
                <a:latin typeface="Courier New"/>
              </a:rPr>
              <a:t>CREATE</a:t>
            </a:r>
            <a:r>
              <a:rPr sz="2511" b="0" i="0" u="none">
                <a:solidFill>
                  <a:srgbClr val="0F172A"/>
                </a:solidFill>
                <a:latin typeface="Courier New"/>
              </a:rPr>
              <a:t> </a:t>
            </a:r>
            <a:r>
              <a:rPr sz="2511" b="1" i="0" u="none">
                <a:solidFill>
                  <a:srgbClr val="0E8A8A"/>
                </a:solidFill>
                <a:latin typeface="Courier New"/>
              </a:rPr>
              <a:t>TABLE</a:t>
            </a:r>
            <a:r>
              <a:rPr sz="2511" b="0" i="0" u="none">
                <a:solidFill>
                  <a:srgbClr val="0F172A"/>
                </a:solidFill>
                <a:latin typeface="Courier New"/>
              </a:rPr>
              <a:t> </a:t>
            </a:r>
            <a:r>
              <a:rPr sz="2511" b="0" i="0" u="none">
                <a:solidFill>
                  <a:srgbClr val="0F172A"/>
                </a:solidFill>
                <a:latin typeface="Courier New"/>
              </a:rPr>
              <a:t>hr</a:t>
            </a:r>
            <a:r>
              <a:rPr sz="2511" b="0" i="0" u="none">
                <a:solidFill>
                  <a:srgbClr val="0F172A"/>
                </a:solidFill>
                <a:latin typeface="Courier New"/>
              </a:rPr>
              <a:t>.</a:t>
            </a:r>
            <a:r>
              <a:rPr sz="2511" b="0" i="0" u="none">
                <a:solidFill>
                  <a:srgbClr val="0F172A"/>
                </a:solidFill>
                <a:latin typeface="Courier New"/>
              </a:rPr>
              <a:t>employee</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a:t>
            </a:r>
          </a:p>
          <a:p>
            <a:pPr>
              <a:lnSpc>
                <a:spcPct val="110000"/>
              </a:lnSpc>
            </a:pPr>
            <a:r>
              <a:rPr sz="2511" b="0" i="0" u="none">
                <a:solidFill>
                  <a:srgbClr val="0F172A"/>
                </a:solidFill>
                <a:latin typeface="Courier New"/>
              </a:rPr>
              <a:t> </a:t>
            </a:r>
          </a:p>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hr</a:t>
            </a:r>
            <a:r>
              <a:rPr sz="2511" b="0" i="0" u="none">
                <a:solidFill>
                  <a:srgbClr val="0F172A"/>
                </a:solidFill>
                <a:latin typeface="Courier New"/>
              </a:rPr>
              <a:t>.</a:t>
            </a:r>
            <a:r>
              <a:rPr sz="2511" b="0" i="0" u="none">
                <a:solidFill>
                  <a:srgbClr val="0F172A"/>
                </a:solidFill>
                <a:latin typeface="Courier New"/>
              </a:rPr>
              <a:t>employee</a:t>
            </a:r>
            <a:r>
              <a:rPr sz="2511" b="0" i="0" u="none">
                <a:solidFill>
                  <a:srgbClr val="0F172A"/>
                </a:solidFill>
                <a:latin typeface="Courier New"/>
              </a:rPr>
              <a:t>;</a:t>
            </a:r>
          </a:p>
        </p:txBody>
      </p:sp>
      <p:sp>
        <p:nvSpPr>
          <p:cNvPr id="8" name="Rectangle 7"/>
          <p:cNvSpPr/>
          <p:nvPr/>
        </p:nvSpPr>
        <p:spPr>
          <a:xfrm>
            <a:off x="9913620" y="2482024"/>
            <a:ext cx="7459980" cy="2191313"/>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13670" y="2882074"/>
            <a:ext cx="6659880" cy="1391213"/>
          </a:xfrm>
          <a:prstGeom prst="rect">
            <a:avLst/>
          </a:prstGeom>
          <a:noFill/>
        </p:spPr>
        <p:txBody>
          <a:bodyPr wrap="square" lIns="0" rIns="0" tIns="0" bIns="0" anchor="t"/>
          <a:lstStyle/>
          <a:p>
            <a:pPr algn="l">
              <a:lnSpc>
                <a:spcPct val="111800"/>
              </a:lnSpc>
            </a:pPr>
            <a:r>
              <a:rPr sz="2704" b="0" i="0" u="none">
                <a:solidFill>
                  <a:srgbClr val="334155"/>
                </a:solidFill>
                <a:latin typeface="Calibri"/>
              </a:rPr>
              <a:t>A </a:t>
            </a:r>
            <a:r>
              <a:rPr sz="2704" b="1" i="0" u="none">
                <a:solidFill>
                  <a:srgbClr val="334155"/>
                </a:solidFill>
                <a:latin typeface="Calibri"/>
              </a:rPr>
              <a:t>schema</a:t>
            </a:r>
            <a:r>
              <a:rPr sz="2704" b="0" i="0" u="none">
                <a:solidFill>
                  <a:srgbClr val="334155"/>
                </a:solidFill>
                <a:latin typeface="Calibri"/>
              </a:rPr>
              <a:t> is a named group of related objects (tables, views, indexes…) inside a database.</a:t>
            </a:r>
          </a:p>
        </p:txBody>
      </p:sp>
      <p:sp>
        <p:nvSpPr>
          <p:cNvPr id="10" name="Rectangle 9"/>
          <p:cNvSpPr/>
          <p:nvPr/>
        </p:nvSpPr>
        <p:spPr>
          <a:xfrm>
            <a:off x="9913620" y="4886698"/>
            <a:ext cx="7459980" cy="2637876"/>
          </a:xfrm>
          <a:prstGeom prst="rect">
            <a:avLst/>
          </a:prstGeom>
          <a:solidFill>
            <a:srgbClr val="FFFFFF"/>
          </a:solidFill>
          <a:ln w="14287">
            <a:solidFill>
              <a:srgbClr val="E2E8F0"/>
            </a:solidFill>
          </a:ln>
        </p:spPr>
        <p:txBody>
          <a:bodyPr rtlCol="0" anchor="ctr" lIns="0" rIns="0" tIns="0" bIns="0"/>
          <a:lstStyle/>
          <a:p>
            <a:pPr algn="ctr"/>
          </a:p>
        </p:txBody>
      </p:sp>
      <p:sp>
        <p:nvSpPr>
          <p:cNvPr id="11" name="TextBox 10"/>
          <p:cNvSpPr txBox="1"/>
          <p:nvPr/>
        </p:nvSpPr>
        <p:spPr>
          <a:xfrm>
            <a:off x="10313670" y="5286748"/>
            <a:ext cx="6659880" cy="1837776"/>
          </a:xfrm>
          <a:prstGeom prst="rect">
            <a:avLst/>
          </a:prstGeom>
          <a:noFill/>
        </p:spPr>
        <p:txBody>
          <a:bodyPr wrap="square" lIns="0" rIns="0" tIns="0" bIns="0" anchor="t"/>
          <a:lstStyle/>
          <a:p>
            <a:pPr algn="l">
              <a:lnSpc>
                <a:spcPct val="111800"/>
              </a:lnSpc>
            </a:pPr>
            <a:r>
              <a:rPr sz="2704" b="0" i="0" u="none">
                <a:solidFill>
                  <a:srgbClr val="334155"/>
                </a:solidFill>
                <a:latin typeface="Calibri"/>
              </a:rPr>
              <a:t>It has </a:t>
            </a:r>
            <a:r>
              <a:rPr sz="2704" b="1" i="0" u="none">
                <a:solidFill>
                  <a:srgbClr val="334155"/>
                </a:solidFill>
                <a:latin typeface="Calibri"/>
              </a:rPr>
              <a:t>one owner</a:t>
            </a:r>
            <a:r>
              <a:rPr sz="2704" b="0" i="0" u="none">
                <a:solidFill>
                  <a:srgbClr val="334155"/>
                </a:solidFill>
                <a:latin typeface="Calibri"/>
              </a:rPr>
              <a:t> who can change the structure of any object in it. A schema is not a person, but it is associated with a database user.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FOUNDATIONS</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10/71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Common data types across DBMSs</a:t>
            </a:r>
          </a:p>
        </p:txBody>
      </p:sp>
      <p:graphicFrame>
        <p:nvGraphicFramePr>
          <p:cNvPr id="6" name="Table 5"/>
          <p:cNvGraphicFramePr>
            <a:graphicFrameLocks noGrp="1"/>
          </p:cNvGraphicFramePr>
          <p:nvPr/>
        </p:nvGraphicFramePr>
        <p:xfrm>
          <a:off x="914400" y="2482024"/>
          <a:ext cx="16459200" cy="4999533"/>
        </p:xfrm>
        <a:graphic>
          <a:graphicData uri="http://schemas.openxmlformats.org/drawingml/2006/table">
            <a:tbl>
              <a:tblPr firstRow="0" bandRow="0">
                <a:tableStyleId>{5940675A-B579-460E-94D1-54222C63F5DA}</a:tableStyleId>
              </a:tblPr>
              <a:tblGrid>
                <a:gridCol w="2798064"/>
                <a:gridCol w="2962656"/>
                <a:gridCol w="3456432"/>
                <a:gridCol w="3621024"/>
                <a:gridCol w="3621024"/>
              </a:tblGrid>
              <a:tr h="580040">
                <a:tc>
                  <a:txBody>
                    <a:bodyPr/>
                    <a:lstStyle/>
                    <a:p>
                      <a:r>
                        <a:rPr sz="2318" b="1" i="0" u="none">
                          <a:solidFill>
                            <a:srgbClr val="FFFFFF"/>
                          </a:solidFill>
                          <a:latin typeface="Arial"/>
                        </a:rPr>
                        <a:t>Kind</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Standard SQL</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Oracle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SQL Server</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PostgreSQL / MySQL</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Fixed text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CHAR(n)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CHAR(n)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CHAR(n), NCHAR(n)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CHAR(n)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Variable text</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VARCHAR(n)</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VARCHAR2(n)</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VARCHAR(n), NVARCHAR(n)</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VARCHAR(n), TEXT</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Whole number</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INTEGER</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NUMBER(p)</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INT, BIGINT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INTEGER, BIGINT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Exact decimal</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DECIMAL(p,s)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NUMBER(p,s)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DECIMAL(p,s)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NUMERIC / DECIMAL(p,s)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939253">
                <a:tc>
                  <a:txBody>
                    <a:bodyPr/>
                    <a:lstStyle/>
                    <a:p>
                      <a:r>
                        <a:rPr sz="2318" b="0" i="0" u="none">
                          <a:solidFill>
                            <a:srgbClr val="334155"/>
                          </a:solidFill>
                          <a:latin typeface="Calibri"/>
                        </a:rPr>
                        <a:t>Date</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DATE</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DATE (also stores time)</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DATE</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DATE</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Date + time</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TIMESTAMP</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TIMESTAMP</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DATETIME2</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TIMESTAMP / DATETIME</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True / false</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BOOLEAN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BOOLEAN (23ai+)</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BIT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BOOLEAN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7" name="TextBox 6"/>
          <p:cNvSpPr txBox="1"/>
          <p:nvPr/>
        </p:nvSpPr>
        <p:spPr>
          <a:xfrm>
            <a:off x="914400" y="7934951"/>
            <a:ext cx="16459200" cy="462511"/>
          </a:xfrm>
          <a:prstGeom prst="rect">
            <a:avLst/>
          </a:prstGeom>
          <a:noFill/>
        </p:spPr>
        <p:txBody>
          <a:bodyPr wrap="square" lIns="0" rIns="0" tIns="0" bIns="0" anchor="t"/>
          <a:lstStyle/>
          <a:p>
            <a:pPr algn="l">
              <a:lnSpc>
                <a:spcPct val="111800"/>
              </a:lnSpc>
            </a:pPr>
            <a:r>
              <a:rPr sz="2511" b="0" i="0" u="none">
                <a:solidFill>
                  <a:srgbClr val="334155"/>
                </a:solidFill>
                <a:latin typeface="Calibri"/>
              </a:rPr>
              <a:t>Use </a:t>
            </a:r>
            <a:r>
              <a:rPr sz="2511" b="1" i="0" u="none">
                <a:solidFill>
                  <a:srgbClr val="334155"/>
                </a:solidFill>
                <a:latin typeface="Calibri"/>
              </a:rPr>
              <a:t>VARCHAR</a:t>
            </a:r>
            <a:r>
              <a:rPr sz="2511" b="0" i="0" u="none">
                <a:solidFill>
                  <a:srgbClr val="334155"/>
                </a:solidFill>
                <a:latin typeface="Calibri"/>
              </a:rPr>
              <a:t> for names and addresses (CHAR pads with spaces) and </a:t>
            </a:r>
            <a:r>
              <a:rPr sz="2511" b="1" i="0" u="none">
                <a:solidFill>
                  <a:srgbClr val="334155"/>
                </a:solidFill>
                <a:latin typeface="Calibri"/>
              </a:rPr>
              <a:t>DECIMAL</a:t>
            </a:r>
            <a:r>
              <a:rPr sz="2511" b="0" i="0" u="none">
                <a:solidFill>
                  <a:srgbClr val="334155"/>
                </a:solidFill>
                <a:latin typeface="Calibri"/>
              </a:rPr>
              <a:t> for money (FLOAT is approximate).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02</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11/71</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02</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Defining structure (DDL)</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CREATE, ALTER, DROP and TRUNCATE, with constraints and foreign keys.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DDL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12/71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CREATE TABLE</a:t>
            </a:r>
          </a:p>
        </p:txBody>
      </p:sp>
      <p:sp>
        <p:nvSpPr>
          <p:cNvPr id="6" name="Rectangle 5"/>
          <p:cNvSpPr/>
          <p:nvPr/>
        </p:nvSpPr>
        <p:spPr>
          <a:xfrm>
            <a:off x="914400" y="2482024"/>
            <a:ext cx="8934450" cy="3553385"/>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401050" cy="3019985"/>
          </a:xfrm>
          <a:prstGeom prst="rect">
            <a:avLst/>
          </a:prstGeom>
          <a:noFill/>
        </p:spPr>
        <p:txBody>
          <a:bodyPr wrap="none" lIns="0" rIns="0" tIns="0" bIns="0"/>
          <a:lstStyle/>
          <a:p>
            <a:pPr>
              <a:lnSpc>
                <a:spcPct val="110000"/>
              </a:lnSpc>
            </a:pPr>
            <a:r>
              <a:rPr sz="2001" b="1" i="0" u="none">
                <a:solidFill>
                  <a:srgbClr val="0E8A8A"/>
                </a:solidFill>
                <a:latin typeface="Courier New"/>
              </a:rPr>
              <a:t>CREATE</a:t>
            </a:r>
            <a:r>
              <a:rPr sz="2001" b="0" i="0" u="none">
                <a:solidFill>
                  <a:srgbClr val="0F172A"/>
                </a:solidFill>
                <a:latin typeface="Courier New"/>
              </a:rPr>
              <a:t> </a:t>
            </a:r>
            <a:r>
              <a:rPr sz="2001" b="1" i="0" u="none">
                <a:solidFill>
                  <a:srgbClr val="0E8A8A"/>
                </a:solidFill>
                <a:latin typeface="Courier New"/>
              </a:rPr>
              <a:t>TABLE</a:t>
            </a:r>
            <a:r>
              <a:rPr sz="2001" b="0" i="0" u="none">
                <a:solidFill>
                  <a:srgbClr val="0F172A"/>
                </a:solidFill>
                <a:latin typeface="Courier New"/>
              </a:rPr>
              <a:t> </a:t>
            </a:r>
            <a:r>
              <a:rPr sz="2001" b="0" i="0" u="none">
                <a:solidFill>
                  <a:srgbClr val="0F172A"/>
                </a:solidFill>
                <a:latin typeface="Courier New"/>
              </a:rPr>
              <a:t>students</a:t>
            </a:r>
            <a:r>
              <a:rPr sz="2001" b="0" i="0" u="none">
                <a:solidFill>
                  <a:srgbClr val="0F172A"/>
                </a:solidFill>
                <a:latin typeface="Courier New"/>
              </a:rPr>
              <a:t> </a:t>
            </a:r>
            <a:r>
              <a:rPr sz="2001" b="0" i="0" u="none">
                <a:solidFill>
                  <a:srgbClr val="0F172A"/>
                </a:solidFill>
                <a:latin typeface="Courier New"/>
              </a:rPr>
              <a:t>(</a:t>
            </a:r>
          </a:p>
          <a:p>
            <a:pPr>
              <a:lnSpc>
                <a:spcPct val="110000"/>
              </a:lnSpc>
            </a:pPr>
            <a:r>
              <a:rPr sz="2001" b="0" i="0" u="none">
                <a:solidFill>
                  <a:srgbClr val="0F172A"/>
                </a:solidFill>
                <a:latin typeface="Courier New"/>
              </a:rPr>
              <a:t>  </a:t>
            </a:r>
            <a:r>
              <a:rPr sz="2001" b="0" i="0" u="none">
                <a:solidFill>
                  <a:srgbClr val="0F172A"/>
                </a:solidFill>
                <a:latin typeface="Courier New"/>
              </a:rPr>
              <a:t>id</a:t>
            </a:r>
            <a:r>
              <a:rPr sz="2001" b="0" i="0" u="none">
                <a:solidFill>
                  <a:srgbClr val="0F172A"/>
                </a:solidFill>
                <a:latin typeface="Courier New"/>
              </a:rPr>
              <a:t>          </a:t>
            </a:r>
            <a:r>
              <a:rPr sz="2001" b="1" i="0" u="none">
                <a:solidFill>
                  <a:srgbClr val="0E8A8A"/>
                </a:solidFill>
                <a:latin typeface="Courier New"/>
              </a:rPr>
              <a:t>INT</a:t>
            </a:r>
            <a:r>
              <a:rPr sz="2001" b="0" i="0" u="none">
                <a:solidFill>
                  <a:srgbClr val="0F172A"/>
                </a:solidFill>
                <a:latin typeface="Courier New"/>
              </a:rPr>
              <a:t>          </a:t>
            </a:r>
            <a:r>
              <a:rPr sz="2001" b="1" i="0" u="none">
                <a:solidFill>
                  <a:srgbClr val="0E8A8A"/>
                </a:solidFill>
                <a:latin typeface="Courier New"/>
              </a:rPr>
              <a:t>PRIMARY</a:t>
            </a:r>
            <a:r>
              <a:rPr sz="2001" b="0" i="0" u="none">
                <a:solidFill>
                  <a:srgbClr val="0F172A"/>
                </a:solidFill>
                <a:latin typeface="Courier New"/>
              </a:rPr>
              <a:t> </a:t>
            </a:r>
            <a:r>
              <a:rPr sz="2001" b="1" i="0" u="none">
                <a:solidFill>
                  <a:srgbClr val="0E8A8A"/>
                </a:solidFill>
                <a:latin typeface="Courier New"/>
              </a:rPr>
              <a:t>KEY</a:t>
            </a:r>
            <a:r>
              <a:rPr sz="2001" b="0" i="0" u="none">
                <a:solidFill>
                  <a:srgbClr val="0F172A"/>
                </a:solidFill>
                <a:latin typeface="Courier New"/>
              </a:rPr>
              <a:t>,</a:t>
            </a:r>
          </a:p>
          <a:p>
            <a:pPr>
              <a:lnSpc>
                <a:spcPct val="110000"/>
              </a:lnSpc>
            </a:pPr>
            <a:r>
              <a:rPr sz="2001" b="0" i="0" u="none">
                <a:solidFill>
                  <a:srgbClr val="0F172A"/>
                </a:solidFill>
                <a:latin typeface="Courier New"/>
              </a:rPr>
              <a:t>  </a:t>
            </a:r>
            <a:r>
              <a:rPr sz="2001" b="0" i="0" u="none">
                <a:solidFill>
                  <a:srgbClr val="0F172A"/>
                </a:solidFill>
                <a:latin typeface="Courier New"/>
              </a:rPr>
              <a:t>first_name</a:t>
            </a:r>
            <a:r>
              <a:rPr sz="2001" b="0" i="0" u="none">
                <a:solidFill>
                  <a:srgbClr val="0F172A"/>
                </a:solidFill>
                <a:latin typeface="Courier New"/>
              </a:rPr>
              <a:t>  </a:t>
            </a:r>
            <a:r>
              <a:rPr sz="2001" b="1" i="0" u="none">
                <a:solidFill>
                  <a:srgbClr val="0E8A8A"/>
                </a:solidFill>
                <a:latin typeface="Courier New"/>
              </a:rPr>
              <a:t>VARCHAR</a:t>
            </a:r>
            <a:r>
              <a:rPr sz="2001" b="0" i="0" u="none">
                <a:solidFill>
                  <a:srgbClr val="0F172A"/>
                </a:solidFill>
                <a:latin typeface="Courier New"/>
              </a:rPr>
              <a:t>(</a:t>
            </a:r>
            <a:r>
              <a:rPr sz="2001" b="0" i="0" u="none">
                <a:solidFill>
                  <a:srgbClr val="B45309"/>
                </a:solidFill>
                <a:latin typeface="Courier New"/>
              </a:rPr>
              <a:t>50</a:t>
            </a:r>
            <a:r>
              <a:rPr sz="2001" b="0" i="0" u="none">
                <a:solidFill>
                  <a:srgbClr val="0F172A"/>
                </a:solidFill>
                <a:latin typeface="Courier New"/>
              </a:rPr>
              <a:t>)</a:t>
            </a:r>
            <a:r>
              <a:rPr sz="2001" b="0" i="0" u="none">
                <a:solidFill>
                  <a:srgbClr val="0F172A"/>
                </a:solidFill>
                <a:latin typeface="Courier New"/>
              </a:rPr>
              <a:t>  </a:t>
            </a:r>
            <a:r>
              <a:rPr sz="2001" b="1" i="0" u="none">
                <a:solidFill>
                  <a:srgbClr val="0E8A8A"/>
                </a:solidFill>
                <a:latin typeface="Courier New"/>
              </a:rPr>
              <a:t>NOT</a:t>
            </a:r>
            <a:r>
              <a:rPr sz="2001" b="0" i="0" u="none">
                <a:solidFill>
                  <a:srgbClr val="0F172A"/>
                </a:solidFill>
                <a:latin typeface="Courier New"/>
              </a:rPr>
              <a:t> </a:t>
            </a:r>
            <a:r>
              <a:rPr sz="2001" b="1" i="0" u="none">
                <a:solidFill>
                  <a:srgbClr val="0E8A8A"/>
                </a:solidFill>
                <a:latin typeface="Courier New"/>
              </a:rPr>
              <a:t>NULL</a:t>
            </a:r>
            <a:r>
              <a:rPr sz="2001" b="0" i="0" u="none">
                <a:solidFill>
                  <a:srgbClr val="0F172A"/>
                </a:solidFill>
                <a:latin typeface="Courier New"/>
              </a:rPr>
              <a:t>,</a:t>
            </a:r>
          </a:p>
          <a:p>
            <a:pPr>
              <a:lnSpc>
                <a:spcPct val="110000"/>
              </a:lnSpc>
            </a:pPr>
            <a:r>
              <a:rPr sz="2001" b="0" i="0" u="none">
                <a:solidFill>
                  <a:srgbClr val="0F172A"/>
                </a:solidFill>
                <a:latin typeface="Courier New"/>
              </a:rPr>
              <a:t>  </a:t>
            </a:r>
            <a:r>
              <a:rPr sz="2001" b="0" i="0" u="none">
                <a:solidFill>
                  <a:srgbClr val="0F172A"/>
                </a:solidFill>
                <a:latin typeface="Courier New"/>
              </a:rPr>
              <a:t>last_name</a:t>
            </a:r>
            <a:r>
              <a:rPr sz="2001" b="0" i="0" u="none">
                <a:solidFill>
                  <a:srgbClr val="0F172A"/>
                </a:solidFill>
                <a:latin typeface="Courier New"/>
              </a:rPr>
              <a:t>   </a:t>
            </a:r>
            <a:r>
              <a:rPr sz="2001" b="1" i="0" u="none">
                <a:solidFill>
                  <a:srgbClr val="0E8A8A"/>
                </a:solidFill>
                <a:latin typeface="Courier New"/>
              </a:rPr>
              <a:t>VARCHAR</a:t>
            </a:r>
            <a:r>
              <a:rPr sz="2001" b="0" i="0" u="none">
                <a:solidFill>
                  <a:srgbClr val="0F172A"/>
                </a:solidFill>
                <a:latin typeface="Courier New"/>
              </a:rPr>
              <a:t>(</a:t>
            </a:r>
            <a:r>
              <a:rPr sz="2001" b="0" i="0" u="none">
                <a:solidFill>
                  <a:srgbClr val="B45309"/>
                </a:solidFill>
                <a:latin typeface="Courier New"/>
              </a:rPr>
              <a:t>50</a:t>
            </a:r>
            <a:r>
              <a:rPr sz="2001" b="0" i="0" u="none">
                <a:solidFill>
                  <a:srgbClr val="0F172A"/>
                </a:solidFill>
                <a:latin typeface="Courier New"/>
              </a:rPr>
              <a:t>)</a:t>
            </a:r>
            <a:r>
              <a:rPr sz="2001" b="0" i="0" u="none">
                <a:solidFill>
                  <a:srgbClr val="0F172A"/>
                </a:solidFill>
                <a:latin typeface="Courier New"/>
              </a:rPr>
              <a:t>  </a:t>
            </a:r>
            <a:r>
              <a:rPr sz="2001" b="1" i="0" u="none">
                <a:solidFill>
                  <a:srgbClr val="0E8A8A"/>
                </a:solidFill>
                <a:latin typeface="Courier New"/>
              </a:rPr>
              <a:t>NOT</a:t>
            </a:r>
            <a:r>
              <a:rPr sz="2001" b="0" i="0" u="none">
                <a:solidFill>
                  <a:srgbClr val="0F172A"/>
                </a:solidFill>
                <a:latin typeface="Courier New"/>
              </a:rPr>
              <a:t> </a:t>
            </a:r>
            <a:r>
              <a:rPr sz="2001" b="1" i="0" u="none">
                <a:solidFill>
                  <a:srgbClr val="0E8A8A"/>
                </a:solidFill>
                <a:latin typeface="Courier New"/>
              </a:rPr>
              <a:t>NULL</a:t>
            </a:r>
            <a:r>
              <a:rPr sz="2001" b="0" i="0" u="none">
                <a:solidFill>
                  <a:srgbClr val="0F172A"/>
                </a:solidFill>
                <a:latin typeface="Courier New"/>
              </a:rPr>
              <a:t>,</a:t>
            </a:r>
          </a:p>
          <a:p>
            <a:pPr>
              <a:lnSpc>
                <a:spcPct val="110000"/>
              </a:lnSpc>
            </a:pPr>
            <a:r>
              <a:rPr sz="2001" b="0" i="0" u="none">
                <a:solidFill>
                  <a:srgbClr val="0F172A"/>
                </a:solidFill>
                <a:latin typeface="Courier New"/>
              </a:rPr>
              <a:t>  </a:t>
            </a:r>
            <a:r>
              <a:rPr sz="2001" b="0" i="0" u="none">
                <a:solidFill>
                  <a:srgbClr val="0F172A"/>
                </a:solidFill>
                <a:latin typeface="Courier New"/>
              </a:rPr>
              <a:t>email</a:t>
            </a:r>
            <a:r>
              <a:rPr sz="2001" b="0" i="0" u="none">
                <a:solidFill>
                  <a:srgbClr val="0F172A"/>
                </a:solidFill>
                <a:latin typeface="Courier New"/>
              </a:rPr>
              <a:t>       </a:t>
            </a:r>
            <a:r>
              <a:rPr sz="2001" b="1" i="0" u="none">
                <a:solidFill>
                  <a:srgbClr val="0E8A8A"/>
                </a:solidFill>
                <a:latin typeface="Courier New"/>
              </a:rPr>
              <a:t>VARCHAR</a:t>
            </a:r>
            <a:r>
              <a:rPr sz="2001" b="0" i="0" u="none">
                <a:solidFill>
                  <a:srgbClr val="0F172A"/>
                </a:solidFill>
                <a:latin typeface="Courier New"/>
              </a:rPr>
              <a:t>(</a:t>
            </a:r>
            <a:r>
              <a:rPr sz="2001" b="0" i="0" u="none">
                <a:solidFill>
                  <a:srgbClr val="B45309"/>
                </a:solidFill>
                <a:latin typeface="Courier New"/>
              </a:rPr>
              <a:t>100</a:t>
            </a:r>
            <a:r>
              <a:rPr sz="2001" b="0" i="0" u="none">
                <a:solidFill>
                  <a:srgbClr val="0F172A"/>
                </a:solidFill>
                <a:latin typeface="Courier New"/>
              </a:rPr>
              <a:t>)</a:t>
            </a:r>
            <a:r>
              <a:rPr sz="2001" b="0" i="0" u="none">
                <a:solidFill>
                  <a:srgbClr val="0F172A"/>
                </a:solidFill>
                <a:latin typeface="Courier New"/>
              </a:rPr>
              <a:t> </a:t>
            </a:r>
            <a:r>
              <a:rPr sz="2001" b="1" i="0" u="none">
                <a:solidFill>
                  <a:srgbClr val="0E8A8A"/>
                </a:solidFill>
                <a:latin typeface="Courier New"/>
              </a:rPr>
              <a:t>UNIQUE</a:t>
            </a:r>
            <a:r>
              <a:rPr sz="2001" b="0" i="0" u="none">
                <a:solidFill>
                  <a:srgbClr val="0F172A"/>
                </a:solidFill>
                <a:latin typeface="Courier New"/>
              </a:rPr>
              <a:t>,</a:t>
            </a:r>
          </a:p>
          <a:p>
            <a:pPr>
              <a:lnSpc>
                <a:spcPct val="110000"/>
              </a:lnSpc>
            </a:pPr>
            <a:r>
              <a:rPr sz="2001" b="0" i="0" u="none">
                <a:solidFill>
                  <a:srgbClr val="0F172A"/>
                </a:solidFill>
                <a:latin typeface="Courier New"/>
              </a:rPr>
              <a:t>  </a:t>
            </a:r>
            <a:r>
              <a:rPr sz="2001" b="0" i="0" u="none">
                <a:solidFill>
                  <a:srgbClr val="0F172A"/>
                </a:solidFill>
                <a:latin typeface="Courier New"/>
              </a:rPr>
              <a:t>city</a:t>
            </a:r>
            <a:r>
              <a:rPr sz="2001" b="0" i="0" u="none">
                <a:solidFill>
                  <a:srgbClr val="0F172A"/>
                </a:solidFill>
                <a:latin typeface="Courier New"/>
              </a:rPr>
              <a:t>        </a:t>
            </a:r>
            <a:r>
              <a:rPr sz="2001" b="1" i="0" u="none">
                <a:solidFill>
                  <a:srgbClr val="0E8A8A"/>
                </a:solidFill>
                <a:latin typeface="Courier New"/>
              </a:rPr>
              <a:t>VARCHAR</a:t>
            </a:r>
            <a:r>
              <a:rPr sz="2001" b="0" i="0" u="none">
                <a:solidFill>
                  <a:srgbClr val="0F172A"/>
                </a:solidFill>
                <a:latin typeface="Courier New"/>
              </a:rPr>
              <a:t>(</a:t>
            </a:r>
            <a:r>
              <a:rPr sz="2001" b="0" i="0" u="none">
                <a:solidFill>
                  <a:srgbClr val="B45309"/>
                </a:solidFill>
                <a:latin typeface="Courier New"/>
              </a:rPr>
              <a:t>50</a:t>
            </a:r>
            <a:r>
              <a:rPr sz="2001" b="0" i="0" u="none">
                <a:solidFill>
                  <a:srgbClr val="0F172A"/>
                </a:solidFill>
                <a:latin typeface="Courier New"/>
              </a:rPr>
              <a:t>)</a:t>
            </a:r>
            <a:r>
              <a:rPr sz="2001" b="0" i="0" u="none">
                <a:solidFill>
                  <a:srgbClr val="0F172A"/>
                </a:solidFill>
                <a:latin typeface="Courier New"/>
              </a:rPr>
              <a:t>  </a:t>
            </a:r>
            <a:r>
              <a:rPr sz="2001" b="1" i="0" u="none">
                <a:solidFill>
                  <a:srgbClr val="0E8A8A"/>
                </a:solidFill>
                <a:latin typeface="Courier New"/>
              </a:rPr>
              <a:t>DEFAULT</a:t>
            </a:r>
            <a:r>
              <a:rPr sz="2001" b="0" i="0" u="none">
                <a:solidFill>
                  <a:srgbClr val="0F172A"/>
                </a:solidFill>
                <a:latin typeface="Courier New"/>
              </a:rPr>
              <a:t> </a:t>
            </a:r>
            <a:r>
              <a:rPr sz="2001" b="0" i="0" u="none">
                <a:solidFill>
                  <a:srgbClr val="B45309"/>
                </a:solidFill>
                <a:latin typeface="Courier New"/>
              </a:rPr>
              <a:t>'Cairo'</a:t>
            </a:r>
            <a:r>
              <a:rPr sz="2001" b="0" i="0" u="none">
                <a:solidFill>
                  <a:srgbClr val="0F172A"/>
                </a:solidFill>
                <a:latin typeface="Courier New"/>
              </a:rPr>
              <a:t>,</a:t>
            </a:r>
          </a:p>
          <a:p>
            <a:pPr>
              <a:lnSpc>
                <a:spcPct val="110000"/>
              </a:lnSpc>
            </a:pPr>
            <a:r>
              <a:rPr sz="2001" b="0" i="0" u="none">
                <a:solidFill>
                  <a:srgbClr val="0F172A"/>
                </a:solidFill>
                <a:latin typeface="Courier New"/>
              </a:rPr>
              <a:t>  </a:t>
            </a:r>
            <a:r>
              <a:rPr sz="2001" b="0" i="0" u="none">
                <a:solidFill>
                  <a:srgbClr val="0F172A"/>
                </a:solidFill>
                <a:latin typeface="Courier New"/>
              </a:rPr>
              <a:t>birth_date</a:t>
            </a:r>
            <a:r>
              <a:rPr sz="2001" b="0" i="0" u="none">
                <a:solidFill>
                  <a:srgbClr val="0F172A"/>
                </a:solidFill>
                <a:latin typeface="Courier New"/>
              </a:rPr>
              <a:t>  </a:t>
            </a:r>
            <a:r>
              <a:rPr sz="2001" b="1" i="0" u="none">
                <a:solidFill>
                  <a:srgbClr val="0E8A8A"/>
                </a:solidFill>
                <a:latin typeface="Courier New"/>
              </a:rPr>
              <a:t>DATE</a:t>
            </a:r>
            <a:r>
              <a:rPr sz="2001" b="0" i="0" u="none">
                <a:solidFill>
                  <a:srgbClr val="0F172A"/>
                </a:solidFill>
                <a:latin typeface="Courier New"/>
              </a:rPr>
              <a:t>,</a:t>
            </a:r>
          </a:p>
          <a:p>
            <a:pPr>
              <a:lnSpc>
                <a:spcPct val="110000"/>
              </a:lnSpc>
            </a:pPr>
            <a:r>
              <a:rPr sz="2001" b="0" i="0" u="none">
                <a:solidFill>
                  <a:srgbClr val="0F172A"/>
                </a:solidFill>
                <a:latin typeface="Courier New"/>
              </a:rPr>
              <a:t>  </a:t>
            </a:r>
            <a:r>
              <a:rPr sz="2001" b="0" i="0" u="none">
                <a:solidFill>
                  <a:srgbClr val="0F172A"/>
                </a:solidFill>
                <a:latin typeface="Courier New"/>
              </a:rPr>
              <a:t>gpa</a:t>
            </a:r>
            <a:r>
              <a:rPr sz="2001" b="0" i="0" u="none">
                <a:solidFill>
                  <a:srgbClr val="0F172A"/>
                </a:solidFill>
                <a:latin typeface="Courier New"/>
              </a:rPr>
              <a:t>         </a:t>
            </a:r>
            <a:r>
              <a:rPr sz="2001" b="1" i="0" u="none">
                <a:solidFill>
                  <a:srgbClr val="0E8A8A"/>
                </a:solidFill>
                <a:latin typeface="Courier New"/>
              </a:rPr>
              <a:t>DECIMAL</a:t>
            </a:r>
            <a:r>
              <a:rPr sz="2001" b="0" i="0" u="none">
                <a:solidFill>
                  <a:srgbClr val="0F172A"/>
                </a:solidFill>
                <a:latin typeface="Courier New"/>
              </a:rPr>
              <a:t>(</a:t>
            </a:r>
            <a:r>
              <a:rPr sz="2001" b="0" i="0" u="none">
                <a:solidFill>
                  <a:srgbClr val="B45309"/>
                </a:solidFill>
                <a:latin typeface="Courier New"/>
              </a:rPr>
              <a:t>3</a:t>
            </a:r>
            <a:r>
              <a:rPr sz="2001" b="0" i="0" u="none">
                <a:solidFill>
                  <a:srgbClr val="0F172A"/>
                </a:solidFill>
                <a:latin typeface="Courier New"/>
              </a:rPr>
              <a:t>,</a:t>
            </a:r>
            <a:r>
              <a:rPr sz="2001" b="0" i="0" u="none">
                <a:solidFill>
                  <a:srgbClr val="B45309"/>
                </a:solidFill>
                <a:latin typeface="Courier New"/>
              </a:rPr>
              <a:t>2</a:t>
            </a:r>
            <a:r>
              <a:rPr sz="2001" b="0" i="0" u="none">
                <a:solidFill>
                  <a:srgbClr val="0F172A"/>
                </a:solidFill>
                <a:latin typeface="Courier New"/>
              </a:rPr>
              <a:t>)</a:t>
            </a:r>
            <a:r>
              <a:rPr sz="2001" b="0" i="0" u="none">
                <a:solidFill>
                  <a:srgbClr val="0F172A"/>
                </a:solidFill>
                <a:latin typeface="Courier New"/>
              </a:rPr>
              <a:t> </a:t>
            </a:r>
            <a:r>
              <a:rPr sz="2001" b="1" i="0" u="none">
                <a:solidFill>
                  <a:srgbClr val="0E8A8A"/>
                </a:solidFill>
                <a:latin typeface="Courier New"/>
              </a:rPr>
              <a:t>CHECK</a:t>
            </a:r>
            <a:r>
              <a:rPr sz="2001" b="0" i="0" u="none">
                <a:solidFill>
                  <a:srgbClr val="0F172A"/>
                </a:solidFill>
                <a:latin typeface="Courier New"/>
              </a:rPr>
              <a:t> </a:t>
            </a:r>
            <a:r>
              <a:rPr sz="2001" b="0" i="0" u="none">
                <a:solidFill>
                  <a:srgbClr val="0F172A"/>
                </a:solidFill>
                <a:latin typeface="Courier New"/>
              </a:rPr>
              <a:t>(</a:t>
            </a:r>
            <a:r>
              <a:rPr sz="2001" b="0" i="0" u="none">
                <a:solidFill>
                  <a:srgbClr val="0F172A"/>
                </a:solidFill>
                <a:latin typeface="Courier New"/>
              </a:rPr>
              <a:t>gpa</a:t>
            </a:r>
            <a:r>
              <a:rPr sz="2001" b="0" i="0" u="none">
                <a:solidFill>
                  <a:srgbClr val="0F172A"/>
                </a:solidFill>
                <a:latin typeface="Courier New"/>
              </a:rPr>
              <a:t> </a:t>
            </a:r>
            <a:r>
              <a:rPr sz="2001" b="1" i="0" u="none">
                <a:solidFill>
                  <a:srgbClr val="0E8A8A"/>
                </a:solidFill>
                <a:latin typeface="Courier New"/>
              </a:rPr>
              <a:t>BETWEEN</a:t>
            </a:r>
            <a:r>
              <a:rPr sz="2001" b="0" i="0" u="none">
                <a:solidFill>
                  <a:srgbClr val="0F172A"/>
                </a:solidFill>
                <a:latin typeface="Courier New"/>
              </a:rPr>
              <a:t> </a:t>
            </a:r>
            <a:r>
              <a:rPr sz="2001" b="0" i="0" u="none">
                <a:solidFill>
                  <a:srgbClr val="B45309"/>
                </a:solidFill>
                <a:latin typeface="Courier New"/>
              </a:rPr>
              <a:t>0</a:t>
            </a:r>
            <a:r>
              <a:rPr sz="2001" b="0" i="0" u="none">
                <a:solidFill>
                  <a:srgbClr val="0F172A"/>
                </a:solidFill>
                <a:latin typeface="Courier New"/>
              </a:rPr>
              <a:t> </a:t>
            </a:r>
            <a:r>
              <a:rPr sz="2001" b="1" i="0" u="none">
                <a:solidFill>
                  <a:srgbClr val="0E8A8A"/>
                </a:solidFill>
                <a:latin typeface="Courier New"/>
              </a:rPr>
              <a:t>AND</a:t>
            </a:r>
            <a:r>
              <a:rPr sz="2001" b="0" i="0" u="none">
                <a:solidFill>
                  <a:srgbClr val="0F172A"/>
                </a:solidFill>
                <a:latin typeface="Courier New"/>
              </a:rPr>
              <a:t> </a:t>
            </a:r>
            <a:r>
              <a:rPr sz="2001" b="0" i="0" u="none">
                <a:solidFill>
                  <a:srgbClr val="B45309"/>
                </a:solidFill>
                <a:latin typeface="Courier New"/>
              </a:rPr>
              <a:t>4</a:t>
            </a:r>
            <a:r>
              <a:rPr sz="2001" b="0" i="0" u="none">
                <a:solidFill>
                  <a:srgbClr val="0F172A"/>
                </a:solidFill>
                <a:latin typeface="Courier New"/>
              </a:rPr>
              <a:t>)</a:t>
            </a:r>
          </a:p>
          <a:p>
            <a:pPr>
              <a:lnSpc>
                <a:spcPct val="110000"/>
              </a:lnSpc>
            </a:pPr>
            <a:r>
              <a:rPr sz="2001" b="0" i="0" u="none">
                <a:solidFill>
                  <a:srgbClr val="0F172A"/>
                </a:solidFill>
                <a:latin typeface="Courier New"/>
              </a:rPr>
              <a:t>)</a:t>
            </a:r>
            <a:r>
              <a:rPr sz="2001" b="0" i="0" u="none">
                <a:solidFill>
                  <a:srgbClr val="0F172A"/>
                </a:solidFill>
                <a:latin typeface="Courier New"/>
              </a:rPr>
              <a:t>;</a:t>
            </a:r>
          </a:p>
        </p:txBody>
      </p:sp>
      <p:sp>
        <p:nvSpPr>
          <p:cNvPr id="8" name="Rectangle 7"/>
          <p:cNvSpPr/>
          <p:nvPr/>
        </p:nvSpPr>
        <p:spPr>
          <a:xfrm>
            <a:off x="10275570" y="2482024"/>
            <a:ext cx="7098030" cy="2400406"/>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675620" y="2882074"/>
            <a:ext cx="629793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Syntax</a:t>
            </a:r>
          </a:p>
        </p:txBody>
      </p:sp>
      <p:sp>
        <p:nvSpPr>
          <p:cNvPr id="10" name="TextBox 9"/>
          <p:cNvSpPr txBox="1"/>
          <p:nvPr/>
        </p:nvSpPr>
        <p:spPr>
          <a:xfrm>
            <a:off x="10675620" y="3605204"/>
            <a:ext cx="6297930" cy="877176"/>
          </a:xfrm>
          <a:prstGeom prst="rect">
            <a:avLst/>
          </a:prstGeom>
          <a:noFill/>
        </p:spPr>
        <p:txBody>
          <a:bodyPr wrap="square" lIns="0" rIns="0" tIns="0" bIns="0" anchor="t"/>
          <a:lstStyle/>
          <a:p>
            <a:pPr algn="l">
              <a:lnSpc>
                <a:spcPct val="111800"/>
              </a:lnSpc>
            </a:pPr>
            <a:r>
              <a:rPr sz="2511" b="0" i="0" u="none">
                <a:solidFill>
                  <a:srgbClr val="334155"/>
                </a:solidFill>
                <a:latin typeface="Calibri"/>
              </a:rPr>
              <a:t>CREATE TABLE name (column_name datatype [constraint], …, [table constraints]);</a:t>
            </a:r>
          </a:p>
        </p:txBody>
      </p:sp>
      <p:sp>
        <p:nvSpPr>
          <p:cNvPr id="11" name="Rectangle 10"/>
          <p:cNvSpPr/>
          <p:nvPr/>
        </p:nvSpPr>
        <p:spPr>
          <a:xfrm>
            <a:off x="10275570" y="5095791"/>
            <a:ext cx="7098030" cy="1410576"/>
          </a:xfrm>
          <a:prstGeom prst="rect">
            <a:avLst/>
          </a:prstGeom>
          <a:solidFill>
            <a:srgbClr val="E6F4F4"/>
          </a:solidFill>
          <a:ln>
            <a:noFill/>
          </a:ln>
        </p:spPr>
        <p:txBody>
          <a:bodyPr rtlCol="0" anchor="ctr" lIns="0" rIns="0" tIns="0" bIns="0"/>
          <a:lstStyle/>
          <a:p>
            <a:pPr algn="ctr"/>
          </a:p>
        </p:txBody>
      </p:sp>
      <p:sp>
        <p:nvSpPr>
          <p:cNvPr id="12" name="Rectangle 11"/>
          <p:cNvSpPr/>
          <p:nvPr/>
        </p:nvSpPr>
        <p:spPr>
          <a:xfrm>
            <a:off x="10275570" y="5095791"/>
            <a:ext cx="47625" cy="1410576"/>
          </a:xfrm>
          <a:prstGeom prst="rect">
            <a:avLst/>
          </a:prstGeom>
          <a:solidFill>
            <a:srgbClr val="0E8A8A"/>
          </a:solidFill>
          <a:ln>
            <a:noFill/>
          </a:ln>
        </p:spPr>
        <p:txBody>
          <a:bodyPr rtlCol="0" anchor="ctr" lIns="0" rIns="0" tIns="0" bIns="0"/>
          <a:lstStyle/>
          <a:p>
            <a:pPr algn="ctr"/>
          </a:p>
        </p:txBody>
      </p:sp>
      <p:sp>
        <p:nvSpPr>
          <p:cNvPr id="13" name="TextBox 12"/>
          <p:cNvSpPr txBox="1"/>
          <p:nvPr/>
        </p:nvSpPr>
        <p:spPr>
          <a:xfrm>
            <a:off x="10702290" y="5362491"/>
            <a:ext cx="6244590" cy="877176"/>
          </a:xfrm>
          <a:prstGeom prst="rect">
            <a:avLst/>
          </a:prstGeom>
          <a:noFill/>
        </p:spPr>
        <p:txBody>
          <a:bodyPr wrap="square" lIns="0" rIns="0" tIns="0" bIns="0"/>
          <a:lstStyle/>
          <a:p>
            <a:pPr>
              <a:lnSpc>
                <a:spcPct val="112000"/>
              </a:lnSpc>
            </a:pPr>
            <a:r>
              <a:rPr sz="2511" b="0" i="0" u="none">
                <a:solidFill>
                  <a:srgbClr val="0F172A"/>
                </a:solidFill>
                <a:latin typeface="Calibri"/>
              </a:rPr>
              <a:t>Every column gets a </a:t>
            </a:r>
            <a:r>
              <a:rPr sz="2511" b="1" i="0" u="none">
                <a:solidFill>
                  <a:srgbClr val="0F172A"/>
                </a:solidFill>
                <a:latin typeface="Calibri"/>
              </a:rPr>
              <a:t>type</a:t>
            </a:r>
            <a:r>
              <a:rPr sz="2511" b="0" i="0" u="none">
                <a:solidFill>
                  <a:srgbClr val="0F172A"/>
                </a:solidFill>
                <a:latin typeface="Calibri"/>
              </a:rPr>
              <a:t>; constraints can be written inline or at the end.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DDL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13/71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Named constraints and foreign keys</a:t>
            </a:r>
          </a:p>
        </p:txBody>
      </p:sp>
      <p:sp>
        <p:nvSpPr>
          <p:cNvPr id="6" name="Rectangle 5"/>
          <p:cNvSpPr/>
          <p:nvPr/>
        </p:nvSpPr>
        <p:spPr>
          <a:xfrm>
            <a:off x="914400" y="2482024"/>
            <a:ext cx="9553575" cy="5165609"/>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9020175" cy="4632209"/>
          </a:xfrm>
          <a:prstGeom prst="rect">
            <a:avLst/>
          </a:prstGeom>
          <a:noFill/>
        </p:spPr>
        <p:txBody>
          <a:bodyPr wrap="none" lIns="0" rIns="0" tIns="0" bIns="0"/>
          <a:lstStyle/>
          <a:p>
            <a:pPr>
              <a:lnSpc>
                <a:spcPct val="110000"/>
              </a:lnSpc>
            </a:pPr>
            <a:r>
              <a:rPr sz="1842" b="1" i="0" u="none">
                <a:solidFill>
                  <a:srgbClr val="0E8A8A"/>
                </a:solidFill>
                <a:latin typeface="Courier New"/>
              </a:rPr>
              <a:t>CREATE</a:t>
            </a:r>
            <a:r>
              <a:rPr sz="1842" b="0" i="0" u="none">
                <a:solidFill>
                  <a:srgbClr val="0F172A"/>
                </a:solidFill>
                <a:latin typeface="Courier New"/>
              </a:rPr>
              <a:t> </a:t>
            </a:r>
            <a:r>
              <a:rPr sz="1842" b="1" i="0" u="none">
                <a:solidFill>
                  <a:srgbClr val="0E8A8A"/>
                </a:solidFill>
                <a:latin typeface="Courier New"/>
              </a:rPr>
              <a:t>TABLE</a:t>
            </a:r>
            <a:r>
              <a:rPr sz="1842" b="0" i="0" u="none">
                <a:solidFill>
                  <a:srgbClr val="0F172A"/>
                </a:solidFill>
                <a:latin typeface="Courier New"/>
              </a:rPr>
              <a:t> </a:t>
            </a:r>
            <a:r>
              <a:rPr sz="1842" b="0" i="0" u="none">
                <a:solidFill>
                  <a:srgbClr val="0F172A"/>
                </a:solidFill>
                <a:latin typeface="Courier New"/>
              </a:rPr>
              <a:t>department</a:t>
            </a:r>
            <a:r>
              <a:rPr sz="1842" b="0" i="0" u="none">
                <a:solidFill>
                  <a:srgbClr val="0F172A"/>
                </a:solidFill>
                <a:latin typeface="Courier New"/>
              </a:rPr>
              <a:t> </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0" i="0" u="none">
                <a:solidFill>
                  <a:srgbClr val="0F172A"/>
                </a:solidFill>
                <a:latin typeface="Courier New"/>
              </a:rPr>
              <a:t>dnumber</a:t>
            </a:r>
            <a:r>
              <a:rPr sz="1842" b="0" i="0" u="none">
                <a:solidFill>
                  <a:srgbClr val="0F172A"/>
                </a:solidFill>
                <a:latin typeface="Courier New"/>
              </a:rPr>
              <a:t>   </a:t>
            </a:r>
            <a:r>
              <a:rPr sz="1842" b="1" i="0" u="none">
                <a:solidFill>
                  <a:srgbClr val="0E8A8A"/>
                </a:solidFill>
                <a:latin typeface="Courier New"/>
              </a:rPr>
              <a:t>INT</a:t>
            </a:r>
            <a:r>
              <a:rPr sz="1842" b="0" i="0" u="none">
                <a:solidFill>
                  <a:srgbClr val="0F172A"/>
                </a:solidFill>
                <a:latin typeface="Courier New"/>
              </a:rPr>
              <a:t>         </a:t>
            </a:r>
            <a:r>
              <a:rPr sz="1842" b="1" i="0" u="none">
                <a:solidFill>
                  <a:srgbClr val="0E8A8A"/>
                </a:solidFill>
                <a:latin typeface="Courier New"/>
              </a:rPr>
              <a:t>CONSTRAINT</a:t>
            </a:r>
            <a:r>
              <a:rPr sz="1842" b="0" i="0" u="none">
                <a:solidFill>
                  <a:srgbClr val="0F172A"/>
                </a:solidFill>
                <a:latin typeface="Courier New"/>
              </a:rPr>
              <a:t> </a:t>
            </a:r>
            <a:r>
              <a:rPr sz="1842" b="0" i="0" u="none">
                <a:solidFill>
                  <a:srgbClr val="0F172A"/>
                </a:solidFill>
                <a:latin typeface="Courier New"/>
              </a:rPr>
              <a:t>pk_dept</a:t>
            </a:r>
            <a:r>
              <a:rPr sz="1842" b="0" i="0" u="none">
                <a:solidFill>
                  <a:srgbClr val="0F172A"/>
                </a:solidFill>
                <a:latin typeface="Courier New"/>
              </a:rPr>
              <a:t> </a:t>
            </a:r>
            <a:r>
              <a:rPr sz="1842" b="1" i="0" u="none">
                <a:solidFill>
                  <a:srgbClr val="0E8A8A"/>
                </a:solidFill>
                <a:latin typeface="Courier New"/>
              </a:rPr>
              <a:t>PRIMARY</a:t>
            </a:r>
            <a:r>
              <a:rPr sz="1842" b="0" i="0" u="none">
                <a:solidFill>
                  <a:srgbClr val="0F172A"/>
                </a:solidFill>
                <a:latin typeface="Courier New"/>
              </a:rPr>
              <a:t> </a:t>
            </a:r>
            <a:r>
              <a:rPr sz="1842" b="1" i="0" u="none">
                <a:solidFill>
                  <a:srgbClr val="0E8A8A"/>
                </a:solidFill>
                <a:latin typeface="Courier New"/>
              </a:rPr>
              <a:t>KEY</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0" i="0" u="none">
                <a:solidFill>
                  <a:srgbClr val="0F172A"/>
                </a:solidFill>
                <a:latin typeface="Courier New"/>
              </a:rPr>
              <a:t>dname</a:t>
            </a:r>
            <a:r>
              <a:rPr sz="1842" b="0" i="0" u="none">
                <a:solidFill>
                  <a:srgbClr val="0F172A"/>
                </a:solidFill>
                <a:latin typeface="Courier New"/>
              </a:rPr>
              <a:t>     </a:t>
            </a:r>
            <a:r>
              <a:rPr sz="1842" b="1" i="0" u="none">
                <a:solidFill>
                  <a:srgbClr val="0E8A8A"/>
                </a:solidFill>
                <a:latin typeface="Courier New"/>
              </a:rPr>
              <a:t>VARCHAR</a:t>
            </a:r>
            <a:r>
              <a:rPr sz="1842" b="0" i="0" u="none">
                <a:solidFill>
                  <a:srgbClr val="0F172A"/>
                </a:solidFill>
                <a:latin typeface="Courier New"/>
              </a:rPr>
              <a:t>(</a:t>
            </a:r>
            <a:r>
              <a:rPr sz="1842" b="0" i="0" u="none">
                <a:solidFill>
                  <a:srgbClr val="B45309"/>
                </a:solidFill>
                <a:latin typeface="Courier New"/>
              </a:rPr>
              <a:t>30</a:t>
            </a:r>
            <a:r>
              <a:rPr sz="1842" b="0" i="0" u="none">
                <a:solidFill>
                  <a:srgbClr val="0F172A"/>
                </a:solidFill>
                <a:latin typeface="Courier New"/>
              </a:rPr>
              <a:t>)</a:t>
            </a:r>
            <a:r>
              <a:rPr sz="1842" b="0" i="0" u="none">
                <a:solidFill>
                  <a:srgbClr val="0F172A"/>
                </a:solidFill>
                <a:latin typeface="Courier New"/>
              </a:rPr>
              <a:t> </a:t>
            </a:r>
            <a:r>
              <a:rPr sz="1842" b="1" i="0" u="none">
                <a:solidFill>
                  <a:srgbClr val="0E8A8A"/>
                </a:solidFill>
                <a:latin typeface="Courier New"/>
              </a:rPr>
              <a:t>NOT</a:t>
            </a:r>
            <a:r>
              <a:rPr sz="1842" b="0" i="0" u="none">
                <a:solidFill>
                  <a:srgbClr val="0F172A"/>
                </a:solidFill>
                <a:latin typeface="Courier New"/>
              </a:rPr>
              <a:t> </a:t>
            </a:r>
            <a:r>
              <a:rPr sz="1842" b="1" i="0" u="none">
                <a:solidFill>
                  <a:srgbClr val="0E8A8A"/>
                </a:solidFill>
                <a:latin typeface="Courier New"/>
              </a:rPr>
              <a:t>NULL</a:t>
            </a:r>
            <a:r>
              <a:rPr sz="1842" b="0" i="0" u="none">
                <a:solidFill>
                  <a:srgbClr val="0F172A"/>
                </a:solidFill>
                <a:latin typeface="Courier New"/>
              </a:rPr>
              <a:t> </a:t>
            </a:r>
            <a:r>
              <a:rPr sz="1842" b="1" i="0" u="none">
                <a:solidFill>
                  <a:srgbClr val="0E8A8A"/>
                </a:solidFill>
                <a:latin typeface="Courier New"/>
              </a:rPr>
              <a:t>CONSTRAINT</a:t>
            </a:r>
            <a:r>
              <a:rPr sz="1842" b="0" i="0" u="none">
                <a:solidFill>
                  <a:srgbClr val="0F172A"/>
                </a:solidFill>
                <a:latin typeface="Courier New"/>
              </a:rPr>
              <a:t> </a:t>
            </a:r>
            <a:r>
              <a:rPr sz="1842" b="0" i="0" u="none">
                <a:solidFill>
                  <a:srgbClr val="0F172A"/>
                </a:solidFill>
                <a:latin typeface="Courier New"/>
              </a:rPr>
              <a:t>uq_dname</a:t>
            </a:r>
            <a:r>
              <a:rPr sz="1842" b="0" i="0" u="none">
                <a:solidFill>
                  <a:srgbClr val="0F172A"/>
                </a:solidFill>
                <a:latin typeface="Courier New"/>
              </a:rPr>
              <a:t> </a:t>
            </a:r>
            <a:r>
              <a:rPr sz="1842" b="1" i="0" u="none">
                <a:solidFill>
                  <a:srgbClr val="0E8A8A"/>
                </a:solidFill>
                <a:latin typeface="Courier New"/>
              </a:rPr>
              <a:t>UNIQUE</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0" i="0" u="none">
                <a:solidFill>
                  <a:srgbClr val="0F172A"/>
                </a:solidFill>
                <a:latin typeface="Courier New"/>
              </a:rPr>
              <a:t>mgr_ssn</a:t>
            </a:r>
            <a:r>
              <a:rPr sz="1842" b="0" i="0" u="none">
                <a:solidFill>
                  <a:srgbClr val="0F172A"/>
                </a:solidFill>
                <a:latin typeface="Courier New"/>
              </a:rPr>
              <a:t>   </a:t>
            </a:r>
            <a:r>
              <a:rPr sz="1842" b="1" i="0" u="none">
                <a:solidFill>
                  <a:srgbClr val="0E8A8A"/>
                </a:solidFill>
                <a:latin typeface="Courier New"/>
              </a:rPr>
              <a:t>CHAR</a:t>
            </a:r>
            <a:r>
              <a:rPr sz="1842" b="0" i="0" u="none">
                <a:solidFill>
                  <a:srgbClr val="0F172A"/>
                </a:solidFill>
                <a:latin typeface="Courier New"/>
              </a:rPr>
              <a:t>(</a:t>
            </a:r>
            <a:r>
              <a:rPr sz="1842" b="0" i="0" u="none">
                <a:solidFill>
                  <a:srgbClr val="B45309"/>
                </a:solidFill>
                <a:latin typeface="Courier New"/>
              </a:rPr>
              <a:t>9</a:t>
            </a:r>
            <a:r>
              <a:rPr sz="1842" b="0" i="0" u="none">
                <a:solidFill>
                  <a:srgbClr val="0F172A"/>
                </a:solidFill>
                <a:latin typeface="Courier New"/>
              </a:rPr>
              <a:t>)</a:t>
            </a:r>
          </a:p>
          <a:p>
            <a:pPr>
              <a:lnSpc>
                <a:spcPct val="110000"/>
              </a:lnSpc>
            </a:pPr>
            <a:r>
              <a:rPr sz="1842" b="0" i="0" u="none">
                <a:solidFill>
                  <a:srgbClr val="0F172A"/>
                </a:solidFill>
                <a:latin typeface="Courier New"/>
              </a:rPr>
              <a:t>)</a:t>
            </a:r>
            <a:r>
              <a:rPr sz="1842" b="0" i="0" u="none">
                <a:solidFill>
                  <a:srgbClr val="0F172A"/>
                </a:solidFill>
                <a:latin typeface="Courier New"/>
              </a:rPr>
              <a:t>;</a:t>
            </a:r>
          </a:p>
          <a:p>
            <a:pPr>
              <a:lnSpc>
                <a:spcPct val="110000"/>
              </a:lnSpc>
            </a:pPr>
            <a:r>
              <a:rPr sz="1842" b="0" i="0" u="none">
                <a:solidFill>
                  <a:srgbClr val="0F172A"/>
                </a:solidFill>
                <a:latin typeface="Courier New"/>
              </a:rPr>
              <a:t> </a:t>
            </a:r>
          </a:p>
          <a:p>
            <a:pPr>
              <a:lnSpc>
                <a:spcPct val="110000"/>
              </a:lnSpc>
            </a:pPr>
            <a:r>
              <a:rPr sz="1842" b="1" i="0" u="none">
                <a:solidFill>
                  <a:srgbClr val="0E8A8A"/>
                </a:solidFill>
                <a:latin typeface="Courier New"/>
              </a:rPr>
              <a:t>CREATE</a:t>
            </a:r>
            <a:r>
              <a:rPr sz="1842" b="0" i="0" u="none">
                <a:solidFill>
                  <a:srgbClr val="0F172A"/>
                </a:solidFill>
                <a:latin typeface="Courier New"/>
              </a:rPr>
              <a:t> </a:t>
            </a:r>
            <a:r>
              <a:rPr sz="1842" b="1" i="0" u="none">
                <a:solidFill>
                  <a:srgbClr val="0E8A8A"/>
                </a:solidFill>
                <a:latin typeface="Courier New"/>
              </a:rPr>
              <a:t>TABLE</a:t>
            </a:r>
            <a:r>
              <a:rPr sz="1842" b="0" i="0" u="none">
                <a:solidFill>
                  <a:srgbClr val="0F172A"/>
                </a:solidFill>
                <a:latin typeface="Courier New"/>
              </a:rPr>
              <a:t> </a:t>
            </a:r>
            <a:r>
              <a:rPr sz="1842" b="0" i="0" u="none">
                <a:solidFill>
                  <a:srgbClr val="0F172A"/>
                </a:solidFill>
                <a:latin typeface="Courier New"/>
              </a:rPr>
              <a:t>employee</a:t>
            </a:r>
            <a:r>
              <a:rPr sz="1842" b="0" i="0" u="none">
                <a:solidFill>
                  <a:srgbClr val="0F172A"/>
                </a:solidFill>
                <a:latin typeface="Courier New"/>
              </a:rPr>
              <a:t> </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0" i="0" u="none">
                <a:solidFill>
                  <a:srgbClr val="0F172A"/>
                </a:solidFill>
                <a:latin typeface="Courier New"/>
              </a:rPr>
              <a:t>ssn</a:t>
            </a:r>
            <a:r>
              <a:rPr sz="1842" b="0" i="0" u="none">
                <a:solidFill>
                  <a:srgbClr val="0F172A"/>
                </a:solidFill>
                <a:latin typeface="Courier New"/>
              </a:rPr>
              <a:t>       </a:t>
            </a:r>
            <a:r>
              <a:rPr sz="1842" b="1" i="0" u="none">
                <a:solidFill>
                  <a:srgbClr val="0E8A8A"/>
                </a:solidFill>
                <a:latin typeface="Courier New"/>
              </a:rPr>
              <a:t>CHAR</a:t>
            </a:r>
            <a:r>
              <a:rPr sz="1842" b="0" i="0" u="none">
                <a:solidFill>
                  <a:srgbClr val="0F172A"/>
                </a:solidFill>
                <a:latin typeface="Courier New"/>
              </a:rPr>
              <a:t>(</a:t>
            </a:r>
            <a:r>
              <a:rPr sz="1842" b="0" i="0" u="none">
                <a:solidFill>
                  <a:srgbClr val="B45309"/>
                </a:solidFill>
                <a:latin typeface="Courier New"/>
              </a:rPr>
              <a:t>9</a:t>
            </a:r>
            <a:r>
              <a:rPr sz="1842" b="0" i="0" u="none">
                <a:solidFill>
                  <a:srgbClr val="0F172A"/>
                </a:solidFill>
                <a:latin typeface="Courier New"/>
              </a:rPr>
              <a:t>)</a:t>
            </a:r>
            <a:r>
              <a:rPr sz="1842" b="0" i="0" u="none">
                <a:solidFill>
                  <a:srgbClr val="0F172A"/>
                </a:solidFill>
                <a:latin typeface="Courier New"/>
              </a:rPr>
              <a:t>      </a:t>
            </a:r>
            <a:r>
              <a:rPr sz="1842" b="1" i="0" u="none">
                <a:solidFill>
                  <a:srgbClr val="0E8A8A"/>
                </a:solidFill>
                <a:latin typeface="Courier New"/>
              </a:rPr>
              <a:t>CONSTRAINT</a:t>
            </a:r>
            <a:r>
              <a:rPr sz="1842" b="0" i="0" u="none">
                <a:solidFill>
                  <a:srgbClr val="0F172A"/>
                </a:solidFill>
                <a:latin typeface="Courier New"/>
              </a:rPr>
              <a:t> </a:t>
            </a:r>
            <a:r>
              <a:rPr sz="1842" b="0" i="0" u="none">
                <a:solidFill>
                  <a:srgbClr val="0F172A"/>
                </a:solidFill>
                <a:latin typeface="Courier New"/>
              </a:rPr>
              <a:t>pk_emp</a:t>
            </a:r>
            <a:r>
              <a:rPr sz="1842" b="0" i="0" u="none">
                <a:solidFill>
                  <a:srgbClr val="0F172A"/>
                </a:solidFill>
                <a:latin typeface="Courier New"/>
              </a:rPr>
              <a:t> </a:t>
            </a:r>
            <a:r>
              <a:rPr sz="1842" b="1" i="0" u="none">
                <a:solidFill>
                  <a:srgbClr val="0E8A8A"/>
                </a:solidFill>
                <a:latin typeface="Courier New"/>
              </a:rPr>
              <a:t>PRIMARY</a:t>
            </a:r>
            <a:r>
              <a:rPr sz="1842" b="0" i="0" u="none">
                <a:solidFill>
                  <a:srgbClr val="0F172A"/>
                </a:solidFill>
                <a:latin typeface="Courier New"/>
              </a:rPr>
              <a:t> </a:t>
            </a:r>
            <a:r>
              <a:rPr sz="1842" b="1" i="0" u="none">
                <a:solidFill>
                  <a:srgbClr val="0E8A8A"/>
                </a:solidFill>
                <a:latin typeface="Courier New"/>
              </a:rPr>
              <a:t>KEY</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0" i="0" u="none">
                <a:solidFill>
                  <a:srgbClr val="0F172A"/>
                </a:solidFill>
                <a:latin typeface="Courier New"/>
              </a:rPr>
              <a:t>fname</a:t>
            </a:r>
            <a:r>
              <a:rPr sz="1842" b="0" i="0" u="none">
                <a:solidFill>
                  <a:srgbClr val="0F172A"/>
                </a:solidFill>
                <a:latin typeface="Courier New"/>
              </a:rPr>
              <a:t>     </a:t>
            </a:r>
            <a:r>
              <a:rPr sz="1842" b="1" i="0" u="none">
                <a:solidFill>
                  <a:srgbClr val="0E8A8A"/>
                </a:solidFill>
                <a:latin typeface="Courier New"/>
              </a:rPr>
              <a:t>VARCHAR</a:t>
            </a:r>
            <a:r>
              <a:rPr sz="1842" b="0" i="0" u="none">
                <a:solidFill>
                  <a:srgbClr val="0F172A"/>
                </a:solidFill>
                <a:latin typeface="Courier New"/>
              </a:rPr>
              <a:t>(</a:t>
            </a:r>
            <a:r>
              <a:rPr sz="1842" b="0" i="0" u="none">
                <a:solidFill>
                  <a:srgbClr val="B45309"/>
                </a:solidFill>
                <a:latin typeface="Courier New"/>
              </a:rPr>
              <a:t>30</a:t>
            </a:r>
            <a:r>
              <a:rPr sz="1842" b="0" i="0" u="none">
                <a:solidFill>
                  <a:srgbClr val="0F172A"/>
                </a:solidFill>
                <a:latin typeface="Courier New"/>
              </a:rPr>
              <a:t>)</a:t>
            </a:r>
            <a:r>
              <a:rPr sz="1842" b="0" i="0" u="none">
                <a:solidFill>
                  <a:srgbClr val="0F172A"/>
                </a:solidFill>
                <a:latin typeface="Courier New"/>
              </a:rPr>
              <a:t>  </a:t>
            </a:r>
            <a:r>
              <a:rPr sz="1842" b="1" i="0" u="none">
                <a:solidFill>
                  <a:srgbClr val="0E8A8A"/>
                </a:solidFill>
                <a:latin typeface="Courier New"/>
              </a:rPr>
              <a:t>NOT</a:t>
            </a:r>
            <a:r>
              <a:rPr sz="1842" b="0" i="0" u="none">
                <a:solidFill>
                  <a:srgbClr val="0F172A"/>
                </a:solidFill>
                <a:latin typeface="Courier New"/>
              </a:rPr>
              <a:t> </a:t>
            </a:r>
            <a:r>
              <a:rPr sz="1842" b="1" i="0" u="none">
                <a:solidFill>
                  <a:srgbClr val="0E8A8A"/>
                </a:solidFill>
                <a:latin typeface="Courier New"/>
              </a:rPr>
              <a:t>NULL</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0" i="0" u="none">
                <a:solidFill>
                  <a:srgbClr val="0F172A"/>
                </a:solidFill>
                <a:latin typeface="Courier New"/>
              </a:rPr>
              <a:t>salary</a:t>
            </a:r>
            <a:r>
              <a:rPr sz="1842" b="0" i="0" u="none">
                <a:solidFill>
                  <a:srgbClr val="0F172A"/>
                </a:solidFill>
                <a:latin typeface="Courier New"/>
              </a:rPr>
              <a:t>    </a:t>
            </a:r>
            <a:r>
              <a:rPr sz="1842" b="1" i="0" u="none">
                <a:solidFill>
                  <a:srgbClr val="0E8A8A"/>
                </a:solidFill>
                <a:latin typeface="Courier New"/>
              </a:rPr>
              <a:t>DECIMAL</a:t>
            </a:r>
            <a:r>
              <a:rPr sz="1842" b="0" i="0" u="none">
                <a:solidFill>
                  <a:srgbClr val="0F172A"/>
                </a:solidFill>
                <a:latin typeface="Courier New"/>
              </a:rPr>
              <a:t>(</a:t>
            </a:r>
            <a:r>
              <a:rPr sz="1842" b="0" i="0" u="none">
                <a:solidFill>
                  <a:srgbClr val="B45309"/>
                </a:solidFill>
                <a:latin typeface="Courier New"/>
              </a:rPr>
              <a:t>10</a:t>
            </a:r>
            <a:r>
              <a:rPr sz="1842" b="0" i="0" u="none">
                <a:solidFill>
                  <a:srgbClr val="0F172A"/>
                </a:solidFill>
                <a:latin typeface="Courier New"/>
              </a:rPr>
              <a:t>,</a:t>
            </a:r>
            <a:r>
              <a:rPr sz="1842" b="0" i="0" u="none">
                <a:solidFill>
                  <a:srgbClr val="B45309"/>
                </a:solidFill>
                <a:latin typeface="Courier New"/>
              </a:rPr>
              <a:t>2</a:t>
            </a:r>
            <a:r>
              <a:rPr sz="1842" b="0" i="0" u="none">
                <a:solidFill>
                  <a:srgbClr val="0F172A"/>
                </a:solidFill>
                <a:latin typeface="Courier New"/>
              </a:rPr>
              <a:t>)</a:t>
            </a:r>
            <a:r>
              <a:rPr sz="1842" b="0" i="0" u="none">
                <a:solidFill>
                  <a:srgbClr val="0F172A"/>
                </a:solidFill>
                <a:latin typeface="Courier New"/>
              </a:rPr>
              <a:t> </a:t>
            </a:r>
            <a:r>
              <a:rPr sz="1842" b="1" i="0" u="none">
                <a:solidFill>
                  <a:srgbClr val="0E8A8A"/>
                </a:solidFill>
                <a:latin typeface="Courier New"/>
              </a:rPr>
              <a:t>CONSTRAINT</a:t>
            </a:r>
            <a:r>
              <a:rPr sz="1842" b="0" i="0" u="none">
                <a:solidFill>
                  <a:srgbClr val="0F172A"/>
                </a:solidFill>
                <a:latin typeface="Courier New"/>
              </a:rPr>
              <a:t> </a:t>
            </a:r>
            <a:r>
              <a:rPr sz="1842" b="0" i="0" u="none">
                <a:solidFill>
                  <a:srgbClr val="0F172A"/>
                </a:solidFill>
                <a:latin typeface="Courier New"/>
              </a:rPr>
              <a:t>ck_sal</a:t>
            </a:r>
            <a:r>
              <a:rPr sz="1842" b="0" i="0" u="none">
                <a:solidFill>
                  <a:srgbClr val="0F172A"/>
                </a:solidFill>
                <a:latin typeface="Courier New"/>
              </a:rPr>
              <a:t> </a:t>
            </a:r>
            <a:r>
              <a:rPr sz="1842" b="1" i="0" u="none">
                <a:solidFill>
                  <a:srgbClr val="0E8A8A"/>
                </a:solidFill>
                <a:latin typeface="Courier New"/>
              </a:rPr>
              <a:t>CHECK</a:t>
            </a:r>
            <a:r>
              <a:rPr sz="1842" b="0" i="0" u="none">
                <a:solidFill>
                  <a:srgbClr val="0F172A"/>
                </a:solidFill>
                <a:latin typeface="Courier New"/>
              </a:rPr>
              <a:t> </a:t>
            </a:r>
            <a:r>
              <a:rPr sz="1842" b="0" i="0" u="none">
                <a:solidFill>
                  <a:srgbClr val="0F172A"/>
                </a:solidFill>
                <a:latin typeface="Courier New"/>
              </a:rPr>
              <a:t>(</a:t>
            </a:r>
            <a:r>
              <a:rPr sz="1842" b="0" i="0" u="none">
                <a:solidFill>
                  <a:srgbClr val="0F172A"/>
                </a:solidFill>
                <a:latin typeface="Courier New"/>
              </a:rPr>
              <a:t>salary</a:t>
            </a:r>
            <a:r>
              <a:rPr sz="1842" b="0" i="0" u="none">
                <a:solidFill>
                  <a:srgbClr val="0F172A"/>
                </a:solidFill>
                <a:latin typeface="Courier New"/>
              </a:rPr>
              <a:t> </a:t>
            </a:r>
            <a:r>
              <a:rPr sz="1842" b="0" i="0" u="none">
                <a:solidFill>
                  <a:srgbClr val="0F172A"/>
                </a:solidFill>
                <a:latin typeface="Courier New"/>
              </a:rPr>
              <a:t>&gt;</a:t>
            </a:r>
            <a:r>
              <a:rPr sz="1842" b="0" i="0" u="none">
                <a:solidFill>
                  <a:srgbClr val="0F172A"/>
                </a:solidFill>
                <a:latin typeface="Courier New"/>
              </a:rPr>
              <a:t> </a:t>
            </a:r>
            <a:r>
              <a:rPr sz="1842" b="0" i="0" u="none">
                <a:solidFill>
                  <a:srgbClr val="B45309"/>
                </a:solidFill>
                <a:latin typeface="Courier New"/>
              </a:rPr>
              <a:t>0</a:t>
            </a:r>
            <a:r>
              <a:rPr sz="1842" b="0" i="0" u="none">
                <a:solidFill>
                  <a:srgbClr val="0F172A"/>
                </a:solidFill>
                <a:latin typeface="Courier New"/>
              </a:rPr>
              <a:t>)</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0" i="0" u="none">
                <a:solidFill>
                  <a:srgbClr val="0F172A"/>
                </a:solidFill>
                <a:latin typeface="Courier New"/>
              </a:rPr>
              <a:t>super_ssn</a:t>
            </a:r>
            <a:r>
              <a:rPr sz="1842" b="0" i="0" u="none">
                <a:solidFill>
                  <a:srgbClr val="0F172A"/>
                </a:solidFill>
                <a:latin typeface="Courier New"/>
              </a:rPr>
              <a:t> </a:t>
            </a:r>
            <a:r>
              <a:rPr sz="1842" b="1" i="0" u="none">
                <a:solidFill>
                  <a:srgbClr val="0E8A8A"/>
                </a:solidFill>
                <a:latin typeface="Courier New"/>
              </a:rPr>
              <a:t>CHAR</a:t>
            </a:r>
            <a:r>
              <a:rPr sz="1842" b="0" i="0" u="none">
                <a:solidFill>
                  <a:srgbClr val="0F172A"/>
                </a:solidFill>
                <a:latin typeface="Courier New"/>
              </a:rPr>
              <a:t>(</a:t>
            </a:r>
            <a:r>
              <a:rPr sz="1842" b="0" i="0" u="none">
                <a:solidFill>
                  <a:srgbClr val="B45309"/>
                </a:solidFill>
                <a:latin typeface="Courier New"/>
              </a:rPr>
              <a:t>9</a:t>
            </a:r>
            <a:r>
              <a:rPr sz="1842" b="0" i="0" u="none">
                <a:solidFill>
                  <a:srgbClr val="0F172A"/>
                </a:solidFill>
                <a:latin typeface="Courier New"/>
              </a:rPr>
              <a:t>)</a:t>
            </a:r>
            <a:r>
              <a:rPr sz="1842" b="0" i="0" u="none">
                <a:solidFill>
                  <a:srgbClr val="0F172A"/>
                </a:solidFill>
                <a:latin typeface="Courier New"/>
              </a:rPr>
              <a:t>      </a:t>
            </a:r>
            <a:r>
              <a:rPr sz="1842" b="1" i="0" u="none">
                <a:solidFill>
                  <a:srgbClr val="0E8A8A"/>
                </a:solidFill>
                <a:latin typeface="Courier New"/>
              </a:rPr>
              <a:t>REFERENCES</a:t>
            </a:r>
            <a:r>
              <a:rPr sz="1842" b="0" i="0" u="none">
                <a:solidFill>
                  <a:srgbClr val="0F172A"/>
                </a:solidFill>
                <a:latin typeface="Courier New"/>
              </a:rPr>
              <a:t> </a:t>
            </a:r>
            <a:r>
              <a:rPr sz="1842" b="0" i="0" u="none">
                <a:solidFill>
                  <a:srgbClr val="0F172A"/>
                </a:solidFill>
                <a:latin typeface="Courier New"/>
              </a:rPr>
              <a:t>employee</a:t>
            </a:r>
            <a:r>
              <a:rPr sz="1842" b="0" i="0" u="none">
                <a:solidFill>
                  <a:srgbClr val="0F172A"/>
                </a:solidFill>
                <a:latin typeface="Courier New"/>
              </a:rPr>
              <a:t> </a:t>
            </a:r>
            <a:r>
              <a:rPr sz="1842" b="0" i="0" u="none">
                <a:solidFill>
                  <a:srgbClr val="0F172A"/>
                </a:solidFill>
                <a:latin typeface="Courier New"/>
              </a:rPr>
              <a:t>(</a:t>
            </a:r>
            <a:r>
              <a:rPr sz="1842" b="0" i="0" u="none">
                <a:solidFill>
                  <a:srgbClr val="0F172A"/>
                </a:solidFill>
                <a:latin typeface="Courier New"/>
              </a:rPr>
              <a:t>ssn</a:t>
            </a:r>
            <a:r>
              <a:rPr sz="1842" b="0" i="0" u="none">
                <a:solidFill>
                  <a:srgbClr val="0F172A"/>
                </a:solidFill>
                <a:latin typeface="Courier New"/>
              </a:rPr>
              <a:t>)</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0" i="0" u="none">
                <a:solidFill>
                  <a:srgbClr val="0F172A"/>
                </a:solidFill>
                <a:latin typeface="Courier New"/>
              </a:rPr>
              <a:t>dno</a:t>
            </a:r>
            <a:r>
              <a:rPr sz="1842" b="0" i="0" u="none">
                <a:solidFill>
                  <a:srgbClr val="0F172A"/>
                </a:solidFill>
                <a:latin typeface="Courier New"/>
              </a:rPr>
              <a:t>       </a:t>
            </a:r>
            <a:r>
              <a:rPr sz="1842" b="1" i="0" u="none">
                <a:solidFill>
                  <a:srgbClr val="0E8A8A"/>
                </a:solidFill>
                <a:latin typeface="Courier New"/>
              </a:rPr>
              <a:t>INT</a:t>
            </a:r>
            <a:r>
              <a:rPr sz="1842" b="0" i="0" u="none">
                <a:solidFill>
                  <a:srgbClr val="0F172A"/>
                </a:solidFill>
                <a:latin typeface="Courier New"/>
              </a:rPr>
              <a:t>          </a:t>
            </a:r>
            <a:r>
              <a:rPr sz="1842" b="1" i="0" u="none">
                <a:solidFill>
                  <a:srgbClr val="0E8A8A"/>
                </a:solidFill>
                <a:latin typeface="Courier New"/>
              </a:rPr>
              <a:t>NOT</a:t>
            </a:r>
            <a:r>
              <a:rPr sz="1842" b="0" i="0" u="none">
                <a:solidFill>
                  <a:srgbClr val="0F172A"/>
                </a:solidFill>
                <a:latin typeface="Courier New"/>
              </a:rPr>
              <a:t> </a:t>
            </a:r>
            <a:r>
              <a:rPr sz="1842" b="1" i="0" u="none">
                <a:solidFill>
                  <a:srgbClr val="0E8A8A"/>
                </a:solidFill>
                <a:latin typeface="Courier New"/>
              </a:rPr>
              <a:t>NULL</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1" i="0" u="none">
                <a:solidFill>
                  <a:srgbClr val="0E8A8A"/>
                </a:solidFill>
                <a:latin typeface="Courier New"/>
              </a:rPr>
              <a:t>CONSTRAINT</a:t>
            </a:r>
            <a:r>
              <a:rPr sz="1842" b="0" i="0" u="none">
                <a:solidFill>
                  <a:srgbClr val="0F172A"/>
                </a:solidFill>
                <a:latin typeface="Courier New"/>
              </a:rPr>
              <a:t> </a:t>
            </a:r>
            <a:r>
              <a:rPr sz="1842" b="0" i="0" u="none">
                <a:solidFill>
                  <a:srgbClr val="0F172A"/>
                </a:solidFill>
                <a:latin typeface="Courier New"/>
              </a:rPr>
              <a:t>fk_emp_dept</a:t>
            </a:r>
            <a:r>
              <a:rPr sz="1842" b="0" i="0" u="none">
                <a:solidFill>
                  <a:srgbClr val="0F172A"/>
                </a:solidFill>
                <a:latin typeface="Courier New"/>
              </a:rPr>
              <a:t> </a:t>
            </a:r>
            <a:r>
              <a:rPr sz="1842" b="1" i="0" u="none">
                <a:solidFill>
                  <a:srgbClr val="0E8A8A"/>
                </a:solidFill>
                <a:latin typeface="Courier New"/>
              </a:rPr>
              <a:t>FOREIGN</a:t>
            </a:r>
            <a:r>
              <a:rPr sz="1842" b="0" i="0" u="none">
                <a:solidFill>
                  <a:srgbClr val="0F172A"/>
                </a:solidFill>
                <a:latin typeface="Courier New"/>
              </a:rPr>
              <a:t> </a:t>
            </a:r>
            <a:r>
              <a:rPr sz="1842" b="1" i="0" u="none">
                <a:solidFill>
                  <a:srgbClr val="0E8A8A"/>
                </a:solidFill>
                <a:latin typeface="Courier New"/>
              </a:rPr>
              <a:t>KEY</a:t>
            </a:r>
            <a:r>
              <a:rPr sz="1842" b="0" i="0" u="none">
                <a:solidFill>
                  <a:srgbClr val="0F172A"/>
                </a:solidFill>
                <a:latin typeface="Courier New"/>
              </a:rPr>
              <a:t> </a:t>
            </a:r>
            <a:r>
              <a:rPr sz="1842" b="0" i="0" u="none">
                <a:solidFill>
                  <a:srgbClr val="0F172A"/>
                </a:solidFill>
                <a:latin typeface="Courier New"/>
              </a:rPr>
              <a:t>(</a:t>
            </a:r>
            <a:r>
              <a:rPr sz="1842" b="0" i="0" u="none">
                <a:solidFill>
                  <a:srgbClr val="0F172A"/>
                </a:solidFill>
                <a:latin typeface="Courier New"/>
              </a:rPr>
              <a:t>dno</a:t>
            </a:r>
            <a:r>
              <a:rPr sz="1842" b="0" i="0" u="none">
                <a:solidFill>
                  <a:srgbClr val="0F172A"/>
                </a:solidFill>
                <a:latin typeface="Courier New"/>
              </a:rPr>
              <a:t>)</a:t>
            </a:r>
          </a:p>
          <a:p>
            <a:pPr>
              <a:lnSpc>
                <a:spcPct val="110000"/>
              </a:lnSpc>
            </a:pPr>
            <a:r>
              <a:rPr sz="1842" b="0" i="0" u="none">
                <a:solidFill>
                  <a:srgbClr val="0F172A"/>
                </a:solidFill>
                <a:latin typeface="Courier New"/>
              </a:rPr>
              <a:t>      </a:t>
            </a:r>
            <a:r>
              <a:rPr sz="1842" b="1" i="0" u="none">
                <a:solidFill>
                  <a:srgbClr val="0E8A8A"/>
                </a:solidFill>
                <a:latin typeface="Courier New"/>
              </a:rPr>
              <a:t>REFERENCES</a:t>
            </a:r>
            <a:r>
              <a:rPr sz="1842" b="0" i="0" u="none">
                <a:solidFill>
                  <a:srgbClr val="0F172A"/>
                </a:solidFill>
                <a:latin typeface="Courier New"/>
              </a:rPr>
              <a:t> </a:t>
            </a:r>
            <a:r>
              <a:rPr sz="1842" b="0" i="0" u="none">
                <a:solidFill>
                  <a:srgbClr val="0F172A"/>
                </a:solidFill>
                <a:latin typeface="Courier New"/>
              </a:rPr>
              <a:t>department</a:t>
            </a:r>
            <a:r>
              <a:rPr sz="1842" b="0" i="0" u="none">
                <a:solidFill>
                  <a:srgbClr val="0F172A"/>
                </a:solidFill>
                <a:latin typeface="Courier New"/>
              </a:rPr>
              <a:t> </a:t>
            </a:r>
            <a:r>
              <a:rPr sz="1842" b="0" i="0" u="none">
                <a:solidFill>
                  <a:srgbClr val="0F172A"/>
                </a:solidFill>
                <a:latin typeface="Courier New"/>
              </a:rPr>
              <a:t>(</a:t>
            </a:r>
            <a:r>
              <a:rPr sz="1842" b="0" i="0" u="none">
                <a:solidFill>
                  <a:srgbClr val="0F172A"/>
                </a:solidFill>
                <a:latin typeface="Courier New"/>
              </a:rPr>
              <a:t>dnumber</a:t>
            </a:r>
            <a:r>
              <a:rPr sz="1842" b="0" i="0" u="none">
                <a:solidFill>
                  <a:srgbClr val="0F172A"/>
                </a:solidFill>
                <a:latin typeface="Courier New"/>
              </a:rPr>
              <a:t>)</a:t>
            </a:r>
          </a:p>
          <a:p>
            <a:pPr>
              <a:lnSpc>
                <a:spcPct val="110000"/>
              </a:lnSpc>
            </a:pPr>
            <a:r>
              <a:rPr sz="1842" b="0" i="0" u="none">
                <a:solidFill>
                  <a:srgbClr val="0F172A"/>
                </a:solidFill>
                <a:latin typeface="Courier New"/>
              </a:rPr>
              <a:t>)</a:t>
            </a:r>
            <a:r>
              <a:rPr sz="1842" b="0" i="0" u="none">
                <a:solidFill>
                  <a:srgbClr val="0F172A"/>
                </a:solidFill>
                <a:latin typeface="Courier New"/>
              </a:rPr>
              <a:t>;</a:t>
            </a:r>
          </a:p>
        </p:txBody>
      </p:sp>
      <p:sp>
        <p:nvSpPr>
          <p:cNvPr id="8" name="Rectangle 7"/>
          <p:cNvSpPr/>
          <p:nvPr/>
        </p:nvSpPr>
        <p:spPr>
          <a:xfrm>
            <a:off x="10894695" y="2482024"/>
            <a:ext cx="6478905" cy="1825241"/>
          </a:xfrm>
          <a:prstGeom prst="rect">
            <a:avLst/>
          </a:prstGeom>
          <a:solidFill>
            <a:srgbClr val="E6F4F4"/>
          </a:solidFill>
          <a:ln>
            <a:noFill/>
          </a:ln>
        </p:spPr>
        <p:txBody>
          <a:bodyPr rtlCol="0" anchor="ctr" lIns="0" rIns="0" tIns="0" bIns="0"/>
          <a:lstStyle/>
          <a:p>
            <a:pPr algn="ctr"/>
          </a:p>
        </p:txBody>
      </p:sp>
      <p:sp>
        <p:nvSpPr>
          <p:cNvPr id="9" name="Rectangle 8"/>
          <p:cNvSpPr/>
          <p:nvPr/>
        </p:nvSpPr>
        <p:spPr>
          <a:xfrm>
            <a:off x="10894695" y="2482024"/>
            <a:ext cx="47625" cy="1825241"/>
          </a:xfrm>
          <a:prstGeom prst="rect">
            <a:avLst/>
          </a:prstGeom>
          <a:solidFill>
            <a:srgbClr val="0E8A8A"/>
          </a:solidFill>
          <a:ln>
            <a:noFill/>
          </a:ln>
        </p:spPr>
        <p:txBody>
          <a:bodyPr rtlCol="0" anchor="ctr" lIns="0" rIns="0" tIns="0" bIns="0"/>
          <a:lstStyle/>
          <a:p>
            <a:pPr algn="ctr"/>
          </a:p>
        </p:txBody>
      </p:sp>
      <p:sp>
        <p:nvSpPr>
          <p:cNvPr id="10" name="TextBox 9"/>
          <p:cNvSpPr txBox="1"/>
          <p:nvPr/>
        </p:nvSpPr>
        <p:spPr>
          <a:xfrm>
            <a:off x="11321415" y="2748724"/>
            <a:ext cx="5625465" cy="1291841"/>
          </a:xfrm>
          <a:prstGeom prst="rect">
            <a:avLst/>
          </a:prstGeom>
          <a:noFill/>
        </p:spPr>
        <p:txBody>
          <a:bodyPr wrap="square" lIns="0" rIns="0" tIns="0" bIns="0"/>
          <a:lstStyle/>
          <a:p>
            <a:pPr>
              <a:lnSpc>
                <a:spcPct val="112000"/>
              </a:lnSpc>
            </a:pPr>
            <a:r>
              <a:rPr sz="2511" b="1" i="0" u="none">
                <a:solidFill>
                  <a:srgbClr val="0F172A"/>
                </a:solidFill>
                <a:latin typeface="Calibri"/>
              </a:rPr>
              <a:t>Name your constraints</a:t>
            </a:r>
            <a:r>
              <a:rPr sz="2511" b="0" i="0" u="none">
                <a:solidFill>
                  <a:srgbClr val="0F172A"/>
                </a:solidFill>
                <a:latin typeface="Calibri"/>
              </a:rPr>
              <a:t>: error messages then say </a:t>
            </a:r>
            <a:r>
              <a:rPr sz="2511" b="0" i="1" u="none">
                <a:solidFill>
                  <a:srgbClr val="0F172A"/>
                </a:solidFill>
                <a:latin typeface="Calibri"/>
              </a:rPr>
              <a:t>ck_sal</a:t>
            </a:r>
            <a:r>
              <a:rPr sz="2511" b="0" i="0" u="none">
                <a:solidFill>
                  <a:srgbClr val="0F172A"/>
                </a:solidFill>
                <a:latin typeface="Calibri"/>
              </a:rPr>
              <a:t> instead of </a:t>
            </a:r>
            <a:r>
              <a:rPr sz="2511" b="0" i="1" u="none">
                <a:solidFill>
                  <a:srgbClr val="0F172A"/>
                </a:solidFill>
                <a:latin typeface="Calibri"/>
              </a:rPr>
              <a:t>SYS_C00123</a:t>
            </a:r>
            <a:r>
              <a:rPr sz="2511" b="0" i="0" u="none">
                <a:solidFill>
                  <a:srgbClr val="0F172A"/>
                </a:solidFill>
                <a:latin typeface="Calibri"/>
              </a:rPr>
              <a:t>.</a:t>
            </a:r>
          </a:p>
        </p:txBody>
      </p:sp>
      <p:sp>
        <p:nvSpPr>
          <p:cNvPr id="11" name="Rectangle 10"/>
          <p:cNvSpPr/>
          <p:nvPr/>
        </p:nvSpPr>
        <p:spPr>
          <a:xfrm>
            <a:off x="10894695" y="4520625"/>
            <a:ext cx="6478905" cy="1410576"/>
          </a:xfrm>
          <a:prstGeom prst="rect">
            <a:avLst/>
          </a:prstGeom>
          <a:solidFill>
            <a:srgbClr val="FEF3C7"/>
          </a:solidFill>
          <a:ln>
            <a:noFill/>
          </a:ln>
        </p:spPr>
        <p:txBody>
          <a:bodyPr rtlCol="0" anchor="ctr" lIns="0" rIns="0" tIns="0" bIns="0"/>
          <a:lstStyle/>
          <a:p>
            <a:pPr algn="ctr"/>
          </a:p>
        </p:txBody>
      </p:sp>
      <p:sp>
        <p:nvSpPr>
          <p:cNvPr id="12" name="Rectangle 11"/>
          <p:cNvSpPr/>
          <p:nvPr/>
        </p:nvSpPr>
        <p:spPr>
          <a:xfrm>
            <a:off x="10894695" y="4520625"/>
            <a:ext cx="47625" cy="1410576"/>
          </a:xfrm>
          <a:prstGeom prst="rect">
            <a:avLst/>
          </a:prstGeom>
          <a:solidFill>
            <a:srgbClr val="B45309"/>
          </a:solidFill>
          <a:ln>
            <a:noFill/>
          </a:ln>
        </p:spPr>
        <p:txBody>
          <a:bodyPr rtlCol="0" anchor="ctr" lIns="0" rIns="0" tIns="0" bIns="0"/>
          <a:lstStyle/>
          <a:p>
            <a:pPr algn="ctr"/>
          </a:p>
        </p:txBody>
      </p:sp>
      <p:sp>
        <p:nvSpPr>
          <p:cNvPr id="13" name="TextBox 12"/>
          <p:cNvSpPr txBox="1"/>
          <p:nvPr/>
        </p:nvSpPr>
        <p:spPr>
          <a:xfrm>
            <a:off x="11321415" y="4787325"/>
            <a:ext cx="5625465" cy="877176"/>
          </a:xfrm>
          <a:prstGeom prst="rect">
            <a:avLst/>
          </a:prstGeom>
          <a:noFill/>
        </p:spPr>
        <p:txBody>
          <a:bodyPr wrap="square" lIns="0" rIns="0" tIns="0" bIns="0"/>
          <a:lstStyle/>
          <a:p>
            <a:pPr>
              <a:lnSpc>
                <a:spcPct val="112000"/>
              </a:lnSpc>
            </a:pPr>
            <a:r>
              <a:rPr sz="2511" b="0" i="0" u="none">
                <a:solidFill>
                  <a:srgbClr val="0F172A"/>
                </a:solidFill>
                <a:latin typeface="Calibri"/>
              </a:rPr>
              <a:t>A FK must reference a </a:t>
            </a:r>
            <a:r>
              <a:rPr sz="2511" b="1" i="0" u="none">
                <a:solidFill>
                  <a:srgbClr val="0F172A"/>
                </a:solidFill>
                <a:latin typeface="Calibri"/>
              </a:rPr>
              <a:t>PRIMARY KEY or UNIQUE</a:t>
            </a:r>
            <a:r>
              <a:rPr sz="2511" b="0" i="0" u="none">
                <a:solidFill>
                  <a:srgbClr val="0F172A"/>
                </a:solidFill>
                <a:latin typeface="Calibri"/>
              </a:rPr>
              <a:t> column.</a:t>
            </a:r>
          </a:p>
        </p:txBody>
      </p:sp>
      <p:sp>
        <p:nvSpPr>
          <p:cNvPr id="14" name="Rectangle 13"/>
          <p:cNvSpPr/>
          <p:nvPr/>
        </p:nvSpPr>
        <p:spPr>
          <a:xfrm>
            <a:off x="10894695" y="6144562"/>
            <a:ext cx="6478905" cy="1825241"/>
          </a:xfrm>
          <a:prstGeom prst="rect">
            <a:avLst/>
          </a:prstGeom>
          <a:solidFill>
            <a:srgbClr val="E6F4F4"/>
          </a:solidFill>
          <a:ln>
            <a:noFill/>
          </a:ln>
        </p:spPr>
        <p:txBody>
          <a:bodyPr rtlCol="0" anchor="ctr" lIns="0" rIns="0" tIns="0" bIns="0"/>
          <a:lstStyle/>
          <a:p>
            <a:pPr algn="ctr"/>
          </a:p>
        </p:txBody>
      </p:sp>
      <p:sp>
        <p:nvSpPr>
          <p:cNvPr id="15" name="Rectangle 14"/>
          <p:cNvSpPr/>
          <p:nvPr/>
        </p:nvSpPr>
        <p:spPr>
          <a:xfrm>
            <a:off x="10894695" y="6144562"/>
            <a:ext cx="47625" cy="1825241"/>
          </a:xfrm>
          <a:prstGeom prst="rect">
            <a:avLst/>
          </a:prstGeom>
          <a:solidFill>
            <a:srgbClr val="0E8A8A"/>
          </a:solidFill>
          <a:ln>
            <a:noFill/>
          </a:ln>
        </p:spPr>
        <p:txBody>
          <a:bodyPr rtlCol="0" anchor="ctr" lIns="0" rIns="0" tIns="0" bIns="0"/>
          <a:lstStyle/>
          <a:p>
            <a:pPr algn="ctr"/>
          </a:p>
        </p:txBody>
      </p:sp>
      <p:sp>
        <p:nvSpPr>
          <p:cNvPr id="16" name="TextBox 15"/>
          <p:cNvSpPr txBox="1"/>
          <p:nvPr/>
        </p:nvSpPr>
        <p:spPr>
          <a:xfrm>
            <a:off x="11321415" y="6411262"/>
            <a:ext cx="5625465" cy="1291841"/>
          </a:xfrm>
          <a:prstGeom prst="rect">
            <a:avLst/>
          </a:prstGeom>
          <a:noFill/>
        </p:spPr>
        <p:txBody>
          <a:bodyPr wrap="square" lIns="0" rIns="0" tIns="0" bIns="0"/>
          <a:lstStyle/>
          <a:p>
            <a:pPr>
              <a:lnSpc>
                <a:spcPct val="112000"/>
              </a:lnSpc>
            </a:pPr>
            <a:r>
              <a:rPr sz="2511" b="0" i="0" u="none">
                <a:solidFill>
                  <a:srgbClr val="0F172A"/>
                </a:solidFill>
                <a:latin typeface="Calibri"/>
              </a:rPr>
              <a:t>department.mgr_ssn → employee is added later with ALTER: the two tables reference each other.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DDL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14/71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ALTER TABLE</a:t>
            </a:r>
          </a:p>
        </p:txBody>
      </p:sp>
      <p:sp>
        <p:nvSpPr>
          <p:cNvPr id="6" name="Rectangle 5"/>
          <p:cNvSpPr/>
          <p:nvPr/>
        </p:nvSpPr>
        <p:spPr>
          <a:xfrm>
            <a:off x="914400" y="2482024"/>
            <a:ext cx="10648950" cy="4835511"/>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10115550" cy="4302111"/>
          </a:xfrm>
          <a:prstGeom prst="rect">
            <a:avLst/>
          </a:prstGeom>
          <a:noFill/>
        </p:spPr>
        <p:txBody>
          <a:bodyPr wrap="none" lIns="0" rIns="0" tIns="0" bIns="0"/>
          <a:lstStyle/>
          <a:p>
            <a:pPr>
              <a:lnSpc>
                <a:spcPct val="110000"/>
              </a:lnSpc>
            </a:pPr>
            <a:r>
              <a:rPr sz="1833" b="1" i="0" u="none">
                <a:solidFill>
                  <a:srgbClr val="0E8A8A"/>
                </a:solidFill>
                <a:latin typeface="Courier New"/>
              </a:rPr>
              <a:t>ALTER</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table_name</a:t>
            </a:r>
            <a:r>
              <a:rPr sz="1833" b="0" i="0" u="none">
                <a:solidFill>
                  <a:srgbClr val="0F172A"/>
                </a:solidFill>
                <a:latin typeface="Courier New"/>
              </a:rPr>
              <a:t> </a:t>
            </a:r>
            <a:r>
              <a:rPr sz="1833" b="1" i="0" u="none">
                <a:solidFill>
                  <a:srgbClr val="0E8A8A"/>
                </a:solidFill>
                <a:latin typeface="Courier New"/>
              </a:rPr>
              <a:t>ADD</a:t>
            </a:r>
            <a:r>
              <a:rPr sz="1833" b="0" i="0" u="none">
                <a:solidFill>
                  <a:srgbClr val="0F172A"/>
                </a:solidFill>
                <a:latin typeface="Courier New"/>
              </a:rPr>
              <a:t> </a:t>
            </a:r>
            <a:r>
              <a:rPr sz="1833" b="0" i="0" u="none">
                <a:solidFill>
                  <a:srgbClr val="0F172A"/>
                </a:solidFill>
                <a:latin typeface="Courier New"/>
              </a:rPr>
              <a:t>column_name</a:t>
            </a:r>
            <a:r>
              <a:rPr sz="1833" b="0" i="0" u="none">
                <a:solidFill>
                  <a:srgbClr val="0F172A"/>
                </a:solidFill>
                <a:latin typeface="Courier New"/>
              </a:rPr>
              <a:t> </a:t>
            </a:r>
            <a:r>
              <a:rPr sz="1833" b="0" i="0" u="none">
                <a:solidFill>
                  <a:srgbClr val="0F172A"/>
                </a:solidFill>
                <a:latin typeface="Courier New"/>
              </a:rPr>
              <a:t>datatype</a:t>
            </a:r>
            <a:r>
              <a:rPr sz="1833" b="0" i="0" u="none">
                <a:solidFill>
                  <a:srgbClr val="0F172A"/>
                </a:solidFill>
                <a:latin typeface="Courier New"/>
              </a:rPr>
              <a:t>;</a:t>
            </a:r>
          </a:p>
          <a:p>
            <a:pPr>
              <a:lnSpc>
                <a:spcPct val="110000"/>
              </a:lnSpc>
            </a:pPr>
            <a:r>
              <a:rPr sz="1833" b="0" i="0" u="none">
                <a:solidFill>
                  <a:srgbClr val="0F172A"/>
                </a:solidFill>
                <a:latin typeface="Courier New"/>
              </a:rPr>
              <a:t> </a:t>
            </a:r>
          </a:p>
          <a:p>
            <a:pPr>
              <a:lnSpc>
                <a:spcPct val="110000"/>
              </a:lnSpc>
            </a:pPr>
            <a:r>
              <a:rPr sz="1833" b="1" i="0" u="none">
                <a:solidFill>
                  <a:srgbClr val="0E8A8A"/>
                </a:solidFill>
                <a:latin typeface="Courier New"/>
              </a:rPr>
              <a:t>ALTER</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students</a:t>
            </a:r>
            <a:r>
              <a:rPr sz="1833" b="0" i="0" u="none">
                <a:solidFill>
                  <a:srgbClr val="0F172A"/>
                </a:solidFill>
                <a:latin typeface="Courier New"/>
              </a:rPr>
              <a:t> </a:t>
            </a:r>
            <a:r>
              <a:rPr sz="1833" b="1" i="0" u="none">
                <a:solidFill>
                  <a:srgbClr val="0E8A8A"/>
                </a:solidFill>
                <a:latin typeface="Courier New"/>
              </a:rPr>
              <a:t>ADD</a:t>
            </a:r>
            <a:r>
              <a:rPr sz="1833" b="0" i="0" u="none">
                <a:solidFill>
                  <a:srgbClr val="0F172A"/>
                </a:solidFill>
                <a:latin typeface="Courier New"/>
              </a:rPr>
              <a:t> </a:t>
            </a:r>
            <a:r>
              <a:rPr sz="1833" b="0" i="0" u="none">
                <a:solidFill>
                  <a:srgbClr val="0F172A"/>
                </a:solidFill>
                <a:latin typeface="Courier New"/>
              </a:rPr>
              <a:t>phone</a:t>
            </a:r>
            <a:r>
              <a:rPr sz="1833" b="0" i="0" u="none">
                <a:solidFill>
                  <a:srgbClr val="0F172A"/>
                </a:solidFill>
                <a:latin typeface="Courier New"/>
              </a:rPr>
              <a:t> </a:t>
            </a:r>
            <a:r>
              <a:rPr sz="1833" b="1" i="0" u="none">
                <a:solidFill>
                  <a:srgbClr val="0E8A8A"/>
                </a:solidFill>
                <a:latin typeface="Courier New"/>
              </a:rPr>
              <a:t>VARCHAR</a:t>
            </a:r>
            <a:r>
              <a:rPr sz="1833" b="0" i="0" u="none">
                <a:solidFill>
                  <a:srgbClr val="0F172A"/>
                </a:solidFill>
                <a:latin typeface="Courier New"/>
              </a:rPr>
              <a:t>(</a:t>
            </a:r>
            <a:r>
              <a:rPr sz="1833" b="0" i="0" u="none">
                <a:solidFill>
                  <a:srgbClr val="B45309"/>
                </a:solidFill>
                <a:latin typeface="Courier New"/>
              </a:rPr>
              <a:t>20</a:t>
            </a:r>
            <a:r>
              <a:rPr sz="1833" b="0" i="0" u="none">
                <a:solidFill>
                  <a:srgbClr val="0F172A"/>
                </a:solidFill>
                <a:latin typeface="Courier New"/>
              </a:rPr>
              <a:t>)</a:t>
            </a:r>
            <a:r>
              <a:rPr sz="1833" b="0" i="0" u="none">
                <a:solidFill>
                  <a:srgbClr val="0F172A"/>
                </a:solidFill>
                <a:latin typeface="Courier New"/>
              </a:rPr>
              <a:t>;</a:t>
            </a:r>
          </a:p>
          <a:p>
            <a:pPr>
              <a:lnSpc>
                <a:spcPct val="110000"/>
              </a:lnSpc>
            </a:pPr>
            <a:r>
              <a:rPr sz="1833" b="0" i="0" u="none">
                <a:solidFill>
                  <a:srgbClr val="0F172A"/>
                </a:solidFill>
                <a:latin typeface="Courier New"/>
              </a:rPr>
              <a:t> </a:t>
            </a:r>
          </a:p>
          <a:p>
            <a:pPr>
              <a:lnSpc>
                <a:spcPct val="110000"/>
              </a:lnSpc>
            </a:pPr>
            <a:r>
              <a:rPr sz="1833" b="1" i="0" u="none">
                <a:solidFill>
                  <a:srgbClr val="0E8A8A"/>
                </a:solidFill>
                <a:latin typeface="Courier New"/>
              </a:rPr>
              <a:t>ALTER</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students</a:t>
            </a:r>
            <a:r>
              <a:rPr sz="1833" b="0" i="0" u="none">
                <a:solidFill>
                  <a:srgbClr val="0F172A"/>
                </a:solidFill>
                <a:latin typeface="Courier New"/>
              </a:rPr>
              <a:t> </a:t>
            </a:r>
            <a:r>
              <a:rPr sz="1833" b="1" i="0" u="none">
                <a:solidFill>
                  <a:srgbClr val="0E8A8A"/>
                </a:solidFill>
                <a:latin typeface="Courier New"/>
              </a:rPr>
              <a:t>DROP</a:t>
            </a:r>
            <a:r>
              <a:rPr sz="1833" b="0" i="0" u="none">
                <a:solidFill>
                  <a:srgbClr val="0F172A"/>
                </a:solidFill>
                <a:latin typeface="Courier New"/>
              </a:rPr>
              <a:t> </a:t>
            </a:r>
            <a:r>
              <a:rPr sz="1833" b="1" i="0" u="none">
                <a:solidFill>
                  <a:srgbClr val="0E8A8A"/>
                </a:solidFill>
                <a:latin typeface="Courier New"/>
              </a:rPr>
              <a:t>COLUMN</a:t>
            </a:r>
            <a:r>
              <a:rPr sz="1833" b="0" i="0" u="none">
                <a:solidFill>
                  <a:srgbClr val="0F172A"/>
                </a:solidFill>
                <a:latin typeface="Courier New"/>
              </a:rPr>
              <a:t> </a:t>
            </a:r>
            <a:r>
              <a:rPr sz="1833" b="0" i="0" u="none">
                <a:solidFill>
                  <a:srgbClr val="0F172A"/>
                </a:solidFill>
                <a:latin typeface="Courier New"/>
              </a:rPr>
              <a:t>phone</a:t>
            </a:r>
            <a:r>
              <a:rPr sz="1833" b="0" i="0" u="none">
                <a:solidFill>
                  <a:srgbClr val="0F172A"/>
                </a:solidFill>
                <a:latin typeface="Courier New"/>
              </a:rPr>
              <a:t>;</a:t>
            </a:r>
          </a:p>
          <a:p>
            <a:pPr>
              <a:lnSpc>
                <a:spcPct val="110000"/>
              </a:lnSpc>
            </a:pPr>
            <a:r>
              <a:rPr sz="1833" b="0" i="0" u="none">
                <a:solidFill>
                  <a:srgbClr val="0F172A"/>
                </a:solidFill>
                <a:latin typeface="Courier New"/>
              </a:rPr>
              <a:t> </a:t>
            </a:r>
          </a:p>
          <a:p>
            <a:pPr>
              <a:lnSpc>
                <a:spcPct val="110000"/>
              </a:lnSpc>
            </a:pPr>
            <a:r>
              <a:rPr sz="1833" b="1" i="0" u="none">
                <a:solidFill>
                  <a:srgbClr val="0E8A8A"/>
                </a:solidFill>
                <a:latin typeface="Courier New"/>
              </a:rPr>
              <a:t>ALTER</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department</a:t>
            </a:r>
          </a:p>
          <a:p>
            <a:pPr>
              <a:lnSpc>
                <a:spcPct val="110000"/>
              </a:lnSpc>
            </a:pPr>
            <a:r>
              <a:rPr sz="1833" b="0" i="0" u="none">
                <a:solidFill>
                  <a:srgbClr val="0F172A"/>
                </a:solidFill>
                <a:latin typeface="Courier New"/>
              </a:rPr>
              <a:t>  </a:t>
            </a:r>
            <a:r>
              <a:rPr sz="1833" b="1" i="0" u="none">
                <a:solidFill>
                  <a:srgbClr val="0E8A8A"/>
                </a:solidFill>
                <a:latin typeface="Courier New"/>
              </a:rPr>
              <a:t>ADD</a:t>
            </a:r>
            <a:r>
              <a:rPr sz="1833" b="0" i="0" u="none">
                <a:solidFill>
                  <a:srgbClr val="0F172A"/>
                </a:solidFill>
                <a:latin typeface="Courier New"/>
              </a:rPr>
              <a:t> </a:t>
            </a:r>
            <a:r>
              <a:rPr sz="1833" b="1" i="0" u="none">
                <a:solidFill>
                  <a:srgbClr val="0E8A8A"/>
                </a:solidFill>
                <a:latin typeface="Courier New"/>
              </a:rPr>
              <a:t>CONSTRAINT</a:t>
            </a:r>
            <a:r>
              <a:rPr sz="1833" b="0" i="0" u="none">
                <a:solidFill>
                  <a:srgbClr val="0F172A"/>
                </a:solidFill>
                <a:latin typeface="Courier New"/>
              </a:rPr>
              <a:t> </a:t>
            </a:r>
            <a:r>
              <a:rPr sz="1833" b="0" i="0" u="none">
                <a:solidFill>
                  <a:srgbClr val="0F172A"/>
                </a:solidFill>
                <a:latin typeface="Courier New"/>
              </a:rPr>
              <a:t>fk_dept_mgr</a:t>
            </a:r>
            <a:r>
              <a:rPr sz="1833" b="0" i="0" u="none">
                <a:solidFill>
                  <a:srgbClr val="0F172A"/>
                </a:solidFill>
                <a:latin typeface="Courier New"/>
              </a:rPr>
              <a:t> </a:t>
            </a:r>
            <a:r>
              <a:rPr sz="1833" b="1" i="0" u="none">
                <a:solidFill>
                  <a:srgbClr val="0E8A8A"/>
                </a:solidFill>
                <a:latin typeface="Courier New"/>
              </a:rPr>
              <a:t>FOREIGN</a:t>
            </a:r>
            <a:r>
              <a:rPr sz="1833" b="0" i="0" u="none">
                <a:solidFill>
                  <a:srgbClr val="0F172A"/>
                </a:solidFill>
                <a:latin typeface="Courier New"/>
              </a:rPr>
              <a:t> </a:t>
            </a:r>
            <a:r>
              <a:rPr sz="1833" b="1" i="0" u="none">
                <a:solidFill>
                  <a:srgbClr val="0E8A8A"/>
                </a:solidFill>
                <a:latin typeface="Courier New"/>
              </a:rPr>
              <a:t>KEY</a:t>
            </a:r>
            <a:r>
              <a:rPr sz="1833" b="0" i="0" u="none">
                <a:solidFill>
                  <a:srgbClr val="0F172A"/>
                </a:solidFill>
                <a:latin typeface="Courier New"/>
              </a:rPr>
              <a:t> </a:t>
            </a:r>
            <a:r>
              <a:rPr sz="1833" b="0" i="0" u="none">
                <a:solidFill>
                  <a:srgbClr val="0F172A"/>
                </a:solidFill>
                <a:latin typeface="Courier New"/>
              </a:rPr>
              <a:t>(</a:t>
            </a:r>
            <a:r>
              <a:rPr sz="1833" b="0" i="0" u="none">
                <a:solidFill>
                  <a:srgbClr val="0F172A"/>
                </a:solidFill>
                <a:latin typeface="Courier New"/>
              </a:rPr>
              <a:t>mgr_ssn</a:t>
            </a:r>
            <a:r>
              <a:rPr sz="1833" b="0" i="0" u="none">
                <a:solidFill>
                  <a:srgbClr val="0F172A"/>
                </a:solidFill>
                <a:latin typeface="Courier New"/>
              </a:rPr>
              <a:t>)</a:t>
            </a:r>
          </a:p>
          <a:p>
            <a:pPr>
              <a:lnSpc>
                <a:spcPct val="110000"/>
              </a:lnSpc>
            </a:pPr>
            <a:r>
              <a:rPr sz="1833" b="0" i="0" u="none">
                <a:solidFill>
                  <a:srgbClr val="0F172A"/>
                </a:solidFill>
                <a:latin typeface="Courier New"/>
              </a:rPr>
              <a:t>      </a:t>
            </a:r>
            <a:r>
              <a:rPr sz="1833" b="1" i="0" u="none">
                <a:solidFill>
                  <a:srgbClr val="0E8A8A"/>
                </a:solidFill>
                <a:latin typeface="Courier New"/>
              </a:rPr>
              <a:t>REFERENCES</a:t>
            </a:r>
            <a:r>
              <a:rPr sz="1833" b="0" i="0" u="none">
                <a:solidFill>
                  <a:srgbClr val="0F172A"/>
                </a:solidFill>
                <a:latin typeface="Courier New"/>
              </a:rPr>
              <a:t> </a:t>
            </a:r>
            <a:r>
              <a:rPr sz="1833" b="0" i="0" u="none">
                <a:solidFill>
                  <a:srgbClr val="0F172A"/>
                </a:solidFill>
                <a:latin typeface="Courier New"/>
              </a:rPr>
              <a:t>employee</a:t>
            </a:r>
            <a:r>
              <a:rPr sz="1833" b="0" i="0" u="none">
                <a:solidFill>
                  <a:srgbClr val="0F172A"/>
                </a:solidFill>
                <a:latin typeface="Courier New"/>
              </a:rPr>
              <a:t> </a:t>
            </a:r>
            <a:r>
              <a:rPr sz="1833" b="0" i="0" u="none">
                <a:solidFill>
                  <a:srgbClr val="0F172A"/>
                </a:solidFill>
                <a:latin typeface="Courier New"/>
              </a:rPr>
              <a:t>(</a:t>
            </a:r>
            <a:r>
              <a:rPr sz="1833" b="0" i="0" u="none">
                <a:solidFill>
                  <a:srgbClr val="0F172A"/>
                </a:solidFill>
                <a:latin typeface="Courier New"/>
              </a:rPr>
              <a:t>ssn</a:t>
            </a:r>
            <a:r>
              <a:rPr sz="1833" b="0" i="0" u="none">
                <a:solidFill>
                  <a:srgbClr val="0F172A"/>
                </a:solidFill>
                <a:latin typeface="Courier New"/>
              </a:rPr>
              <a:t>)</a:t>
            </a:r>
            <a:r>
              <a:rPr sz="1833" b="0" i="0" u="none">
                <a:solidFill>
                  <a:srgbClr val="0F172A"/>
                </a:solidFill>
                <a:latin typeface="Courier New"/>
              </a:rPr>
              <a:t>;</a:t>
            </a:r>
          </a:p>
          <a:p>
            <a:pPr>
              <a:lnSpc>
                <a:spcPct val="110000"/>
              </a:lnSpc>
            </a:pPr>
            <a:r>
              <a:rPr sz="1833" b="0" i="0" u="none">
                <a:solidFill>
                  <a:srgbClr val="0F172A"/>
                </a:solidFill>
                <a:latin typeface="Courier New"/>
              </a:rPr>
              <a:t> </a:t>
            </a:r>
          </a:p>
          <a:p>
            <a:pPr>
              <a:lnSpc>
                <a:spcPct val="110000"/>
              </a:lnSpc>
            </a:pPr>
            <a:r>
              <a:rPr sz="1833" b="0" i="1" u="none">
                <a:solidFill>
                  <a:srgbClr val="64748B"/>
                </a:solidFill>
                <a:latin typeface="Courier New"/>
              </a:rPr>
              <a:t>-- change a column's type (syntax varies):</a:t>
            </a:r>
          </a:p>
          <a:p>
            <a:pPr>
              <a:lnSpc>
                <a:spcPct val="110000"/>
              </a:lnSpc>
            </a:pPr>
            <a:r>
              <a:rPr sz="1833" b="1" i="0" u="none">
                <a:solidFill>
                  <a:srgbClr val="0E8A8A"/>
                </a:solidFill>
                <a:latin typeface="Courier New"/>
              </a:rPr>
              <a:t>ALTER</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students</a:t>
            </a:r>
            <a:r>
              <a:rPr sz="1833" b="0" i="0" u="none">
                <a:solidFill>
                  <a:srgbClr val="0F172A"/>
                </a:solidFill>
                <a:latin typeface="Courier New"/>
              </a:rPr>
              <a:t> </a:t>
            </a:r>
            <a:r>
              <a:rPr sz="1833" b="1" i="0" u="none">
                <a:solidFill>
                  <a:srgbClr val="0E8A8A"/>
                </a:solidFill>
                <a:latin typeface="Courier New"/>
              </a:rPr>
              <a:t>ALTER</a:t>
            </a:r>
            <a:r>
              <a:rPr sz="1833" b="0" i="0" u="none">
                <a:solidFill>
                  <a:srgbClr val="0F172A"/>
                </a:solidFill>
                <a:latin typeface="Courier New"/>
              </a:rPr>
              <a:t> </a:t>
            </a:r>
            <a:r>
              <a:rPr sz="1833" b="1" i="0" u="none">
                <a:solidFill>
                  <a:srgbClr val="0E8A8A"/>
                </a:solidFill>
                <a:latin typeface="Courier New"/>
              </a:rPr>
              <a:t>COLUMN</a:t>
            </a:r>
            <a:r>
              <a:rPr sz="1833" b="0" i="0" u="none">
                <a:solidFill>
                  <a:srgbClr val="0F172A"/>
                </a:solidFill>
                <a:latin typeface="Courier New"/>
              </a:rPr>
              <a:t> </a:t>
            </a:r>
            <a:r>
              <a:rPr sz="1833" b="0" i="0" u="none">
                <a:solidFill>
                  <a:srgbClr val="0F172A"/>
                </a:solidFill>
                <a:latin typeface="Courier New"/>
              </a:rPr>
              <a:t>city</a:t>
            </a:r>
            <a:r>
              <a:rPr sz="1833" b="0" i="0" u="none">
                <a:solidFill>
                  <a:srgbClr val="0F172A"/>
                </a:solidFill>
                <a:latin typeface="Courier New"/>
              </a:rPr>
              <a:t> </a:t>
            </a:r>
            <a:r>
              <a:rPr sz="1833" b="1" i="0" u="none">
                <a:solidFill>
                  <a:srgbClr val="0E8A8A"/>
                </a:solidFill>
                <a:latin typeface="Courier New"/>
              </a:rPr>
              <a:t>TYPE</a:t>
            </a:r>
            <a:r>
              <a:rPr sz="1833" b="0" i="0" u="none">
                <a:solidFill>
                  <a:srgbClr val="0F172A"/>
                </a:solidFill>
                <a:latin typeface="Courier New"/>
              </a:rPr>
              <a:t> </a:t>
            </a:r>
            <a:r>
              <a:rPr sz="1833" b="1" i="0" u="none">
                <a:solidFill>
                  <a:srgbClr val="0E8A8A"/>
                </a:solidFill>
                <a:latin typeface="Courier New"/>
              </a:rPr>
              <a:t>VARCHAR</a:t>
            </a:r>
            <a:r>
              <a:rPr sz="1833" b="0" i="0" u="none">
                <a:solidFill>
                  <a:srgbClr val="0F172A"/>
                </a:solidFill>
                <a:latin typeface="Courier New"/>
              </a:rPr>
              <a:t>(</a:t>
            </a:r>
            <a:r>
              <a:rPr sz="1833" b="0" i="0" u="none">
                <a:solidFill>
                  <a:srgbClr val="B45309"/>
                </a:solidFill>
                <a:latin typeface="Courier New"/>
              </a:rPr>
              <a:t>80</a:t>
            </a:r>
            <a:r>
              <a:rPr sz="1833" b="0" i="0" u="none">
                <a:solidFill>
                  <a:srgbClr val="0F172A"/>
                </a:solidFill>
                <a:latin typeface="Courier New"/>
              </a:rPr>
              <a:t>)</a:t>
            </a:r>
            <a:r>
              <a:rPr sz="1833" b="0" i="0" u="none">
                <a:solidFill>
                  <a:srgbClr val="0F172A"/>
                </a:solidFill>
                <a:latin typeface="Courier New"/>
              </a:rPr>
              <a:t>;</a:t>
            </a:r>
            <a:r>
              <a:rPr sz="1833" b="0" i="0" u="none">
                <a:solidFill>
                  <a:srgbClr val="0F172A"/>
                </a:solidFill>
                <a:latin typeface="Courier New"/>
              </a:rPr>
              <a:t>  </a:t>
            </a:r>
            <a:r>
              <a:rPr sz="1833" b="0" i="1" u="none">
                <a:solidFill>
                  <a:srgbClr val="64748B"/>
                </a:solidFill>
                <a:latin typeface="Courier New"/>
              </a:rPr>
              <a:t>-- PostgreSQL</a:t>
            </a:r>
          </a:p>
          <a:p>
            <a:pPr>
              <a:lnSpc>
                <a:spcPct val="110000"/>
              </a:lnSpc>
            </a:pPr>
            <a:r>
              <a:rPr sz="1833" b="1" i="0" u="none">
                <a:solidFill>
                  <a:srgbClr val="0E8A8A"/>
                </a:solidFill>
                <a:latin typeface="Courier New"/>
              </a:rPr>
              <a:t>ALTER</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students</a:t>
            </a:r>
            <a:r>
              <a:rPr sz="1833" b="0" i="0" u="none">
                <a:solidFill>
                  <a:srgbClr val="0F172A"/>
                </a:solidFill>
                <a:latin typeface="Courier New"/>
              </a:rPr>
              <a:t> </a:t>
            </a:r>
            <a:r>
              <a:rPr sz="1833" b="1" i="0" u="none">
                <a:solidFill>
                  <a:srgbClr val="0E8A8A"/>
                </a:solidFill>
                <a:latin typeface="Courier New"/>
              </a:rPr>
              <a:t>MODIFY</a:t>
            </a:r>
            <a:r>
              <a:rPr sz="1833" b="0" i="0" u="none">
                <a:solidFill>
                  <a:srgbClr val="0F172A"/>
                </a:solidFill>
                <a:latin typeface="Courier New"/>
              </a:rPr>
              <a:t> </a:t>
            </a:r>
            <a:r>
              <a:rPr sz="1833" b="0" i="0" u="none">
                <a:solidFill>
                  <a:srgbClr val="0F172A"/>
                </a:solidFill>
                <a:latin typeface="Courier New"/>
              </a:rPr>
              <a:t>city</a:t>
            </a:r>
            <a:r>
              <a:rPr sz="1833" b="0" i="0" u="none">
                <a:solidFill>
                  <a:srgbClr val="0F172A"/>
                </a:solidFill>
                <a:latin typeface="Courier New"/>
              </a:rPr>
              <a:t> </a:t>
            </a:r>
            <a:r>
              <a:rPr sz="1833" b="0" i="0" u="none">
                <a:solidFill>
                  <a:srgbClr val="0F172A"/>
                </a:solidFill>
                <a:latin typeface="Courier New"/>
              </a:rPr>
              <a:t>VARCHAR2</a:t>
            </a:r>
            <a:r>
              <a:rPr sz="1833" b="0" i="0" u="none">
                <a:solidFill>
                  <a:srgbClr val="0F172A"/>
                </a:solidFill>
                <a:latin typeface="Courier New"/>
              </a:rPr>
              <a:t>(</a:t>
            </a:r>
            <a:r>
              <a:rPr sz="1833" b="0" i="0" u="none">
                <a:solidFill>
                  <a:srgbClr val="B45309"/>
                </a:solidFill>
                <a:latin typeface="Courier New"/>
              </a:rPr>
              <a:t>80</a:t>
            </a:r>
            <a:r>
              <a:rPr sz="1833" b="0" i="0" u="none">
                <a:solidFill>
                  <a:srgbClr val="0F172A"/>
                </a:solidFill>
                <a:latin typeface="Courier New"/>
              </a:rPr>
              <a:t>)</a:t>
            </a:r>
            <a:r>
              <a:rPr sz="1833" b="0" i="0" u="none">
                <a:solidFill>
                  <a:srgbClr val="0F172A"/>
                </a:solidFill>
                <a:latin typeface="Courier New"/>
              </a:rPr>
              <a:t>;</a:t>
            </a:r>
            <a:r>
              <a:rPr sz="1833" b="0" i="0" u="none">
                <a:solidFill>
                  <a:srgbClr val="0F172A"/>
                </a:solidFill>
                <a:latin typeface="Courier New"/>
              </a:rPr>
              <a:t>            </a:t>
            </a:r>
            <a:r>
              <a:rPr sz="1833" b="0" i="1" u="none">
                <a:solidFill>
                  <a:srgbClr val="64748B"/>
                </a:solidFill>
                <a:latin typeface="Courier New"/>
              </a:rPr>
              <a:t>-- Oracle</a:t>
            </a:r>
          </a:p>
          <a:p>
            <a:pPr>
              <a:lnSpc>
                <a:spcPct val="110000"/>
              </a:lnSpc>
            </a:pPr>
            <a:r>
              <a:rPr sz="1833" b="1" i="0" u="none">
                <a:solidFill>
                  <a:srgbClr val="0E8A8A"/>
                </a:solidFill>
                <a:latin typeface="Courier New"/>
              </a:rPr>
              <a:t>ALTER</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students</a:t>
            </a:r>
            <a:r>
              <a:rPr sz="1833" b="0" i="0" u="none">
                <a:solidFill>
                  <a:srgbClr val="0F172A"/>
                </a:solidFill>
                <a:latin typeface="Courier New"/>
              </a:rPr>
              <a:t> </a:t>
            </a:r>
            <a:r>
              <a:rPr sz="1833" b="1" i="0" u="none">
                <a:solidFill>
                  <a:srgbClr val="0E8A8A"/>
                </a:solidFill>
                <a:latin typeface="Courier New"/>
              </a:rPr>
              <a:t>ALTER</a:t>
            </a:r>
            <a:r>
              <a:rPr sz="1833" b="0" i="0" u="none">
                <a:solidFill>
                  <a:srgbClr val="0F172A"/>
                </a:solidFill>
                <a:latin typeface="Courier New"/>
              </a:rPr>
              <a:t> </a:t>
            </a:r>
            <a:r>
              <a:rPr sz="1833" b="1" i="0" u="none">
                <a:solidFill>
                  <a:srgbClr val="0E8A8A"/>
                </a:solidFill>
                <a:latin typeface="Courier New"/>
              </a:rPr>
              <a:t>COLUMN</a:t>
            </a:r>
            <a:r>
              <a:rPr sz="1833" b="0" i="0" u="none">
                <a:solidFill>
                  <a:srgbClr val="0F172A"/>
                </a:solidFill>
                <a:latin typeface="Courier New"/>
              </a:rPr>
              <a:t> </a:t>
            </a:r>
            <a:r>
              <a:rPr sz="1833" b="0" i="0" u="none">
                <a:solidFill>
                  <a:srgbClr val="0F172A"/>
                </a:solidFill>
                <a:latin typeface="Courier New"/>
              </a:rPr>
              <a:t>city</a:t>
            </a:r>
            <a:r>
              <a:rPr sz="1833" b="0" i="0" u="none">
                <a:solidFill>
                  <a:srgbClr val="0F172A"/>
                </a:solidFill>
                <a:latin typeface="Courier New"/>
              </a:rPr>
              <a:t> </a:t>
            </a:r>
            <a:r>
              <a:rPr sz="1833" b="1" i="0" u="none">
                <a:solidFill>
                  <a:srgbClr val="0E8A8A"/>
                </a:solidFill>
                <a:latin typeface="Courier New"/>
              </a:rPr>
              <a:t>VARCHAR</a:t>
            </a:r>
            <a:r>
              <a:rPr sz="1833" b="0" i="0" u="none">
                <a:solidFill>
                  <a:srgbClr val="0F172A"/>
                </a:solidFill>
                <a:latin typeface="Courier New"/>
              </a:rPr>
              <a:t>(</a:t>
            </a:r>
            <a:r>
              <a:rPr sz="1833" b="0" i="0" u="none">
                <a:solidFill>
                  <a:srgbClr val="B45309"/>
                </a:solidFill>
                <a:latin typeface="Courier New"/>
              </a:rPr>
              <a:t>80</a:t>
            </a:r>
            <a:r>
              <a:rPr sz="1833" b="0" i="0" u="none">
                <a:solidFill>
                  <a:srgbClr val="0F172A"/>
                </a:solidFill>
                <a:latin typeface="Courier New"/>
              </a:rPr>
              <a:t>)</a:t>
            </a:r>
            <a:r>
              <a:rPr sz="1833" b="0" i="0" u="none">
                <a:solidFill>
                  <a:srgbClr val="0F172A"/>
                </a:solidFill>
                <a:latin typeface="Courier New"/>
              </a:rPr>
              <a:t>;</a:t>
            </a:r>
            <a:r>
              <a:rPr sz="1833" b="0" i="0" u="none">
                <a:solidFill>
                  <a:srgbClr val="0F172A"/>
                </a:solidFill>
                <a:latin typeface="Courier New"/>
              </a:rPr>
              <a:t>       </a:t>
            </a:r>
            <a:r>
              <a:rPr sz="1833" b="0" i="1" u="none">
                <a:solidFill>
                  <a:srgbClr val="64748B"/>
                </a:solidFill>
                <a:latin typeface="Courier New"/>
              </a:rPr>
              <a:t>-- SQL Server</a:t>
            </a:r>
          </a:p>
        </p:txBody>
      </p:sp>
      <p:sp>
        <p:nvSpPr>
          <p:cNvPr id="8" name="Rectangle 7"/>
          <p:cNvSpPr/>
          <p:nvPr/>
        </p:nvSpPr>
        <p:spPr>
          <a:xfrm>
            <a:off x="11990070" y="2482024"/>
            <a:ext cx="5383530" cy="2637876"/>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2390120" y="2882074"/>
            <a:ext cx="4583430" cy="1837776"/>
          </a:xfrm>
          <a:prstGeom prst="rect">
            <a:avLst/>
          </a:prstGeom>
          <a:noFill/>
        </p:spPr>
        <p:txBody>
          <a:bodyPr wrap="square" lIns="0" rIns="0" tIns="0" bIns="0" anchor="t"/>
          <a:lstStyle/>
          <a:p>
            <a:pPr algn="l">
              <a:lnSpc>
                <a:spcPct val="111800"/>
              </a:lnSpc>
            </a:pPr>
            <a:r>
              <a:rPr sz="2704" b="0" i="0" u="none">
                <a:solidFill>
                  <a:srgbClr val="334155"/>
                </a:solidFill>
                <a:latin typeface="Calibri"/>
              </a:rPr>
              <a:t>ALTER changes the </a:t>
            </a:r>
            <a:r>
              <a:rPr sz="2704" b="1" i="0" u="none">
                <a:solidFill>
                  <a:srgbClr val="334155"/>
                </a:solidFill>
                <a:latin typeface="Calibri"/>
              </a:rPr>
              <a:t>structure</a:t>
            </a:r>
            <a:r>
              <a:rPr sz="2704" b="0" i="0" u="none">
                <a:solidFill>
                  <a:srgbClr val="334155"/>
                </a:solidFill>
                <a:latin typeface="Calibri"/>
              </a:rPr>
              <a:t> of an existing table: add or drop columns and constraints, change types.</a:t>
            </a:r>
          </a:p>
        </p:txBody>
      </p:sp>
      <p:sp>
        <p:nvSpPr>
          <p:cNvPr id="10" name="Rectangle 9"/>
          <p:cNvSpPr/>
          <p:nvPr/>
        </p:nvSpPr>
        <p:spPr>
          <a:xfrm>
            <a:off x="11990070" y="5333260"/>
            <a:ext cx="5383530" cy="1410576"/>
          </a:xfrm>
          <a:prstGeom prst="rect">
            <a:avLst/>
          </a:prstGeom>
          <a:solidFill>
            <a:srgbClr val="E6F4F4"/>
          </a:solidFill>
          <a:ln>
            <a:noFill/>
          </a:ln>
        </p:spPr>
        <p:txBody>
          <a:bodyPr rtlCol="0" anchor="ctr" lIns="0" rIns="0" tIns="0" bIns="0"/>
          <a:lstStyle/>
          <a:p>
            <a:pPr algn="ctr"/>
          </a:p>
        </p:txBody>
      </p:sp>
      <p:sp>
        <p:nvSpPr>
          <p:cNvPr id="11" name="Rectangle 10"/>
          <p:cNvSpPr/>
          <p:nvPr/>
        </p:nvSpPr>
        <p:spPr>
          <a:xfrm>
            <a:off x="11990070" y="5333260"/>
            <a:ext cx="47625" cy="1410576"/>
          </a:xfrm>
          <a:prstGeom prst="rect">
            <a:avLst/>
          </a:prstGeom>
          <a:solidFill>
            <a:srgbClr val="0E8A8A"/>
          </a:solidFill>
          <a:ln>
            <a:noFill/>
          </a:ln>
        </p:spPr>
        <p:txBody>
          <a:bodyPr rtlCol="0" anchor="ctr" lIns="0" rIns="0" tIns="0" bIns="0"/>
          <a:lstStyle/>
          <a:p>
            <a:pPr algn="ctr"/>
          </a:p>
        </p:txBody>
      </p:sp>
      <p:sp>
        <p:nvSpPr>
          <p:cNvPr id="12" name="TextBox 11"/>
          <p:cNvSpPr txBox="1"/>
          <p:nvPr/>
        </p:nvSpPr>
        <p:spPr>
          <a:xfrm>
            <a:off x="12416790" y="5599960"/>
            <a:ext cx="4530090" cy="877176"/>
          </a:xfrm>
          <a:prstGeom prst="rect">
            <a:avLst/>
          </a:prstGeom>
          <a:noFill/>
        </p:spPr>
        <p:txBody>
          <a:bodyPr wrap="square" lIns="0" rIns="0" tIns="0" bIns="0"/>
          <a:lstStyle/>
          <a:p>
            <a:pPr>
              <a:lnSpc>
                <a:spcPct val="112000"/>
              </a:lnSpc>
            </a:pPr>
            <a:r>
              <a:rPr sz="2511" b="0" i="0" u="none">
                <a:solidFill>
                  <a:srgbClr val="0F172A"/>
                </a:solidFill>
                <a:latin typeface="Calibri"/>
              </a:rPr>
              <a:t>Existing rows get </a:t>
            </a:r>
            <a:r>
              <a:rPr sz="2511" b="1" i="0" u="none">
                <a:solidFill>
                  <a:srgbClr val="0F172A"/>
                </a:solidFill>
                <a:latin typeface="Calibri"/>
              </a:rPr>
              <a:t>NULL</a:t>
            </a:r>
            <a:r>
              <a:rPr sz="2511" b="0" i="0" u="none">
                <a:solidFill>
                  <a:srgbClr val="0F172A"/>
                </a:solidFill>
                <a:latin typeface="Calibri"/>
              </a:rPr>
              <a:t> (or the DEFAULT) in a new column.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DDL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15/71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ALTER example</a:t>
            </a:r>
          </a:p>
        </p:txBody>
      </p:sp>
      <p:sp>
        <p:nvSpPr>
          <p:cNvPr id="6" name="TextBox 5"/>
          <p:cNvSpPr txBox="1"/>
          <p:nvPr/>
        </p:nvSpPr>
        <p:spPr>
          <a:xfrm>
            <a:off x="914400" y="2482024"/>
            <a:ext cx="7962900"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Before</a:t>
            </a:r>
          </a:p>
        </p:txBody>
      </p:sp>
      <p:graphicFrame>
        <p:nvGraphicFramePr>
          <p:cNvPr id="7" name="Table 6"/>
          <p:cNvGraphicFramePr>
            <a:graphicFrameLocks noGrp="1"/>
          </p:cNvGraphicFramePr>
          <p:nvPr/>
        </p:nvGraphicFramePr>
        <p:xfrm>
          <a:off x="914400" y="3068977"/>
          <a:ext cx="7962900" cy="1256754"/>
        </p:xfrm>
        <a:graphic>
          <a:graphicData uri="http://schemas.openxmlformats.org/drawingml/2006/table">
            <a:tbl>
              <a:tblPr firstRow="0" bandRow="0">
                <a:tableStyleId>{5940675A-B579-460E-94D1-54222C63F5DA}</a:tableStyleId>
              </a:tblPr>
              <a:tblGrid>
                <a:gridCol w="2654300"/>
                <a:gridCol w="2654300"/>
                <a:gridCol w="2654300"/>
              </a:tblGrid>
              <a:tr h="628377">
                <a:tc>
                  <a:txBody>
                    <a:bodyPr/>
                    <a:lstStyle/>
                    <a:p>
                      <a:r>
                        <a:rPr sz="2511" b="1" i="0" u="none">
                          <a:solidFill>
                            <a:srgbClr val="FFFFFF"/>
                          </a:solidFill>
                          <a:latin typeface="Arial"/>
                        </a:rPr>
                        <a:t>LastName</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FirstName</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Address</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Pettersen</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Kari</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Storgt 20</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8" name="TextBox 7"/>
          <p:cNvSpPr txBox="1"/>
          <p:nvPr/>
        </p:nvSpPr>
        <p:spPr>
          <a:xfrm>
            <a:off x="9410700" y="2482024"/>
            <a:ext cx="7962900"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After</a:t>
            </a:r>
          </a:p>
        </p:txBody>
      </p:sp>
      <p:graphicFrame>
        <p:nvGraphicFramePr>
          <p:cNvPr id="9" name="Table 8"/>
          <p:cNvGraphicFramePr>
            <a:graphicFrameLocks noGrp="1"/>
          </p:cNvGraphicFramePr>
          <p:nvPr/>
        </p:nvGraphicFramePr>
        <p:xfrm>
          <a:off x="9410700" y="3068977"/>
          <a:ext cx="7962900" cy="1256754"/>
        </p:xfrm>
        <a:graphic>
          <a:graphicData uri="http://schemas.openxmlformats.org/drawingml/2006/table">
            <a:tbl>
              <a:tblPr firstRow="0" bandRow="0">
                <a:tableStyleId>{5940675A-B579-460E-94D1-54222C63F5DA}</a:tableStyleId>
              </a:tblPr>
              <a:tblGrid>
                <a:gridCol w="1990725"/>
                <a:gridCol w="1990725"/>
                <a:gridCol w="1990725"/>
                <a:gridCol w="1990725"/>
              </a:tblGrid>
              <a:tr h="628377">
                <a:tc>
                  <a:txBody>
                    <a:bodyPr/>
                    <a:lstStyle/>
                    <a:p>
                      <a:r>
                        <a:rPr sz="2511" b="1" i="0" u="none">
                          <a:solidFill>
                            <a:srgbClr val="FFFFFF"/>
                          </a:solidFill>
                          <a:latin typeface="Arial"/>
                        </a:rPr>
                        <a:t>LastName</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FirstName</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Address</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City</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Pettersen</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Kari</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Storgt 20</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NULL</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10" name="Rectangle 9"/>
          <p:cNvSpPr/>
          <p:nvPr/>
        </p:nvSpPr>
        <p:spPr>
          <a:xfrm>
            <a:off x="914400" y="4779122"/>
            <a:ext cx="16459200" cy="1019220"/>
          </a:xfrm>
          <a:prstGeom prst="rect">
            <a:avLst/>
          </a:prstGeom>
          <a:solidFill>
            <a:srgbClr val="F8FAFC"/>
          </a:solidFill>
          <a:ln w="14287">
            <a:solidFill>
              <a:srgbClr val="E2E8F0"/>
            </a:solidFill>
          </a:ln>
        </p:spPr>
        <p:txBody>
          <a:bodyPr rtlCol="0" anchor="ctr" lIns="0" rIns="0" tIns="0" bIns="0"/>
          <a:lstStyle/>
          <a:p>
            <a:pPr algn="ctr"/>
          </a:p>
        </p:txBody>
      </p:sp>
      <p:sp>
        <p:nvSpPr>
          <p:cNvPr id="11" name="TextBox 10"/>
          <p:cNvSpPr txBox="1"/>
          <p:nvPr/>
        </p:nvSpPr>
        <p:spPr>
          <a:xfrm>
            <a:off x="1181100" y="5045822"/>
            <a:ext cx="15925800" cy="485820"/>
          </a:xfrm>
          <a:prstGeom prst="rect">
            <a:avLst/>
          </a:prstGeom>
          <a:noFill/>
        </p:spPr>
        <p:txBody>
          <a:bodyPr wrap="none" lIns="0" rIns="0" tIns="0" bIns="0"/>
          <a:lstStyle/>
          <a:p>
            <a:pPr>
              <a:lnSpc>
                <a:spcPct val="110000"/>
              </a:lnSpc>
            </a:pPr>
            <a:r>
              <a:rPr sz="2898" b="1" i="0" u="none">
                <a:solidFill>
                  <a:srgbClr val="0E8A8A"/>
                </a:solidFill>
                <a:latin typeface="Courier New"/>
              </a:rPr>
              <a:t>ALTER</a:t>
            </a:r>
            <a:r>
              <a:rPr sz="2898" b="0" i="0" u="none">
                <a:solidFill>
                  <a:srgbClr val="0F172A"/>
                </a:solidFill>
                <a:latin typeface="Courier New"/>
              </a:rPr>
              <a:t> </a:t>
            </a:r>
            <a:r>
              <a:rPr sz="2898" b="1" i="0" u="none">
                <a:solidFill>
                  <a:srgbClr val="0E8A8A"/>
                </a:solidFill>
                <a:latin typeface="Courier New"/>
              </a:rPr>
              <a:t>TABLE</a:t>
            </a:r>
            <a:r>
              <a:rPr sz="2898" b="0" i="0" u="none">
                <a:solidFill>
                  <a:srgbClr val="0F172A"/>
                </a:solidFill>
                <a:latin typeface="Courier New"/>
              </a:rPr>
              <a:t> </a:t>
            </a:r>
            <a:r>
              <a:rPr sz="2898" b="0" i="0" u="none">
                <a:solidFill>
                  <a:srgbClr val="0F172A"/>
                </a:solidFill>
                <a:latin typeface="Courier New"/>
              </a:rPr>
              <a:t>persons</a:t>
            </a:r>
            <a:r>
              <a:rPr sz="2898" b="0" i="0" u="none">
                <a:solidFill>
                  <a:srgbClr val="0F172A"/>
                </a:solidFill>
                <a:latin typeface="Courier New"/>
              </a:rPr>
              <a:t> </a:t>
            </a:r>
            <a:r>
              <a:rPr sz="2898" b="1" i="0" u="none">
                <a:solidFill>
                  <a:srgbClr val="0E8A8A"/>
                </a:solidFill>
                <a:latin typeface="Courier New"/>
              </a:rPr>
              <a:t>ADD</a:t>
            </a:r>
            <a:r>
              <a:rPr sz="2898" b="0" i="0" u="none">
                <a:solidFill>
                  <a:srgbClr val="0F172A"/>
                </a:solidFill>
                <a:latin typeface="Courier New"/>
              </a:rPr>
              <a:t> </a:t>
            </a:r>
            <a:r>
              <a:rPr sz="2898" b="0" i="0" u="none">
                <a:solidFill>
                  <a:srgbClr val="0F172A"/>
                </a:solidFill>
                <a:latin typeface="Courier New"/>
              </a:rPr>
              <a:t>city</a:t>
            </a:r>
            <a:r>
              <a:rPr sz="2898" b="0" i="0" u="none">
                <a:solidFill>
                  <a:srgbClr val="0F172A"/>
                </a:solidFill>
                <a:latin typeface="Courier New"/>
              </a:rPr>
              <a:t> </a:t>
            </a:r>
            <a:r>
              <a:rPr sz="2898" b="1" i="0" u="none">
                <a:solidFill>
                  <a:srgbClr val="0E8A8A"/>
                </a:solidFill>
                <a:latin typeface="Courier New"/>
              </a:rPr>
              <a:t>VARCHAR</a:t>
            </a:r>
            <a:r>
              <a:rPr sz="2898" b="0" i="0" u="none">
                <a:solidFill>
                  <a:srgbClr val="0F172A"/>
                </a:solidFill>
                <a:latin typeface="Courier New"/>
              </a:rPr>
              <a:t>(</a:t>
            </a:r>
            <a:r>
              <a:rPr sz="2898" b="0" i="0" u="none">
                <a:solidFill>
                  <a:srgbClr val="B45309"/>
                </a:solidFill>
                <a:latin typeface="Courier New"/>
              </a:rPr>
              <a:t>30</a:t>
            </a:r>
            <a:r>
              <a:rPr sz="2898" b="0" i="0" u="none">
                <a:solidFill>
                  <a:srgbClr val="0F172A"/>
                </a:solidFill>
                <a:latin typeface="Courier New"/>
              </a:rPr>
              <a:t>)</a:t>
            </a:r>
            <a:r>
              <a:rPr sz="2898" b="0" i="0" u="none">
                <a:solidFill>
                  <a:srgbClr val="0F172A"/>
                </a:solidFill>
                <a:latin typeface="Courier New"/>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DDL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16/71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DROP TABLE</a:t>
            </a:r>
          </a:p>
        </p:txBody>
      </p:sp>
      <p:sp>
        <p:nvSpPr>
          <p:cNvPr id="6" name="Rectangle 5"/>
          <p:cNvSpPr/>
          <p:nvPr/>
        </p:nvSpPr>
        <p:spPr>
          <a:xfrm>
            <a:off x="914400" y="2482024"/>
            <a:ext cx="10648950" cy="2377162"/>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10115550" cy="1843762"/>
          </a:xfrm>
          <a:prstGeom prst="rect">
            <a:avLst/>
          </a:prstGeom>
          <a:noFill/>
        </p:spPr>
        <p:txBody>
          <a:bodyPr wrap="none" lIns="0" rIns="0" tIns="0" bIns="0"/>
          <a:lstStyle/>
          <a:p>
            <a:pPr>
              <a:lnSpc>
                <a:spcPct val="110000"/>
              </a:lnSpc>
            </a:pPr>
            <a:r>
              <a:rPr sz="1833" b="1" i="0" u="none">
                <a:solidFill>
                  <a:srgbClr val="0E8A8A"/>
                </a:solidFill>
                <a:latin typeface="Courier New"/>
              </a:rPr>
              <a:t>DROP</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students</a:t>
            </a:r>
            <a:r>
              <a:rPr sz="1833" b="0" i="0" u="none">
                <a:solidFill>
                  <a:srgbClr val="0F172A"/>
                </a:solidFill>
                <a:latin typeface="Courier New"/>
              </a:rPr>
              <a:t>;</a:t>
            </a:r>
          </a:p>
          <a:p>
            <a:pPr>
              <a:lnSpc>
                <a:spcPct val="110000"/>
              </a:lnSpc>
            </a:pPr>
            <a:r>
              <a:rPr sz="1833" b="0" i="0" u="none">
                <a:solidFill>
                  <a:srgbClr val="0F172A"/>
                </a:solidFill>
                <a:latin typeface="Courier New"/>
              </a:rPr>
              <a:t> </a:t>
            </a:r>
          </a:p>
          <a:p>
            <a:pPr>
              <a:lnSpc>
                <a:spcPct val="110000"/>
              </a:lnSpc>
            </a:pPr>
            <a:r>
              <a:rPr sz="1833" b="1" i="0" u="none">
                <a:solidFill>
                  <a:srgbClr val="0E8A8A"/>
                </a:solidFill>
                <a:latin typeface="Courier New"/>
              </a:rPr>
              <a:t>DROP</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1" i="0" u="none">
                <a:solidFill>
                  <a:srgbClr val="0E8A8A"/>
                </a:solidFill>
                <a:latin typeface="Courier New"/>
              </a:rPr>
              <a:t>IF</a:t>
            </a:r>
            <a:r>
              <a:rPr sz="1833" b="0" i="0" u="none">
                <a:solidFill>
                  <a:srgbClr val="0F172A"/>
                </a:solidFill>
                <a:latin typeface="Courier New"/>
              </a:rPr>
              <a:t> </a:t>
            </a:r>
            <a:r>
              <a:rPr sz="1833" b="1" i="0" u="none">
                <a:solidFill>
                  <a:srgbClr val="0E8A8A"/>
                </a:solidFill>
                <a:latin typeface="Courier New"/>
              </a:rPr>
              <a:t>EXISTS</a:t>
            </a:r>
            <a:r>
              <a:rPr sz="1833" b="0" i="0" u="none">
                <a:solidFill>
                  <a:srgbClr val="0F172A"/>
                </a:solidFill>
                <a:latin typeface="Courier New"/>
              </a:rPr>
              <a:t> </a:t>
            </a:r>
            <a:r>
              <a:rPr sz="1833" b="0" i="0" u="none">
                <a:solidFill>
                  <a:srgbClr val="0F172A"/>
                </a:solidFill>
                <a:latin typeface="Courier New"/>
              </a:rPr>
              <a:t>students</a:t>
            </a:r>
            <a:r>
              <a:rPr sz="1833" b="0" i="0" u="none">
                <a:solidFill>
                  <a:srgbClr val="0F172A"/>
                </a:solidFill>
                <a:latin typeface="Courier New"/>
              </a:rPr>
              <a:t>;</a:t>
            </a:r>
            <a:r>
              <a:rPr sz="1833" b="0" i="0" u="none">
                <a:solidFill>
                  <a:srgbClr val="0F172A"/>
                </a:solidFill>
                <a:latin typeface="Courier New"/>
              </a:rPr>
              <a:t>   </a:t>
            </a:r>
            <a:r>
              <a:rPr sz="1833" b="0" i="1" u="none">
                <a:solidFill>
                  <a:srgbClr val="64748B"/>
                </a:solidFill>
                <a:latin typeface="Courier New"/>
              </a:rPr>
              <a:t>-- PostgreSQL, MySQL, SQL Server 2016+</a:t>
            </a:r>
          </a:p>
          <a:p>
            <a:pPr>
              <a:lnSpc>
                <a:spcPct val="110000"/>
              </a:lnSpc>
            </a:pPr>
            <a:r>
              <a:rPr sz="1833" b="0" i="0" u="none">
                <a:solidFill>
                  <a:srgbClr val="0F172A"/>
                </a:solidFill>
                <a:latin typeface="Courier New"/>
              </a:rPr>
              <a:t> </a:t>
            </a:r>
          </a:p>
          <a:p>
            <a:pPr>
              <a:lnSpc>
                <a:spcPct val="110000"/>
              </a:lnSpc>
            </a:pPr>
            <a:r>
              <a:rPr sz="1833" b="1" i="0" u="none">
                <a:solidFill>
                  <a:srgbClr val="0E8A8A"/>
                </a:solidFill>
                <a:latin typeface="Courier New"/>
              </a:rPr>
              <a:t>DROP</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department</a:t>
            </a:r>
            <a:r>
              <a:rPr sz="1833" b="0" i="0" u="none">
                <a:solidFill>
                  <a:srgbClr val="0F172A"/>
                </a:solidFill>
                <a:latin typeface="Courier New"/>
              </a:rPr>
              <a:t> </a:t>
            </a:r>
            <a:r>
              <a:rPr sz="1833" b="1" i="0" u="none">
                <a:solidFill>
                  <a:srgbClr val="0E8A8A"/>
                </a:solidFill>
                <a:latin typeface="Courier New"/>
              </a:rPr>
              <a:t>CASCADE</a:t>
            </a:r>
            <a:r>
              <a:rPr sz="1833" b="0" i="0" u="none">
                <a:solidFill>
                  <a:srgbClr val="0F172A"/>
                </a:solidFill>
                <a:latin typeface="Courier New"/>
              </a:rPr>
              <a:t> </a:t>
            </a:r>
            <a:r>
              <a:rPr sz="1833" b="0" i="0" u="none">
                <a:solidFill>
                  <a:srgbClr val="0F172A"/>
                </a:solidFill>
                <a:latin typeface="Courier New"/>
              </a:rPr>
              <a:t>CONSTRAINTS</a:t>
            </a:r>
            <a:r>
              <a:rPr sz="1833" b="0" i="0" u="none">
                <a:solidFill>
                  <a:srgbClr val="0F172A"/>
                </a:solidFill>
                <a:latin typeface="Courier New"/>
              </a:rPr>
              <a:t>;</a:t>
            </a:r>
            <a:r>
              <a:rPr sz="1833" b="0" i="0" u="none">
                <a:solidFill>
                  <a:srgbClr val="0F172A"/>
                </a:solidFill>
                <a:latin typeface="Courier New"/>
              </a:rPr>
              <a:t>  </a:t>
            </a:r>
            <a:r>
              <a:rPr sz="1833" b="0" i="1" u="none">
                <a:solidFill>
                  <a:srgbClr val="64748B"/>
                </a:solidFill>
                <a:latin typeface="Courier New"/>
              </a:rPr>
              <a:t>-- Oracle</a:t>
            </a:r>
          </a:p>
          <a:p>
            <a:pPr>
              <a:lnSpc>
                <a:spcPct val="110000"/>
              </a:lnSpc>
            </a:pPr>
            <a:r>
              <a:rPr sz="1833" b="1" i="0" u="none">
                <a:solidFill>
                  <a:srgbClr val="0E8A8A"/>
                </a:solidFill>
                <a:latin typeface="Courier New"/>
              </a:rPr>
              <a:t>DROP</a:t>
            </a:r>
            <a:r>
              <a:rPr sz="1833" b="0" i="0" u="none">
                <a:solidFill>
                  <a:srgbClr val="0F172A"/>
                </a:solidFill>
                <a:latin typeface="Courier New"/>
              </a:rPr>
              <a:t> </a:t>
            </a:r>
            <a:r>
              <a:rPr sz="1833" b="1" i="0" u="none">
                <a:solidFill>
                  <a:srgbClr val="0E8A8A"/>
                </a:solidFill>
                <a:latin typeface="Courier New"/>
              </a:rPr>
              <a:t>TABLE</a:t>
            </a:r>
            <a:r>
              <a:rPr sz="1833" b="0" i="0" u="none">
                <a:solidFill>
                  <a:srgbClr val="0F172A"/>
                </a:solidFill>
                <a:latin typeface="Courier New"/>
              </a:rPr>
              <a:t> </a:t>
            </a:r>
            <a:r>
              <a:rPr sz="1833" b="0" i="0" u="none">
                <a:solidFill>
                  <a:srgbClr val="0F172A"/>
                </a:solidFill>
                <a:latin typeface="Courier New"/>
              </a:rPr>
              <a:t>department</a:t>
            </a:r>
            <a:r>
              <a:rPr sz="1833" b="0" i="0" u="none">
                <a:solidFill>
                  <a:srgbClr val="0F172A"/>
                </a:solidFill>
                <a:latin typeface="Courier New"/>
              </a:rPr>
              <a:t> </a:t>
            </a:r>
            <a:r>
              <a:rPr sz="1833" b="1" i="0" u="none">
                <a:solidFill>
                  <a:srgbClr val="0E8A8A"/>
                </a:solidFill>
                <a:latin typeface="Courier New"/>
              </a:rPr>
              <a:t>CASCADE</a:t>
            </a:r>
            <a:r>
              <a:rPr sz="1833" b="0" i="0" u="none">
                <a:solidFill>
                  <a:srgbClr val="0F172A"/>
                </a:solidFill>
                <a:latin typeface="Courier New"/>
              </a:rPr>
              <a:t>;</a:t>
            </a:r>
            <a:r>
              <a:rPr sz="1833" b="0" i="0" u="none">
                <a:solidFill>
                  <a:srgbClr val="0F172A"/>
                </a:solidFill>
                <a:latin typeface="Courier New"/>
              </a:rPr>
              <a:t>              </a:t>
            </a:r>
            <a:r>
              <a:rPr sz="1833" b="0" i="1" u="none">
                <a:solidFill>
                  <a:srgbClr val="64748B"/>
                </a:solidFill>
                <a:latin typeface="Courier New"/>
              </a:rPr>
              <a:t>-- PostgreSQL</a:t>
            </a:r>
          </a:p>
        </p:txBody>
      </p:sp>
      <p:sp>
        <p:nvSpPr>
          <p:cNvPr id="8" name="Rectangle 7"/>
          <p:cNvSpPr/>
          <p:nvPr/>
        </p:nvSpPr>
        <p:spPr>
          <a:xfrm>
            <a:off x="11990070" y="2482024"/>
            <a:ext cx="5383530" cy="3084438"/>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2390120" y="2882074"/>
            <a:ext cx="4583430" cy="2284338"/>
          </a:xfrm>
          <a:prstGeom prst="rect">
            <a:avLst/>
          </a:prstGeom>
          <a:noFill/>
        </p:spPr>
        <p:txBody>
          <a:bodyPr wrap="square" lIns="0" rIns="0" tIns="0" bIns="0" anchor="t"/>
          <a:lstStyle/>
          <a:p>
            <a:pPr algn="l">
              <a:lnSpc>
                <a:spcPct val="111800"/>
              </a:lnSpc>
            </a:pPr>
            <a:r>
              <a:rPr sz="2704" b="0" i="0" u="none">
                <a:solidFill>
                  <a:srgbClr val="334155"/>
                </a:solidFill>
                <a:latin typeface="Calibri"/>
              </a:rPr>
              <a:t>Removes the table </a:t>
            </a:r>
            <a:r>
              <a:rPr sz="2704" b="1" i="0" u="none">
                <a:solidFill>
                  <a:srgbClr val="334155"/>
                </a:solidFill>
                <a:latin typeface="Calibri"/>
              </a:rPr>
              <a:t>and its data, indexes and constraints</a:t>
            </a:r>
            <a:r>
              <a:rPr sz="2704" b="0" i="0" u="none">
                <a:solidFill>
                  <a:srgbClr val="334155"/>
                </a:solidFill>
                <a:latin typeface="Calibri"/>
              </a:rPr>
              <a:t>. There is no undo (except backups or Oracle's recycle bin).</a:t>
            </a:r>
          </a:p>
        </p:txBody>
      </p:sp>
      <p:sp>
        <p:nvSpPr>
          <p:cNvPr id="10" name="Rectangle 9"/>
          <p:cNvSpPr/>
          <p:nvPr/>
        </p:nvSpPr>
        <p:spPr>
          <a:xfrm>
            <a:off x="11990070" y="5779823"/>
            <a:ext cx="5383530" cy="2239906"/>
          </a:xfrm>
          <a:prstGeom prst="rect">
            <a:avLst/>
          </a:prstGeom>
          <a:solidFill>
            <a:srgbClr val="FEF3C7"/>
          </a:solidFill>
          <a:ln>
            <a:noFill/>
          </a:ln>
        </p:spPr>
        <p:txBody>
          <a:bodyPr rtlCol="0" anchor="ctr" lIns="0" rIns="0" tIns="0" bIns="0"/>
          <a:lstStyle/>
          <a:p>
            <a:pPr algn="ctr"/>
          </a:p>
        </p:txBody>
      </p:sp>
      <p:sp>
        <p:nvSpPr>
          <p:cNvPr id="11" name="Rectangle 10"/>
          <p:cNvSpPr/>
          <p:nvPr/>
        </p:nvSpPr>
        <p:spPr>
          <a:xfrm>
            <a:off x="11990070" y="5779823"/>
            <a:ext cx="47625" cy="2239906"/>
          </a:xfrm>
          <a:prstGeom prst="rect">
            <a:avLst/>
          </a:prstGeom>
          <a:solidFill>
            <a:srgbClr val="B45309"/>
          </a:solidFill>
          <a:ln>
            <a:noFill/>
          </a:ln>
        </p:spPr>
        <p:txBody>
          <a:bodyPr rtlCol="0" anchor="ctr" lIns="0" rIns="0" tIns="0" bIns="0"/>
          <a:lstStyle/>
          <a:p>
            <a:pPr algn="ctr"/>
          </a:p>
        </p:txBody>
      </p:sp>
      <p:sp>
        <p:nvSpPr>
          <p:cNvPr id="12" name="TextBox 11"/>
          <p:cNvSpPr txBox="1"/>
          <p:nvPr/>
        </p:nvSpPr>
        <p:spPr>
          <a:xfrm>
            <a:off x="12416790" y="6046523"/>
            <a:ext cx="4530090" cy="1706506"/>
          </a:xfrm>
          <a:prstGeom prst="rect">
            <a:avLst/>
          </a:prstGeom>
          <a:noFill/>
        </p:spPr>
        <p:txBody>
          <a:bodyPr wrap="square" lIns="0" rIns="0" tIns="0" bIns="0"/>
          <a:lstStyle/>
          <a:p>
            <a:pPr>
              <a:lnSpc>
                <a:spcPct val="112000"/>
              </a:lnSpc>
            </a:pPr>
            <a:r>
              <a:rPr sz="2511" b="0" i="0" u="none">
                <a:solidFill>
                  <a:srgbClr val="0F172A"/>
                </a:solidFill>
                <a:latin typeface="Calibri"/>
              </a:rPr>
              <a:t>A table referenced by a foreign key cannot be dropped unless you drop the FK first or use CASCADE.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DDL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17/71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TRUNCATE vs DELETE vs DROP</a:t>
            </a:r>
          </a:p>
        </p:txBody>
      </p:sp>
      <p:graphicFrame>
        <p:nvGraphicFramePr>
          <p:cNvPr id="6" name="Table 5"/>
          <p:cNvGraphicFramePr>
            <a:graphicFrameLocks noGrp="1"/>
          </p:cNvGraphicFramePr>
          <p:nvPr/>
        </p:nvGraphicFramePr>
        <p:xfrm>
          <a:off x="914400" y="2482024"/>
          <a:ext cx="16459200" cy="5497132"/>
        </p:xfrm>
        <a:graphic>
          <a:graphicData uri="http://schemas.openxmlformats.org/drawingml/2006/table">
            <a:tbl>
              <a:tblPr firstRow="0" bandRow="0">
                <a:tableStyleId>{5940675A-B579-460E-94D1-54222C63F5DA}</a:tableStyleId>
              </a:tblPr>
              <a:tblGrid>
                <a:gridCol w="3621024"/>
                <a:gridCol w="3950208"/>
                <a:gridCol w="5596128"/>
                <a:gridCol w="3291840"/>
              </a:tblGrid>
              <a:tr h="580040">
                <a:tc>
                  <a:txBody>
                    <a:bodyPr/>
                    <a:lstStyle/>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DELETE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TRUNCATE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DROP</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Family</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DML</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DDL</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DDL</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939253">
                <a:tc>
                  <a:txBody>
                    <a:bodyPr/>
                    <a:lstStyle/>
                    <a:p>
                      <a:r>
                        <a:rPr sz="2318" b="0" i="0" u="none">
                          <a:solidFill>
                            <a:srgbClr val="334155"/>
                          </a:solidFill>
                          <a:latin typeface="Calibri"/>
                        </a:rPr>
                        <a:t>Removes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Chosen rows (WHERE)</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All rows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Rows + the table itself</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WHERE clause</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Yes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No</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No</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1298466">
                <a:tc>
                  <a:txBody>
                    <a:bodyPr/>
                    <a:lstStyle/>
                    <a:p>
                      <a:r>
                        <a:rPr sz="2318" b="0" i="0" u="none">
                          <a:solidFill>
                            <a:srgbClr val="334155"/>
                          </a:solidFill>
                          <a:latin typeface="Calibri"/>
                        </a:rPr>
                        <a:t>Rollback</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Yes, until COMMIT</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Oracle, MySQL: no (auto-commit). SQL Server, PostgreSQL: yes inside a transaction</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Same as TRUNCATE</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939253">
                <a:tc>
                  <a:txBody>
                    <a:bodyPr/>
                    <a:lstStyle/>
                    <a:p>
                      <a:r>
                        <a:rPr sz="2318" b="0" i="0" u="none">
                          <a:solidFill>
                            <a:srgbClr val="334155"/>
                          </a:solidFill>
                          <a:latin typeface="Calibri"/>
                        </a:rPr>
                        <a:t>Speed on big tables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Slower (row by row, logged)</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Fast (deallocates pages)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Fast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Fires DELETE triggers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Yes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No</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No</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03</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18/71</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03</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Changing data (DML)</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INSERT, UPDATE and DELETE, and how not to update every row by accident.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DML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19/71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INSERT</a:t>
            </a:r>
          </a:p>
        </p:txBody>
      </p:sp>
      <p:sp>
        <p:nvSpPr>
          <p:cNvPr id="6" name="Rectangle 5"/>
          <p:cNvSpPr/>
          <p:nvPr/>
        </p:nvSpPr>
        <p:spPr>
          <a:xfrm>
            <a:off x="914400" y="2482024"/>
            <a:ext cx="10925175" cy="5138940"/>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10391775" cy="4605540"/>
          </a:xfrm>
          <a:prstGeom prst="rect">
            <a:avLst/>
          </a:prstGeom>
          <a:noFill/>
        </p:spPr>
        <p:txBody>
          <a:bodyPr wrap="none" lIns="0" rIns="0" tIns="0" bIns="0"/>
          <a:lstStyle/>
          <a:p>
            <a:pPr>
              <a:lnSpc>
                <a:spcPct val="110000"/>
              </a:lnSpc>
            </a:pPr>
            <a:r>
              <a:rPr sz="1831" b="0" i="1" u="none">
                <a:solidFill>
                  <a:srgbClr val="64748B"/>
                </a:solidFill>
                <a:latin typeface="Courier New"/>
              </a:rPr>
              <a:t>-- all columns, in table order</a:t>
            </a:r>
          </a:p>
          <a:p>
            <a:pPr>
              <a:lnSpc>
                <a:spcPct val="110000"/>
              </a:lnSpc>
            </a:pPr>
            <a:r>
              <a:rPr sz="1831" b="1" i="0" u="none">
                <a:solidFill>
                  <a:srgbClr val="0E8A8A"/>
                </a:solidFill>
                <a:latin typeface="Courier New"/>
              </a:rPr>
              <a:t>INSERT</a:t>
            </a:r>
            <a:r>
              <a:rPr sz="1831" b="0" i="0" u="none">
                <a:solidFill>
                  <a:srgbClr val="0F172A"/>
                </a:solidFill>
                <a:latin typeface="Courier New"/>
              </a:rPr>
              <a:t> </a:t>
            </a:r>
            <a:r>
              <a:rPr sz="1831" b="1" i="0" u="none">
                <a:solidFill>
                  <a:srgbClr val="0E8A8A"/>
                </a:solidFill>
                <a:latin typeface="Courier New"/>
              </a:rPr>
              <a:t>INTO</a:t>
            </a:r>
            <a:r>
              <a:rPr sz="1831" b="0" i="0" u="none">
                <a:solidFill>
                  <a:srgbClr val="0F172A"/>
                </a:solidFill>
                <a:latin typeface="Courier New"/>
              </a:rPr>
              <a:t> </a:t>
            </a:r>
            <a:r>
              <a:rPr sz="1831" b="0" i="0" u="none">
                <a:solidFill>
                  <a:srgbClr val="0F172A"/>
                </a:solidFill>
                <a:latin typeface="Courier New"/>
              </a:rPr>
              <a:t>students</a:t>
            </a:r>
          </a:p>
          <a:p>
            <a:pPr>
              <a:lnSpc>
                <a:spcPct val="110000"/>
              </a:lnSpc>
            </a:pPr>
            <a:r>
              <a:rPr sz="1831" b="1" i="0" u="none">
                <a:solidFill>
                  <a:srgbClr val="0E8A8A"/>
                </a:solidFill>
                <a:latin typeface="Courier New"/>
              </a:rPr>
              <a:t>VALUES</a:t>
            </a:r>
            <a:r>
              <a:rPr sz="1831" b="0" i="0" u="none">
                <a:solidFill>
                  <a:srgbClr val="0F172A"/>
                </a:solidFill>
                <a:latin typeface="Courier New"/>
              </a:rPr>
              <a:t> </a:t>
            </a:r>
            <a:r>
              <a:rPr sz="1831" b="0" i="0" u="none">
                <a:solidFill>
                  <a:srgbClr val="0F172A"/>
                </a:solidFill>
                <a:latin typeface="Courier New"/>
              </a:rPr>
              <a:t>(</a:t>
            </a:r>
            <a:r>
              <a:rPr sz="1831" b="0" i="0" u="none">
                <a:solidFill>
                  <a:srgbClr val="B45309"/>
                </a:solidFill>
                <a:latin typeface="Courier New"/>
              </a:rPr>
              <a:t>1</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'Ahmed'</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'Saleh'</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'ahmed@iti.eg'</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'Alex'</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'2003-05-14'</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3.40</a:t>
            </a:r>
            <a:r>
              <a:rPr sz="1831" b="0" i="0" u="none">
                <a:solidFill>
                  <a:srgbClr val="0F172A"/>
                </a:solidFill>
                <a:latin typeface="Courier New"/>
              </a:rPr>
              <a:t>)</a:t>
            </a:r>
            <a:r>
              <a:rPr sz="1831" b="0" i="0" u="none">
                <a:solidFill>
                  <a:srgbClr val="0F172A"/>
                </a:solidFill>
                <a:latin typeface="Courier New"/>
              </a:rPr>
              <a:t>;</a:t>
            </a:r>
          </a:p>
          <a:p>
            <a:pPr>
              <a:lnSpc>
                <a:spcPct val="110000"/>
              </a:lnSpc>
            </a:pPr>
            <a:r>
              <a:rPr sz="1831" b="0" i="0" u="none">
                <a:solidFill>
                  <a:srgbClr val="0F172A"/>
                </a:solidFill>
                <a:latin typeface="Courier New"/>
              </a:rPr>
              <a:t> </a:t>
            </a:r>
          </a:p>
          <a:p>
            <a:pPr>
              <a:lnSpc>
                <a:spcPct val="110000"/>
              </a:lnSpc>
            </a:pPr>
            <a:r>
              <a:rPr sz="1831" b="0" i="1" u="none">
                <a:solidFill>
                  <a:srgbClr val="64748B"/>
                </a:solidFill>
                <a:latin typeface="Courier New"/>
              </a:rPr>
              <a:t>-- chosen columns (others get NULL or DEFAULT)</a:t>
            </a:r>
          </a:p>
          <a:p>
            <a:pPr>
              <a:lnSpc>
                <a:spcPct val="110000"/>
              </a:lnSpc>
            </a:pPr>
            <a:r>
              <a:rPr sz="1831" b="1" i="0" u="none">
                <a:solidFill>
                  <a:srgbClr val="0E8A8A"/>
                </a:solidFill>
                <a:latin typeface="Courier New"/>
              </a:rPr>
              <a:t>INSERT</a:t>
            </a:r>
            <a:r>
              <a:rPr sz="1831" b="0" i="0" u="none">
                <a:solidFill>
                  <a:srgbClr val="0F172A"/>
                </a:solidFill>
                <a:latin typeface="Courier New"/>
              </a:rPr>
              <a:t> </a:t>
            </a:r>
            <a:r>
              <a:rPr sz="1831" b="1" i="0" u="none">
                <a:solidFill>
                  <a:srgbClr val="0E8A8A"/>
                </a:solidFill>
                <a:latin typeface="Courier New"/>
              </a:rPr>
              <a:t>INTO</a:t>
            </a:r>
            <a:r>
              <a:rPr sz="1831" b="0" i="0" u="none">
                <a:solidFill>
                  <a:srgbClr val="0F172A"/>
                </a:solidFill>
                <a:latin typeface="Courier New"/>
              </a:rPr>
              <a:t> </a:t>
            </a:r>
            <a:r>
              <a:rPr sz="1831" b="0" i="0" u="none">
                <a:solidFill>
                  <a:srgbClr val="0F172A"/>
                </a:solidFill>
                <a:latin typeface="Courier New"/>
              </a:rPr>
              <a:t>students</a:t>
            </a:r>
            <a:r>
              <a:rPr sz="1831" b="0" i="0" u="none">
                <a:solidFill>
                  <a:srgbClr val="0F172A"/>
                </a:solidFill>
                <a:latin typeface="Courier New"/>
              </a:rPr>
              <a:t> </a:t>
            </a:r>
            <a:r>
              <a:rPr sz="1831" b="0" i="0" u="none">
                <a:solidFill>
                  <a:srgbClr val="0F172A"/>
                </a:solidFill>
                <a:latin typeface="Courier New"/>
              </a:rPr>
              <a:t>(</a:t>
            </a:r>
            <a:r>
              <a:rPr sz="1831" b="0" i="0" u="none">
                <a:solidFill>
                  <a:srgbClr val="0F172A"/>
                </a:solidFill>
                <a:latin typeface="Courier New"/>
              </a:rPr>
              <a:t>id</a:t>
            </a:r>
            <a:r>
              <a:rPr sz="1831" b="0" i="0" u="none">
                <a:solidFill>
                  <a:srgbClr val="0F172A"/>
                </a:solidFill>
                <a:latin typeface="Courier New"/>
              </a:rPr>
              <a:t>,</a:t>
            </a:r>
            <a:r>
              <a:rPr sz="1831" b="0" i="0" u="none">
                <a:solidFill>
                  <a:srgbClr val="0F172A"/>
                </a:solidFill>
                <a:latin typeface="Courier New"/>
              </a:rPr>
              <a:t> </a:t>
            </a:r>
            <a:r>
              <a:rPr sz="1831" b="0" i="0" u="none">
                <a:solidFill>
                  <a:srgbClr val="0F172A"/>
                </a:solidFill>
                <a:latin typeface="Courier New"/>
              </a:rPr>
              <a:t>first_name</a:t>
            </a:r>
            <a:r>
              <a:rPr sz="1831" b="0" i="0" u="none">
                <a:solidFill>
                  <a:srgbClr val="0F172A"/>
                </a:solidFill>
                <a:latin typeface="Courier New"/>
              </a:rPr>
              <a:t>,</a:t>
            </a:r>
            <a:r>
              <a:rPr sz="1831" b="0" i="0" u="none">
                <a:solidFill>
                  <a:srgbClr val="0F172A"/>
                </a:solidFill>
                <a:latin typeface="Courier New"/>
              </a:rPr>
              <a:t> </a:t>
            </a:r>
            <a:r>
              <a:rPr sz="1831" b="0" i="0" u="none">
                <a:solidFill>
                  <a:srgbClr val="0F172A"/>
                </a:solidFill>
                <a:latin typeface="Courier New"/>
              </a:rPr>
              <a:t>last_name</a:t>
            </a:r>
            <a:r>
              <a:rPr sz="1831" b="0" i="0" u="none">
                <a:solidFill>
                  <a:srgbClr val="0F172A"/>
                </a:solidFill>
                <a:latin typeface="Courier New"/>
              </a:rPr>
              <a:t>)</a:t>
            </a:r>
          </a:p>
          <a:p>
            <a:pPr>
              <a:lnSpc>
                <a:spcPct val="110000"/>
              </a:lnSpc>
            </a:pPr>
            <a:r>
              <a:rPr sz="1831" b="1" i="0" u="none">
                <a:solidFill>
                  <a:srgbClr val="0E8A8A"/>
                </a:solidFill>
                <a:latin typeface="Courier New"/>
              </a:rPr>
              <a:t>VALUES</a:t>
            </a:r>
            <a:r>
              <a:rPr sz="1831" b="0" i="0" u="none">
                <a:solidFill>
                  <a:srgbClr val="0F172A"/>
                </a:solidFill>
                <a:latin typeface="Courier New"/>
              </a:rPr>
              <a:t> </a:t>
            </a:r>
            <a:r>
              <a:rPr sz="1831" b="0" i="0" u="none">
                <a:solidFill>
                  <a:srgbClr val="0F172A"/>
                </a:solidFill>
                <a:latin typeface="Courier New"/>
              </a:rPr>
              <a:t>(</a:t>
            </a:r>
            <a:r>
              <a:rPr sz="1831" b="0" i="0" u="none">
                <a:solidFill>
                  <a:srgbClr val="B45309"/>
                </a:solidFill>
                <a:latin typeface="Courier New"/>
              </a:rPr>
              <a:t>2</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'Mona'</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'Hassan'</a:t>
            </a:r>
            <a:r>
              <a:rPr sz="1831" b="0" i="0" u="none">
                <a:solidFill>
                  <a:srgbClr val="0F172A"/>
                </a:solidFill>
                <a:latin typeface="Courier New"/>
              </a:rPr>
              <a:t>)</a:t>
            </a:r>
            <a:r>
              <a:rPr sz="1831" b="0" i="0" u="none">
                <a:solidFill>
                  <a:srgbClr val="0F172A"/>
                </a:solidFill>
                <a:latin typeface="Courier New"/>
              </a:rPr>
              <a:t>;</a:t>
            </a:r>
          </a:p>
          <a:p>
            <a:pPr>
              <a:lnSpc>
                <a:spcPct val="110000"/>
              </a:lnSpc>
            </a:pPr>
            <a:r>
              <a:rPr sz="1831" b="0" i="0" u="none">
                <a:solidFill>
                  <a:srgbClr val="0F172A"/>
                </a:solidFill>
                <a:latin typeface="Courier New"/>
              </a:rPr>
              <a:t> </a:t>
            </a:r>
          </a:p>
          <a:p>
            <a:pPr>
              <a:lnSpc>
                <a:spcPct val="110000"/>
              </a:lnSpc>
            </a:pPr>
            <a:r>
              <a:rPr sz="1831" b="0" i="1" u="none">
                <a:solidFill>
                  <a:srgbClr val="64748B"/>
                </a:solidFill>
                <a:latin typeface="Courier New"/>
              </a:rPr>
              <a:t>-- several rows at once (Oracle: 23ai and later)</a:t>
            </a:r>
          </a:p>
          <a:p>
            <a:pPr>
              <a:lnSpc>
                <a:spcPct val="110000"/>
              </a:lnSpc>
            </a:pPr>
            <a:r>
              <a:rPr sz="1831" b="1" i="0" u="none">
                <a:solidFill>
                  <a:srgbClr val="0E8A8A"/>
                </a:solidFill>
                <a:latin typeface="Courier New"/>
              </a:rPr>
              <a:t>INSERT</a:t>
            </a:r>
            <a:r>
              <a:rPr sz="1831" b="0" i="0" u="none">
                <a:solidFill>
                  <a:srgbClr val="0F172A"/>
                </a:solidFill>
                <a:latin typeface="Courier New"/>
              </a:rPr>
              <a:t> </a:t>
            </a:r>
            <a:r>
              <a:rPr sz="1831" b="1" i="0" u="none">
                <a:solidFill>
                  <a:srgbClr val="0E8A8A"/>
                </a:solidFill>
                <a:latin typeface="Courier New"/>
              </a:rPr>
              <a:t>INTO</a:t>
            </a:r>
            <a:r>
              <a:rPr sz="1831" b="0" i="0" u="none">
                <a:solidFill>
                  <a:srgbClr val="0F172A"/>
                </a:solidFill>
                <a:latin typeface="Courier New"/>
              </a:rPr>
              <a:t> </a:t>
            </a:r>
            <a:r>
              <a:rPr sz="1831" b="0" i="0" u="none">
                <a:solidFill>
                  <a:srgbClr val="0F172A"/>
                </a:solidFill>
                <a:latin typeface="Courier New"/>
              </a:rPr>
              <a:t>students</a:t>
            </a:r>
            <a:r>
              <a:rPr sz="1831" b="0" i="0" u="none">
                <a:solidFill>
                  <a:srgbClr val="0F172A"/>
                </a:solidFill>
                <a:latin typeface="Courier New"/>
              </a:rPr>
              <a:t> </a:t>
            </a:r>
            <a:r>
              <a:rPr sz="1831" b="0" i="0" u="none">
                <a:solidFill>
                  <a:srgbClr val="0F172A"/>
                </a:solidFill>
                <a:latin typeface="Courier New"/>
              </a:rPr>
              <a:t>(</a:t>
            </a:r>
            <a:r>
              <a:rPr sz="1831" b="0" i="0" u="none">
                <a:solidFill>
                  <a:srgbClr val="0F172A"/>
                </a:solidFill>
                <a:latin typeface="Courier New"/>
              </a:rPr>
              <a:t>id</a:t>
            </a:r>
            <a:r>
              <a:rPr sz="1831" b="0" i="0" u="none">
                <a:solidFill>
                  <a:srgbClr val="0F172A"/>
                </a:solidFill>
                <a:latin typeface="Courier New"/>
              </a:rPr>
              <a:t>,</a:t>
            </a:r>
            <a:r>
              <a:rPr sz="1831" b="0" i="0" u="none">
                <a:solidFill>
                  <a:srgbClr val="0F172A"/>
                </a:solidFill>
                <a:latin typeface="Courier New"/>
              </a:rPr>
              <a:t> </a:t>
            </a:r>
            <a:r>
              <a:rPr sz="1831" b="0" i="0" u="none">
                <a:solidFill>
                  <a:srgbClr val="0F172A"/>
                </a:solidFill>
                <a:latin typeface="Courier New"/>
              </a:rPr>
              <a:t>first_name</a:t>
            </a:r>
            <a:r>
              <a:rPr sz="1831" b="0" i="0" u="none">
                <a:solidFill>
                  <a:srgbClr val="0F172A"/>
                </a:solidFill>
                <a:latin typeface="Courier New"/>
              </a:rPr>
              <a:t>,</a:t>
            </a:r>
            <a:r>
              <a:rPr sz="1831" b="0" i="0" u="none">
                <a:solidFill>
                  <a:srgbClr val="0F172A"/>
                </a:solidFill>
                <a:latin typeface="Courier New"/>
              </a:rPr>
              <a:t> </a:t>
            </a:r>
            <a:r>
              <a:rPr sz="1831" b="0" i="0" u="none">
                <a:solidFill>
                  <a:srgbClr val="0F172A"/>
                </a:solidFill>
                <a:latin typeface="Courier New"/>
              </a:rPr>
              <a:t>last_name</a:t>
            </a:r>
            <a:r>
              <a:rPr sz="1831" b="0" i="0" u="none">
                <a:solidFill>
                  <a:srgbClr val="0F172A"/>
                </a:solidFill>
                <a:latin typeface="Courier New"/>
              </a:rPr>
              <a:t>)</a:t>
            </a:r>
            <a:r>
              <a:rPr sz="1831" b="0" i="0" u="none">
                <a:solidFill>
                  <a:srgbClr val="0F172A"/>
                </a:solidFill>
                <a:latin typeface="Courier New"/>
              </a:rPr>
              <a:t> </a:t>
            </a:r>
            <a:r>
              <a:rPr sz="1831" b="1" i="0" u="none">
                <a:solidFill>
                  <a:srgbClr val="0E8A8A"/>
                </a:solidFill>
                <a:latin typeface="Courier New"/>
              </a:rPr>
              <a:t>VALUES</a:t>
            </a:r>
          </a:p>
          <a:p>
            <a:pPr>
              <a:lnSpc>
                <a:spcPct val="110000"/>
              </a:lnSpc>
            </a:pPr>
            <a:r>
              <a:rPr sz="1831" b="0" i="0" u="none">
                <a:solidFill>
                  <a:srgbClr val="0F172A"/>
                </a:solidFill>
                <a:latin typeface="Courier New"/>
              </a:rPr>
              <a:t>  </a:t>
            </a:r>
            <a:r>
              <a:rPr sz="1831" b="0" i="0" u="none">
                <a:solidFill>
                  <a:srgbClr val="0F172A"/>
                </a:solidFill>
                <a:latin typeface="Courier New"/>
              </a:rPr>
              <a:t>(</a:t>
            </a:r>
            <a:r>
              <a:rPr sz="1831" b="0" i="0" u="none">
                <a:solidFill>
                  <a:srgbClr val="B45309"/>
                </a:solidFill>
                <a:latin typeface="Courier New"/>
              </a:rPr>
              <a:t>3</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'Ali'</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'Samir'</a:t>
            </a:r>
            <a:r>
              <a:rPr sz="1831" b="0" i="0" u="none">
                <a:solidFill>
                  <a:srgbClr val="0F172A"/>
                </a:solidFill>
                <a:latin typeface="Courier New"/>
              </a:rPr>
              <a:t>)</a:t>
            </a:r>
            <a:r>
              <a:rPr sz="1831" b="0" i="0" u="none">
                <a:solidFill>
                  <a:srgbClr val="0F172A"/>
                </a:solidFill>
                <a:latin typeface="Courier New"/>
              </a:rPr>
              <a:t>,</a:t>
            </a:r>
            <a:r>
              <a:rPr sz="1831" b="0" i="0" u="none">
                <a:solidFill>
                  <a:srgbClr val="0F172A"/>
                </a:solidFill>
                <a:latin typeface="Courier New"/>
              </a:rPr>
              <a:t> </a:t>
            </a:r>
            <a:r>
              <a:rPr sz="1831" b="0" i="0" u="none">
                <a:solidFill>
                  <a:srgbClr val="0F172A"/>
                </a:solidFill>
                <a:latin typeface="Courier New"/>
              </a:rPr>
              <a:t>(</a:t>
            </a:r>
            <a:r>
              <a:rPr sz="1831" b="0" i="0" u="none">
                <a:solidFill>
                  <a:srgbClr val="B45309"/>
                </a:solidFill>
                <a:latin typeface="Courier New"/>
              </a:rPr>
              <a:t>4</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'Mai'</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'Adel'</a:t>
            </a:r>
            <a:r>
              <a:rPr sz="1831" b="0" i="0" u="none">
                <a:solidFill>
                  <a:srgbClr val="0F172A"/>
                </a:solidFill>
                <a:latin typeface="Courier New"/>
              </a:rPr>
              <a:t>)</a:t>
            </a:r>
            <a:r>
              <a:rPr sz="1831" b="0" i="0" u="none">
                <a:solidFill>
                  <a:srgbClr val="0F172A"/>
                </a:solidFill>
                <a:latin typeface="Courier New"/>
              </a:rPr>
              <a:t>;</a:t>
            </a:r>
          </a:p>
          <a:p>
            <a:pPr>
              <a:lnSpc>
                <a:spcPct val="110000"/>
              </a:lnSpc>
            </a:pPr>
            <a:r>
              <a:rPr sz="1831" b="0" i="0" u="none">
                <a:solidFill>
                  <a:srgbClr val="0F172A"/>
                </a:solidFill>
                <a:latin typeface="Courier New"/>
              </a:rPr>
              <a:t> </a:t>
            </a:r>
          </a:p>
          <a:p>
            <a:pPr>
              <a:lnSpc>
                <a:spcPct val="110000"/>
              </a:lnSpc>
            </a:pPr>
            <a:r>
              <a:rPr sz="1831" b="0" i="1" u="none">
                <a:solidFill>
                  <a:srgbClr val="64748B"/>
                </a:solidFill>
                <a:latin typeface="Courier New"/>
              </a:rPr>
              <a:t>-- rows from a query</a:t>
            </a:r>
          </a:p>
          <a:p>
            <a:pPr>
              <a:lnSpc>
                <a:spcPct val="110000"/>
              </a:lnSpc>
            </a:pPr>
            <a:r>
              <a:rPr sz="1831" b="1" i="0" u="none">
                <a:solidFill>
                  <a:srgbClr val="0E8A8A"/>
                </a:solidFill>
                <a:latin typeface="Courier New"/>
              </a:rPr>
              <a:t>INSERT</a:t>
            </a:r>
            <a:r>
              <a:rPr sz="1831" b="0" i="0" u="none">
                <a:solidFill>
                  <a:srgbClr val="0F172A"/>
                </a:solidFill>
                <a:latin typeface="Courier New"/>
              </a:rPr>
              <a:t> </a:t>
            </a:r>
            <a:r>
              <a:rPr sz="1831" b="1" i="0" u="none">
                <a:solidFill>
                  <a:srgbClr val="0E8A8A"/>
                </a:solidFill>
                <a:latin typeface="Courier New"/>
              </a:rPr>
              <a:t>INTO</a:t>
            </a:r>
            <a:r>
              <a:rPr sz="1831" b="0" i="0" u="none">
                <a:solidFill>
                  <a:srgbClr val="0F172A"/>
                </a:solidFill>
                <a:latin typeface="Courier New"/>
              </a:rPr>
              <a:t> </a:t>
            </a:r>
            <a:r>
              <a:rPr sz="1831" b="0" i="0" u="none">
                <a:solidFill>
                  <a:srgbClr val="0F172A"/>
                </a:solidFill>
                <a:latin typeface="Courier New"/>
              </a:rPr>
              <a:t>alumni</a:t>
            </a:r>
            <a:r>
              <a:rPr sz="1831" b="0" i="0" u="none">
                <a:solidFill>
                  <a:srgbClr val="0F172A"/>
                </a:solidFill>
                <a:latin typeface="Courier New"/>
              </a:rPr>
              <a:t> </a:t>
            </a:r>
            <a:r>
              <a:rPr sz="1831" b="0" i="0" u="none">
                <a:solidFill>
                  <a:srgbClr val="0F172A"/>
                </a:solidFill>
                <a:latin typeface="Courier New"/>
              </a:rPr>
              <a:t>(</a:t>
            </a:r>
            <a:r>
              <a:rPr sz="1831" b="0" i="0" u="none">
                <a:solidFill>
                  <a:srgbClr val="0F172A"/>
                </a:solidFill>
                <a:latin typeface="Courier New"/>
              </a:rPr>
              <a:t>id</a:t>
            </a:r>
            <a:r>
              <a:rPr sz="1831" b="0" i="0" u="none">
                <a:solidFill>
                  <a:srgbClr val="0F172A"/>
                </a:solidFill>
                <a:latin typeface="Courier New"/>
              </a:rPr>
              <a:t>,</a:t>
            </a:r>
            <a:r>
              <a:rPr sz="1831" b="0" i="0" u="none">
                <a:solidFill>
                  <a:srgbClr val="0F172A"/>
                </a:solidFill>
                <a:latin typeface="Courier New"/>
              </a:rPr>
              <a:t> </a:t>
            </a:r>
            <a:r>
              <a:rPr sz="1831" b="0" i="0" u="none">
                <a:solidFill>
                  <a:srgbClr val="0F172A"/>
                </a:solidFill>
                <a:latin typeface="Courier New"/>
              </a:rPr>
              <a:t>name</a:t>
            </a:r>
            <a:r>
              <a:rPr sz="1831" b="0" i="0" u="none">
                <a:solidFill>
                  <a:srgbClr val="0F172A"/>
                </a:solidFill>
                <a:latin typeface="Courier New"/>
              </a:rPr>
              <a:t>)</a:t>
            </a:r>
          </a:p>
          <a:p>
            <a:pPr>
              <a:lnSpc>
                <a:spcPct val="110000"/>
              </a:lnSpc>
            </a:pPr>
            <a:r>
              <a:rPr sz="1831" b="1" i="0" u="none">
                <a:solidFill>
                  <a:srgbClr val="0E8A8A"/>
                </a:solidFill>
                <a:latin typeface="Courier New"/>
              </a:rPr>
              <a:t>SELECT</a:t>
            </a:r>
            <a:r>
              <a:rPr sz="1831" b="0" i="0" u="none">
                <a:solidFill>
                  <a:srgbClr val="0F172A"/>
                </a:solidFill>
                <a:latin typeface="Courier New"/>
              </a:rPr>
              <a:t> </a:t>
            </a:r>
            <a:r>
              <a:rPr sz="1831" b="0" i="0" u="none">
                <a:solidFill>
                  <a:srgbClr val="0F172A"/>
                </a:solidFill>
                <a:latin typeface="Courier New"/>
              </a:rPr>
              <a:t>id</a:t>
            </a:r>
            <a:r>
              <a:rPr sz="1831" b="0" i="0" u="none">
                <a:solidFill>
                  <a:srgbClr val="0F172A"/>
                </a:solidFill>
                <a:latin typeface="Courier New"/>
              </a:rPr>
              <a:t>,</a:t>
            </a:r>
            <a:r>
              <a:rPr sz="1831" b="0" i="0" u="none">
                <a:solidFill>
                  <a:srgbClr val="0F172A"/>
                </a:solidFill>
                <a:latin typeface="Courier New"/>
              </a:rPr>
              <a:t> </a:t>
            </a:r>
            <a:r>
              <a:rPr sz="1831" b="0" i="0" u="none">
                <a:solidFill>
                  <a:srgbClr val="0F172A"/>
                </a:solidFill>
                <a:latin typeface="Courier New"/>
              </a:rPr>
              <a:t>first_name</a:t>
            </a:r>
            <a:r>
              <a:rPr sz="1831" b="0" i="0" u="none">
                <a:solidFill>
                  <a:srgbClr val="0F172A"/>
                </a:solidFill>
                <a:latin typeface="Courier New"/>
              </a:rPr>
              <a:t> </a:t>
            </a:r>
            <a:r>
              <a:rPr sz="1831" b="1" i="0" u="none">
                <a:solidFill>
                  <a:srgbClr val="0E8A8A"/>
                </a:solidFill>
                <a:latin typeface="Courier New"/>
              </a:rPr>
              <a:t>FROM</a:t>
            </a:r>
            <a:r>
              <a:rPr sz="1831" b="0" i="0" u="none">
                <a:solidFill>
                  <a:srgbClr val="0F172A"/>
                </a:solidFill>
                <a:latin typeface="Courier New"/>
              </a:rPr>
              <a:t> </a:t>
            </a:r>
            <a:r>
              <a:rPr sz="1831" b="0" i="0" u="none">
                <a:solidFill>
                  <a:srgbClr val="0F172A"/>
                </a:solidFill>
                <a:latin typeface="Courier New"/>
              </a:rPr>
              <a:t>students</a:t>
            </a:r>
            <a:r>
              <a:rPr sz="1831" b="0" i="0" u="none">
                <a:solidFill>
                  <a:srgbClr val="0F172A"/>
                </a:solidFill>
                <a:latin typeface="Courier New"/>
              </a:rPr>
              <a:t> </a:t>
            </a:r>
            <a:r>
              <a:rPr sz="1831" b="1" i="0" u="none">
                <a:solidFill>
                  <a:srgbClr val="0E8A8A"/>
                </a:solidFill>
                <a:latin typeface="Courier New"/>
              </a:rPr>
              <a:t>WHERE</a:t>
            </a:r>
            <a:r>
              <a:rPr sz="1831" b="0" i="0" u="none">
                <a:solidFill>
                  <a:srgbClr val="0F172A"/>
                </a:solidFill>
                <a:latin typeface="Courier New"/>
              </a:rPr>
              <a:t> </a:t>
            </a:r>
            <a:r>
              <a:rPr sz="1831" b="0" i="0" u="none">
                <a:solidFill>
                  <a:srgbClr val="0F172A"/>
                </a:solidFill>
                <a:latin typeface="Courier New"/>
              </a:rPr>
              <a:t>gpa</a:t>
            </a:r>
            <a:r>
              <a:rPr sz="1831" b="0" i="0" u="none">
                <a:solidFill>
                  <a:srgbClr val="0F172A"/>
                </a:solidFill>
                <a:latin typeface="Courier New"/>
              </a:rPr>
              <a:t> </a:t>
            </a:r>
            <a:r>
              <a:rPr sz="1831" b="0" i="0" u="none">
                <a:solidFill>
                  <a:srgbClr val="0F172A"/>
                </a:solidFill>
                <a:latin typeface="Courier New"/>
              </a:rPr>
              <a:t>&gt;</a:t>
            </a:r>
            <a:r>
              <a:rPr sz="1831" b="0" i="0" u="none">
                <a:solidFill>
                  <a:srgbClr val="0F172A"/>
                </a:solidFill>
                <a:latin typeface="Courier New"/>
              </a:rPr>
              <a:t>=</a:t>
            </a:r>
            <a:r>
              <a:rPr sz="1831" b="0" i="0" u="none">
                <a:solidFill>
                  <a:srgbClr val="0F172A"/>
                </a:solidFill>
                <a:latin typeface="Courier New"/>
              </a:rPr>
              <a:t> </a:t>
            </a:r>
            <a:r>
              <a:rPr sz="1831" b="0" i="0" u="none">
                <a:solidFill>
                  <a:srgbClr val="B45309"/>
                </a:solidFill>
                <a:latin typeface="Courier New"/>
              </a:rPr>
              <a:t>3.5</a:t>
            </a:r>
            <a:r>
              <a:rPr sz="1831" b="0" i="0" u="none">
                <a:solidFill>
                  <a:srgbClr val="0F172A"/>
                </a:solidFill>
                <a:latin typeface="Courier New"/>
              </a:rPr>
              <a:t>;</a:t>
            </a:r>
          </a:p>
        </p:txBody>
      </p:sp>
      <p:sp>
        <p:nvSpPr>
          <p:cNvPr id="8" name="Rectangle 7"/>
          <p:cNvSpPr/>
          <p:nvPr/>
        </p:nvSpPr>
        <p:spPr>
          <a:xfrm>
            <a:off x="12266295" y="2482024"/>
            <a:ext cx="5107305" cy="2239906"/>
          </a:xfrm>
          <a:prstGeom prst="rect">
            <a:avLst/>
          </a:prstGeom>
          <a:solidFill>
            <a:srgbClr val="E6F4F4"/>
          </a:solidFill>
          <a:ln>
            <a:noFill/>
          </a:ln>
        </p:spPr>
        <p:txBody>
          <a:bodyPr rtlCol="0" anchor="ctr" lIns="0" rIns="0" tIns="0" bIns="0"/>
          <a:lstStyle/>
          <a:p>
            <a:pPr algn="ctr"/>
          </a:p>
        </p:txBody>
      </p:sp>
      <p:sp>
        <p:nvSpPr>
          <p:cNvPr id="9" name="Rectangle 8"/>
          <p:cNvSpPr/>
          <p:nvPr/>
        </p:nvSpPr>
        <p:spPr>
          <a:xfrm>
            <a:off x="12266295" y="2482024"/>
            <a:ext cx="47625" cy="2239906"/>
          </a:xfrm>
          <a:prstGeom prst="rect">
            <a:avLst/>
          </a:prstGeom>
          <a:solidFill>
            <a:srgbClr val="0E8A8A"/>
          </a:solidFill>
          <a:ln>
            <a:noFill/>
          </a:ln>
        </p:spPr>
        <p:txBody>
          <a:bodyPr rtlCol="0" anchor="ctr" lIns="0" rIns="0" tIns="0" bIns="0"/>
          <a:lstStyle/>
          <a:p>
            <a:pPr algn="ctr"/>
          </a:p>
        </p:txBody>
      </p:sp>
      <p:sp>
        <p:nvSpPr>
          <p:cNvPr id="10" name="TextBox 9"/>
          <p:cNvSpPr txBox="1"/>
          <p:nvPr/>
        </p:nvSpPr>
        <p:spPr>
          <a:xfrm>
            <a:off x="12693015" y="2748724"/>
            <a:ext cx="4253865" cy="1706506"/>
          </a:xfrm>
          <a:prstGeom prst="rect">
            <a:avLst/>
          </a:prstGeom>
          <a:noFill/>
        </p:spPr>
        <p:txBody>
          <a:bodyPr wrap="square" lIns="0" rIns="0" tIns="0" bIns="0"/>
          <a:lstStyle/>
          <a:p>
            <a:pPr>
              <a:lnSpc>
                <a:spcPct val="112000"/>
              </a:lnSpc>
            </a:pPr>
            <a:r>
              <a:rPr sz="2511" b="0" i="0" u="none">
                <a:solidFill>
                  <a:srgbClr val="0F172A"/>
                </a:solidFill>
                <a:latin typeface="Calibri"/>
              </a:rPr>
              <a:t>Always </a:t>
            </a:r>
            <a:r>
              <a:rPr sz="2511" b="1" i="0" u="none">
                <a:solidFill>
                  <a:srgbClr val="0F172A"/>
                </a:solidFill>
                <a:latin typeface="Calibri"/>
              </a:rPr>
              <a:t>list the columns</a:t>
            </a:r>
            <a:r>
              <a:rPr sz="2511" b="0" i="0" u="none">
                <a:solidFill>
                  <a:srgbClr val="0F172A"/>
                </a:solidFill>
                <a:latin typeface="Calibri"/>
              </a:rPr>
              <a:t>: the statement keeps working if someone adds a column later.</a:t>
            </a:r>
          </a:p>
        </p:txBody>
      </p:sp>
      <p:sp>
        <p:nvSpPr>
          <p:cNvPr id="11" name="Rectangle 10"/>
          <p:cNvSpPr/>
          <p:nvPr/>
        </p:nvSpPr>
        <p:spPr>
          <a:xfrm>
            <a:off x="12266295" y="4935291"/>
            <a:ext cx="5107305" cy="2654571"/>
          </a:xfrm>
          <a:prstGeom prst="rect">
            <a:avLst/>
          </a:prstGeom>
          <a:solidFill>
            <a:srgbClr val="FEF3C7"/>
          </a:solidFill>
          <a:ln>
            <a:noFill/>
          </a:ln>
        </p:spPr>
        <p:txBody>
          <a:bodyPr rtlCol="0" anchor="ctr" lIns="0" rIns="0" tIns="0" bIns="0"/>
          <a:lstStyle/>
          <a:p>
            <a:pPr algn="ctr"/>
          </a:p>
        </p:txBody>
      </p:sp>
      <p:sp>
        <p:nvSpPr>
          <p:cNvPr id="12" name="Rectangle 11"/>
          <p:cNvSpPr/>
          <p:nvPr/>
        </p:nvSpPr>
        <p:spPr>
          <a:xfrm>
            <a:off x="12266295" y="4935291"/>
            <a:ext cx="47625" cy="2654571"/>
          </a:xfrm>
          <a:prstGeom prst="rect">
            <a:avLst/>
          </a:prstGeom>
          <a:solidFill>
            <a:srgbClr val="B45309"/>
          </a:solidFill>
          <a:ln>
            <a:noFill/>
          </a:ln>
        </p:spPr>
        <p:txBody>
          <a:bodyPr rtlCol="0" anchor="ctr" lIns="0" rIns="0" tIns="0" bIns="0"/>
          <a:lstStyle/>
          <a:p>
            <a:pPr algn="ctr"/>
          </a:p>
        </p:txBody>
      </p:sp>
      <p:sp>
        <p:nvSpPr>
          <p:cNvPr id="13" name="TextBox 12"/>
          <p:cNvSpPr txBox="1"/>
          <p:nvPr/>
        </p:nvSpPr>
        <p:spPr>
          <a:xfrm>
            <a:off x="12693015" y="5201991"/>
            <a:ext cx="4253865" cy="2121171"/>
          </a:xfrm>
          <a:prstGeom prst="rect">
            <a:avLst/>
          </a:prstGeom>
          <a:noFill/>
        </p:spPr>
        <p:txBody>
          <a:bodyPr wrap="square" lIns="0" rIns="0" tIns="0" bIns="0"/>
          <a:lstStyle/>
          <a:p>
            <a:pPr>
              <a:lnSpc>
                <a:spcPct val="112000"/>
              </a:lnSpc>
            </a:pPr>
            <a:r>
              <a:rPr sz="2511" b="0" i="0" u="none">
                <a:solidFill>
                  <a:srgbClr val="0F172A"/>
                </a:solidFill>
                <a:latin typeface="Calibri"/>
              </a:rPr>
              <a:t>Write dates as </a:t>
            </a:r>
            <a:r>
              <a:rPr sz="2511" b="1" i="0" u="none">
                <a:solidFill>
                  <a:srgbClr val="0F172A"/>
                </a:solidFill>
                <a:latin typeface="Calibri"/>
              </a:rPr>
              <a:t>'YYYY-MM-DD'</a:t>
            </a:r>
            <a:r>
              <a:rPr sz="2511" b="0" i="0" u="none">
                <a:solidFill>
                  <a:srgbClr val="0F172A"/>
                </a:solidFill>
                <a:latin typeface="Calibri"/>
              </a:rPr>
              <a:t> (SQL Server, PostgreSQL, MySQL). Oracle needs the ANSI literal </a:t>
            </a:r>
            <a:r>
              <a:rPr sz="2511" b="1" i="0" u="none">
                <a:solidFill>
                  <a:srgbClr val="0F172A"/>
                </a:solidFill>
                <a:latin typeface="Calibri"/>
              </a:rPr>
              <a:t>DATE '2003-05-14'</a:t>
            </a:r>
            <a:r>
              <a:rPr sz="2511" b="0" i="0" u="none">
                <a:solidFill>
                  <a:srgbClr val="0F172A"/>
                </a:solidFill>
                <a:latin typeface="Calibri"/>
              </a:rPr>
              <a:t> or TO_DATE.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DML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20/71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INSERT with missing columns</a:t>
            </a:r>
          </a:p>
        </p:txBody>
      </p:sp>
      <p:sp>
        <p:nvSpPr>
          <p:cNvPr id="6" name="Rectangle 5"/>
          <p:cNvSpPr/>
          <p:nvPr/>
        </p:nvSpPr>
        <p:spPr>
          <a:xfrm>
            <a:off x="914400" y="2482024"/>
            <a:ext cx="9011928" cy="1375489"/>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478528" cy="842089"/>
          </a:xfrm>
          <a:prstGeom prst="rect">
            <a:avLst/>
          </a:prstGeom>
          <a:noFill/>
        </p:spPr>
        <p:txBody>
          <a:bodyPr wrap="none" lIns="0" rIns="0" tIns="0" bIns="0"/>
          <a:lstStyle/>
          <a:p>
            <a:pPr>
              <a:lnSpc>
                <a:spcPct val="110000"/>
              </a:lnSpc>
            </a:pPr>
            <a:r>
              <a:rPr sz="2511" b="1" i="0" u="none">
                <a:solidFill>
                  <a:srgbClr val="0E8A8A"/>
                </a:solidFill>
                <a:latin typeface="Courier New"/>
              </a:rPr>
              <a:t>INSERT</a:t>
            </a:r>
            <a:r>
              <a:rPr sz="2511" b="0" i="0" u="none">
                <a:solidFill>
                  <a:srgbClr val="0F172A"/>
                </a:solidFill>
                <a:latin typeface="Courier New"/>
              </a:rPr>
              <a:t> </a:t>
            </a:r>
            <a:r>
              <a:rPr sz="2511" b="1" i="0" u="none">
                <a:solidFill>
                  <a:srgbClr val="0E8A8A"/>
                </a:solidFill>
                <a:latin typeface="Courier New"/>
              </a:rPr>
              <a:t>INTO</a:t>
            </a:r>
            <a:r>
              <a:rPr sz="2511" b="0" i="0" u="none">
                <a:solidFill>
                  <a:srgbClr val="0F172A"/>
                </a:solidFill>
                <a:latin typeface="Courier New"/>
              </a:rPr>
              <a:t> </a:t>
            </a:r>
            <a:r>
              <a:rPr sz="2511" b="0" i="0" u="none">
                <a:solidFill>
                  <a:srgbClr val="0F172A"/>
                </a:solidFill>
                <a:latin typeface="Courier New"/>
              </a:rPr>
              <a:t>persons</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last_name</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city</a:t>
            </a:r>
            <a:r>
              <a:rPr sz="2511" b="0" i="0" u="none">
                <a:solidFill>
                  <a:srgbClr val="0F172A"/>
                </a:solidFill>
                <a:latin typeface="Courier New"/>
              </a:rPr>
              <a:t>)</a:t>
            </a:r>
          </a:p>
          <a:p>
            <a:pPr>
              <a:lnSpc>
                <a:spcPct val="110000"/>
              </a:lnSpc>
            </a:pPr>
            <a:r>
              <a:rPr sz="2511" b="1" i="0" u="none">
                <a:solidFill>
                  <a:srgbClr val="0E8A8A"/>
                </a:solidFill>
                <a:latin typeface="Courier New"/>
              </a:rPr>
              <a:t>VALUES</a:t>
            </a:r>
            <a:r>
              <a:rPr sz="2511" b="0" i="0" u="none">
                <a:solidFill>
                  <a:srgbClr val="0F172A"/>
                </a:solidFill>
                <a:latin typeface="Courier New"/>
              </a:rPr>
              <a:t> </a:t>
            </a:r>
            <a:r>
              <a:rPr sz="2511" b="0" i="0" u="none">
                <a:solidFill>
                  <a:srgbClr val="0F172A"/>
                </a:solidFill>
                <a:latin typeface="Courier New"/>
              </a:rPr>
              <a:t>(</a:t>
            </a:r>
            <a:r>
              <a:rPr sz="2511" b="0" i="0" u="none">
                <a:solidFill>
                  <a:srgbClr val="B45309"/>
                </a:solidFill>
                <a:latin typeface="Courier New"/>
              </a:rPr>
              <a:t>'Hassan'</a:t>
            </a:r>
            <a:r>
              <a:rPr sz="2511" b="0" i="0" u="none">
                <a:solidFill>
                  <a:srgbClr val="0F172A"/>
                </a:solidFill>
                <a:latin typeface="Courier New"/>
              </a:rPr>
              <a:t>,</a:t>
            </a:r>
            <a:r>
              <a:rPr sz="2511" b="0" i="0" u="none">
                <a:solidFill>
                  <a:srgbClr val="0F172A"/>
                </a:solidFill>
                <a:latin typeface="Courier New"/>
              </a:rPr>
              <a:t> </a:t>
            </a:r>
            <a:r>
              <a:rPr sz="2511" b="0" i="0" u="none">
                <a:solidFill>
                  <a:srgbClr val="B45309"/>
                </a:solidFill>
                <a:latin typeface="Courier New"/>
              </a:rPr>
              <a:t>'Assiut'</a:t>
            </a:r>
            <a:r>
              <a:rPr sz="2511" b="0" i="0" u="none">
                <a:solidFill>
                  <a:srgbClr val="0F172A"/>
                </a:solidFill>
                <a:latin typeface="Courier New"/>
              </a:rPr>
              <a:t>)</a:t>
            </a:r>
            <a:r>
              <a:rPr sz="2511" b="0" i="0" u="none">
                <a:solidFill>
                  <a:srgbClr val="0F172A"/>
                </a:solidFill>
                <a:latin typeface="Courier New"/>
              </a:rPr>
              <a:t>;</a:t>
            </a:r>
          </a:p>
        </p:txBody>
      </p:sp>
      <p:sp>
        <p:nvSpPr>
          <p:cNvPr id="8" name="TextBox 7"/>
          <p:cNvSpPr txBox="1"/>
          <p:nvPr/>
        </p:nvSpPr>
        <p:spPr>
          <a:xfrm>
            <a:off x="10353048" y="2482024"/>
            <a:ext cx="7020551"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RESULT</a:t>
            </a:r>
          </a:p>
        </p:txBody>
      </p:sp>
      <p:graphicFrame>
        <p:nvGraphicFramePr>
          <p:cNvPr id="9" name="Table 8"/>
          <p:cNvGraphicFramePr>
            <a:graphicFrameLocks noGrp="1"/>
          </p:cNvGraphicFramePr>
          <p:nvPr/>
        </p:nvGraphicFramePr>
        <p:xfrm>
          <a:off x="10353048" y="3068977"/>
          <a:ext cx="7020548" cy="2679373"/>
        </p:xfrm>
        <a:graphic>
          <a:graphicData uri="http://schemas.openxmlformats.org/drawingml/2006/table">
            <a:tbl>
              <a:tblPr firstRow="0" bandRow="0">
                <a:tableStyleId>{5940675A-B579-460E-94D1-54222C63F5DA}</a:tableStyleId>
              </a:tblPr>
              <a:tblGrid>
                <a:gridCol w="1755137"/>
                <a:gridCol w="1755137"/>
                <a:gridCol w="1755137"/>
                <a:gridCol w="1755137"/>
              </a:tblGrid>
              <a:tr h="580040">
                <a:tc>
                  <a:txBody>
                    <a:bodyPr/>
                    <a:lstStyle/>
                    <a:p>
                      <a:r>
                        <a:rPr sz="2318" b="1" i="0" u="none">
                          <a:solidFill>
                            <a:srgbClr val="FFFFFF"/>
                          </a:solidFill>
                          <a:latin typeface="Arial"/>
                        </a:rPr>
                        <a:t>LastName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FirstName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Address</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City</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El-Sayed</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Mohamed</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Nasr City</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Cairo</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939253">
                <a:tc>
                  <a:txBody>
                    <a:bodyPr/>
                    <a:lstStyle/>
                    <a:p>
                      <a:r>
                        <a:rPr sz="2318" b="0" i="0" u="none">
                          <a:solidFill>
                            <a:srgbClr val="334155"/>
                          </a:solidFill>
                          <a:latin typeface="Calibri"/>
                        </a:rPr>
                        <a:t>Saleh</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Ahmed</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Moharam Bek</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Alex.</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1" i="0" u="none">
                          <a:solidFill>
                            <a:srgbClr val="334155"/>
                          </a:solidFill>
                          <a:latin typeface="Calibri"/>
                        </a:rPr>
                        <a:t>Hassan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NULL</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NULL</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334155"/>
                          </a:solidFill>
                          <a:latin typeface="Calibri"/>
                        </a:rPr>
                        <a:t>Assiut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DML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21/71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UPDATE</a:t>
            </a:r>
          </a:p>
        </p:txBody>
      </p:sp>
      <p:sp>
        <p:nvSpPr>
          <p:cNvPr id="6" name="Rectangle 5"/>
          <p:cNvSpPr/>
          <p:nvPr/>
        </p:nvSpPr>
        <p:spPr>
          <a:xfrm>
            <a:off x="914400" y="2482024"/>
            <a:ext cx="9281962" cy="2217578"/>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748562" cy="1684178"/>
          </a:xfrm>
          <a:prstGeom prst="rect">
            <a:avLst/>
          </a:prstGeom>
          <a:noFill/>
        </p:spPr>
        <p:txBody>
          <a:bodyPr wrap="none" lIns="0" rIns="0" tIns="0" bIns="0"/>
          <a:lstStyle/>
          <a:p>
            <a:pPr>
              <a:lnSpc>
                <a:spcPct val="110000"/>
              </a:lnSpc>
            </a:pPr>
            <a:r>
              <a:rPr sz="2511" b="1" i="0" u="none">
                <a:solidFill>
                  <a:srgbClr val="0E8A8A"/>
                </a:solidFill>
                <a:latin typeface="Courier New"/>
              </a:rPr>
              <a:t>UPDATE</a:t>
            </a:r>
            <a:r>
              <a:rPr sz="2511" b="0" i="0" u="none">
                <a:solidFill>
                  <a:srgbClr val="0F172A"/>
                </a:solidFill>
                <a:latin typeface="Courier New"/>
              </a:rPr>
              <a:t> </a:t>
            </a:r>
            <a:r>
              <a:rPr sz="2511" b="0" i="0" u="none">
                <a:solidFill>
                  <a:srgbClr val="0F172A"/>
                </a:solidFill>
                <a:latin typeface="Courier New"/>
              </a:rPr>
              <a:t>store_information</a:t>
            </a:r>
          </a:p>
          <a:p>
            <a:pPr>
              <a:lnSpc>
                <a:spcPct val="110000"/>
              </a:lnSpc>
            </a:pPr>
            <a:r>
              <a:rPr sz="2511" b="1" i="0" u="none">
                <a:solidFill>
                  <a:srgbClr val="0E8A8A"/>
                </a:solidFill>
                <a:latin typeface="Courier New"/>
              </a:rPr>
              <a:t>SET</a:t>
            </a:r>
            <a:r>
              <a:rPr sz="2511" b="0" i="0" u="none">
                <a:solidFill>
                  <a:srgbClr val="0F172A"/>
                </a:solidFill>
                <a:latin typeface="Courier New"/>
              </a:rPr>
              <a:t>    </a:t>
            </a:r>
            <a:r>
              <a:rPr sz="2511" b="0" i="0" u="none">
                <a:solidFill>
                  <a:srgbClr val="0F172A"/>
                </a:solidFill>
                <a:latin typeface="Courier New"/>
              </a:rPr>
              <a:t>sales</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B45309"/>
                </a:solidFill>
                <a:latin typeface="Courier New"/>
              </a:rPr>
              <a:t>500</a:t>
            </a:r>
          </a:p>
          <a:p>
            <a:pPr>
              <a:lnSpc>
                <a:spcPct val="110000"/>
              </a:lnSpc>
            </a:pPr>
            <a:r>
              <a:rPr sz="2511" b="1" i="0" u="none">
                <a:solidFill>
                  <a:srgbClr val="0E8A8A"/>
                </a:solidFill>
                <a:latin typeface="Courier New"/>
              </a:rPr>
              <a:t>WHERE</a:t>
            </a:r>
            <a:r>
              <a:rPr sz="2511" b="0" i="0" u="none">
                <a:solidFill>
                  <a:srgbClr val="0F172A"/>
                </a:solidFill>
                <a:latin typeface="Courier New"/>
              </a:rPr>
              <a:t>  </a:t>
            </a:r>
            <a:r>
              <a:rPr sz="2511" b="0" i="0" u="none">
                <a:solidFill>
                  <a:srgbClr val="0F172A"/>
                </a:solidFill>
                <a:latin typeface="Courier New"/>
              </a:rPr>
              <a:t>store_name</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B45309"/>
                </a:solidFill>
                <a:latin typeface="Courier New"/>
              </a:rPr>
              <a:t>'Los Angeles'</a:t>
            </a:r>
          </a:p>
          <a:p>
            <a:pPr>
              <a:lnSpc>
                <a:spcPct val="110000"/>
              </a:lnSpc>
            </a:pPr>
            <a:r>
              <a:rPr sz="2511" b="0" i="0" u="none">
                <a:solidFill>
                  <a:srgbClr val="0F172A"/>
                </a:solidFill>
                <a:latin typeface="Courier New"/>
              </a:rPr>
              <a:t>  </a:t>
            </a:r>
            <a:r>
              <a:rPr sz="2511" b="1" i="0" u="none">
                <a:solidFill>
                  <a:srgbClr val="0E8A8A"/>
                </a:solidFill>
                <a:latin typeface="Courier New"/>
              </a:rPr>
              <a:t>AND</a:t>
            </a:r>
            <a:r>
              <a:rPr sz="2511" b="0" i="0" u="none">
                <a:solidFill>
                  <a:srgbClr val="0F172A"/>
                </a:solidFill>
                <a:latin typeface="Courier New"/>
              </a:rPr>
              <a:t>  </a:t>
            </a:r>
            <a:r>
              <a:rPr sz="2511" b="0" i="0" u="none">
                <a:solidFill>
                  <a:srgbClr val="0F172A"/>
                </a:solidFill>
                <a:latin typeface="Courier New"/>
              </a:rPr>
              <a:t>sale_date</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B45309"/>
                </a:solidFill>
                <a:latin typeface="Courier New"/>
              </a:rPr>
              <a:t>'1999-01-08'</a:t>
            </a:r>
            <a:r>
              <a:rPr sz="2511" b="0" i="0" u="none">
                <a:solidFill>
                  <a:srgbClr val="0F172A"/>
                </a:solidFill>
                <a:latin typeface="Courier New"/>
              </a:rPr>
              <a:t>;</a:t>
            </a:r>
          </a:p>
        </p:txBody>
      </p:sp>
      <p:sp>
        <p:nvSpPr>
          <p:cNvPr id="8" name="TextBox 7"/>
          <p:cNvSpPr txBox="1"/>
          <p:nvPr/>
        </p:nvSpPr>
        <p:spPr>
          <a:xfrm>
            <a:off x="10623082" y="2482024"/>
            <a:ext cx="6750517"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Before</a:t>
            </a:r>
          </a:p>
        </p:txBody>
      </p:sp>
      <p:graphicFrame>
        <p:nvGraphicFramePr>
          <p:cNvPr id="9" name="Table 8"/>
          <p:cNvGraphicFramePr>
            <a:graphicFrameLocks noGrp="1"/>
          </p:cNvGraphicFramePr>
          <p:nvPr/>
        </p:nvGraphicFramePr>
        <p:xfrm>
          <a:off x="10623082" y="3042307"/>
          <a:ext cx="6750516" cy="2900200"/>
        </p:xfrm>
        <a:graphic>
          <a:graphicData uri="http://schemas.openxmlformats.org/drawingml/2006/table">
            <a:tbl>
              <a:tblPr firstRow="0" bandRow="0">
                <a:tableStyleId>{5940675A-B579-460E-94D1-54222C63F5DA}</a:tableStyleId>
              </a:tblPr>
              <a:tblGrid>
                <a:gridCol w="2250172"/>
                <a:gridCol w="2250172"/>
                <a:gridCol w="2250172"/>
              </a:tblGrid>
              <a:tr h="580040">
                <a:tc>
                  <a:txBody>
                    <a:bodyPr/>
                    <a:lstStyle/>
                    <a:p>
                      <a:r>
                        <a:rPr sz="2318" b="1" i="0" u="none">
                          <a:solidFill>
                            <a:srgbClr val="FFFFFF"/>
                          </a:solidFill>
                          <a:latin typeface="Arial"/>
                        </a:rPr>
                        <a:t>store_name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sales</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sale_date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Los Angeles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1500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1999-01-05</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San Diego</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250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1999-01-07</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Los Angeles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334155"/>
                          </a:solidFill>
                          <a:latin typeface="Calibri"/>
                        </a:rPr>
                        <a:t>300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1999-01-08</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Boston</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700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1999-01-08</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10" name="TextBox 9"/>
          <p:cNvSpPr txBox="1"/>
          <p:nvPr/>
        </p:nvSpPr>
        <p:spPr>
          <a:xfrm>
            <a:off x="10623082" y="6075860"/>
            <a:ext cx="6750517"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After</a:t>
            </a:r>
          </a:p>
        </p:txBody>
      </p:sp>
      <p:graphicFrame>
        <p:nvGraphicFramePr>
          <p:cNvPr id="11" name="Table 10"/>
          <p:cNvGraphicFramePr>
            <a:graphicFrameLocks noGrp="1"/>
          </p:cNvGraphicFramePr>
          <p:nvPr/>
        </p:nvGraphicFramePr>
        <p:xfrm>
          <a:off x="10623082" y="6636143"/>
          <a:ext cx="6750516" cy="2900200"/>
        </p:xfrm>
        <a:graphic>
          <a:graphicData uri="http://schemas.openxmlformats.org/drawingml/2006/table">
            <a:tbl>
              <a:tblPr firstRow="0" bandRow="0">
                <a:tableStyleId>{5940675A-B579-460E-94D1-54222C63F5DA}</a:tableStyleId>
              </a:tblPr>
              <a:tblGrid>
                <a:gridCol w="2250172"/>
                <a:gridCol w="2250172"/>
                <a:gridCol w="2250172"/>
              </a:tblGrid>
              <a:tr h="580040">
                <a:tc>
                  <a:txBody>
                    <a:bodyPr/>
                    <a:lstStyle/>
                    <a:p>
                      <a:r>
                        <a:rPr sz="2318" b="1" i="0" u="none">
                          <a:solidFill>
                            <a:srgbClr val="FFFFFF"/>
                          </a:solidFill>
                          <a:latin typeface="Arial"/>
                        </a:rPr>
                        <a:t>store_name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sales</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sale_date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Los Angeles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1500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1999-01-05</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San Diego</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250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1999-01-07</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Los Angeles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334155"/>
                          </a:solidFill>
                          <a:latin typeface="Calibri"/>
                        </a:rPr>
                        <a:t>500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1999-01-08</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Boston</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700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1999-01-08</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DML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22/71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Update safely</a:t>
            </a:r>
          </a:p>
        </p:txBody>
      </p:sp>
      <p:sp>
        <p:nvSpPr>
          <p:cNvPr id="6" name="Rectangle 5"/>
          <p:cNvSpPr/>
          <p:nvPr/>
        </p:nvSpPr>
        <p:spPr>
          <a:xfrm>
            <a:off x="914400" y="2482024"/>
            <a:ext cx="8724900" cy="3633038"/>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191500" cy="3099638"/>
          </a:xfrm>
          <a:prstGeom prst="rect">
            <a:avLst/>
          </a:prstGeom>
          <a:noFill/>
        </p:spPr>
        <p:txBody>
          <a:bodyPr wrap="none" lIns="0" rIns="0" tIns="0" bIns="0"/>
          <a:lstStyle/>
          <a:p>
            <a:pPr>
              <a:lnSpc>
                <a:spcPct val="110000"/>
              </a:lnSpc>
            </a:pPr>
            <a:r>
              <a:rPr sz="1848" b="0" i="1" u="none">
                <a:solidFill>
                  <a:srgbClr val="64748B"/>
                </a:solidFill>
                <a:latin typeface="Courier New"/>
              </a:rPr>
              <a:t>-- several columns at once</a:t>
            </a:r>
          </a:p>
          <a:p>
            <a:pPr>
              <a:lnSpc>
                <a:spcPct val="110000"/>
              </a:lnSpc>
            </a:pPr>
            <a:r>
              <a:rPr sz="1848" b="1" i="0" u="none">
                <a:solidFill>
                  <a:srgbClr val="0E8A8A"/>
                </a:solidFill>
                <a:latin typeface="Courier New"/>
              </a:rPr>
              <a:t>UPDATE</a:t>
            </a:r>
            <a:r>
              <a:rPr sz="1848" b="0" i="0" u="none">
                <a:solidFill>
                  <a:srgbClr val="0F172A"/>
                </a:solidFill>
                <a:latin typeface="Courier New"/>
              </a:rPr>
              <a:t> </a:t>
            </a:r>
            <a:r>
              <a:rPr sz="1848" b="0" i="0" u="none">
                <a:solidFill>
                  <a:srgbClr val="0F172A"/>
                </a:solidFill>
                <a:latin typeface="Courier New"/>
              </a:rPr>
              <a:t>persons</a:t>
            </a:r>
          </a:p>
          <a:p>
            <a:pPr>
              <a:lnSpc>
                <a:spcPct val="110000"/>
              </a:lnSpc>
            </a:pPr>
            <a:r>
              <a:rPr sz="1848" b="1" i="0" u="none">
                <a:solidFill>
                  <a:srgbClr val="0E8A8A"/>
                </a:solidFill>
                <a:latin typeface="Courier New"/>
              </a:rPr>
              <a:t>SET</a:t>
            </a:r>
            <a:r>
              <a:rPr sz="1848" b="0" i="0" u="none">
                <a:solidFill>
                  <a:srgbClr val="0F172A"/>
                </a:solidFill>
                <a:latin typeface="Courier New"/>
              </a:rPr>
              <a:t>    </a:t>
            </a:r>
            <a:r>
              <a:rPr sz="1848" b="0" i="0" u="none">
                <a:solidFill>
                  <a:srgbClr val="0F172A"/>
                </a:solidFill>
                <a:latin typeface="Courier New"/>
              </a:rPr>
              <a:t>address</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B45309"/>
                </a:solidFill>
                <a:latin typeface="Courier New"/>
              </a:rPr>
              <a:t>'241 El-Haram'</a:t>
            </a:r>
            <a:r>
              <a:rPr sz="1848" b="0" i="0" u="none">
                <a:solidFill>
                  <a:srgbClr val="0F172A"/>
                </a:solidFill>
                <a:latin typeface="Courier New"/>
              </a:rPr>
              <a:t>,</a:t>
            </a:r>
            <a:r>
              <a:rPr sz="1848" b="0" i="0" u="none">
                <a:solidFill>
                  <a:srgbClr val="0F172A"/>
                </a:solidFill>
                <a:latin typeface="Courier New"/>
              </a:rPr>
              <a:t> </a:t>
            </a:r>
            <a:r>
              <a:rPr sz="1848" b="0" i="0" u="none">
                <a:solidFill>
                  <a:srgbClr val="0F172A"/>
                </a:solidFill>
                <a:latin typeface="Courier New"/>
              </a:rPr>
              <a:t>city</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B45309"/>
                </a:solidFill>
                <a:latin typeface="Courier New"/>
              </a:rPr>
              <a:t>'Giza'</a:t>
            </a:r>
          </a:p>
          <a:p>
            <a:pPr>
              <a:lnSpc>
                <a:spcPct val="110000"/>
              </a:lnSpc>
            </a:pPr>
            <a:r>
              <a:rPr sz="1848" b="1" i="0" u="none">
                <a:solidFill>
                  <a:srgbClr val="0E8A8A"/>
                </a:solidFill>
                <a:latin typeface="Courier New"/>
              </a:rPr>
              <a:t>WHERE</a:t>
            </a:r>
            <a:r>
              <a:rPr sz="1848" b="0" i="0" u="none">
                <a:solidFill>
                  <a:srgbClr val="0F172A"/>
                </a:solidFill>
                <a:latin typeface="Courier New"/>
              </a:rPr>
              <a:t>  </a:t>
            </a:r>
            <a:r>
              <a:rPr sz="1848" b="0" i="0" u="none">
                <a:solidFill>
                  <a:srgbClr val="0F172A"/>
                </a:solidFill>
                <a:latin typeface="Courier New"/>
              </a:rPr>
              <a:t>last_name</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B45309"/>
                </a:solidFill>
                <a:latin typeface="Courier New"/>
              </a:rPr>
              <a:t>'El-Sayed'</a:t>
            </a:r>
            <a:r>
              <a:rPr sz="1848" b="0" i="0" u="none">
                <a:solidFill>
                  <a:srgbClr val="0F172A"/>
                </a:solidFill>
                <a:latin typeface="Courier New"/>
              </a:rPr>
              <a:t>;</a:t>
            </a:r>
          </a:p>
          <a:p>
            <a:pPr>
              <a:lnSpc>
                <a:spcPct val="110000"/>
              </a:lnSpc>
            </a:pPr>
            <a:r>
              <a:rPr sz="1848" b="0" i="0" u="none">
                <a:solidFill>
                  <a:srgbClr val="0F172A"/>
                </a:solidFill>
                <a:latin typeface="Courier New"/>
              </a:rPr>
              <a:t> </a:t>
            </a:r>
          </a:p>
          <a:p>
            <a:pPr>
              <a:lnSpc>
                <a:spcPct val="110000"/>
              </a:lnSpc>
            </a:pPr>
            <a:r>
              <a:rPr sz="1848" b="0" i="1" u="none">
                <a:solidFill>
                  <a:srgbClr val="64748B"/>
                </a:solidFill>
                <a:latin typeface="Courier New"/>
              </a:rPr>
              <a:t>-- based on the current value</a:t>
            </a:r>
          </a:p>
          <a:p>
            <a:pPr>
              <a:lnSpc>
                <a:spcPct val="110000"/>
              </a:lnSpc>
            </a:pPr>
            <a:r>
              <a:rPr sz="1848" b="1" i="0" u="none">
                <a:solidFill>
                  <a:srgbClr val="0E8A8A"/>
                </a:solidFill>
                <a:latin typeface="Courier New"/>
              </a:rPr>
              <a:t>UPDATE</a:t>
            </a:r>
            <a:r>
              <a:rPr sz="1848" b="0" i="0" u="none">
                <a:solidFill>
                  <a:srgbClr val="0F172A"/>
                </a:solidFill>
                <a:latin typeface="Courier New"/>
              </a:rPr>
              <a:t> </a:t>
            </a:r>
            <a:r>
              <a:rPr sz="1848" b="0" i="0" u="none">
                <a:solidFill>
                  <a:srgbClr val="0F172A"/>
                </a:solidFill>
                <a:latin typeface="Courier New"/>
              </a:rPr>
              <a:t>employee</a:t>
            </a:r>
            <a:r>
              <a:rPr sz="1848" b="0" i="0" u="none">
                <a:solidFill>
                  <a:srgbClr val="0F172A"/>
                </a:solidFill>
                <a:latin typeface="Courier New"/>
              </a:rPr>
              <a:t> </a:t>
            </a:r>
            <a:r>
              <a:rPr sz="1848" b="1" i="0" u="none">
                <a:solidFill>
                  <a:srgbClr val="0E8A8A"/>
                </a:solidFill>
                <a:latin typeface="Courier New"/>
              </a:rPr>
              <a:t>SET</a:t>
            </a:r>
            <a:r>
              <a:rPr sz="1848" b="0" i="0" u="none">
                <a:solidFill>
                  <a:srgbClr val="0F172A"/>
                </a:solidFill>
                <a:latin typeface="Courier New"/>
              </a:rPr>
              <a:t> </a:t>
            </a:r>
            <a:r>
              <a:rPr sz="1848" b="0" i="0" u="none">
                <a:solidFill>
                  <a:srgbClr val="0F172A"/>
                </a:solidFill>
                <a:latin typeface="Courier New"/>
              </a:rPr>
              <a:t>salary</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0F172A"/>
                </a:solidFill>
                <a:latin typeface="Courier New"/>
              </a:rPr>
              <a:t>salary</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B45309"/>
                </a:solidFill>
                <a:latin typeface="Courier New"/>
              </a:rPr>
              <a:t>1.10</a:t>
            </a:r>
            <a:r>
              <a:rPr sz="1848" b="0" i="0" u="none">
                <a:solidFill>
                  <a:srgbClr val="0F172A"/>
                </a:solidFill>
                <a:latin typeface="Courier New"/>
              </a:rPr>
              <a:t> </a:t>
            </a:r>
            <a:r>
              <a:rPr sz="1848" b="1" i="0" u="none">
                <a:solidFill>
                  <a:srgbClr val="0E8A8A"/>
                </a:solidFill>
                <a:latin typeface="Courier New"/>
              </a:rPr>
              <a:t>WHERE</a:t>
            </a:r>
            <a:r>
              <a:rPr sz="1848" b="0" i="0" u="none">
                <a:solidFill>
                  <a:srgbClr val="0F172A"/>
                </a:solidFill>
                <a:latin typeface="Courier New"/>
              </a:rPr>
              <a:t> </a:t>
            </a:r>
            <a:r>
              <a:rPr sz="1848" b="0" i="0" u="none">
                <a:solidFill>
                  <a:srgbClr val="0F172A"/>
                </a:solidFill>
                <a:latin typeface="Courier New"/>
              </a:rPr>
              <a:t>dno</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B45309"/>
                </a:solidFill>
                <a:latin typeface="Courier New"/>
              </a:rPr>
              <a:t>5</a:t>
            </a:r>
            <a:r>
              <a:rPr sz="1848" b="0" i="0" u="none">
                <a:solidFill>
                  <a:srgbClr val="0F172A"/>
                </a:solidFill>
                <a:latin typeface="Courier New"/>
              </a:rPr>
              <a:t>;</a:t>
            </a:r>
          </a:p>
          <a:p>
            <a:pPr>
              <a:lnSpc>
                <a:spcPct val="110000"/>
              </a:lnSpc>
            </a:pPr>
            <a:r>
              <a:rPr sz="1848" b="0" i="0" u="none">
                <a:solidFill>
                  <a:srgbClr val="0F172A"/>
                </a:solidFill>
                <a:latin typeface="Courier New"/>
              </a:rPr>
              <a:t> </a:t>
            </a:r>
          </a:p>
          <a:p>
            <a:pPr>
              <a:lnSpc>
                <a:spcPct val="110000"/>
              </a:lnSpc>
            </a:pPr>
            <a:r>
              <a:rPr sz="1848" b="0" i="1" u="none">
                <a:solidFill>
                  <a:srgbClr val="64748B"/>
                </a:solidFill>
                <a:latin typeface="Courier New"/>
              </a:rPr>
              <a:t>-- DANGER: no WHERE = every row changes</a:t>
            </a:r>
          </a:p>
          <a:p>
            <a:pPr>
              <a:lnSpc>
                <a:spcPct val="110000"/>
              </a:lnSpc>
            </a:pPr>
            <a:r>
              <a:rPr sz="1848" b="1" i="0" u="none">
                <a:solidFill>
                  <a:srgbClr val="0E8A8A"/>
                </a:solidFill>
                <a:latin typeface="Courier New"/>
              </a:rPr>
              <a:t>UPDATE</a:t>
            </a:r>
            <a:r>
              <a:rPr sz="1848" b="0" i="0" u="none">
                <a:solidFill>
                  <a:srgbClr val="0F172A"/>
                </a:solidFill>
                <a:latin typeface="Courier New"/>
              </a:rPr>
              <a:t> </a:t>
            </a:r>
            <a:r>
              <a:rPr sz="1848" b="0" i="0" u="none">
                <a:solidFill>
                  <a:srgbClr val="0F172A"/>
                </a:solidFill>
                <a:latin typeface="Courier New"/>
              </a:rPr>
              <a:t>employee</a:t>
            </a:r>
            <a:r>
              <a:rPr sz="1848" b="0" i="0" u="none">
                <a:solidFill>
                  <a:srgbClr val="0F172A"/>
                </a:solidFill>
                <a:latin typeface="Courier New"/>
              </a:rPr>
              <a:t> </a:t>
            </a:r>
            <a:r>
              <a:rPr sz="1848" b="1" i="0" u="none">
                <a:solidFill>
                  <a:srgbClr val="0E8A8A"/>
                </a:solidFill>
                <a:latin typeface="Courier New"/>
              </a:rPr>
              <a:t>SET</a:t>
            </a:r>
            <a:r>
              <a:rPr sz="1848" b="0" i="0" u="none">
                <a:solidFill>
                  <a:srgbClr val="0F172A"/>
                </a:solidFill>
                <a:latin typeface="Courier New"/>
              </a:rPr>
              <a:t> </a:t>
            </a:r>
            <a:r>
              <a:rPr sz="1848" b="0" i="0" u="none">
                <a:solidFill>
                  <a:srgbClr val="0F172A"/>
                </a:solidFill>
                <a:latin typeface="Courier New"/>
              </a:rPr>
              <a:t>salary</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B45309"/>
                </a:solidFill>
                <a:latin typeface="Courier New"/>
              </a:rPr>
              <a:t>0</a:t>
            </a:r>
            <a:r>
              <a:rPr sz="1848" b="0" i="0" u="none">
                <a:solidFill>
                  <a:srgbClr val="0F172A"/>
                </a:solidFill>
                <a:latin typeface="Courier New"/>
              </a:rPr>
              <a:t>;</a:t>
            </a:r>
          </a:p>
        </p:txBody>
      </p:sp>
      <p:sp>
        <p:nvSpPr>
          <p:cNvPr id="8" name="Rectangle 7"/>
          <p:cNvSpPr/>
          <p:nvPr/>
        </p:nvSpPr>
        <p:spPr>
          <a:xfrm>
            <a:off x="10066020" y="2482024"/>
            <a:ext cx="7307580" cy="2974558"/>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466070" y="2882074"/>
            <a:ext cx="650748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A safe habit</a:t>
            </a:r>
          </a:p>
        </p:txBody>
      </p:sp>
      <p:sp>
        <p:nvSpPr>
          <p:cNvPr id="10" name="TextBox 9"/>
          <p:cNvSpPr txBox="1"/>
          <p:nvPr/>
        </p:nvSpPr>
        <p:spPr>
          <a:xfrm>
            <a:off x="10466070" y="3605204"/>
            <a:ext cx="6507480" cy="1451328"/>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Run the WHERE as a </a:t>
            </a:r>
            <a:r>
              <a:rPr sz="2511" b="1" i="0" u="none">
                <a:solidFill>
                  <a:srgbClr val="334155"/>
                </a:solidFill>
                <a:latin typeface="Calibri"/>
              </a:rPr>
              <a:t>SELECT</a:t>
            </a:r>
            <a:r>
              <a:rPr sz="2511" b="0" i="0" u="none">
                <a:solidFill>
                  <a:srgbClr val="334155"/>
                </a:solidFill>
                <a:latin typeface="Calibri"/>
              </a:rPr>
              <a:t> first</a:t>
            </a:r>
          </a:p>
          <a:p>
            <a:pPr algn="l" marL="350870" indent="-350870">
              <a:lnSpc>
                <a:spcPct val="111800"/>
              </a:lnSpc>
              <a:spcBef>
                <a:spcPts val="627"/>
              </a:spcBef>
              <a:buChar char="•"/>
            </a:pPr>
            <a:r>
              <a:rPr sz="2511" b="0" i="0" u="none">
                <a:solidFill>
                  <a:srgbClr val="334155"/>
                </a:solidFill>
                <a:latin typeface="Calibri"/>
              </a:rPr>
              <a:t>Wrap it in a </a:t>
            </a:r>
            <a:r>
              <a:rPr sz="2511" b="1" i="0" u="none">
                <a:solidFill>
                  <a:srgbClr val="334155"/>
                </a:solidFill>
                <a:latin typeface="Calibri"/>
              </a:rPr>
              <a:t>transaction</a:t>
            </a:r>
          </a:p>
          <a:p>
            <a:pPr algn="l" marL="350870" indent="-350870">
              <a:lnSpc>
                <a:spcPct val="111800"/>
              </a:lnSpc>
              <a:spcBef>
                <a:spcPts val="627"/>
              </a:spcBef>
              <a:buChar char="•"/>
            </a:pPr>
            <a:r>
              <a:rPr sz="2511" b="0" i="0" u="none">
                <a:solidFill>
                  <a:srgbClr val="334155"/>
                </a:solidFill>
                <a:latin typeface="Calibri"/>
              </a:rPr>
              <a:t>Check the row count, then COMMIT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DML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23/71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DELETE</a:t>
            </a:r>
          </a:p>
        </p:txBody>
      </p:sp>
      <p:sp>
        <p:nvSpPr>
          <p:cNvPr id="6" name="Rectangle 5"/>
          <p:cNvSpPr/>
          <p:nvPr/>
        </p:nvSpPr>
        <p:spPr>
          <a:xfrm>
            <a:off x="914400" y="2482024"/>
            <a:ext cx="9416217" cy="1315340"/>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882817" cy="781940"/>
          </a:xfrm>
          <a:prstGeom prst="rect">
            <a:avLst/>
          </a:prstGeom>
          <a:noFill/>
        </p:spPr>
        <p:txBody>
          <a:bodyPr wrap="none" lIns="0" rIns="0" tIns="0" bIns="0"/>
          <a:lstStyle/>
          <a:p>
            <a:pPr>
              <a:lnSpc>
                <a:spcPct val="110000"/>
              </a:lnSpc>
            </a:pPr>
            <a:r>
              <a:rPr sz="2332" b="1" i="0" u="none">
                <a:solidFill>
                  <a:srgbClr val="0E8A8A"/>
                </a:solidFill>
                <a:latin typeface="Courier New"/>
              </a:rPr>
              <a:t>DELETE</a:t>
            </a:r>
            <a:r>
              <a:rPr sz="2332" b="0" i="0" u="none">
                <a:solidFill>
                  <a:srgbClr val="0F172A"/>
                </a:solidFill>
                <a:latin typeface="Courier New"/>
              </a:rPr>
              <a:t> </a:t>
            </a:r>
            <a:r>
              <a:rPr sz="2332" b="1" i="0" u="none">
                <a:solidFill>
                  <a:srgbClr val="0E8A8A"/>
                </a:solidFill>
                <a:latin typeface="Courier New"/>
              </a:rPr>
              <a:t>FROM</a:t>
            </a:r>
            <a:r>
              <a:rPr sz="2332" b="0" i="0" u="none">
                <a:solidFill>
                  <a:srgbClr val="0F172A"/>
                </a:solidFill>
                <a:latin typeface="Courier New"/>
              </a:rPr>
              <a:t> </a:t>
            </a:r>
            <a:r>
              <a:rPr sz="2332" b="0" i="0" u="none">
                <a:solidFill>
                  <a:srgbClr val="0F172A"/>
                </a:solidFill>
                <a:latin typeface="Courier New"/>
              </a:rPr>
              <a:t>store_information</a:t>
            </a:r>
          </a:p>
          <a:p>
            <a:pPr>
              <a:lnSpc>
                <a:spcPct val="110000"/>
              </a:lnSpc>
            </a:pPr>
            <a:r>
              <a:rPr sz="2332" b="1" i="0" u="none">
                <a:solidFill>
                  <a:srgbClr val="0E8A8A"/>
                </a:solidFill>
                <a:latin typeface="Courier New"/>
              </a:rPr>
              <a:t>WHERE</a:t>
            </a:r>
            <a:r>
              <a:rPr sz="2332" b="0" i="0" u="none">
                <a:solidFill>
                  <a:srgbClr val="0F172A"/>
                </a:solidFill>
                <a:latin typeface="Courier New"/>
              </a:rPr>
              <a:t>  </a:t>
            </a:r>
            <a:r>
              <a:rPr sz="2332" b="0" i="0" u="none">
                <a:solidFill>
                  <a:srgbClr val="0F172A"/>
                </a:solidFill>
                <a:latin typeface="Courier New"/>
              </a:rPr>
              <a:t>store_name</a:t>
            </a:r>
            <a:r>
              <a:rPr sz="2332" b="0" i="0" u="none">
                <a:solidFill>
                  <a:srgbClr val="0F172A"/>
                </a:solidFill>
                <a:latin typeface="Courier New"/>
              </a:rPr>
              <a:t> </a:t>
            </a:r>
            <a:r>
              <a:rPr sz="2332" b="0" i="0" u="none">
                <a:solidFill>
                  <a:srgbClr val="0F172A"/>
                </a:solidFill>
                <a:latin typeface="Courier New"/>
              </a:rPr>
              <a:t>=</a:t>
            </a:r>
            <a:r>
              <a:rPr sz="2332" b="0" i="0" u="none">
                <a:solidFill>
                  <a:srgbClr val="0F172A"/>
                </a:solidFill>
                <a:latin typeface="Courier New"/>
              </a:rPr>
              <a:t> </a:t>
            </a:r>
            <a:r>
              <a:rPr sz="2332" b="0" i="0" u="none">
                <a:solidFill>
                  <a:srgbClr val="B45309"/>
                </a:solidFill>
                <a:latin typeface="Courier New"/>
              </a:rPr>
              <a:t>'Los Angeles'</a:t>
            </a:r>
            <a:r>
              <a:rPr sz="2332" b="0" i="0" u="none">
                <a:solidFill>
                  <a:srgbClr val="0F172A"/>
                </a:solidFill>
                <a:latin typeface="Courier New"/>
              </a:rPr>
              <a:t>;</a:t>
            </a:r>
          </a:p>
        </p:txBody>
      </p:sp>
      <p:sp>
        <p:nvSpPr>
          <p:cNvPr id="8" name="TextBox 7"/>
          <p:cNvSpPr txBox="1"/>
          <p:nvPr/>
        </p:nvSpPr>
        <p:spPr>
          <a:xfrm>
            <a:off x="10726857" y="2482024"/>
            <a:ext cx="6646742" cy="396438"/>
          </a:xfrm>
          <a:prstGeom prst="rect">
            <a:avLst/>
          </a:prstGeom>
          <a:noFill/>
        </p:spPr>
        <p:txBody>
          <a:bodyPr wrap="square" lIns="0" rIns="0" tIns="0" bIns="0" anchor="t"/>
          <a:lstStyle/>
          <a:p>
            <a:pPr algn="l">
              <a:lnSpc>
                <a:spcPct val="111800"/>
              </a:lnSpc>
            </a:pPr>
            <a:r>
              <a:rPr sz="2152" b="1" i="0" u="none">
                <a:solidFill>
                  <a:srgbClr val="64748B"/>
                </a:solidFill>
                <a:latin typeface="Arial"/>
              </a:rPr>
              <a:t>Before</a:t>
            </a:r>
          </a:p>
        </p:txBody>
      </p:sp>
      <p:graphicFrame>
        <p:nvGraphicFramePr>
          <p:cNvPr id="9" name="Table 8"/>
          <p:cNvGraphicFramePr>
            <a:graphicFrameLocks noGrp="1"/>
          </p:cNvGraphicFramePr>
          <p:nvPr/>
        </p:nvGraphicFramePr>
        <p:xfrm>
          <a:off x="10726857" y="3002287"/>
          <a:ext cx="6646740" cy="2693045"/>
        </p:xfrm>
        <a:graphic>
          <a:graphicData uri="http://schemas.openxmlformats.org/drawingml/2006/table">
            <a:tbl>
              <a:tblPr firstRow="0" bandRow="0">
                <a:tableStyleId>{5940675A-B579-460E-94D1-54222C63F5DA}</a:tableStyleId>
              </a:tblPr>
              <a:tblGrid>
                <a:gridCol w="2215580"/>
                <a:gridCol w="2215580"/>
                <a:gridCol w="2215580"/>
              </a:tblGrid>
              <a:tr h="538609">
                <a:tc>
                  <a:txBody>
                    <a:bodyPr/>
                    <a:lstStyle/>
                    <a:p>
                      <a:r>
                        <a:rPr sz="2152" b="1" i="0" u="none">
                          <a:solidFill>
                            <a:srgbClr val="FFFFFF"/>
                          </a:solidFill>
                          <a:latin typeface="Arial"/>
                        </a:rPr>
                        <a:t>store_name</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1" i="0" u="none">
                          <a:solidFill>
                            <a:srgbClr val="FFFFFF"/>
                          </a:solidFill>
                          <a:latin typeface="Arial"/>
                        </a:rPr>
                        <a:t>sales</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1" i="0" u="none">
                          <a:solidFill>
                            <a:srgbClr val="FFFFFF"/>
                          </a:solidFill>
                          <a:latin typeface="Arial"/>
                        </a:rPr>
                        <a:t>sale_date</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Los Angeles</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1500</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1999-01-05</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San Diego</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250</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1999-01-07</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Los Angeles</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500</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1999-01-08</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Boston</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700</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1999-01-08</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10" name="TextBox 9"/>
          <p:cNvSpPr txBox="1"/>
          <p:nvPr/>
        </p:nvSpPr>
        <p:spPr>
          <a:xfrm>
            <a:off x="10726857" y="5819157"/>
            <a:ext cx="6646742" cy="396438"/>
          </a:xfrm>
          <a:prstGeom prst="rect">
            <a:avLst/>
          </a:prstGeom>
          <a:noFill/>
        </p:spPr>
        <p:txBody>
          <a:bodyPr wrap="square" lIns="0" rIns="0" tIns="0" bIns="0" anchor="t"/>
          <a:lstStyle/>
          <a:p>
            <a:pPr algn="l">
              <a:lnSpc>
                <a:spcPct val="111800"/>
              </a:lnSpc>
            </a:pPr>
            <a:r>
              <a:rPr sz="2152" b="1" i="0" u="none">
                <a:solidFill>
                  <a:srgbClr val="64748B"/>
                </a:solidFill>
                <a:latin typeface="Arial"/>
              </a:rPr>
              <a:t>After</a:t>
            </a:r>
          </a:p>
        </p:txBody>
      </p:sp>
      <p:graphicFrame>
        <p:nvGraphicFramePr>
          <p:cNvPr id="11" name="Table 10"/>
          <p:cNvGraphicFramePr>
            <a:graphicFrameLocks noGrp="1"/>
          </p:cNvGraphicFramePr>
          <p:nvPr/>
        </p:nvGraphicFramePr>
        <p:xfrm>
          <a:off x="10726857" y="6339420"/>
          <a:ext cx="6646740" cy="1615827"/>
        </p:xfrm>
        <a:graphic>
          <a:graphicData uri="http://schemas.openxmlformats.org/drawingml/2006/table">
            <a:tbl>
              <a:tblPr firstRow="0" bandRow="0">
                <a:tableStyleId>{5940675A-B579-460E-94D1-54222C63F5DA}</a:tableStyleId>
              </a:tblPr>
              <a:tblGrid>
                <a:gridCol w="2215580"/>
                <a:gridCol w="2215580"/>
                <a:gridCol w="2215580"/>
              </a:tblGrid>
              <a:tr h="538609">
                <a:tc>
                  <a:txBody>
                    <a:bodyPr/>
                    <a:lstStyle/>
                    <a:p>
                      <a:r>
                        <a:rPr sz="2152" b="1" i="0" u="none">
                          <a:solidFill>
                            <a:srgbClr val="FFFFFF"/>
                          </a:solidFill>
                          <a:latin typeface="Arial"/>
                        </a:rPr>
                        <a:t>store_name</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1" i="0" u="none">
                          <a:solidFill>
                            <a:srgbClr val="FFFFFF"/>
                          </a:solidFill>
                          <a:latin typeface="Arial"/>
                        </a:rPr>
                        <a:t>sales</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1" i="0" u="none">
                          <a:solidFill>
                            <a:srgbClr val="FFFFFF"/>
                          </a:solidFill>
                          <a:latin typeface="Arial"/>
                        </a:rPr>
                        <a:t>sale_date</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San Diego</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250</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1999-01-07</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Boston</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700</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1999-01-08</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12" name="Rectangle 11"/>
          <p:cNvSpPr/>
          <p:nvPr/>
        </p:nvSpPr>
        <p:spPr>
          <a:xfrm>
            <a:off x="914400" y="8292051"/>
            <a:ext cx="16459200" cy="1309820"/>
          </a:xfrm>
          <a:prstGeom prst="rect">
            <a:avLst/>
          </a:prstGeom>
          <a:solidFill>
            <a:srgbClr val="FEF3C7"/>
          </a:solidFill>
          <a:ln>
            <a:noFill/>
          </a:ln>
        </p:spPr>
        <p:txBody>
          <a:bodyPr rtlCol="0" anchor="ctr" lIns="0" rIns="0" tIns="0" bIns="0"/>
          <a:lstStyle/>
          <a:p>
            <a:pPr algn="ctr"/>
          </a:p>
        </p:txBody>
      </p:sp>
      <p:sp>
        <p:nvSpPr>
          <p:cNvPr id="13" name="Rectangle 12"/>
          <p:cNvSpPr/>
          <p:nvPr/>
        </p:nvSpPr>
        <p:spPr>
          <a:xfrm>
            <a:off x="914400" y="8292051"/>
            <a:ext cx="47625" cy="1309820"/>
          </a:xfrm>
          <a:prstGeom prst="rect">
            <a:avLst/>
          </a:prstGeom>
          <a:solidFill>
            <a:srgbClr val="B45309"/>
          </a:solidFill>
          <a:ln>
            <a:noFill/>
          </a:ln>
        </p:spPr>
        <p:txBody>
          <a:bodyPr rtlCol="0" anchor="ctr" lIns="0" rIns="0" tIns="0" bIns="0"/>
          <a:lstStyle/>
          <a:p>
            <a:pPr algn="ctr"/>
          </a:p>
        </p:txBody>
      </p:sp>
      <p:sp>
        <p:nvSpPr>
          <p:cNvPr id="14" name="TextBox 13"/>
          <p:cNvSpPr txBox="1"/>
          <p:nvPr/>
        </p:nvSpPr>
        <p:spPr>
          <a:xfrm>
            <a:off x="1310640" y="8539701"/>
            <a:ext cx="15666720" cy="814520"/>
          </a:xfrm>
          <a:prstGeom prst="rect">
            <a:avLst/>
          </a:prstGeom>
          <a:noFill/>
        </p:spPr>
        <p:txBody>
          <a:bodyPr wrap="square" lIns="0" rIns="0" tIns="0" bIns="0"/>
          <a:lstStyle/>
          <a:p>
            <a:pPr>
              <a:lnSpc>
                <a:spcPct val="112000"/>
              </a:lnSpc>
            </a:pPr>
            <a:r>
              <a:rPr sz="2332" b="0" i="0" u="none">
                <a:solidFill>
                  <a:srgbClr val="0F172A"/>
                </a:solidFill>
                <a:latin typeface="Calibri"/>
              </a:rPr>
              <a:t>Without WHERE, DELETE removes </a:t>
            </a:r>
            <a:r>
              <a:rPr sz="2332" b="1" i="0" u="none">
                <a:solidFill>
                  <a:srgbClr val="0F172A"/>
                </a:solidFill>
                <a:latin typeface="Calibri"/>
              </a:rPr>
              <a:t>all rows</a:t>
            </a:r>
            <a:r>
              <a:rPr sz="2332" b="0" i="0" u="none">
                <a:solidFill>
                  <a:srgbClr val="0F172A"/>
                </a:solidFill>
                <a:latin typeface="Calibri"/>
              </a:rPr>
              <a:t> (the table stays). Deleting a parent row fails if child rows reference it, unless the FK says ON DELETE CASCADE (or SET NULL).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04</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24/71</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04</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Querying one table</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SELECT, DISTINCT, filtering, NULLs, sorting, computed columns and CASE.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SELECT</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25/71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Anatomy of a query</a:t>
            </a:r>
          </a:p>
        </p:txBody>
      </p:sp>
      <p:sp>
        <p:nvSpPr>
          <p:cNvPr id="6" name="Rectangle 5"/>
          <p:cNvSpPr/>
          <p:nvPr/>
        </p:nvSpPr>
        <p:spPr>
          <a:xfrm>
            <a:off x="914400" y="2482024"/>
            <a:ext cx="9619488" cy="3707428"/>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9086088" cy="3174028"/>
          </a:xfrm>
          <a:prstGeom prst="rect">
            <a:avLst/>
          </a:prstGeom>
          <a:noFill/>
        </p:spPr>
        <p:txBody>
          <a:bodyPr wrap="none" lIns="0" rIns="0" tIns="0" bIns="0"/>
          <a:lstStyle/>
          <a:p>
            <a:pPr>
              <a:lnSpc>
                <a:spcPct val="110000"/>
              </a:lnSpc>
            </a:pPr>
            <a:r>
              <a:rPr sz="2704" b="1" i="0" u="none">
                <a:solidFill>
                  <a:srgbClr val="0E8A8A"/>
                </a:solidFill>
                <a:latin typeface="Courier New"/>
              </a:rPr>
              <a:t>SELECT</a:t>
            </a:r>
            <a:r>
              <a:rPr sz="2704" b="0" i="0" u="none">
                <a:solidFill>
                  <a:srgbClr val="0F172A"/>
                </a:solidFill>
                <a:latin typeface="Courier New"/>
              </a:rPr>
              <a:t>   </a:t>
            </a:r>
            <a:r>
              <a:rPr sz="2704" b="0" i="0" u="none">
                <a:solidFill>
                  <a:srgbClr val="0F172A"/>
                </a:solidFill>
                <a:latin typeface="Courier New"/>
              </a:rPr>
              <a:t>dno</a:t>
            </a:r>
            <a:r>
              <a:rPr sz="2704" b="0" i="0" u="none">
                <a:solidFill>
                  <a:srgbClr val="0F172A"/>
                </a:solidFill>
                <a:latin typeface="Courier New"/>
              </a:rPr>
              <a:t>,</a:t>
            </a:r>
            <a:r>
              <a:rPr sz="2704" b="0" i="0" u="none">
                <a:solidFill>
                  <a:srgbClr val="0F172A"/>
                </a:solidFill>
                <a:latin typeface="Courier New"/>
              </a:rPr>
              <a:t>                    </a:t>
            </a:r>
            <a:r>
              <a:rPr sz="2704" b="0" i="1" u="none">
                <a:solidFill>
                  <a:srgbClr val="64748B"/>
                </a:solidFill>
                <a:latin typeface="Courier New"/>
              </a:rPr>
              <a:t>-- 6</a:t>
            </a:r>
          </a:p>
          <a:p>
            <a:pPr>
              <a:lnSpc>
                <a:spcPct val="110000"/>
              </a:lnSpc>
            </a:pPr>
            <a:r>
              <a:rPr sz="2704" b="0" i="0" u="none">
                <a:solidFill>
                  <a:srgbClr val="0F172A"/>
                </a:solidFill>
                <a:latin typeface="Courier New"/>
              </a:rPr>
              <a:t>         </a:t>
            </a:r>
            <a:r>
              <a:rPr sz="2704" b="1" i="0" u="none">
                <a:solidFill>
                  <a:srgbClr val="0E8A8A"/>
                </a:solidFill>
                <a:latin typeface="Courier New"/>
              </a:rPr>
              <a:t>COUNT</a:t>
            </a:r>
            <a:r>
              <a:rPr sz="2704" b="0" i="0" u="none">
                <a:solidFill>
                  <a:srgbClr val="0F172A"/>
                </a:solidFill>
                <a:latin typeface="Courier New"/>
              </a:rPr>
              <a:t>(</a:t>
            </a:r>
            <a:r>
              <a:rPr sz="2704" b="0" i="0" u="none">
                <a:solidFill>
                  <a:srgbClr val="0F172A"/>
                </a:solidFill>
                <a:latin typeface="Courier New"/>
              </a:rPr>
              <a:t>*</a:t>
            </a:r>
            <a:r>
              <a:rPr sz="2704" b="0" i="0" u="none">
                <a:solidFill>
                  <a:srgbClr val="0F172A"/>
                </a:solidFill>
                <a:latin typeface="Courier New"/>
              </a:rPr>
              <a:t>)</a:t>
            </a:r>
            <a:r>
              <a:rPr sz="2704" b="0" i="0" u="none">
                <a:solidFill>
                  <a:srgbClr val="0F172A"/>
                </a:solidFill>
                <a:latin typeface="Courier New"/>
              </a:rPr>
              <a:t> </a:t>
            </a:r>
            <a:r>
              <a:rPr sz="2704" b="1" i="0" u="none">
                <a:solidFill>
                  <a:srgbClr val="0E8A8A"/>
                </a:solidFill>
                <a:latin typeface="Courier New"/>
              </a:rPr>
              <a:t>AS</a:t>
            </a:r>
            <a:r>
              <a:rPr sz="2704" b="0" i="0" u="none">
                <a:solidFill>
                  <a:srgbClr val="0F172A"/>
                </a:solidFill>
                <a:latin typeface="Courier New"/>
              </a:rPr>
              <a:t> </a:t>
            </a:r>
            <a:r>
              <a:rPr sz="2704" b="0" i="0" u="none">
                <a:solidFill>
                  <a:srgbClr val="0F172A"/>
                </a:solidFill>
                <a:latin typeface="Courier New"/>
              </a:rPr>
              <a:t>n</a:t>
            </a:r>
            <a:r>
              <a:rPr sz="2704" b="0" i="0" u="none">
                <a:solidFill>
                  <a:srgbClr val="0F172A"/>
                </a:solidFill>
                <a:latin typeface="Courier New"/>
              </a:rPr>
              <a:t>           </a:t>
            </a:r>
            <a:r>
              <a:rPr sz="2704" b="0" i="1" u="none">
                <a:solidFill>
                  <a:srgbClr val="64748B"/>
                </a:solidFill>
                <a:latin typeface="Courier New"/>
              </a:rPr>
              <a:t>-- 4</a:t>
            </a:r>
          </a:p>
          <a:p>
            <a:pPr>
              <a:lnSpc>
                <a:spcPct val="110000"/>
              </a:lnSpc>
            </a:pPr>
            <a:r>
              <a:rPr sz="2704" b="1" i="0" u="none">
                <a:solidFill>
                  <a:srgbClr val="0E8A8A"/>
                </a:solidFill>
                <a:latin typeface="Courier New"/>
              </a:rPr>
              <a:t>FROM</a:t>
            </a:r>
            <a:r>
              <a:rPr sz="2704" b="0" i="0" u="none">
                <a:solidFill>
                  <a:srgbClr val="0F172A"/>
                </a:solidFill>
                <a:latin typeface="Courier New"/>
              </a:rPr>
              <a:t>     </a:t>
            </a:r>
            <a:r>
              <a:rPr sz="2704" b="0" i="0" u="none">
                <a:solidFill>
                  <a:srgbClr val="0F172A"/>
                </a:solidFill>
                <a:latin typeface="Courier New"/>
              </a:rPr>
              <a:t>employee</a:t>
            </a:r>
            <a:r>
              <a:rPr sz="2704" b="0" i="0" u="none">
                <a:solidFill>
                  <a:srgbClr val="0F172A"/>
                </a:solidFill>
                <a:latin typeface="Courier New"/>
              </a:rPr>
              <a:t>                </a:t>
            </a:r>
            <a:r>
              <a:rPr sz="2704" b="0" i="1" u="none">
                <a:solidFill>
                  <a:srgbClr val="64748B"/>
                </a:solidFill>
                <a:latin typeface="Courier New"/>
              </a:rPr>
              <a:t>-- 1</a:t>
            </a:r>
          </a:p>
          <a:p>
            <a:pPr>
              <a:lnSpc>
                <a:spcPct val="110000"/>
              </a:lnSpc>
            </a:pPr>
            <a:r>
              <a:rPr sz="2704" b="1" i="0" u="none">
                <a:solidFill>
                  <a:srgbClr val="0E8A8A"/>
                </a:solidFill>
                <a:latin typeface="Courier New"/>
              </a:rPr>
              <a:t>WHERE</a:t>
            </a:r>
            <a:r>
              <a:rPr sz="2704" b="0" i="0" u="none">
                <a:solidFill>
                  <a:srgbClr val="0F172A"/>
                </a:solidFill>
                <a:latin typeface="Courier New"/>
              </a:rPr>
              <a:t>    </a:t>
            </a:r>
            <a:r>
              <a:rPr sz="2704" b="0" i="0" u="none">
                <a:solidFill>
                  <a:srgbClr val="0F172A"/>
                </a:solidFill>
                <a:latin typeface="Courier New"/>
              </a:rPr>
              <a:t>salary</a:t>
            </a:r>
            <a:r>
              <a:rPr sz="2704" b="0" i="0" u="none">
                <a:solidFill>
                  <a:srgbClr val="0F172A"/>
                </a:solidFill>
                <a:latin typeface="Courier New"/>
              </a:rPr>
              <a:t> </a:t>
            </a:r>
            <a:r>
              <a:rPr sz="2704" b="0" i="0" u="none">
                <a:solidFill>
                  <a:srgbClr val="0F172A"/>
                </a:solidFill>
                <a:latin typeface="Courier New"/>
              </a:rPr>
              <a:t>&gt;</a:t>
            </a:r>
            <a:r>
              <a:rPr sz="2704" b="0" i="0" u="none">
                <a:solidFill>
                  <a:srgbClr val="0F172A"/>
                </a:solidFill>
                <a:latin typeface="Courier New"/>
              </a:rPr>
              <a:t> </a:t>
            </a:r>
            <a:r>
              <a:rPr sz="2704" b="0" i="0" u="none">
                <a:solidFill>
                  <a:srgbClr val="B45309"/>
                </a:solidFill>
                <a:latin typeface="Courier New"/>
              </a:rPr>
              <a:t>20000</a:t>
            </a:r>
            <a:r>
              <a:rPr sz="2704" b="0" i="0" u="none">
                <a:solidFill>
                  <a:srgbClr val="0F172A"/>
                </a:solidFill>
                <a:latin typeface="Courier New"/>
              </a:rPr>
              <a:t>          </a:t>
            </a:r>
            <a:r>
              <a:rPr sz="2704" b="0" i="1" u="none">
                <a:solidFill>
                  <a:srgbClr val="64748B"/>
                </a:solidFill>
                <a:latin typeface="Courier New"/>
              </a:rPr>
              <a:t>-- 2</a:t>
            </a:r>
          </a:p>
          <a:p>
            <a:pPr>
              <a:lnSpc>
                <a:spcPct val="110000"/>
              </a:lnSpc>
            </a:pPr>
            <a:r>
              <a:rPr sz="2704" b="1" i="0" u="none">
                <a:solidFill>
                  <a:srgbClr val="0E8A8A"/>
                </a:solidFill>
                <a:latin typeface="Courier New"/>
              </a:rPr>
              <a:t>GROUP</a:t>
            </a:r>
            <a:r>
              <a:rPr sz="2704" b="0" i="0" u="none">
                <a:solidFill>
                  <a:srgbClr val="0F172A"/>
                </a:solidFill>
                <a:latin typeface="Courier New"/>
              </a:rPr>
              <a:t> </a:t>
            </a:r>
            <a:r>
              <a:rPr sz="2704" b="1" i="0" u="none">
                <a:solidFill>
                  <a:srgbClr val="0E8A8A"/>
                </a:solidFill>
                <a:latin typeface="Courier New"/>
              </a:rPr>
              <a:t>BY</a:t>
            </a:r>
            <a:r>
              <a:rPr sz="2704" b="0" i="0" u="none">
                <a:solidFill>
                  <a:srgbClr val="0F172A"/>
                </a:solidFill>
                <a:latin typeface="Courier New"/>
              </a:rPr>
              <a:t> </a:t>
            </a:r>
            <a:r>
              <a:rPr sz="2704" b="0" i="0" u="none">
                <a:solidFill>
                  <a:srgbClr val="0F172A"/>
                </a:solidFill>
                <a:latin typeface="Courier New"/>
              </a:rPr>
              <a:t>dno</a:t>
            </a:r>
            <a:r>
              <a:rPr sz="2704" b="0" i="0" u="none">
                <a:solidFill>
                  <a:srgbClr val="0F172A"/>
                </a:solidFill>
                <a:latin typeface="Courier New"/>
              </a:rPr>
              <a:t>                     </a:t>
            </a:r>
            <a:r>
              <a:rPr sz="2704" b="0" i="1" u="none">
                <a:solidFill>
                  <a:srgbClr val="64748B"/>
                </a:solidFill>
                <a:latin typeface="Courier New"/>
              </a:rPr>
              <a:t>-- 3</a:t>
            </a:r>
          </a:p>
          <a:p>
            <a:pPr>
              <a:lnSpc>
                <a:spcPct val="110000"/>
              </a:lnSpc>
            </a:pPr>
            <a:r>
              <a:rPr sz="2704" b="1" i="0" u="none">
                <a:solidFill>
                  <a:srgbClr val="0E8A8A"/>
                </a:solidFill>
                <a:latin typeface="Courier New"/>
              </a:rPr>
              <a:t>HAVING</a:t>
            </a:r>
            <a:r>
              <a:rPr sz="2704" b="0" i="0" u="none">
                <a:solidFill>
                  <a:srgbClr val="0F172A"/>
                </a:solidFill>
                <a:latin typeface="Courier New"/>
              </a:rPr>
              <a:t>   </a:t>
            </a:r>
            <a:r>
              <a:rPr sz="2704" b="1" i="0" u="none">
                <a:solidFill>
                  <a:srgbClr val="0E8A8A"/>
                </a:solidFill>
                <a:latin typeface="Courier New"/>
              </a:rPr>
              <a:t>COUNT</a:t>
            </a:r>
            <a:r>
              <a:rPr sz="2704" b="0" i="0" u="none">
                <a:solidFill>
                  <a:srgbClr val="0F172A"/>
                </a:solidFill>
                <a:latin typeface="Courier New"/>
              </a:rPr>
              <a:t>(</a:t>
            </a:r>
            <a:r>
              <a:rPr sz="2704" b="0" i="0" u="none">
                <a:solidFill>
                  <a:srgbClr val="0F172A"/>
                </a:solidFill>
                <a:latin typeface="Courier New"/>
              </a:rPr>
              <a:t>*</a:t>
            </a:r>
            <a:r>
              <a:rPr sz="2704" b="0" i="0" u="none">
                <a:solidFill>
                  <a:srgbClr val="0F172A"/>
                </a:solidFill>
                <a:latin typeface="Courier New"/>
              </a:rPr>
              <a:t>)</a:t>
            </a:r>
            <a:r>
              <a:rPr sz="2704" b="0" i="0" u="none">
                <a:solidFill>
                  <a:srgbClr val="0F172A"/>
                </a:solidFill>
                <a:latin typeface="Courier New"/>
              </a:rPr>
              <a:t> </a:t>
            </a:r>
            <a:r>
              <a:rPr sz="2704" b="0" i="0" u="none">
                <a:solidFill>
                  <a:srgbClr val="0F172A"/>
                </a:solidFill>
                <a:latin typeface="Courier New"/>
              </a:rPr>
              <a:t>&gt;</a:t>
            </a:r>
            <a:r>
              <a:rPr sz="2704" b="0" i="0" u="none">
                <a:solidFill>
                  <a:srgbClr val="0F172A"/>
                </a:solidFill>
                <a:latin typeface="Courier New"/>
              </a:rPr>
              <a:t> </a:t>
            </a:r>
            <a:r>
              <a:rPr sz="2704" b="0" i="0" u="none">
                <a:solidFill>
                  <a:srgbClr val="B45309"/>
                </a:solidFill>
                <a:latin typeface="Courier New"/>
              </a:rPr>
              <a:t>2</a:t>
            </a:r>
            <a:r>
              <a:rPr sz="2704" b="0" i="0" u="none">
                <a:solidFill>
                  <a:srgbClr val="0F172A"/>
                </a:solidFill>
                <a:latin typeface="Courier New"/>
              </a:rPr>
              <a:t>            </a:t>
            </a:r>
            <a:r>
              <a:rPr sz="2704" b="0" i="1" u="none">
                <a:solidFill>
                  <a:srgbClr val="64748B"/>
                </a:solidFill>
                <a:latin typeface="Courier New"/>
              </a:rPr>
              <a:t>-- 5</a:t>
            </a:r>
          </a:p>
          <a:p>
            <a:pPr>
              <a:lnSpc>
                <a:spcPct val="110000"/>
              </a:lnSpc>
            </a:pPr>
            <a:r>
              <a:rPr sz="2704" b="1" i="0" u="none">
                <a:solidFill>
                  <a:srgbClr val="0E8A8A"/>
                </a:solidFill>
                <a:latin typeface="Courier New"/>
              </a:rPr>
              <a:t>ORDER</a:t>
            </a:r>
            <a:r>
              <a:rPr sz="2704" b="0" i="0" u="none">
                <a:solidFill>
                  <a:srgbClr val="0F172A"/>
                </a:solidFill>
                <a:latin typeface="Courier New"/>
              </a:rPr>
              <a:t> </a:t>
            </a:r>
            <a:r>
              <a:rPr sz="2704" b="1" i="0" u="none">
                <a:solidFill>
                  <a:srgbClr val="0E8A8A"/>
                </a:solidFill>
                <a:latin typeface="Courier New"/>
              </a:rPr>
              <a:t>BY</a:t>
            </a:r>
            <a:r>
              <a:rPr sz="2704" b="0" i="0" u="none">
                <a:solidFill>
                  <a:srgbClr val="0F172A"/>
                </a:solidFill>
                <a:latin typeface="Courier New"/>
              </a:rPr>
              <a:t> </a:t>
            </a:r>
            <a:r>
              <a:rPr sz="2704" b="0" i="0" u="none">
                <a:solidFill>
                  <a:srgbClr val="0F172A"/>
                </a:solidFill>
                <a:latin typeface="Courier New"/>
              </a:rPr>
              <a:t>n</a:t>
            </a:r>
            <a:r>
              <a:rPr sz="2704" b="0" i="0" u="none">
                <a:solidFill>
                  <a:srgbClr val="0F172A"/>
                </a:solidFill>
                <a:latin typeface="Courier New"/>
              </a:rPr>
              <a:t> </a:t>
            </a:r>
            <a:r>
              <a:rPr sz="2704" b="1" i="0" u="none">
                <a:solidFill>
                  <a:srgbClr val="0E8A8A"/>
                </a:solidFill>
                <a:latin typeface="Courier New"/>
              </a:rPr>
              <a:t>DESC</a:t>
            </a:r>
            <a:r>
              <a:rPr sz="2704" b="0" i="0" u="none">
                <a:solidFill>
                  <a:srgbClr val="0F172A"/>
                </a:solidFill>
                <a:latin typeface="Courier New"/>
              </a:rPr>
              <a:t>;</a:t>
            </a:r>
            <a:r>
              <a:rPr sz="2704" b="0" i="0" u="none">
                <a:solidFill>
                  <a:srgbClr val="0F172A"/>
                </a:solidFill>
                <a:latin typeface="Courier New"/>
              </a:rPr>
              <a:t>                 </a:t>
            </a:r>
            <a:r>
              <a:rPr sz="2704" b="0" i="1" u="none">
                <a:solidFill>
                  <a:srgbClr val="64748B"/>
                </a:solidFill>
                <a:latin typeface="Courier New"/>
              </a:rPr>
              <a:t>-- 7</a:t>
            </a:r>
          </a:p>
        </p:txBody>
      </p:sp>
      <p:sp>
        <p:nvSpPr>
          <p:cNvPr id="8" name="Rectangle 7"/>
          <p:cNvSpPr/>
          <p:nvPr/>
        </p:nvSpPr>
        <p:spPr>
          <a:xfrm>
            <a:off x="10960608" y="2482024"/>
            <a:ext cx="6412992" cy="5366857"/>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1360658" y="2882074"/>
            <a:ext cx="5612892"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Execution order</a:t>
            </a:r>
          </a:p>
        </p:txBody>
      </p:sp>
      <p:sp>
        <p:nvSpPr>
          <p:cNvPr id="10" name="TextBox 9"/>
          <p:cNvSpPr txBox="1"/>
          <p:nvPr/>
        </p:nvSpPr>
        <p:spPr>
          <a:xfrm>
            <a:off x="11360658" y="3605204"/>
            <a:ext cx="5612892" cy="3843627"/>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1 FROM: pick the table(s)</a:t>
            </a:r>
          </a:p>
          <a:p>
            <a:pPr algn="l" marL="350870" indent="-350870">
              <a:lnSpc>
                <a:spcPct val="111800"/>
              </a:lnSpc>
              <a:spcBef>
                <a:spcPts val="627"/>
              </a:spcBef>
              <a:buChar char="•"/>
            </a:pPr>
            <a:r>
              <a:rPr sz="2511" b="0" i="0" u="none">
                <a:solidFill>
                  <a:srgbClr val="334155"/>
                </a:solidFill>
                <a:latin typeface="Calibri"/>
              </a:rPr>
              <a:t>2 WHERE: filter rows</a:t>
            </a:r>
          </a:p>
          <a:p>
            <a:pPr algn="l" marL="350870" indent="-350870">
              <a:lnSpc>
                <a:spcPct val="111800"/>
              </a:lnSpc>
              <a:spcBef>
                <a:spcPts val="627"/>
              </a:spcBef>
              <a:buChar char="•"/>
            </a:pPr>
            <a:r>
              <a:rPr sz="2511" b="0" i="0" u="none">
                <a:solidFill>
                  <a:srgbClr val="334155"/>
                </a:solidFill>
                <a:latin typeface="Calibri"/>
              </a:rPr>
              <a:t>3 GROUP BY: form groups</a:t>
            </a:r>
          </a:p>
          <a:p>
            <a:pPr algn="l" marL="350870" indent="-350870">
              <a:lnSpc>
                <a:spcPct val="111800"/>
              </a:lnSpc>
              <a:spcBef>
                <a:spcPts val="627"/>
              </a:spcBef>
              <a:buChar char="•"/>
            </a:pPr>
            <a:r>
              <a:rPr sz="2511" b="0" i="0" u="none">
                <a:solidFill>
                  <a:srgbClr val="334155"/>
                </a:solidFill>
                <a:latin typeface="Calibri"/>
              </a:rPr>
              <a:t>4 Aggregate functions: one value per group</a:t>
            </a:r>
          </a:p>
          <a:p>
            <a:pPr algn="l" marL="350870" indent="-350870">
              <a:lnSpc>
                <a:spcPct val="111800"/>
              </a:lnSpc>
              <a:spcBef>
                <a:spcPts val="627"/>
              </a:spcBef>
              <a:buChar char="•"/>
            </a:pPr>
            <a:r>
              <a:rPr sz="2511" b="0" i="0" u="none">
                <a:solidFill>
                  <a:srgbClr val="334155"/>
                </a:solidFill>
                <a:latin typeface="Calibri"/>
              </a:rPr>
              <a:t>5 HAVING: filter groups</a:t>
            </a:r>
          </a:p>
          <a:p>
            <a:pPr algn="l" marL="350870" indent="-350870">
              <a:lnSpc>
                <a:spcPct val="111800"/>
              </a:lnSpc>
              <a:spcBef>
                <a:spcPts val="627"/>
              </a:spcBef>
              <a:buChar char="•"/>
            </a:pPr>
            <a:r>
              <a:rPr sz="2511" b="0" i="0" u="none">
                <a:solidFill>
                  <a:srgbClr val="334155"/>
                </a:solidFill>
                <a:latin typeface="Calibri"/>
              </a:rPr>
              <a:t>6 SELECT: compute columns</a:t>
            </a:r>
          </a:p>
          <a:p>
            <a:pPr algn="l" marL="350870" indent="-350870">
              <a:lnSpc>
                <a:spcPct val="111800"/>
              </a:lnSpc>
              <a:spcBef>
                <a:spcPts val="627"/>
              </a:spcBef>
              <a:buChar char="•"/>
            </a:pPr>
            <a:r>
              <a:rPr sz="2511" b="0" i="0" u="none">
                <a:solidFill>
                  <a:srgbClr val="334155"/>
                </a:solidFill>
                <a:latin typeface="Calibri"/>
              </a:rPr>
              <a:t>7 ORDER BY: sort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SELECT</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26/71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Simple queries</a:t>
            </a:r>
          </a:p>
        </p:txBody>
      </p:sp>
      <p:sp>
        <p:nvSpPr>
          <p:cNvPr id="6" name="Rectangle 5"/>
          <p:cNvSpPr/>
          <p:nvPr/>
        </p:nvSpPr>
        <p:spPr>
          <a:xfrm>
            <a:off x="914400" y="2482024"/>
            <a:ext cx="8572500" cy="4322801"/>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3789401"/>
          </a:xfrm>
          <a:prstGeom prst="rect">
            <a:avLst/>
          </a:prstGeom>
          <a:noFill/>
        </p:spPr>
        <p:txBody>
          <a:bodyPr wrap="none" lIns="0" rIns="0" tIns="0" bIns="0"/>
          <a:lstStyle/>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department</a:t>
            </a:r>
            <a:r>
              <a:rPr sz="2511" b="0" i="0" u="none">
                <a:solidFill>
                  <a:srgbClr val="0F172A"/>
                </a:solidFill>
                <a:latin typeface="Courier New"/>
              </a:rPr>
              <a:t>;</a:t>
            </a:r>
          </a:p>
          <a:p>
            <a:pPr>
              <a:lnSpc>
                <a:spcPct val="110000"/>
              </a:lnSpc>
            </a:pPr>
            <a:r>
              <a:rPr sz="2511" b="0" i="0" u="none">
                <a:solidFill>
                  <a:srgbClr val="0F172A"/>
                </a:solidFill>
                <a:latin typeface="Courier New"/>
              </a:rPr>
              <a:t> </a:t>
            </a:r>
          </a:p>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ssn</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fname</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dno</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a:t>
            </a:r>
            <a:r>
              <a:rPr sz="2511" b="0" i="0" u="none">
                <a:solidFill>
                  <a:srgbClr val="0F172A"/>
                </a:solidFill>
                <a:latin typeface="Courier New"/>
              </a:rPr>
              <a:t>;</a:t>
            </a:r>
          </a:p>
          <a:p>
            <a:pPr>
              <a:lnSpc>
                <a:spcPct val="110000"/>
              </a:lnSpc>
            </a:pPr>
            <a:r>
              <a:rPr sz="2511" b="0" i="0" u="none">
                <a:solidFill>
                  <a:srgbClr val="0F172A"/>
                </a:solidFill>
                <a:latin typeface="Courier New"/>
              </a:rPr>
              <a:t> </a:t>
            </a:r>
          </a:p>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dnumber</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dname</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department</a:t>
            </a:r>
          </a:p>
          <a:p>
            <a:pPr>
              <a:lnSpc>
                <a:spcPct val="110000"/>
              </a:lnSpc>
            </a:pPr>
            <a:r>
              <a:rPr sz="2511" b="1" i="0" u="none">
                <a:solidFill>
                  <a:srgbClr val="0E8A8A"/>
                </a:solidFill>
                <a:latin typeface="Courier New"/>
              </a:rPr>
              <a:t>WHERE</a:t>
            </a:r>
            <a:r>
              <a:rPr sz="2511" b="0" i="0" u="none">
                <a:solidFill>
                  <a:srgbClr val="0F172A"/>
                </a:solidFill>
                <a:latin typeface="Courier New"/>
              </a:rPr>
              <a:t>  </a:t>
            </a:r>
            <a:r>
              <a:rPr sz="2511" b="0" i="0" u="none">
                <a:solidFill>
                  <a:srgbClr val="0F172A"/>
                </a:solidFill>
                <a:latin typeface="Courier New"/>
              </a:rPr>
              <a:t>dname</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B45309"/>
                </a:solidFill>
                <a:latin typeface="Courier New"/>
              </a:rPr>
              <a:t>'Research'</a:t>
            </a:r>
            <a:r>
              <a:rPr sz="2511" b="0" i="0" u="none">
                <a:solidFill>
                  <a:srgbClr val="0F172A"/>
                </a:solidFill>
                <a:latin typeface="Courier New"/>
              </a:rPr>
              <a:t>;</a:t>
            </a:r>
          </a:p>
        </p:txBody>
      </p:sp>
      <p:sp>
        <p:nvSpPr>
          <p:cNvPr id="8" name="Rectangle 7"/>
          <p:cNvSpPr/>
          <p:nvPr/>
        </p:nvSpPr>
        <p:spPr>
          <a:xfrm>
            <a:off x="9913620" y="2482024"/>
            <a:ext cx="7459980" cy="1410576"/>
          </a:xfrm>
          <a:prstGeom prst="rect">
            <a:avLst/>
          </a:prstGeom>
          <a:solidFill>
            <a:srgbClr val="E6F4F4"/>
          </a:solidFill>
          <a:ln>
            <a:noFill/>
          </a:ln>
        </p:spPr>
        <p:txBody>
          <a:bodyPr rtlCol="0" anchor="ctr" lIns="0" rIns="0" tIns="0" bIns="0"/>
          <a:lstStyle/>
          <a:p>
            <a:pPr algn="ctr"/>
          </a:p>
        </p:txBody>
      </p:sp>
      <p:sp>
        <p:nvSpPr>
          <p:cNvPr id="9" name="Rectangle 8"/>
          <p:cNvSpPr/>
          <p:nvPr/>
        </p:nvSpPr>
        <p:spPr>
          <a:xfrm>
            <a:off x="9913620" y="2482024"/>
            <a:ext cx="47625" cy="1410576"/>
          </a:xfrm>
          <a:prstGeom prst="rect">
            <a:avLst/>
          </a:prstGeom>
          <a:solidFill>
            <a:srgbClr val="0E8A8A"/>
          </a:solidFill>
          <a:ln>
            <a:noFill/>
          </a:ln>
        </p:spPr>
        <p:txBody>
          <a:bodyPr rtlCol="0" anchor="ctr" lIns="0" rIns="0" tIns="0" bIns="0"/>
          <a:lstStyle/>
          <a:p>
            <a:pPr algn="ctr"/>
          </a:p>
        </p:txBody>
      </p:sp>
      <p:sp>
        <p:nvSpPr>
          <p:cNvPr id="10" name="TextBox 9"/>
          <p:cNvSpPr txBox="1"/>
          <p:nvPr/>
        </p:nvSpPr>
        <p:spPr>
          <a:xfrm>
            <a:off x="10340340" y="2748724"/>
            <a:ext cx="6606540" cy="877176"/>
          </a:xfrm>
          <a:prstGeom prst="rect">
            <a:avLst/>
          </a:prstGeom>
          <a:noFill/>
        </p:spPr>
        <p:txBody>
          <a:bodyPr wrap="square" lIns="0" rIns="0" tIns="0" bIns="0"/>
          <a:lstStyle/>
          <a:p>
            <a:pPr>
              <a:lnSpc>
                <a:spcPct val="112000"/>
              </a:lnSpc>
            </a:pPr>
            <a:r>
              <a:rPr sz="2511" b="0" i="0" u="none">
                <a:solidFill>
                  <a:srgbClr val="0F172A"/>
                </a:solidFill>
                <a:latin typeface="Courier New"/>
              </a:rPr>
              <a:t>SELECT *</a:t>
            </a:r>
            <a:r>
              <a:rPr sz="2511" b="0" i="0" u="none">
                <a:solidFill>
                  <a:srgbClr val="0F172A"/>
                </a:solidFill>
                <a:latin typeface="Calibri"/>
              </a:rPr>
              <a:t> is fine for exploring, but list columns in real code.</a:t>
            </a:r>
          </a:p>
        </p:txBody>
      </p:sp>
      <p:sp>
        <p:nvSpPr>
          <p:cNvPr id="11" name="Rectangle 10"/>
          <p:cNvSpPr/>
          <p:nvPr/>
        </p:nvSpPr>
        <p:spPr>
          <a:xfrm>
            <a:off x="9913620" y="4105960"/>
            <a:ext cx="7459980" cy="1825241"/>
          </a:xfrm>
          <a:prstGeom prst="rect">
            <a:avLst/>
          </a:prstGeom>
          <a:solidFill>
            <a:srgbClr val="FEF3C7"/>
          </a:solidFill>
          <a:ln>
            <a:noFill/>
          </a:ln>
        </p:spPr>
        <p:txBody>
          <a:bodyPr rtlCol="0" anchor="ctr" lIns="0" rIns="0" tIns="0" bIns="0"/>
          <a:lstStyle/>
          <a:p>
            <a:pPr algn="ctr"/>
          </a:p>
        </p:txBody>
      </p:sp>
      <p:sp>
        <p:nvSpPr>
          <p:cNvPr id="12" name="Rectangle 11"/>
          <p:cNvSpPr/>
          <p:nvPr/>
        </p:nvSpPr>
        <p:spPr>
          <a:xfrm>
            <a:off x="9913620" y="4105960"/>
            <a:ext cx="47625" cy="1825241"/>
          </a:xfrm>
          <a:prstGeom prst="rect">
            <a:avLst/>
          </a:prstGeom>
          <a:solidFill>
            <a:srgbClr val="B45309"/>
          </a:solidFill>
          <a:ln>
            <a:noFill/>
          </a:ln>
        </p:spPr>
        <p:txBody>
          <a:bodyPr rtlCol="0" anchor="ctr" lIns="0" rIns="0" tIns="0" bIns="0"/>
          <a:lstStyle/>
          <a:p>
            <a:pPr algn="ctr"/>
          </a:p>
        </p:txBody>
      </p:sp>
      <p:sp>
        <p:nvSpPr>
          <p:cNvPr id="13" name="TextBox 12"/>
          <p:cNvSpPr txBox="1"/>
          <p:nvPr/>
        </p:nvSpPr>
        <p:spPr>
          <a:xfrm>
            <a:off x="10340340" y="4372660"/>
            <a:ext cx="6606540" cy="1291841"/>
          </a:xfrm>
          <a:prstGeom prst="rect">
            <a:avLst/>
          </a:prstGeom>
          <a:noFill/>
        </p:spPr>
        <p:txBody>
          <a:bodyPr wrap="square" lIns="0" rIns="0" tIns="0" bIns="0"/>
          <a:lstStyle/>
          <a:p>
            <a:pPr>
              <a:lnSpc>
                <a:spcPct val="112000"/>
              </a:lnSpc>
            </a:pPr>
            <a:r>
              <a:rPr sz="2511" b="0" i="0" u="none">
                <a:solidFill>
                  <a:srgbClr val="0F172A"/>
                </a:solidFill>
                <a:latin typeface="Calibri"/>
              </a:rPr>
              <a:t>String literals use </a:t>
            </a:r>
            <a:r>
              <a:rPr sz="2511" b="1" i="0" u="none">
                <a:solidFill>
                  <a:srgbClr val="0F172A"/>
                </a:solidFill>
                <a:latin typeface="Calibri"/>
              </a:rPr>
              <a:t>single quotes</a:t>
            </a:r>
            <a:r>
              <a:rPr sz="2511" b="0" i="0" u="none">
                <a:solidFill>
                  <a:srgbClr val="0F172A"/>
                </a:solidFill>
                <a:latin typeface="Calibri"/>
              </a:rPr>
              <a:t>. Whether 'research' = 'Research' depends on the DBMS's collation.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SELECT</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27/71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DISTINCT removes duplicate rows</a:t>
            </a:r>
          </a:p>
        </p:txBody>
      </p:sp>
      <p:graphicFrame>
        <p:nvGraphicFramePr>
          <p:cNvPr id="6" name="Table 5"/>
          <p:cNvGraphicFramePr>
            <a:graphicFrameLocks noGrp="1"/>
          </p:cNvGraphicFramePr>
          <p:nvPr/>
        </p:nvGraphicFramePr>
        <p:xfrm>
          <a:off x="914400" y="2482024"/>
          <a:ext cx="16459200" cy="2900200"/>
        </p:xfrm>
        <a:graphic>
          <a:graphicData uri="http://schemas.openxmlformats.org/drawingml/2006/table">
            <a:tbl>
              <a:tblPr firstRow="0" bandRow="0">
                <a:tableStyleId>{5940675A-B579-460E-94D1-54222C63F5DA}</a:tableStyleId>
              </a:tblPr>
              <a:tblGrid>
                <a:gridCol w="4114800"/>
                <a:gridCol w="4114800"/>
                <a:gridCol w="4114800"/>
                <a:gridCol w="4114800"/>
              </a:tblGrid>
              <a:tr h="580040">
                <a:tc>
                  <a:txBody>
                    <a:bodyPr/>
                    <a:lstStyle/>
                    <a:p>
                      <a:r>
                        <a:rPr sz="2318" b="1" i="0" u="none">
                          <a:solidFill>
                            <a:srgbClr val="FFFFFF"/>
                          </a:solidFill>
                          <a:latin typeface="Arial"/>
                        </a:rPr>
                        <a:t>EmpNo</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Name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DNo</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JobID</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100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Ahmed</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2</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Sales_Rep</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200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Mai</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2</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IT_PROG</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300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Ali</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2</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Sales_Rep</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400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Mahmoud</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3</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Sales_Rep</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7" name="Rectangle 6"/>
          <p:cNvSpPr/>
          <p:nvPr/>
        </p:nvSpPr>
        <p:spPr>
          <a:xfrm>
            <a:off x="914400" y="5654260"/>
            <a:ext cx="8016240" cy="1375489"/>
          </a:xfrm>
          <a:prstGeom prst="rect">
            <a:avLst/>
          </a:prstGeom>
          <a:solidFill>
            <a:srgbClr val="F8FAFC"/>
          </a:solidFill>
          <a:ln w="14287">
            <a:solidFill>
              <a:srgbClr val="E2E8F0"/>
            </a:solidFill>
          </a:ln>
        </p:spPr>
        <p:txBody>
          <a:bodyPr rtlCol="0" anchor="ctr" lIns="0" rIns="0" tIns="0" bIns="0"/>
          <a:lstStyle/>
          <a:p>
            <a:pPr algn="ctr"/>
          </a:p>
        </p:txBody>
      </p:sp>
      <p:sp>
        <p:nvSpPr>
          <p:cNvPr id="8" name="TextBox 7"/>
          <p:cNvSpPr txBox="1"/>
          <p:nvPr/>
        </p:nvSpPr>
        <p:spPr>
          <a:xfrm>
            <a:off x="1181100" y="5920960"/>
            <a:ext cx="7482840" cy="842089"/>
          </a:xfrm>
          <a:prstGeom prst="rect">
            <a:avLst/>
          </a:prstGeom>
          <a:noFill/>
        </p:spPr>
        <p:txBody>
          <a:bodyPr wrap="none" lIns="0" rIns="0" tIns="0" bIns="0"/>
          <a:lstStyle/>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1" i="0" u="none">
                <a:solidFill>
                  <a:srgbClr val="0E8A8A"/>
                </a:solidFill>
                <a:latin typeface="Courier New"/>
              </a:rPr>
              <a:t>DISTINCT</a:t>
            </a:r>
            <a:r>
              <a:rPr sz="2511" b="0" i="0" u="none">
                <a:solidFill>
                  <a:srgbClr val="0F172A"/>
                </a:solidFill>
                <a:latin typeface="Courier New"/>
              </a:rPr>
              <a:t> </a:t>
            </a:r>
            <a:r>
              <a:rPr sz="2511" b="0" i="0" u="none">
                <a:solidFill>
                  <a:srgbClr val="0F172A"/>
                </a:solidFill>
                <a:latin typeface="Courier New"/>
              </a:rPr>
              <a:t>dno</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employees</a:t>
            </a:r>
            <a:r>
              <a:rPr sz="2511" b="0" i="0" u="none">
                <a:solidFill>
                  <a:srgbClr val="0F172A"/>
                </a:solidFill>
                <a:latin typeface="Courier New"/>
              </a:rPr>
              <a:t>;</a:t>
            </a:r>
          </a:p>
        </p:txBody>
      </p:sp>
      <p:graphicFrame>
        <p:nvGraphicFramePr>
          <p:cNvPr id="9" name="Table 8"/>
          <p:cNvGraphicFramePr>
            <a:graphicFrameLocks noGrp="1"/>
          </p:cNvGraphicFramePr>
          <p:nvPr/>
        </p:nvGraphicFramePr>
        <p:xfrm>
          <a:off x="914400" y="7189770"/>
          <a:ext cx="8016240" cy="1740120"/>
        </p:xfrm>
        <a:graphic>
          <a:graphicData uri="http://schemas.openxmlformats.org/drawingml/2006/table">
            <a:tbl>
              <a:tblPr firstRow="0" bandRow="0">
                <a:tableStyleId>{5940675A-B579-460E-94D1-54222C63F5DA}</a:tableStyleId>
              </a:tblPr>
              <a:tblGrid>
                <a:gridCol w="8016240"/>
              </a:tblGrid>
              <a:tr h="580040">
                <a:tc>
                  <a:txBody>
                    <a:bodyPr/>
                    <a:lstStyle/>
                    <a:p>
                      <a:r>
                        <a:rPr sz="2318" b="1" i="0" u="none">
                          <a:solidFill>
                            <a:srgbClr val="FFFFFF"/>
                          </a:solidFill>
                          <a:latin typeface="Arial"/>
                        </a:rPr>
                        <a:t>DNo</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2</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3</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10" name="Rectangle 9"/>
          <p:cNvSpPr/>
          <p:nvPr/>
        </p:nvSpPr>
        <p:spPr>
          <a:xfrm>
            <a:off x="9357360" y="5654260"/>
            <a:ext cx="8016240" cy="1375489"/>
          </a:xfrm>
          <a:prstGeom prst="rect">
            <a:avLst/>
          </a:prstGeom>
          <a:solidFill>
            <a:srgbClr val="F8FAFC"/>
          </a:solidFill>
          <a:ln w="14287">
            <a:solidFill>
              <a:srgbClr val="E2E8F0"/>
            </a:solidFill>
          </a:ln>
        </p:spPr>
        <p:txBody>
          <a:bodyPr rtlCol="0" anchor="ctr" lIns="0" rIns="0" tIns="0" bIns="0"/>
          <a:lstStyle/>
          <a:p>
            <a:pPr algn="ctr"/>
          </a:p>
        </p:txBody>
      </p:sp>
      <p:sp>
        <p:nvSpPr>
          <p:cNvPr id="11" name="TextBox 10"/>
          <p:cNvSpPr txBox="1"/>
          <p:nvPr/>
        </p:nvSpPr>
        <p:spPr>
          <a:xfrm>
            <a:off x="9624060" y="5920960"/>
            <a:ext cx="7482840" cy="842089"/>
          </a:xfrm>
          <a:prstGeom prst="rect">
            <a:avLst/>
          </a:prstGeom>
          <a:noFill/>
        </p:spPr>
        <p:txBody>
          <a:bodyPr wrap="none" lIns="0" rIns="0" tIns="0" bIns="0"/>
          <a:lstStyle/>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1" i="0" u="none">
                <a:solidFill>
                  <a:srgbClr val="0E8A8A"/>
                </a:solidFill>
                <a:latin typeface="Courier New"/>
              </a:rPr>
              <a:t>DISTINCT</a:t>
            </a:r>
            <a:r>
              <a:rPr sz="2511" b="0" i="0" u="none">
                <a:solidFill>
                  <a:srgbClr val="0F172A"/>
                </a:solidFill>
                <a:latin typeface="Courier New"/>
              </a:rPr>
              <a:t> </a:t>
            </a:r>
            <a:r>
              <a:rPr sz="2511" b="0" i="0" u="none">
                <a:solidFill>
                  <a:srgbClr val="0F172A"/>
                </a:solidFill>
                <a:latin typeface="Courier New"/>
              </a:rPr>
              <a:t>dno</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job_id</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employees</a:t>
            </a:r>
            <a:r>
              <a:rPr sz="2511" b="0" i="0" u="none">
                <a:solidFill>
                  <a:srgbClr val="0F172A"/>
                </a:solidFill>
                <a:latin typeface="Courier New"/>
              </a:rPr>
              <a:t>;</a:t>
            </a:r>
          </a:p>
        </p:txBody>
      </p:sp>
      <p:graphicFrame>
        <p:nvGraphicFramePr>
          <p:cNvPr id="12" name="Table 11"/>
          <p:cNvGraphicFramePr>
            <a:graphicFrameLocks noGrp="1"/>
          </p:cNvGraphicFramePr>
          <p:nvPr/>
        </p:nvGraphicFramePr>
        <p:xfrm>
          <a:off x="9357360" y="7189770"/>
          <a:ext cx="8016240" cy="2320160"/>
        </p:xfrm>
        <a:graphic>
          <a:graphicData uri="http://schemas.openxmlformats.org/drawingml/2006/table">
            <a:tbl>
              <a:tblPr firstRow="0" bandRow="0">
                <a:tableStyleId>{5940675A-B579-460E-94D1-54222C63F5DA}</a:tableStyleId>
              </a:tblPr>
              <a:tblGrid>
                <a:gridCol w="4008120"/>
                <a:gridCol w="4008120"/>
              </a:tblGrid>
              <a:tr h="580040">
                <a:tc>
                  <a:txBody>
                    <a:bodyPr/>
                    <a:lstStyle/>
                    <a:p>
                      <a:r>
                        <a:rPr sz="2318" b="1" i="0" u="none">
                          <a:solidFill>
                            <a:srgbClr val="FFFFFF"/>
                          </a:solidFill>
                          <a:latin typeface="Arial"/>
                        </a:rPr>
                        <a:t>DNo</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JobID</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2</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Sales_Rep</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2</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IT_PROG</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3</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Sales_Rep</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SELECT</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28/71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Comparison and pattern operators</a:t>
            </a:r>
          </a:p>
        </p:txBody>
      </p:sp>
      <p:graphicFrame>
        <p:nvGraphicFramePr>
          <p:cNvPr id="6" name="Table 5"/>
          <p:cNvGraphicFramePr>
            <a:graphicFrameLocks noGrp="1"/>
          </p:cNvGraphicFramePr>
          <p:nvPr/>
        </p:nvGraphicFramePr>
        <p:xfrm>
          <a:off x="914400" y="2482024"/>
          <a:ext cx="16459200" cy="3480240"/>
        </p:xfrm>
        <a:graphic>
          <a:graphicData uri="http://schemas.openxmlformats.org/drawingml/2006/table">
            <a:tbl>
              <a:tblPr firstRow="0" bandRow="0">
                <a:tableStyleId>{5940675A-B579-460E-94D1-54222C63F5DA}</a:tableStyleId>
              </a:tblPr>
              <a:tblGrid>
                <a:gridCol w="4608576"/>
                <a:gridCol w="5925312"/>
                <a:gridCol w="5925312"/>
              </a:tblGrid>
              <a:tr h="580040">
                <a:tc>
                  <a:txBody>
                    <a:bodyPr/>
                    <a:lstStyle/>
                    <a:p>
                      <a:r>
                        <a:rPr sz="2318" b="1" i="0" u="none">
                          <a:solidFill>
                            <a:srgbClr val="FFFFFF"/>
                          </a:solidFill>
                          <a:latin typeface="Arial"/>
                        </a:rPr>
                        <a:t>Operator</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Meaning</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Example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 &lt;&gt; != &lt; &lt;= &gt; &gt;=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Compare values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salary &gt; 1000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BETWEEN a AND b</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In range, </a:t>
                      </a:r>
                      <a:r>
                        <a:rPr sz="2318" b="1" i="0" u="none">
                          <a:solidFill>
                            <a:srgbClr val="334155"/>
                          </a:solidFill>
                          <a:latin typeface="Calibri"/>
                        </a:rPr>
                        <a:t>inclusive</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salary BETWEEN 1000 AND 3000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IN (list)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Equals any value in the list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dno IN (1, 4, 5)</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LIKE pattern</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_ = one char, % = any run of chars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fname LIKE '_s%'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IS NULL</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Value is missing</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super_ssn IS NULL</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7" name="Rectangle 6"/>
          <p:cNvSpPr/>
          <p:nvPr/>
        </p:nvSpPr>
        <p:spPr>
          <a:xfrm>
            <a:off x="914400" y="6415657"/>
            <a:ext cx="16459200" cy="1699369"/>
          </a:xfrm>
          <a:prstGeom prst="rect">
            <a:avLst/>
          </a:prstGeom>
          <a:solidFill>
            <a:srgbClr val="F8FAFC"/>
          </a:solidFill>
          <a:ln w="14287">
            <a:solidFill>
              <a:srgbClr val="E2E8F0"/>
            </a:solidFill>
          </a:ln>
        </p:spPr>
        <p:txBody>
          <a:bodyPr rtlCol="0" anchor="ctr" lIns="0" rIns="0" tIns="0" bIns="0"/>
          <a:lstStyle/>
          <a:p>
            <a:pPr algn="ctr"/>
          </a:p>
        </p:txBody>
      </p:sp>
      <p:sp>
        <p:nvSpPr>
          <p:cNvPr id="8" name="TextBox 7"/>
          <p:cNvSpPr txBox="1"/>
          <p:nvPr/>
        </p:nvSpPr>
        <p:spPr>
          <a:xfrm>
            <a:off x="1181100" y="6682357"/>
            <a:ext cx="15925800" cy="1165969"/>
          </a:xfrm>
          <a:prstGeom prst="rect">
            <a:avLst/>
          </a:prstGeom>
          <a:noFill/>
        </p:spPr>
        <p:txBody>
          <a:bodyPr wrap="none" lIns="0" rIns="0" tIns="0" bIns="0"/>
          <a:lstStyle/>
          <a:p>
            <a:pPr>
              <a:lnSpc>
                <a:spcPct val="110000"/>
              </a:lnSpc>
            </a:pPr>
            <a:r>
              <a:rPr sz="2318" b="1" i="0" u="none">
                <a:solidFill>
                  <a:srgbClr val="0E8A8A"/>
                </a:solidFill>
                <a:latin typeface="Courier New"/>
              </a:rPr>
              <a:t>SELECT</a:t>
            </a:r>
            <a:r>
              <a:rPr sz="2318" b="0" i="0" u="none">
                <a:solidFill>
                  <a:srgbClr val="0F172A"/>
                </a:solidFill>
                <a:latin typeface="Courier New"/>
              </a:rPr>
              <a:t> </a:t>
            </a:r>
            <a:r>
              <a:rPr sz="2318" b="0" i="0" u="none">
                <a:solidFill>
                  <a:srgbClr val="0F172A"/>
                </a:solidFill>
                <a:latin typeface="Courier New"/>
              </a:rPr>
              <a:t>fname</a:t>
            </a:r>
            <a:r>
              <a:rPr sz="2318" b="0" i="0" u="none">
                <a:solidFill>
                  <a:srgbClr val="0F172A"/>
                </a:solidFill>
                <a:latin typeface="Courier New"/>
              </a:rPr>
              <a:t>,</a:t>
            </a:r>
            <a:r>
              <a:rPr sz="2318" b="0" i="0" u="none">
                <a:solidFill>
                  <a:srgbClr val="0F172A"/>
                </a:solidFill>
                <a:latin typeface="Courier New"/>
              </a:rPr>
              <a:t> </a:t>
            </a:r>
            <a:r>
              <a:rPr sz="2318" b="0" i="0" u="none">
                <a:solidFill>
                  <a:srgbClr val="0F172A"/>
                </a:solidFill>
                <a:latin typeface="Courier New"/>
              </a:rPr>
              <a:t>salary</a:t>
            </a:r>
            <a:r>
              <a:rPr sz="2318" b="0" i="0" u="none">
                <a:solidFill>
                  <a:srgbClr val="0F172A"/>
                </a:solidFill>
                <a:latin typeface="Courier New"/>
              </a:rPr>
              <a:t> </a:t>
            </a:r>
            <a:r>
              <a:rPr sz="2318" b="1" i="0" u="none">
                <a:solidFill>
                  <a:srgbClr val="0E8A8A"/>
                </a:solidFill>
                <a:latin typeface="Courier New"/>
              </a:rPr>
              <a:t>FROM</a:t>
            </a:r>
            <a:r>
              <a:rPr sz="2318" b="0" i="0" u="none">
                <a:solidFill>
                  <a:srgbClr val="0F172A"/>
                </a:solidFill>
                <a:latin typeface="Courier New"/>
              </a:rPr>
              <a:t> </a:t>
            </a:r>
            <a:r>
              <a:rPr sz="2318" b="0" i="0" u="none">
                <a:solidFill>
                  <a:srgbClr val="0F172A"/>
                </a:solidFill>
                <a:latin typeface="Courier New"/>
              </a:rPr>
              <a:t>employee</a:t>
            </a:r>
            <a:r>
              <a:rPr sz="2318" b="0" i="0" u="none">
                <a:solidFill>
                  <a:srgbClr val="0F172A"/>
                </a:solidFill>
                <a:latin typeface="Courier New"/>
              </a:rPr>
              <a:t> </a:t>
            </a:r>
            <a:r>
              <a:rPr sz="2318" b="1" i="0" u="none">
                <a:solidFill>
                  <a:srgbClr val="0E8A8A"/>
                </a:solidFill>
                <a:latin typeface="Courier New"/>
              </a:rPr>
              <a:t>WHERE</a:t>
            </a:r>
            <a:r>
              <a:rPr sz="2318" b="0" i="0" u="none">
                <a:solidFill>
                  <a:srgbClr val="0F172A"/>
                </a:solidFill>
                <a:latin typeface="Courier New"/>
              </a:rPr>
              <a:t> </a:t>
            </a:r>
            <a:r>
              <a:rPr sz="2318" b="0" i="0" u="none">
                <a:solidFill>
                  <a:srgbClr val="0F172A"/>
                </a:solidFill>
                <a:latin typeface="Courier New"/>
              </a:rPr>
              <a:t>salary</a:t>
            </a:r>
            <a:r>
              <a:rPr sz="2318" b="0" i="0" u="none">
                <a:solidFill>
                  <a:srgbClr val="0F172A"/>
                </a:solidFill>
                <a:latin typeface="Courier New"/>
              </a:rPr>
              <a:t> </a:t>
            </a:r>
            <a:r>
              <a:rPr sz="2318" b="1" i="0" u="none">
                <a:solidFill>
                  <a:srgbClr val="0E8A8A"/>
                </a:solidFill>
                <a:latin typeface="Courier New"/>
              </a:rPr>
              <a:t>BETWEEN</a:t>
            </a:r>
            <a:r>
              <a:rPr sz="2318" b="0" i="0" u="none">
                <a:solidFill>
                  <a:srgbClr val="0F172A"/>
                </a:solidFill>
                <a:latin typeface="Courier New"/>
              </a:rPr>
              <a:t> </a:t>
            </a:r>
            <a:r>
              <a:rPr sz="2318" b="0" i="0" u="none">
                <a:solidFill>
                  <a:srgbClr val="B45309"/>
                </a:solidFill>
                <a:latin typeface="Courier New"/>
              </a:rPr>
              <a:t>1000</a:t>
            </a:r>
            <a:r>
              <a:rPr sz="2318" b="0" i="0" u="none">
                <a:solidFill>
                  <a:srgbClr val="0F172A"/>
                </a:solidFill>
                <a:latin typeface="Courier New"/>
              </a:rPr>
              <a:t> </a:t>
            </a:r>
            <a:r>
              <a:rPr sz="2318" b="1" i="0" u="none">
                <a:solidFill>
                  <a:srgbClr val="0E8A8A"/>
                </a:solidFill>
                <a:latin typeface="Courier New"/>
              </a:rPr>
              <a:t>AND</a:t>
            </a:r>
            <a:r>
              <a:rPr sz="2318" b="0" i="0" u="none">
                <a:solidFill>
                  <a:srgbClr val="0F172A"/>
                </a:solidFill>
                <a:latin typeface="Courier New"/>
              </a:rPr>
              <a:t> </a:t>
            </a:r>
            <a:r>
              <a:rPr sz="2318" b="0" i="0" u="none">
                <a:solidFill>
                  <a:srgbClr val="B45309"/>
                </a:solidFill>
                <a:latin typeface="Courier New"/>
              </a:rPr>
              <a:t>3000</a:t>
            </a:r>
            <a:r>
              <a:rPr sz="2318" b="0" i="0" u="none">
                <a:solidFill>
                  <a:srgbClr val="0F172A"/>
                </a:solidFill>
                <a:latin typeface="Courier New"/>
              </a:rPr>
              <a:t>;</a:t>
            </a:r>
          </a:p>
          <a:p>
            <a:pPr>
              <a:lnSpc>
                <a:spcPct val="110000"/>
              </a:lnSpc>
            </a:pPr>
            <a:r>
              <a:rPr sz="2318" b="1" i="0" u="none">
                <a:solidFill>
                  <a:srgbClr val="0E8A8A"/>
                </a:solidFill>
                <a:latin typeface="Courier New"/>
              </a:rPr>
              <a:t>SELECT</a:t>
            </a:r>
            <a:r>
              <a:rPr sz="2318" b="0" i="0" u="none">
                <a:solidFill>
                  <a:srgbClr val="0F172A"/>
                </a:solidFill>
                <a:latin typeface="Courier New"/>
              </a:rPr>
              <a:t> </a:t>
            </a:r>
            <a:r>
              <a:rPr sz="2318" b="0" i="0" u="none">
                <a:solidFill>
                  <a:srgbClr val="0F172A"/>
                </a:solidFill>
                <a:latin typeface="Courier New"/>
              </a:rPr>
              <a:t>ssn</a:t>
            </a:r>
            <a:r>
              <a:rPr sz="2318" b="0" i="0" u="none">
                <a:solidFill>
                  <a:srgbClr val="0F172A"/>
                </a:solidFill>
                <a:latin typeface="Courier New"/>
              </a:rPr>
              <a:t>,</a:t>
            </a:r>
            <a:r>
              <a:rPr sz="2318" b="0" i="0" u="none">
                <a:solidFill>
                  <a:srgbClr val="0F172A"/>
                </a:solidFill>
                <a:latin typeface="Courier New"/>
              </a:rPr>
              <a:t> </a:t>
            </a:r>
            <a:r>
              <a:rPr sz="2318" b="0" i="0" u="none">
                <a:solidFill>
                  <a:srgbClr val="0F172A"/>
                </a:solidFill>
                <a:latin typeface="Courier New"/>
              </a:rPr>
              <a:t>fname</a:t>
            </a:r>
            <a:r>
              <a:rPr sz="2318" b="0" i="0" u="none">
                <a:solidFill>
                  <a:srgbClr val="0F172A"/>
                </a:solidFill>
                <a:latin typeface="Courier New"/>
              </a:rPr>
              <a:t>    </a:t>
            </a:r>
            <a:r>
              <a:rPr sz="2318" b="1" i="0" u="none">
                <a:solidFill>
                  <a:srgbClr val="0E8A8A"/>
                </a:solidFill>
                <a:latin typeface="Courier New"/>
              </a:rPr>
              <a:t>FROM</a:t>
            </a:r>
            <a:r>
              <a:rPr sz="2318" b="0" i="0" u="none">
                <a:solidFill>
                  <a:srgbClr val="0F172A"/>
                </a:solidFill>
                <a:latin typeface="Courier New"/>
              </a:rPr>
              <a:t> </a:t>
            </a:r>
            <a:r>
              <a:rPr sz="2318" b="0" i="0" u="none">
                <a:solidFill>
                  <a:srgbClr val="0F172A"/>
                </a:solidFill>
                <a:latin typeface="Courier New"/>
              </a:rPr>
              <a:t>employee</a:t>
            </a:r>
            <a:r>
              <a:rPr sz="2318" b="0" i="0" u="none">
                <a:solidFill>
                  <a:srgbClr val="0F172A"/>
                </a:solidFill>
                <a:latin typeface="Courier New"/>
              </a:rPr>
              <a:t> </a:t>
            </a:r>
            <a:r>
              <a:rPr sz="2318" b="1" i="0" u="none">
                <a:solidFill>
                  <a:srgbClr val="0E8A8A"/>
                </a:solidFill>
                <a:latin typeface="Courier New"/>
              </a:rPr>
              <a:t>WHERE</a:t>
            </a:r>
            <a:r>
              <a:rPr sz="2318" b="0" i="0" u="none">
                <a:solidFill>
                  <a:srgbClr val="0F172A"/>
                </a:solidFill>
                <a:latin typeface="Courier New"/>
              </a:rPr>
              <a:t> </a:t>
            </a:r>
            <a:r>
              <a:rPr sz="2318" b="0" i="0" u="none">
                <a:solidFill>
                  <a:srgbClr val="0F172A"/>
                </a:solidFill>
                <a:latin typeface="Courier New"/>
              </a:rPr>
              <a:t>super_ssn</a:t>
            </a:r>
            <a:r>
              <a:rPr sz="2318" b="0" i="0" u="none">
                <a:solidFill>
                  <a:srgbClr val="0F172A"/>
                </a:solidFill>
                <a:latin typeface="Courier New"/>
              </a:rPr>
              <a:t> </a:t>
            </a:r>
            <a:r>
              <a:rPr sz="2318" b="1" i="0" u="none">
                <a:solidFill>
                  <a:srgbClr val="0E8A8A"/>
                </a:solidFill>
                <a:latin typeface="Courier New"/>
              </a:rPr>
              <a:t>IN</a:t>
            </a:r>
            <a:r>
              <a:rPr sz="2318" b="0" i="0" u="none">
                <a:solidFill>
                  <a:srgbClr val="0F172A"/>
                </a:solidFill>
                <a:latin typeface="Courier New"/>
              </a:rPr>
              <a:t> </a:t>
            </a:r>
            <a:r>
              <a:rPr sz="2318" b="0" i="0" u="none">
                <a:solidFill>
                  <a:srgbClr val="0F172A"/>
                </a:solidFill>
                <a:latin typeface="Courier New"/>
              </a:rPr>
              <a:t>(</a:t>
            </a:r>
            <a:r>
              <a:rPr sz="2318" b="0" i="0" u="none">
                <a:solidFill>
                  <a:srgbClr val="B45309"/>
                </a:solidFill>
                <a:latin typeface="Courier New"/>
              </a:rPr>
              <a:t>'333445555'</a:t>
            </a:r>
            <a:r>
              <a:rPr sz="2318" b="0" i="0" u="none">
                <a:solidFill>
                  <a:srgbClr val="0F172A"/>
                </a:solidFill>
                <a:latin typeface="Courier New"/>
              </a:rPr>
              <a:t>,</a:t>
            </a:r>
            <a:r>
              <a:rPr sz="2318" b="0" i="0" u="none">
                <a:solidFill>
                  <a:srgbClr val="0F172A"/>
                </a:solidFill>
                <a:latin typeface="Courier New"/>
              </a:rPr>
              <a:t> </a:t>
            </a:r>
            <a:r>
              <a:rPr sz="2318" b="0" i="0" u="none">
                <a:solidFill>
                  <a:srgbClr val="B45309"/>
                </a:solidFill>
                <a:latin typeface="Courier New"/>
              </a:rPr>
              <a:t>'987654321'</a:t>
            </a:r>
            <a:r>
              <a:rPr sz="2318" b="0" i="0" u="none">
                <a:solidFill>
                  <a:srgbClr val="0F172A"/>
                </a:solidFill>
                <a:latin typeface="Courier New"/>
              </a:rPr>
              <a:t>)</a:t>
            </a:r>
            <a:r>
              <a:rPr sz="2318" b="0" i="0" u="none">
                <a:solidFill>
                  <a:srgbClr val="0F172A"/>
                </a:solidFill>
                <a:latin typeface="Courier New"/>
              </a:rPr>
              <a:t>;</a:t>
            </a:r>
          </a:p>
          <a:p>
            <a:pPr>
              <a:lnSpc>
                <a:spcPct val="110000"/>
              </a:lnSpc>
            </a:pPr>
            <a:r>
              <a:rPr sz="2318" b="1" i="0" u="none">
                <a:solidFill>
                  <a:srgbClr val="0E8A8A"/>
                </a:solidFill>
                <a:latin typeface="Courier New"/>
              </a:rPr>
              <a:t>SELECT</a:t>
            </a:r>
            <a:r>
              <a:rPr sz="2318" b="0" i="0" u="none">
                <a:solidFill>
                  <a:srgbClr val="0F172A"/>
                </a:solidFill>
                <a:latin typeface="Courier New"/>
              </a:rPr>
              <a:t> </a:t>
            </a:r>
            <a:r>
              <a:rPr sz="2318" b="0" i="0" u="none">
                <a:solidFill>
                  <a:srgbClr val="0F172A"/>
                </a:solidFill>
                <a:latin typeface="Courier New"/>
              </a:rPr>
              <a:t>fname</a:t>
            </a:r>
            <a:r>
              <a:rPr sz="2318" b="0" i="0" u="none">
                <a:solidFill>
                  <a:srgbClr val="0F172A"/>
                </a:solidFill>
                <a:latin typeface="Courier New"/>
              </a:rPr>
              <a:t>         </a:t>
            </a:r>
            <a:r>
              <a:rPr sz="2318" b="1" i="0" u="none">
                <a:solidFill>
                  <a:srgbClr val="0E8A8A"/>
                </a:solidFill>
                <a:latin typeface="Courier New"/>
              </a:rPr>
              <a:t>FROM</a:t>
            </a:r>
            <a:r>
              <a:rPr sz="2318" b="0" i="0" u="none">
                <a:solidFill>
                  <a:srgbClr val="0F172A"/>
                </a:solidFill>
                <a:latin typeface="Courier New"/>
              </a:rPr>
              <a:t> </a:t>
            </a:r>
            <a:r>
              <a:rPr sz="2318" b="0" i="0" u="none">
                <a:solidFill>
                  <a:srgbClr val="0F172A"/>
                </a:solidFill>
                <a:latin typeface="Courier New"/>
              </a:rPr>
              <a:t>employee</a:t>
            </a:r>
            <a:r>
              <a:rPr sz="2318" b="0" i="0" u="none">
                <a:solidFill>
                  <a:srgbClr val="0F172A"/>
                </a:solidFill>
                <a:latin typeface="Courier New"/>
              </a:rPr>
              <a:t> </a:t>
            </a:r>
            <a:r>
              <a:rPr sz="2318" b="1" i="0" u="none">
                <a:solidFill>
                  <a:srgbClr val="0E8A8A"/>
                </a:solidFill>
                <a:latin typeface="Courier New"/>
              </a:rPr>
              <a:t>WHERE</a:t>
            </a:r>
            <a:r>
              <a:rPr sz="2318" b="0" i="0" u="none">
                <a:solidFill>
                  <a:srgbClr val="0F172A"/>
                </a:solidFill>
                <a:latin typeface="Courier New"/>
              </a:rPr>
              <a:t> </a:t>
            </a:r>
            <a:r>
              <a:rPr sz="2318" b="0" i="0" u="none">
                <a:solidFill>
                  <a:srgbClr val="0F172A"/>
                </a:solidFill>
                <a:latin typeface="Courier New"/>
              </a:rPr>
              <a:t>fname</a:t>
            </a:r>
            <a:r>
              <a:rPr sz="2318" b="0" i="0" u="none">
                <a:solidFill>
                  <a:srgbClr val="0F172A"/>
                </a:solidFill>
                <a:latin typeface="Courier New"/>
              </a:rPr>
              <a:t> </a:t>
            </a:r>
            <a:r>
              <a:rPr sz="2318" b="1" i="0" u="none">
                <a:solidFill>
                  <a:srgbClr val="0E8A8A"/>
                </a:solidFill>
                <a:latin typeface="Courier New"/>
              </a:rPr>
              <a:t>LIKE</a:t>
            </a:r>
            <a:r>
              <a:rPr sz="2318" b="0" i="0" u="none">
                <a:solidFill>
                  <a:srgbClr val="0F172A"/>
                </a:solidFill>
                <a:latin typeface="Courier New"/>
              </a:rPr>
              <a:t> </a:t>
            </a:r>
            <a:r>
              <a:rPr sz="2318" b="0" i="0" u="none">
                <a:solidFill>
                  <a:srgbClr val="B45309"/>
                </a:solidFill>
                <a:latin typeface="Courier New"/>
              </a:rPr>
              <a:t>'_s%'</a:t>
            </a:r>
            <a:r>
              <a:rPr sz="2318" b="0" i="0" u="none">
                <a:solidFill>
                  <a:srgbClr val="0F172A"/>
                </a:solidFill>
                <a:latin typeface="Courier New"/>
              </a:rPr>
              <a:t>;</a:t>
            </a:r>
            <a:r>
              <a:rPr sz="2318" b="0" i="0" u="none">
                <a:solidFill>
                  <a:srgbClr val="0F172A"/>
                </a:solidFill>
                <a:latin typeface="Courier New"/>
              </a:rPr>
              <a:t>   </a:t>
            </a:r>
            <a:r>
              <a:rPr sz="2318" b="0" i="1" u="none">
                <a:solidFill>
                  <a:srgbClr val="64748B"/>
                </a:solidFill>
                <a:latin typeface="Courier New"/>
              </a:rPr>
              <a:t>-- 2nd letter is 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SELECT</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29/71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NULL: the missing value</a:t>
            </a:r>
          </a:p>
        </p:txBody>
      </p:sp>
      <p:sp>
        <p:nvSpPr>
          <p:cNvPr id="6" name="Rectangle 5"/>
          <p:cNvSpPr/>
          <p:nvPr/>
        </p:nvSpPr>
        <p:spPr>
          <a:xfrm>
            <a:off x="914400" y="2482024"/>
            <a:ext cx="5919684" cy="5128320"/>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5119584" cy="4328220"/>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NULL means </a:t>
            </a:r>
            <a:r>
              <a:rPr sz="2704" b="0" i="1" u="none">
                <a:solidFill>
                  <a:srgbClr val="334155"/>
                </a:solidFill>
                <a:latin typeface="Calibri"/>
              </a:rPr>
              <a:t>unknown</a:t>
            </a:r>
            <a:r>
              <a:rPr sz="2704" b="0" i="0" u="none">
                <a:solidFill>
                  <a:srgbClr val="334155"/>
                </a:solidFill>
                <a:latin typeface="Calibri"/>
              </a:rPr>
              <a:t> or </a:t>
            </a:r>
            <a:r>
              <a:rPr sz="2704" b="0" i="1" u="none">
                <a:solidFill>
                  <a:srgbClr val="334155"/>
                </a:solidFill>
                <a:latin typeface="Calibri"/>
              </a:rPr>
              <a:t>not applicable</a:t>
            </a:r>
            <a:r>
              <a:rPr sz="2704" b="0" i="0" u="none">
                <a:solidFill>
                  <a:srgbClr val="334155"/>
                </a:solidFill>
                <a:latin typeface="Calibri"/>
              </a:rPr>
              <a:t>, not 0 or ''</a:t>
            </a:r>
          </a:p>
          <a:p>
            <a:pPr algn="l" marL="377860" indent="-377860">
              <a:lnSpc>
                <a:spcPct val="111800"/>
              </a:lnSpc>
              <a:spcBef>
                <a:spcPts val="676"/>
              </a:spcBef>
              <a:buChar char="•"/>
            </a:pPr>
            <a:r>
              <a:rPr sz="2704" b="0" i="0" u="none">
                <a:solidFill>
                  <a:srgbClr val="334155"/>
                </a:solidFill>
                <a:latin typeface="Calibri"/>
              </a:rPr>
              <a:t>Any comparison with NULL is </a:t>
            </a:r>
            <a:r>
              <a:rPr sz="2704" b="1" i="0" u="none">
                <a:solidFill>
                  <a:srgbClr val="334155"/>
                </a:solidFill>
                <a:latin typeface="Calibri"/>
              </a:rPr>
              <a:t>UNKNOWN</a:t>
            </a:r>
            <a:r>
              <a:rPr sz="2704" b="0" i="0" u="none">
                <a:solidFill>
                  <a:srgbClr val="334155"/>
                </a:solidFill>
                <a:latin typeface="Calibri"/>
              </a:rPr>
              <a:t>, so the row is filtered out</a:t>
            </a:r>
          </a:p>
          <a:p>
            <a:pPr algn="l" marL="377860" indent="-377860">
              <a:lnSpc>
                <a:spcPct val="111800"/>
              </a:lnSpc>
              <a:spcBef>
                <a:spcPts val="676"/>
              </a:spcBef>
              <a:buChar char="•"/>
            </a:pPr>
            <a:r>
              <a:rPr sz="2704" b="0" i="0" u="none">
                <a:solidFill>
                  <a:srgbClr val="334155"/>
                </a:solidFill>
                <a:latin typeface="Calibri"/>
              </a:rPr>
              <a:t>Use </a:t>
            </a:r>
            <a:r>
              <a:rPr sz="2704" b="1" i="0" u="none">
                <a:solidFill>
                  <a:srgbClr val="334155"/>
                </a:solidFill>
                <a:latin typeface="Calibri"/>
              </a:rPr>
              <a:t>IS NULL / IS NOT NULL</a:t>
            </a:r>
            <a:r>
              <a:rPr sz="2704" b="0" i="0" u="none">
                <a:solidFill>
                  <a:srgbClr val="334155"/>
                </a:solidFill>
                <a:latin typeface="Calibri"/>
              </a:rPr>
              <a:t>, never = NULL</a:t>
            </a:r>
          </a:p>
          <a:p>
            <a:pPr algn="l" marL="377860" indent="-377860">
              <a:lnSpc>
                <a:spcPct val="111800"/>
              </a:lnSpc>
              <a:spcBef>
                <a:spcPts val="676"/>
              </a:spcBef>
              <a:buChar char="•"/>
            </a:pPr>
            <a:r>
              <a:rPr sz="2704" b="0" i="0" u="none">
                <a:solidFill>
                  <a:srgbClr val="0F172A"/>
                </a:solidFill>
                <a:latin typeface="Courier New"/>
              </a:rPr>
              <a:t>COALESCE(x, default)</a:t>
            </a:r>
            <a:r>
              <a:rPr sz="2704" b="0" i="0" u="none">
                <a:solidFill>
                  <a:srgbClr val="334155"/>
                </a:solidFill>
                <a:latin typeface="Calibri"/>
              </a:rPr>
              <a:t> replaces NULL with a default</a:t>
            </a:r>
          </a:p>
        </p:txBody>
      </p:sp>
      <p:sp>
        <p:nvSpPr>
          <p:cNvPr id="8" name="Rectangle 7"/>
          <p:cNvSpPr/>
          <p:nvPr/>
        </p:nvSpPr>
        <p:spPr>
          <a:xfrm>
            <a:off x="7260804" y="2482024"/>
            <a:ext cx="10112795" cy="4743846"/>
          </a:xfrm>
          <a:prstGeom prst="rect">
            <a:avLst/>
          </a:prstGeom>
          <a:solidFill>
            <a:srgbClr val="F8FAFC"/>
          </a:solidFill>
          <a:ln w="14287">
            <a:solidFill>
              <a:srgbClr val="E2E8F0"/>
            </a:solidFill>
          </a:ln>
        </p:spPr>
        <p:txBody>
          <a:bodyPr rtlCol="0" anchor="ctr" lIns="0" rIns="0" tIns="0" bIns="0"/>
          <a:lstStyle/>
          <a:p>
            <a:pPr algn="ctr"/>
          </a:p>
        </p:txBody>
      </p:sp>
      <p:sp>
        <p:nvSpPr>
          <p:cNvPr id="9" name="TextBox 8"/>
          <p:cNvSpPr txBox="1"/>
          <p:nvPr/>
        </p:nvSpPr>
        <p:spPr>
          <a:xfrm>
            <a:off x="7527504" y="2748724"/>
            <a:ext cx="9579395" cy="4210446"/>
          </a:xfrm>
          <a:prstGeom prst="rect">
            <a:avLst/>
          </a:prstGeom>
          <a:noFill/>
        </p:spPr>
        <p:txBody>
          <a:bodyPr wrap="none" lIns="0" rIns="0" tIns="0" bIns="0"/>
          <a:lstStyle/>
          <a:p>
            <a:pPr>
              <a:lnSpc>
                <a:spcPct val="110000"/>
              </a:lnSpc>
            </a:pPr>
            <a:r>
              <a:rPr sz="2511" b="0" i="1" u="none">
                <a:solidFill>
                  <a:srgbClr val="64748B"/>
                </a:solidFill>
                <a:latin typeface="Courier New"/>
              </a:rPr>
              <a:t>-- employees with no supervisor</a:t>
            </a:r>
          </a:p>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fname</a:t>
            </a:r>
            <a:r>
              <a:rPr sz="2511" b="0" i="0" u="none">
                <a:solidFill>
                  <a:srgbClr val="0F172A"/>
                </a:solidFill>
                <a:latin typeface="Courier New"/>
              </a:rPr>
              <a:t> </a:t>
            </a: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a:t>
            </a:r>
          </a:p>
          <a:p>
            <a:pPr>
              <a:lnSpc>
                <a:spcPct val="110000"/>
              </a:lnSpc>
            </a:pPr>
            <a:r>
              <a:rPr sz="2511" b="1" i="0" u="none">
                <a:solidFill>
                  <a:srgbClr val="0E8A8A"/>
                </a:solidFill>
                <a:latin typeface="Courier New"/>
              </a:rPr>
              <a:t>WHERE</a:t>
            </a:r>
            <a:r>
              <a:rPr sz="2511" b="0" i="0" u="none">
                <a:solidFill>
                  <a:srgbClr val="0F172A"/>
                </a:solidFill>
                <a:latin typeface="Courier New"/>
              </a:rPr>
              <a:t>  </a:t>
            </a:r>
            <a:r>
              <a:rPr sz="2511" b="0" i="0" u="none">
                <a:solidFill>
                  <a:srgbClr val="0F172A"/>
                </a:solidFill>
                <a:latin typeface="Courier New"/>
              </a:rPr>
              <a:t>super_ssn</a:t>
            </a:r>
            <a:r>
              <a:rPr sz="2511" b="0" i="0" u="none">
                <a:solidFill>
                  <a:srgbClr val="0F172A"/>
                </a:solidFill>
                <a:latin typeface="Courier New"/>
              </a:rPr>
              <a:t> </a:t>
            </a:r>
            <a:r>
              <a:rPr sz="2511" b="1" i="0" u="none">
                <a:solidFill>
                  <a:srgbClr val="0E8A8A"/>
                </a:solidFill>
                <a:latin typeface="Courier New"/>
              </a:rPr>
              <a:t>IS</a:t>
            </a:r>
            <a:r>
              <a:rPr sz="2511" b="0" i="0" u="none">
                <a:solidFill>
                  <a:srgbClr val="0F172A"/>
                </a:solidFill>
                <a:latin typeface="Courier New"/>
              </a:rPr>
              <a:t> </a:t>
            </a:r>
            <a:r>
              <a:rPr sz="2511" b="1" i="0" u="none">
                <a:solidFill>
                  <a:srgbClr val="0E8A8A"/>
                </a:solidFill>
                <a:latin typeface="Courier New"/>
              </a:rPr>
              <a:t>NULL</a:t>
            </a:r>
            <a:r>
              <a:rPr sz="2511" b="0" i="0" u="none">
                <a:solidFill>
                  <a:srgbClr val="0F172A"/>
                </a:solidFill>
                <a:latin typeface="Courier New"/>
              </a:rPr>
              <a:t>;</a:t>
            </a:r>
          </a:p>
          <a:p>
            <a:pPr>
              <a:lnSpc>
                <a:spcPct val="110000"/>
              </a:lnSpc>
            </a:pPr>
            <a:r>
              <a:rPr sz="2511" b="0" i="0" u="none">
                <a:solidFill>
                  <a:srgbClr val="0F172A"/>
                </a:solidFill>
                <a:latin typeface="Courier New"/>
              </a:rPr>
              <a:t> </a:t>
            </a:r>
          </a:p>
          <a:p>
            <a:pPr>
              <a:lnSpc>
                <a:spcPct val="110000"/>
              </a:lnSpc>
            </a:pPr>
            <a:r>
              <a:rPr sz="2511" b="0" i="1" u="none">
                <a:solidFill>
                  <a:srgbClr val="64748B"/>
                </a:solidFill>
                <a:latin typeface="Courier New"/>
              </a:rPr>
              <a:t>-- WRONG: returns nothing</a:t>
            </a:r>
          </a:p>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fname</a:t>
            </a:r>
            <a:r>
              <a:rPr sz="2511" b="0" i="0" u="none">
                <a:solidFill>
                  <a:srgbClr val="0F172A"/>
                </a:solidFill>
                <a:latin typeface="Courier New"/>
              </a:rPr>
              <a:t> </a:t>
            </a: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a:t>
            </a:r>
          </a:p>
          <a:p>
            <a:pPr>
              <a:lnSpc>
                <a:spcPct val="110000"/>
              </a:lnSpc>
            </a:pPr>
            <a:r>
              <a:rPr sz="2511" b="1" i="0" u="none">
                <a:solidFill>
                  <a:srgbClr val="0E8A8A"/>
                </a:solidFill>
                <a:latin typeface="Courier New"/>
              </a:rPr>
              <a:t>WHERE</a:t>
            </a:r>
            <a:r>
              <a:rPr sz="2511" b="0" i="0" u="none">
                <a:solidFill>
                  <a:srgbClr val="0F172A"/>
                </a:solidFill>
                <a:latin typeface="Courier New"/>
              </a:rPr>
              <a:t>  </a:t>
            </a:r>
            <a:r>
              <a:rPr sz="2511" b="0" i="0" u="none">
                <a:solidFill>
                  <a:srgbClr val="0F172A"/>
                </a:solidFill>
                <a:latin typeface="Courier New"/>
              </a:rPr>
              <a:t>super_ssn</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1" i="0" u="none">
                <a:solidFill>
                  <a:srgbClr val="0E8A8A"/>
                </a:solidFill>
                <a:latin typeface="Courier New"/>
              </a:rPr>
              <a:t>NULL</a:t>
            </a:r>
            <a:r>
              <a:rPr sz="2511" b="0" i="0" u="none">
                <a:solidFill>
                  <a:srgbClr val="0F172A"/>
                </a:solidFill>
                <a:latin typeface="Courier New"/>
              </a:rPr>
              <a:t>;</a:t>
            </a:r>
          </a:p>
          <a:p>
            <a:pPr>
              <a:lnSpc>
                <a:spcPct val="110000"/>
              </a:lnSpc>
            </a:pPr>
            <a:r>
              <a:rPr sz="2511" b="0" i="0" u="none">
                <a:solidFill>
                  <a:srgbClr val="0F172A"/>
                </a:solidFill>
                <a:latin typeface="Courier New"/>
              </a:rPr>
              <a:t> </a:t>
            </a:r>
          </a:p>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fname</a:t>
            </a:r>
            <a:r>
              <a:rPr sz="2511" b="0" i="0" u="none">
                <a:solidFill>
                  <a:srgbClr val="0F172A"/>
                </a:solidFill>
                <a:latin typeface="Courier New"/>
              </a:rPr>
              <a:t>,</a:t>
            </a:r>
            <a:r>
              <a:rPr sz="2511" b="0" i="0" u="none">
                <a:solidFill>
                  <a:srgbClr val="0F172A"/>
                </a:solidFill>
                <a:latin typeface="Courier New"/>
              </a:rPr>
              <a:t> </a:t>
            </a:r>
            <a:r>
              <a:rPr sz="2511" b="1" i="0" u="none">
                <a:solidFill>
                  <a:srgbClr val="0E8A8A"/>
                </a:solidFill>
                <a:latin typeface="Courier New"/>
              </a:rPr>
              <a:t>COALESCE</a:t>
            </a:r>
            <a:r>
              <a:rPr sz="2511" b="0" i="0" u="none">
                <a:solidFill>
                  <a:srgbClr val="0F172A"/>
                </a:solidFill>
                <a:latin typeface="Courier New"/>
              </a:rPr>
              <a:t>(</a:t>
            </a:r>
            <a:r>
              <a:rPr sz="2511" b="0" i="0" u="none">
                <a:solidFill>
                  <a:srgbClr val="0F172A"/>
                </a:solidFill>
                <a:latin typeface="Courier New"/>
              </a:rPr>
              <a:t>super_ssn</a:t>
            </a:r>
            <a:r>
              <a:rPr sz="2511" b="0" i="0" u="none">
                <a:solidFill>
                  <a:srgbClr val="0F172A"/>
                </a:solidFill>
                <a:latin typeface="Courier New"/>
              </a:rPr>
              <a:t>,</a:t>
            </a:r>
            <a:r>
              <a:rPr sz="2511" b="0" i="0" u="none">
                <a:solidFill>
                  <a:srgbClr val="0F172A"/>
                </a:solidFill>
                <a:latin typeface="Courier New"/>
              </a:rPr>
              <a:t> </a:t>
            </a:r>
            <a:r>
              <a:rPr sz="2511" b="0" i="0" u="none">
                <a:solidFill>
                  <a:srgbClr val="B45309"/>
                </a:solidFill>
                <a:latin typeface="Courier New"/>
              </a:rPr>
              <a:t>'none'</a:t>
            </a:r>
            <a:r>
              <a:rPr sz="2511" b="0" i="0" u="none">
                <a:solidFill>
                  <a:srgbClr val="0F172A"/>
                </a:solidFill>
                <a:latin typeface="Courier New"/>
              </a:rPr>
              <a:t>)</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a:t>
            </a:r>
            <a:r>
              <a:rPr sz="2511" b="0" i="0" u="none">
                <a:solidFill>
                  <a:srgbClr val="0F172A"/>
                </a:solidFill>
                <a:latin typeface="Courier New"/>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SELECT</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30/71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AND, OR, NOT and precedence</a:t>
            </a:r>
          </a:p>
        </p:txBody>
      </p:sp>
      <p:sp>
        <p:nvSpPr>
          <p:cNvPr id="6" name="Rectangle 5"/>
          <p:cNvSpPr/>
          <p:nvPr/>
        </p:nvSpPr>
        <p:spPr>
          <a:xfrm>
            <a:off x="914400" y="2482024"/>
            <a:ext cx="8572500" cy="4613220"/>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4079820"/>
          </a:xfrm>
          <a:prstGeom prst="rect">
            <a:avLst/>
          </a:prstGeom>
          <a:noFill/>
        </p:spPr>
        <p:txBody>
          <a:bodyPr wrap="none" lIns="0" rIns="0" tIns="0" bIns="0"/>
          <a:lstStyle/>
          <a:p>
            <a:pPr>
              <a:lnSpc>
                <a:spcPct val="110000"/>
              </a:lnSpc>
            </a:pPr>
            <a:r>
              <a:rPr sz="2028" b="1" i="0" u="none">
                <a:solidFill>
                  <a:srgbClr val="0E8A8A"/>
                </a:solidFill>
                <a:latin typeface="Courier New"/>
              </a:rPr>
              <a:t>SELECT</a:t>
            </a:r>
            <a:r>
              <a:rPr sz="2028" b="0" i="0" u="none">
                <a:solidFill>
                  <a:srgbClr val="0F172A"/>
                </a:solidFill>
                <a:latin typeface="Courier New"/>
              </a:rPr>
              <a:t> </a:t>
            </a:r>
            <a:r>
              <a:rPr sz="2028" b="0" i="0" u="none">
                <a:solidFill>
                  <a:srgbClr val="0F172A"/>
                </a:solidFill>
                <a:latin typeface="Courier New"/>
              </a:rPr>
              <a:t>ssn</a:t>
            </a:r>
            <a:r>
              <a:rPr sz="2028" b="0" i="0" u="none">
                <a:solidFill>
                  <a:srgbClr val="0F172A"/>
                </a:solidFill>
                <a:latin typeface="Courier New"/>
              </a:rPr>
              <a:t>,</a:t>
            </a:r>
            <a:r>
              <a:rPr sz="2028" b="0" i="0" u="none">
                <a:solidFill>
                  <a:srgbClr val="0F172A"/>
                </a:solidFill>
                <a:latin typeface="Courier New"/>
              </a:rPr>
              <a:t> </a:t>
            </a:r>
            <a:r>
              <a:rPr sz="2028" b="0" i="0" u="none">
                <a:solidFill>
                  <a:srgbClr val="0F172A"/>
                </a:solidFill>
                <a:latin typeface="Courier New"/>
              </a:rPr>
              <a:t>fname</a:t>
            </a:r>
            <a:r>
              <a:rPr sz="2028" b="0" i="0" u="none">
                <a:solidFill>
                  <a:srgbClr val="0F172A"/>
                </a:solidFill>
                <a:latin typeface="Courier New"/>
              </a:rPr>
              <a:t>,</a:t>
            </a:r>
            <a:r>
              <a:rPr sz="2028" b="0" i="0" u="none">
                <a:solidFill>
                  <a:srgbClr val="0F172A"/>
                </a:solidFill>
                <a:latin typeface="Courier New"/>
              </a:rPr>
              <a:t> </a:t>
            </a:r>
            <a:r>
              <a:rPr sz="2028" b="0" i="0" u="none">
                <a:solidFill>
                  <a:srgbClr val="0F172A"/>
                </a:solidFill>
                <a:latin typeface="Courier New"/>
              </a:rPr>
              <a:t>salary</a:t>
            </a:r>
          </a:p>
          <a:p>
            <a:pPr>
              <a:lnSpc>
                <a:spcPct val="110000"/>
              </a:lnSpc>
            </a:pPr>
            <a:r>
              <a:rPr sz="2028" b="1" i="0" u="none">
                <a:solidFill>
                  <a:srgbClr val="0E8A8A"/>
                </a:solidFill>
                <a:latin typeface="Courier New"/>
              </a:rPr>
              <a:t>FROM</a:t>
            </a:r>
            <a:r>
              <a:rPr sz="2028" b="0" i="0" u="none">
                <a:solidFill>
                  <a:srgbClr val="0F172A"/>
                </a:solidFill>
                <a:latin typeface="Courier New"/>
              </a:rPr>
              <a:t>   </a:t>
            </a:r>
            <a:r>
              <a:rPr sz="2028" b="0" i="0" u="none">
                <a:solidFill>
                  <a:srgbClr val="0F172A"/>
                </a:solidFill>
                <a:latin typeface="Courier New"/>
              </a:rPr>
              <a:t>employee</a:t>
            </a:r>
          </a:p>
          <a:p>
            <a:pPr>
              <a:lnSpc>
                <a:spcPct val="110000"/>
              </a:lnSpc>
            </a:pPr>
            <a:r>
              <a:rPr sz="2028" b="1" i="0" u="none">
                <a:solidFill>
                  <a:srgbClr val="0E8A8A"/>
                </a:solidFill>
                <a:latin typeface="Courier New"/>
              </a:rPr>
              <a:t>WHERE</a:t>
            </a:r>
            <a:r>
              <a:rPr sz="2028" b="0" i="0" u="none">
                <a:solidFill>
                  <a:srgbClr val="0F172A"/>
                </a:solidFill>
                <a:latin typeface="Courier New"/>
              </a:rPr>
              <a:t>  </a:t>
            </a:r>
            <a:r>
              <a:rPr sz="2028" b="0" i="0" u="none">
                <a:solidFill>
                  <a:srgbClr val="0F172A"/>
                </a:solidFill>
                <a:latin typeface="Courier New"/>
              </a:rPr>
              <a:t>salary</a:t>
            </a:r>
            <a:r>
              <a:rPr sz="2028" b="0" i="0" u="none">
                <a:solidFill>
                  <a:srgbClr val="0F172A"/>
                </a:solidFill>
                <a:latin typeface="Courier New"/>
              </a:rPr>
              <a:t> </a:t>
            </a:r>
            <a:r>
              <a:rPr sz="2028" b="0" i="0" u="none">
                <a:solidFill>
                  <a:srgbClr val="0F172A"/>
                </a:solidFill>
                <a:latin typeface="Courier New"/>
              </a:rPr>
              <a:t>&gt;</a:t>
            </a:r>
            <a:r>
              <a:rPr sz="2028" b="0" i="0" u="none">
                <a:solidFill>
                  <a:srgbClr val="0F172A"/>
                </a:solidFill>
                <a:latin typeface="Courier New"/>
              </a:rPr>
              <a:t> </a:t>
            </a:r>
            <a:r>
              <a:rPr sz="2028" b="0" i="0" u="none">
                <a:solidFill>
                  <a:srgbClr val="B45309"/>
                </a:solidFill>
                <a:latin typeface="Courier New"/>
              </a:rPr>
              <a:t>5000</a:t>
            </a:r>
          </a:p>
          <a:p>
            <a:pPr>
              <a:lnSpc>
                <a:spcPct val="110000"/>
              </a:lnSpc>
            </a:pPr>
            <a:r>
              <a:rPr sz="2028" b="0" i="0" u="none">
                <a:solidFill>
                  <a:srgbClr val="0F172A"/>
                </a:solidFill>
                <a:latin typeface="Courier New"/>
              </a:rPr>
              <a:t>  </a:t>
            </a:r>
            <a:r>
              <a:rPr sz="2028" b="1" i="0" u="none">
                <a:solidFill>
                  <a:srgbClr val="0E8A8A"/>
                </a:solidFill>
                <a:latin typeface="Courier New"/>
              </a:rPr>
              <a:t>AND</a:t>
            </a:r>
            <a:r>
              <a:rPr sz="2028" b="0" i="0" u="none">
                <a:solidFill>
                  <a:srgbClr val="0F172A"/>
                </a:solidFill>
                <a:latin typeface="Courier New"/>
              </a:rPr>
              <a:t>  </a:t>
            </a:r>
            <a:r>
              <a:rPr sz="2028" b="0" i="0" u="none">
                <a:solidFill>
                  <a:srgbClr val="0F172A"/>
                </a:solidFill>
                <a:latin typeface="Courier New"/>
              </a:rPr>
              <a:t>title</a:t>
            </a:r>
            <a:r>
              <a:rPr sz="2028" b="0" i="0" u="none">
                <a:solidFill>
                  <a:srgbClr val="0F172A"/>
                </a:solidFill>
                <a:latin typeface="Courier New"/>
              </a:rPr>
              <a:t> </a:t>
            </a:r>
            <a:r>
              <a:rPr sz="2028" b="1" i="0" u="none">
                <a:solidFill>
                  <a:srgbClr val="0E8A8A"/>
                </a:solidFill>
                <a:latin typeface="Courier New"/>
              </a:rPr>
              <a:t>NOT</a:t>
            </a:r>
            <a:r>
              <a:rPr sz="2028" b="0" i="0" u="none">
                <a:solidFill>
                  <a:srgbClr val="0F172A"/>
                </a:solidFill>
                <a:latin typeface="Courier New"/>
              </a:rPr>
              <a:t> </a:t>
            </a:r>
            <a:r>
              <a:rPr sz="2028" b="1" i="0" u="none">
                <a:solidFill>
                  <a:srgbClr val="0E8A8A"/>
                </a:solidFill>
                <a:latin typeface="Courier New"/>
              </a:rPr>
              <a:t>LIKE</a:t>
            </a:r>
            <a:r>
              <a:rPr sz="2028" b="0" i="0" u="none">
                <a:solidFill>
                  <a:srgbClr val="0F172A"/>
                </a:solidFill>
                <a:latin typeface="Courier New"/>
              </a:rPr>
              <a:t> </a:t>
            </a:r>
            <a:r>
              <a:rPr sz="2028" b="0" i="0" u="none">
                <a:solidFill>
                  <a:srgbClr val="B45309"/>
                </a:solidFill>
                <a:latin typeface="Courier New"/>
              </a:rPr>
              <a:t>'%manager'</a:t>
            </a:r>
            <a:r>
              <a:rPr sz="2028" b="0" i="0" u="none">
                <a:solidFill>
                  <a:srgbClr val="0F172A"/>
                </a:solidFill>
                <a:latin typeface="Courier New"/>
              </a:rPr>
              <a:t>;</a:t>
            </a:r>
          </a:p>
          <a:p>
            <a:pPr>
              <a:lnSpc>
                <a:spcPct val="110000"/>
              </a:lnSpc>
            </a:pPr>
            <a:r>
              <a:rPr sz="2028" b="0" i="0" u="none">
                <a:solidFill>
                  <a:srgbClr val="0F172A"/>
                </a:solidFill>
                <a:latin typeface="Courier New"/>
              </a:rPr>
              <a:t> </a:t>
            </a:r>
          </a:p>
          <a:p>
            <a:pPr>
              <a:lnSpc>
                <a:spcPct val="110000"/>
              </a:lnSpc>
            </a:pPr>
            <a:r>
              <a:rPr sz="2028" b="0" i="1" u="none">
                <a:solidFill>
                  <a:srgbClr val="64748B"/>
                </a:solidFill>
                <a:latin typeface="Courier New"/>
              </a:rPr>
              <a:t>-- AND binds tighter than OR:</a:t>
            </a:r>
          </a:p>
          <a:p>
            <a:pPr>
              <a:lnSpc>
                <a:spcPct val="110000"/>
              </a:lnSpc>
            </a:pPr>
            <a:r>
              <a:rPr sz="2028" b="1" i="0" u="none">
                <a:solidFill>
                  <a:srgbClr val="0E8A8A"/>
                </a:solidFill>
                <a:latin typeface="Courier New"/>
              </a:rPr>
              <a:t>WHERE</a:t>
            </a:r>
            <a:r>
              <a:rPr sz="2028" b="0" i="0" u="none">
                <a:solidFill>
                  <a:srgbClr val="0F172A"/>
                </a:solidFill>
                <a:latin typeface="Courier New"/>
              </a:rPr>
              <a:t>  </a:t>
            </a:r>
            <a:r>
              <a:rPr sz="2028" b="0" i="0" u="none">
                <a:solidFill>
                  <a:srgbClr val="0F172A"/>
                </a:solidFill>
                <a:latin typeface="Courier New"/>
              </a:rPr>
              <a:t>salary</a:t>
            </a:r>
            <a:r>
              <a:rPr sz="2028" b="0" i="0" u="none">
                <a:solidFill>
                  <a:srgbClr val="0F172A"/>
                </a:solidFill>
                <a:latin typeface="Courier New"/>
              </a:rPr>
              <a:t> </a:t>
            </a:r>
            <a:r>
              <a:rPr sz="2028" b="0" i="0" u="none">
                <a:solidFill>
                  <a:srgbClr val="0F172A"/>
                </a:solidFill>
                <a:latin typeface="Courier New"/>
              </a:rPr>
              <a:t>&gt;</a:t>
            </a:r>
            <a:r>
              <a:rPr sz="2028" b="0" i="0" u="none">
                <a:solidFill>
                  <a:srgbClr val="0F172A"/>
                </a:solidFill>
                <a:latin typeface="Courier New"/>
              </a:rPr>
              <a:t> </a:t>
            </a:r>
            <a:r>
              <a:rPr sz="2028" b="0" i="0" u="none">
                <a:solidFill>
                  <a:srgbClr val="B45309"/>
                </a:solidFill>
                <a:latin typeface="Courier New"/>
              </a:rPr>
              <a:t>5000</a:t>
            </a:r>
            <a:r>
              <a:rPr sz="2028" b="0" i="0" u="none">
                <a:solidFill>
                  <a:srgbClr val="0F172A"/>
                </a:solidFill>
                <a:latin typeface="Courier New"/>
              </a:rPr>
              <a:t> </a:t>
            </a:r>
            <a:r>
              <a:rPr sz="2028" b="1" i="0" u="none">
                <a:solidFill>
                  <a:srgbClr val="0E8A8A"/>
                </a:solidFill>
                <a:latin typeface="Courier New"/>
              </a:rPr>
              <a:t>AND</a:t>
            </a:r>
            <a:r>
              <a:rPr sz="2028" b="0" i="0" u="none">
                <a:solidFill>
                  <a:srgbClr val="0F172A"/>
                </a:solidFill>
                <a:latin typeface="Courier New"/>
              </a:rPr>
              <a:t> </a:t>
            </a:r>
            <a:r>
              <a:rPr sz="2028" b="0" i="0" u="none">
                <a:solidFill>
                  <a:srgbClr val="0F172A"/>
                </a:solidFill>
                <a:latin typeface="Courier New"/>
              </a:rPr>
              <a:t>salary</a:t>
            </a:r>
            <a:r>
              <a:rPr sz="2028" b="0" i="0" u="none">
                <a:solidFill>
                  <a:srgbClr val="0F172A"/>
                </a:solidFill>
                <a:latin typeface="Courier New"/>
              </a:rPr>
              <a:t> </a:t>
            </a:r>
            <a:r>
              <a:rPr sz="2028" b="0" i="0" u="none">
                <a:solidFill>
                  <a:srgbClr val="0F172A"/>
                </a:solidFill>
                <a:latin typeface="Courier New"/>
              </a:rPr>
              <a:t>&lt;</a:t>
            </a:r>
            <a:r>
              <a:rPr sz="2028" b="0" i="0" u="none">
                <a:solidFill>
                  <a:srgbClr val="0F172A"/>
                </a:solidFill>
                <a:latin typeface="Courier New"/>
              </a:rPr>
              <a:t> </a:t>
            </a:r>
            <a:r>
              <a:rPr sz="2028" b="0" i="0" u="none">
                <a:solidFill>
                  <a:srgbClr val="B45309"/>
                </a:solidFill>
                <a:latin typeface="Courier New"/>
              </a:rPr>
              <a:t>10000</a:t>
            </a:r>
          </a:p>
          <a:p>
            <a:pPr>
              <a:lnSpc>
                <a:spcPct val="110000"/>
              </a:lnSpc>
            </a:pPr>
            <a:r>
              <a:rPr sz="2028" b="0" i="0" u="none">
                <a:solidFill>
                  <a:srgbClr val="0F172A"/>
                </a:solidFill>
                <a:latin typeface="Courier New"/>
              </a:rPr>
              <a:t>   </a:t>
            </a:r>
            <a:r>
              <a:rPr sz="2028" b="1" i="0" u="none">
                <a:solidFill>
                  <a:srgbClr val="0E8A8A"/>
                </a:solidFill>
                <a:latin typeface="Courier New"/>
              </a:rPr>
              <a:t>OR</a:t>
            </a:r>
            <a:r>
              <a:rPr sz="2028" b="0" i="0" u="none">
                <a:solidFill>
                  <a:srgbClr val="0F172A"/>
                </a:solidFill>
                <a:latin typeface="Courier New"/>
              </a:rPr>
              <a:t>  </a:t>
            </a:r>
            <a:r>
              <a:rPr sz="2028" b="0" i="0" u="none">
                <a:solidFill>
                  <a:srgbClr val="0F172A"/>
                </a:solidFill>
                <a:latin typeface="Courier New"/>
              </a:rPr>
              <a:t>title</a:t>
            </a:r>
            <a:r>
              <a:rPr sz="2028" b="0" i="0" u="none">
                <a:solidFill>
                  <a:srgbClr val="0F172A"/>
                </a:solidFill>
                <a:latin typeface="Courier New"/>
              </a:rPr>
              <a:t> </a:t>
            </a:r>
            <a:r>
              <a:rPr sz="2028" b="1" i="0" u="none">
                <a:solidFill>
                  <a:srgbClr val="0E8A8A"/>
                </a:solidFill>
                <a:latin typeface="Courier New"/>
              </a:rPr>
              <a:t>NOT</a:t>
            </a:r>
            <a:r>
              <a:rPr sz="2028" b="0" i="0" u="none">
                <a:solidFill>
                  <a:srgbClr val="0F172A"/>
                </a:solidFill>
                <a:latin typeface="Courier New"/>
              </a:rPr>
              <a:t> </a:t>
            </a:r>
            <a:r>
              <a:rPr sz="2028" b="1" i="0" u="none">
                <a:solidFill>
                  <a:srgbClr val="0E8A8A"/>
                </a:solidFill>
                <a:latin typeface="Courier New"/>
              </a:rPr>
              <a:t>LIKE</a:t>
            </a:r>
            <a:r>
              <a:rPr sz="2028" b="0" i="0" u="none">
                <a:solidFill>
                  <a:srgbClr val="0F172A"/>
                </a:solidFill>
                <a:latin typeface="Courier New"/>
              </a:rPr>
              <a:t> </a:t>
            </a:r>
            <a:r>
              <a:rPr sz="2028" b="0" i="0" u="none">
                <a:solidFill>
                  <a:srgbClr val="B45309"/>
                </a:solidFill>
                <a:latin typeface="Courier New"/>
              </a:rPr>
              <a:t>'%manager'</a:t>
            </a:r>
          </a:p>
          <a:p>
            <a:pPr>
              <a:lnSpc>
                <a:spcPct val="110000"/>
              </a:lnSpc>
            </a:pPr>
            <a:r>
              <a:rPr sz="2028" b="0" i="0" u="none">
                <a:solidFill>
                  <a:srgbClr val="0F172A"/>
                </a:solidFill>
                <a:latin typeface="Courier New"/>
              </a:rPr>
              <a:t> </a:t>
            </a:r>
          </a:p>
          <a:p>
            <a:pPr>
              <a:lnSpc>
                <a:spcPct val="110000"/>
              </a:lnSpc>
            </a:pPr>
            <a:r>
              <a:rPr sz="2028" b="0" i="1" u="none">
                <a:solidFill>
                  <a:srgbClr val="64748B"/>
                </a:solidFill>
                <a:latin typeface="Courier New"/>
              </a:rPr>
              <a:t>-- say what you mean with parentheses:</a:t>
            </a:r>
          </a:p>
          <a:p>
            <a:pPr>
              <a:lnSpc>
                <a:spcPct val="110000"/>
              </a:lnSpc>
            </a:pPr>
            <a:r>
              <a:rPr sz="2028" b="1" i="0" u="none">
                <a:solidFill>
                  <a:srgbClr val="0E8A8A"/>
                </a:solidFill>
                <a:latin typeface="Courier New"/>
              </a:rPr>
              <a:t>WHERE</a:t>
            </a:r>
            <a:r>
              <a:rPr sz="2028" b="0" i="0" u="none">
                <a:solidFill>
                  <a:srgbClr val="0F172A"/>
                </a:solidFill>
                <a:latin typeface="Courier New"/>
              </a:rPr>
              <a:t>  </a:t>
            </a:r>
            <a:r>
              <a:rPr sz="2028" b="0" i="0" u="none">
                <a:solidFill>
                  <a:srgbClr val="0F172A"/>
                </a:solidFill>
                <a:latin typeface="Courier New"/>
              </a:rPr>
              <a:t>salary</a:t>
            </a:r>
            <a:r>
              <a:rPr sz="2028" b="0" i="0" u="none">
                <a:solidFill>
                  <a:srgbClr val="0F172A"/>
                </a:solidFill>
                <a:latin typeface="Courier New"/>
              </a:rPr>
              <a:t> </a:t>
            </a:r>
            <a:r>
              <a:rPr sz="2028" b="0" i="0" u="none">
                <a:solidFill>
                  <a:srgbClr val="0F172A"/>
                </a:solidFill>
                <a:latin typeface="Courier New"/>
              </a:rPr>
              <a:t>&gt;</a:t>
            </a:r>
            <a:r>
              <a:rPr sz="2028" b="0" i="0" u="none">
                <a:solidFill>
                  <a:srgbClr val="0F172A"/>
                </a:solidFill>
                <a:latin typeface="Courier New"/>
              </a:rPr>
              <a:t> </a:t>
            </a:r>
            <a:r>
              <a:rPr sz="2028" b="0" i="0" u="none">
                <a:solidFill>
                  <a:srgbClr val="B45309"/>
                </a:solidFill>
                <a:latin typeface="Courier New"/>
              </a:rPr>
              <a:t>5000</a:t>
            </a:r>
          </a:p>
          <a:p>
            <a:pPr>
              <a:lnSpc>
                <a:spcPct val="110000"/>
              </a:lnSpc>
            </a:pPr>
            <a:r>
              <a:rPr sz="2028" b="0" i="0" u="none">
                <a:solidFill>
                  <a:srgbClr val="0F172A"/>
                </a:solidFill>
                <a:latin typeface="Courier New"/>
              </a:rPr>
              <a:t>  </a:t>
            </a:r>
            <a:r>
              <a:rPr sz="2028" b="1" i="0" u="none">
                <a:solidFill>
                  <a:srgbClr val="0E8A8A"/>
                </a:solidFill>
                <a:latin typeface="Courier New"/>
              </a:rPr>
              <a:t>AND</a:t>
            </a:r>
            <a:r>
              <a:rPr sz="2028" b="0" i="0" u="none">
                <a:solidFill>
                  <a:srgbClr val="0F172A"/>
                </a:solidFill>
                <a:latin typeface="Courier New"/>
              </a:rPr>
              <a:t> </a:t>
            </a:r>
            <a:r>
              <a:rPr sz="2028" b="0" i="0" u="none">
                <a:solidFill>
                  <a:srgbClr val="0F172A"/>
                </a:solidFill>
                <a:latin typeface="Courier New"/>
              </a:rPr>
              <a:t>(</a:t>
            </a:r>
            <a:r>
              <a:rPr sz="2028" b="0" i="0" u="none">
                <a:solidFill>
                  <a:srgbClr val="0F172A"/>
                </a:solidFill>
                <a:latin typeface="Courier New"/>
              </a:rPr>
              <a:t>salary</a:t>
            </a:r>
            <a:r>
              <a:rPr sz="2028" b="0" i="0" u="none">
                <a:solidFill>
                  <a:srgbClr val="0F172A"/>
                </a:solidFill>
                <a:latin typeface="Courier New"/>
              </a:rPr>
              <a:t> </a:t>
            </a:r>
            <a:r>
              <a:rPr sz="2028" b="0" i="0" u="none">
                <a:solidFill>
                  <a:srgbClr val="0F172A"/>
                </a:solidFill>
                <a:latin typeface="Courier New"/>
              </a:rPr>
              <a:t>&lt;</a:t>
            </a:r>
            <a:r>
              <a:rPr sz="2028" b="0" i="0" u="none">
                <a:solidFill>
                  <a:srgbClr val="0F172A"/>
                </a:solidFill>
                <a:latin typeface="Courier New"/>
              </a:rPr>
              <a:t> </a:t>
            </a:r>
            <a:r>
              <a:rPr sz="2028" b="0" i="0" u="none">
                <a:solidFill>
                  <a:srgbClr val="B45309"/>
                </a:solidFill>
                <a:latin typeface="Courier New"/>
              </a:rPr>
              <a:t>10000</a:t>
            </a:r>
            <a:r>
              <a:rPr sz="2028" b="0" i="0" u="none">
                <a:solidFill>
                  <a:srgbClr val="0F172A"/>
                </a:solidFill>
                <a:latin typeface="Courier New"/>
              </a:rPr>
              <a:t> </a:t>
            </a:r>
            <a:r>
              <a:rPr sz="2028" b="1" i="0" u="none">
                <a:solidFill>
                  <a:srgbClr val="0E8A8A"/>
                </a:solidFill>
                <a:latin typeface="Courier New"/>
              </a:rPr>
              <a:t>OR</a:t>
            </a:r>
            <a:r>
              <a:rPr sz="2028" b="0" i="0" u="none">
                <a:solidFill>
                  <a:srgbClr val="0F172A"/>
                </a:solidFill>
                <a:latin typeface="Courier New"/>
              </a:rPr>
              <a:t> </a:t>
            </a:r>
            <a:r>
              <a:rPr sz="2028" b="0" i="0" u="none">
                <a:solidFill>
                  <a:srgbClr val="0F172A"/>
                </a:solidFill>
                <a:latin typeface="Courier New"/>
              </a:rPr>
              <a:t>title</a:t>
            </a:r>
            <a:r>
              <a:rPr sz="2028" b="0" i="0" u="none">
                <a:solidFill>
                  <a:srgbClr val="0F172A"/>
                </a:solidFill>
                <a:latin typeface="Courier New"/>
              </a:rPr>
              <a:t> </a:t>
            </a:r>
            <a:r>
              <a:rPr sz="2028" b="1" i="0" u="none">
                <a:solidFill>
                  <a:srgbClr val="0E8A8A"/>
                </a:solidFill>
                <a:latin typeface="Courier New"/>
              </a:rPr>
              <a:t>NOT</a:t>
            </a:r>
            <a:r>
              <a:rPr sz="2028" b="0" i="0" u="none">
                <a:solidFill>
                  <a:srgbClr val="0F172A"/>
                </a:solidFill>
                <a:latin typeface="Courier New"/>
              </a:rPr>
              <a:t> </a:t>
            </a:r>
            <a:r>
              <a:rPr sz="2028" b="1" i="0" u="none">
                <a:solidFill>
                  <a:srgbClr val="0E8A8A"/>
                </a:solidFill>
                <a:latin typeface="Courier New"/>
              </a:rPr>
              <a:t>LIKE</a:t>
            </a:r>
            <a:r>
              <a:rPr sz="2028" b="0" i="0" u="none">
                <a:solidFill>
                  <a:srgbClr val="0F172A"/>
                </a:solidFill>
                <a:latin typeface="Courier New"/>
              </a:rPr>
              <a:t> </a:t>
            </a:r>
            <a:r>
              <a:rPr sz="2028" b="0" i="0" u="none">
                <a:solidFill>
                  <a:srgbClr val="B45309"/>
                </a:solidFill>
                <a:latin typeface="Courier New"/>
              </a:rPr>
              <a:t>'%manager'</a:t>
            </a:r>
            <a:r>
              <a:rPr sz="2028" b="0" i="0" u="none">
                <a:solidFill>
                  <a:srgbClr val="0F172A"/>
                </a:solidFill>
                <a:latin typeface="Courier New"/>
              </a:rPr>
              <a:t>)</a:t>
            </a:r>
          </a:p>
        </p:txBody>
      </p:sp>
      <p:sp>
        <p:nvSpPr>
          <p:cNvPr id="8" name="Rectangle 7"/>
          <p:cNvSpPr/>
          <p:nvPr/>
        </p:nvSpPr>
        <p:spPr>
          <a:xfrm>
            <a:off x="9913620" y="2482024"/>
            <a:ext cx="7459980" cy="3086199"/>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13670" y="2882074"/>
            <a:ext cx="665988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Precedence</a:t>
            </a:r>
          </a:p>
        </p:txBody>
      </p:sp>
      <p:sp>
        <p:nvSpPr>
          <p:cNvPr id="10" name="TextBox 9"/>
          <p:cNvSpPr txBox="1"/>
          <p:nvPr/>
        </p:nvSpPr>
        <p:spPr>
          <a:xfrm>
            <a:off x="10313670" y="3605204"/>
            <a:ext cx="6659880" cy="1562968"/>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NOT</a:t>
            </a:r>
          </a:p>
          <a:p>
            <a:pPr algn="l" marL="377860" indent="-377860">
              <a:lnSpc>
                <a:spcPct val="111800"/>
              </a:lnSpc>
              <a:spcBef>
                <a:spcPts val="676"/>
              </a:spcBef>
              <a:buChar char="•"/>
            </a:pPr>
            <a:r>
              <a:rPr sz="2704" b="0" i="0" u="none">
                <a:solidFill>
                  <a:srgbClr val="334155"/>
                </a:solidFill>
                <a:latin typeface="Calibri"/>
              </a:rPr>
              <a:t>AND</a:t>
            </a:r>
          </a:p>
          <a:p>
            <a:pPr algn="l" marL="377860" indent="-377860">
              <a:lnSpc>
                <a:spcPct val="111800"/>
              </a:lnSpc>
              <a:spcBef>
                <a:spcPts val="676"/>
              </a:spcBef>
              <a:buChar char="•"/>
            </a:pPr>
            <a:r>
              <a:rPr sz="2704" b="0" i="0" u="none">
                <a:solidFill>
                  <a:srgbClr val="334155"/>
                </a:solidFill>
                <a:latin typeface="Calibri"/>
              </a:rPr>
              <a:t>OR</a:t>
            </a:r>
          </a:p>
        </p:txBody>
      </p:sp>
      <p:sp>
        <p:nvSpPr>
          <p:cNvPr id="11" name="Rectangle 10"/>
          <p:cNvSpPr/>
          <p:nvPr/>
        </p:nvSpPr>
        <p:spPr>
          <a:xfrm>
            <a:off x="9913620" y="5781583"/>
            <a:ext cx="7459980" cy="1825241"/>
          </a:xfrm>
          <a:prstGeom prst="rect">
            <a:avLst/>
          </a:prstGeom>
          <a:solidFill>
            <a:srgbClr val="FEF3C7"/>
          </a:solidFill>
          <a:ln>
            <a:noFill/>
          </a:ln>
        </p:spPr>
        <p:txBody>
          <a:bodyPr rtlCol="0" anchor="ctr" lIns="0" rIns="0" tIns="0" bIns="0"/>
          <a:lstStyle/>
          <a:p>
            <a:pPr algn="ctr"/>
          </a:p>
        </p:txBody>
      </p:sp>
      <p:sp>
        <p:nvSpPr>
          <p:cNvPr id="12" name="Rectangle 11"/>
          <p:cNvSpPr/>
          <p:nvPr/>
        </p:nvSpPr>
        <p:spPr>
          <a:xfrm>
            <a:off x="9913620" y="5781583"/>
            <a:ext cx="47625" cy="1825241"/>
          </a:xfrm>
          <a:prstGeom prst="rect">
            <a:avLst/>
          </a:prstGeom>
          <a:solidFill>
            <a:srgbClr val="B45309"/>
          </a:solidFill>
          <a:ln>
            <a:noFill/>
          </a:ln>
        </p:spPr>
        <p:txBody>
          <a:bodyPr rtlCol="0" anchor="ctr" lIns="0" rIns="0" tIns="0" bIns="0"/>
          <a:lstStyle/>
          <a:p>
            <a:pPr algn="ctr"/>
          </a:p>
        </p:txBody>
      </p:sp>
      <p:sp>
        <p:nvSpPr>
          <p:cNvPr id="13" name="TextBox 12"/>
          <p:cNvSpPr txBox="1"/>
          <p:nvPr/>
        </p:nvSpPr>
        <p:spPr>
          <a:xfrm>
            <a:off x="10340340" y="6048283"/>
            <a:ext cx="6606540" cy="1291841"/>
          </a:xfrm>
          <a:prstGeom prst="rect">
            <a:avLst/>
          </a:prstGeom>
          <a:noFill/>
        </p:spPr>
        <p:txBody>
          <a:bodyPr wrap="square" lIns="0" rIns="0" tIns="0" bIns="0"/>
          <a:lstStyle/>
          <a:p>
            <a:pPr>
              <a:lnSpc>
                <a:spcPct val="112000"/>
              </a:lnSpc>
            </a:pPr>
            <a:r>
              <a:rPr sz="2511" b="0" i="0" u="none">
                <a:solidFill>
                  <a:srgbClr val="0F172A"/>
                </a:solidFill>
                <a:latin typeface="Calibri"/>
              </a:rPr>
              <a:t>The two last WHERE clauses return </a:t>
            </a:r>
            <a:r>
              <a:rPr sz="2511" b="1" i="0" u="none">
                <a:solidFill>
                  <a:srgbClr val="0F172A"/>
                </a:solidFill>
                <a:latin typeface="Calibri"/>
              </a:rPr>
              <a:t>different</a:t>
            </a:r>
            <a:r>
              <a:rPr sz="2511" b="0" i="0" u="none">
                <a:solidFill>
                  <a:srgbClr val="0F172A"/>
                </a:solidFill>
                <a:latin typeface="Calibri"/>
              </a:rPr>
              <a:t> rows. Use parentheses whenever you mix AND and 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SELECT</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31/71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Expressions and column aliases</a:t>
            </a:r>
          </a:p>
        </p:txBody>
      </p:sp>
      <p:sp>
        <p:nvSpPr>
          <p:cNvPr id="6" name="Rectangle 5"/>
          <p:cNvSpPr/>
          <p:nvPr/>
        </p:nvSpPr>
        <p:spPr>
          <a:xfrm>
            <a:off x="914400" y="2482024"/>
            <a:ext cx="8572500" cy="3230614"/>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2697214"/>
          </a:xfrm>
          <a:prstGeom prst="rect">
            <a:avLst/>
          </a:prstGeom>
          <a:noFill/>
        </p:spPr>
        <p:txBody>
          <a:bodyPr wrap="none" lIns="0" rIns="0" tIns="0" bIns="0"/>
          <a:lstStyle/>
          <a:p>
            <a:pPr>
              <a:lnSpc>
                <a:spcPct val="110000"/>
              </a:lnSpc>
            </a:pPr>
            <a:r>
              <a:rPr sz="2298" b="1" i="0" u="none">
                <a:solidFill>
                  <a:srgbClr val="0E8A8A"/>
                </a:solidFill>
                <a:latin typeface="Courier New"/>
              </a:rPr>
              <a:t>SELECT</a:t>
            </a:r>
            <a:r>
              <a:rPr sz="2298" b="0" i="0" u="none">
                <a:solidFill>
                  <a:srgbClr val="0F172A"/>
                </a:solidFill>
                <a:latin typeface="Courier New"/>
              </a:rPr>
              <a:t> </a:t>
            </a:r>
            <a:r>
              <a:rPr sz="2298" b="0" i="0" u="none">
                <a:solidFill>
                  <a:srgbClr val="0F172A"/>
                </a:solidFill>
                <a:latin typeface="Courier New"/>
              </a:rPr>
              <a:t>fname</a:t>
            </a:r>
            <a:r>
              <a:rPr sz="2298" b="0" i="0" u="none">
                <a:solidFill>
                  <a:srgbClr val="0F172A"/>
                </a:solidFill>
                <a:latin typeface="Courier New"/>
              </a:rPr>
              <a:t>,</a:t>
            </a:r>
            <a:r>
              <a:rPr sz="2298" b="0" i="0" u="none">
                <a:solidFill>
                  <a:srgbClr val="0F172A"/>
                </a:solidFill>
                <a:latin typeface="Courier New"/>
              </a:rPr>
              <a:t> </a:t>
            </a:r>
            <a:r>
              <a:rPr sz="2298" b="0" i="0" u="none">
                <a:solidFill>
                  <a:srgbClr val="0F172A"/>
                </a:solidFill>
                <a:latin typeface="Courier New"/>
              </a:rPr>
              <a:t>salary</a:t>
            </a:r>
            <a:r>
              <a:rPr sz="2298" b="0" i="0" u="none">
                <a:solidFill>
                  <a:srgbClr val="0F172A"/>
                </a:solidFill>
                <a:latin typeface="Courier New"/>
              </a:rPr>
              <a:t>,</a:t>
            </a:r>
            <a:r>
              <a:rPr sz="2298" b="0" i="0" u="none">
                <a:solidFill>
                  <a:srgbClr val="0F172A"/>
                </a:solidFill>
                <a:latin typeface="Courier New"/>
              </a:rPr>
              <a:t> </a:t>
            </a:r>
            <a:r>
              <a:rPr sz="2298" b="0" i="0" u="none">
                <a:solidFill>
                  <a:srgbClr val="0F172A"/>
                </a:solidFill>
                <a:latin typeface="Courier New"/>
              </a:rPr>
              <a:t>salary</a:t>
            </a:r>
            <a:r>
              <a:rPr sz="2298" b="0" i="0" u="none">
                <a:solidFill>
                  <a:srgbClr val="0F172A"/>
                </a:solidFill>
                <a:latin typeface="Courier New"/>
              </a:rPr>
              <a:t> </a:t>
            </a:r>
            <a:r>
              <a:rPr sz="2298" b="0" i="0" u="none">
                <a:solidFill>
                  <a:srgbClr val="0F172A"/>
                </a:solidFill>
                <a:latin typeface="Courier New"/>
              </a:rPr>
              <a:t>+</a:t>
            </a:r>
            <a:r>
              <a:rPr sz="2298" b="0" i="0" u="none">
                <a:solidFill>
                  <a:srgbClr val="0F172A"/>
                </a:solidFill>
                <a:latin typeface="Courier New"/>
              </a:rPr>
              <a:t> </a:t>
            </a:r>
            <a:r>
              <a:rPr sz="2298" b="0" i="0" u="none">
                <a:solidFill>
                  <a:srgbClr val="B45309"/>
                </a:solidFill>
                <a:latin typeface="Courier New"/>
              </a:rPr>
              <a:t>300</a:t>
            </a:r>
          </a:p>
          <a:p>
            <a:pPr>
              <a:lnSpc>
                <a:spcPct val="110000"/>
              </a:lnSpc>
            </a:pPr>
            <a:r>
              <a:rPr sz="2298" b="1" i="0" u="none">
                <a:solidFill>
                  <a:srgbClr val="0E8A8A"/>
                </a:solidFill>
                <a:latin typeface="Courier New"/>
              </a:rPr>
              <a:t>FROM</a:t>
            </a:r>
            <a:r>
              <a:rPr sz="2298" b="0" i="0" u="none">
                <a:solidFill>
                  <a:srgbClr val="0F172A"/>
                </a:solidFill>
                <a:latin typeface="Courier New"/>
              </a:rPr>
              <a:t>   </a:t>
            </a:r>
            <a:r>
              <a:rPr sz="2298" b="0" i="0" u="none">
                <a:solidFill>
                  <a:srgbClr val="0F172A"/>
                </a:solidFill>
                <a:latin typeface="Courier New"/>
              </a:rPr>
              <a:t>employee</a:t>
            </a:r>
            <a:r>
              <a:rPr sz="2298" b="0" i="0" u="none">
                <a:solidFill>
                  <a:srgbClr val="0F172A"/>
                </a:solidFill>
                <a:latin typeface="Courier New"/>
              </a:rPr>
              <a:t>;</a:t>
            </a:r>
          </a:p>
          <a:p>
            <a:pPr>
              <a:lnSpc>
                <a:spcPct val="110000"/>
              </a:lnSpc>
            </a:pPr>
            <a:r>
              <a:rPr sz="2298" b="0" i="0" u="none">
                <a:solidFill>
                  <a:srgbClr val="0F172A"/>
                </a:solidFill>
                <a:latin typeface="Courier New"/>
              </a:rPr>
              <a:t> </a:t>
            </a:r>
          </a:p>
          <a:p>
            <a:pPr>
              <a:lnSpc>
                <a:spcPct val="110000"/>
              </a:lnSpc>
            </a:pPr>
            <a:r>
              <a:rPr sz="2298" b="1" i="0" u="none">
                <a:solidFill>
                  <a:srgbClr val="0E8A8A"/>
                </a:solidFill>
                <a:latin typeface="Courier New"/>
              </a:rPr>
              <a:t>SELECT</a:t>
            </a:r>
            <a:r>
              <a:rPr sz="2298" b="0" i="0" u="none">
                <a:solidFill>
                  <a:srgbClr val="0F172A"/>
                </a:solidFill>
                <a:latin typeface="Courier New"/>
              </a:rPr>
              <a:t> </a:t>
            </a:r>
            <a:r>
              <a:rPr sz="2298" b="0" i="0" u="none">
                <a:solidFill>
                  <a:srgbClr val="0F172A"/>
                </a:solidFill>
                <a:latin typeface="Courier New"/>
              </a:rPr>
              <a:t>fname</a:t>
            </a:r>
            <a:r>
              <a:rPr sz="2298" b="0" i="0" u="none">
                <a:solidFill>
                  <a:srgbClr val="0F172A"/>
                </a:solidFill>
                <a:latin typeface="Courier New"/>
              </a:rPr>
              <a:t>,</a:t>
            </a:r>
          </a:p>
          <a:p>
            <a:pPr>
              <a:lnSpc>
                <a:spcPct val="110000"/>
              </a:lnSpc>
            </a:pPr>
            <a:r>
              <a:rPr sz="2298" b="0" i="0" u="none">
                <a:solidFill>
                  <a:srgbClr val="0F172A"/>
                </a:solidFill>
                <a:latin typeface="Courier New"/>
              </a:rPr>
              <a:t>       </a:t>
            </a:r>
            <a:r>
              <a:rPr sz="2298" b="0" i="0" u="none">
                <a:solidFill>
                  <a:srgbClr val="0F172A"/>
                </a:solidFill>
                <a:latin typeface="Courier New"/>
              </a:rPr>
              <a:t>salary</a:t>
            </a:r>
            <a:r>
              <a:rPr sz="2298" b="0" i="0" u="none">
                <a:solidFill>
                  <a:srgbClr val="0F172A"/>
                </a:solidFill>
                <a:latin typeface="Courier New"/>
              </a:rPr>
              <a:t>,</a:t>
            </a:r>
          </a:p>
          <a:p>
            <a:pPr>
              <a:lnSpc>
                <a:spcPct val="110000"/>
              </a:lnSpc>
            </a:pPr>
            <a:r>
              <a:rPr sz="2298" b="0" i="0" u="none">
                <a:solidFill>
                  <a:srgbClr val="0F172A"/>
                </a:solidFill>
                <a:latin typeface="Courier New"/>
              </a:rPr>
              <a:t>       </a:t>
            </a:r>
            <a:r>
              <a:rPr sz="2298" b="0" i="0" u="none">
                <a:solidFill>
                  <a:srgbClr val="B45309"/>
                </a:solidFill>
                <a:latin typeface="Courier New"/>
              </a:rPr>
              <a:t>10</a:t>
            </a:r>
            <a:r>
              <a:rPr sz="2298" b="0" i="0" u="none">
                <a:solidFill>
                  <a:srgbClr val="0F172A"/>
                </a:solidFill>
                <a:latin typeface="Courier New"/>
              </a:rPr>
              <a:t> </a:t>
            </a:r>
            <a:r>
              <a:rPr sz="2298" b="0" i="0" u="none">
                <a:solidFill>
                  <a:srgbClr val="0F172A"/>
                </a:solidFill>
                <a:latin typeface="Courier New"/>
              </a:rPr>
              <a:t>*</a:t>
            </a:r>
            <a:r>
              <a:rPr sz="2298" b="0" i="0" u="none">
                <a:solidFill>
                  <a:srgbClr val="0F172A"/>
                </a:solidFill>
                <a:latin typeface="Courier New"/>
              </a:rPr>
              <a:t> </a:t>
            </a:r>
            <a:r>
              <a:rPr sz="2298" b="0" i="0" u="none">
                <a:solidFill>
                  <a:srgbClr val="0F172A"/>
                </a:solidFill>
                <a:latin typeface="Courier New"/>
              </a:rPr>
              <a:t>(</a:t>
            </a:r>
            <a:r>
              <a:rPr sz="2298" b="0" i="0" u="none">
                <a:solidFill>
                  <a:srgbClr val="0F172A"/>
                </a:solidFill>
                <a:latin typeface="Courier New"/>
              </a:rPr>
              <a:t>salary</a:t>
            </a:r>
            <a:r>
              <a:rPr sz="2298" b="0" i="0" u="none">
                <a:solidFill>
                  <a:srgbClr val="0F172A"/>
                </a:solidFill>
                <a:latin typeface="Courier New"/>
              </a:rPr>
              <a:t> </a:t>
            </a:r>
            <a:r>
              <a:rPr sz="2298" b="0" i="0" u="none">
                <a:solidFill>
                  <a:srgbClr val="0F172A"/>
                </a:solidFill>
                <a:latin typeface="Courier New"/>
              </a:rPr>
              <a:t>+</a:t>
            </a:r>
            <a:r>
              <a:rPr sz="2298" b="0" i="0" u="none">
                <a:solidFill>
                  <a:srgbClr val="0F172A"/>
                </a:solidFill>
                <a:latin typeface="Courier New"/>
              </a:rPr>
              <a:t> </a:t>
            </a:r>
            <a:r>
              <a:rPr sz="2298" b="0" i="0" u="none">
                <a:solidFill>
                  <a:srgbClr val="B45309"/>
                </a:solidFill>
                <a:latin typeface="Courier New"/>
              </a:rPr>
              <a:t>300</a:t>
            </a:r>
            <a:r>
              <a:rPr sz="2298" b="0" i="0" u="none">
                <a:solidFill>
                  <a:srgbClr val="0F172A"/>
                </a:solidFill>
                <a:latin typeface="Courier New"/>
              </a:rPr>
              <a:t>)</a:t>
            </a:r>
            <a:r>
              <a:rPr sz="2298" b="0" i="0" u="none">
                <a:solidFill>
                  <a:srgbClr val="0F172A"/>
                </a:solidFill>
                <a:latin typeface="Courier New"/>
              </a:rPr>
              <a:t> </a:t>
            </a:r>
            <a:r>
              <a:rPr sz="2298" b="1" i="0" u="none">
                <a:solidFill>
                  <a:srgbClr val="0E8A8A"/>
                </a:solidFill>
                <a:latin typeface="Courier New"/>
              </a:rPr>
              <a:t>AS</a:t>
            </a:r>
            <a:r>
              <a:rPr sz="2298" b="0" i="0" u="none">
                <a:solidFill>
                  <a:srgbClr val="0F172A"/>
                </a:solidFill>
                <a:latin typeface="Courier New"/>
              </a:rPr>
              <a:t> </a:t>
            </a:r>
            <a:r>
              <a:rPr sz="2298" b="0" i="0" u="none">
                <a:solidFill>
                  <a:srgbClr val="0F172A"/>
                </a:solidFill>
                <a:latin typeface="Courier New"/>
              </a:rPr>
              <a:t>proposed_salary</a:t>
            </a:r>
          </a:p>
          <a:p>
            <a:pPr>
              <a:lnSpc>
                <a:spcPct val="110000"/>
              </a:lnSpc>
            </a:pPr>
            <a:r>
              <a:rPr sz="2298" b="1" i="0" u="none">
                <a:solidFill>
                  <a:srgbClr val="0E8A8A"/>
                </a:solidFill>
                <a:latin typeface="Courier New"/>
              </a:rPr>
              <a:t>FROM</a:t>
            </a:r>
            <a:r>
              <a:rPr sz="2298" b="0" i="0" u="none">
                <a:solidFill>
                  <a:srgbClr val="0F172A"/>
                </a:solidFill>
                <a:latin typeface="Courier New"/>
              </a:rPr>
              <a:t>   </a:t>
            </a:r>
            <a:r>
              <a:rPr sz="2298" b="0" i="0" u="none">
                <a:solidFill>
                  <a:srgbClr val="0F172A"/>
                </a:solidFill>
                <a:latin typeface="Courier New"/>
              </a:rPr>
              <a:t>employee</a:t>
            </a:r>
            <a:r>
              <a:rPr sz="2298" b="0" i="0" u="none">
                <a:solidFill>
                  <a:srgbClr val="0F172A"/>
                </a:solidFill>
                <a:latin typeface="Courier New"/>
              </a:rPr>
              <a:t>;</a:t>
            </a:r>
          </a:p>
        </p:txBody>
      </p:sp>
      <p:sp>
        <p:nvSpPr>
          <p:cNvPr id="8" name="Rectangle 7"/>
          <p:cNvSpPr/>
          <p:nvPr/>
        </p:nvSpPr>
        <p:spPr>
          <a:xfrm>
            <a:off x="9913620" y="2482024"/>
            <a:ext cx="7459980" cy="2553759"/>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13670" y="2882074"/>
            <a:ext cx="665988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Precedence</a:t>
            </a:r>
          </a:p>
        </p:txBody>
      </p:sp>
      <p:sp>
        <p:nvSpPr>
          <p:cNvPr id="10" name="TextBox 9"/>
          <p:cNvSpPr txBox="1"/>
          <p:nvPr/>
        </p:nvSpPr>
        <p:spPr>
          <a:xfrm>
            <a:off x="10313670" y="3605204"/>
            <a:ext cx="6659880" cy="1030528"/>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 and / before + and -</a:t>
            </a:r>
          </a:p>
          <a:p>
            <a:pPr algn="l" marL="377860" indent="-377860">
              <a:lnSpc>
                <a:spcPct val="111800"/>
              </a:lnSpc>
              <a:spcBef>
                <a:spcPts val="676"/>
              </a:spcBef>
              <a:buChar char="•"/>
            </a:pPr>
            <a:r>
              <a:rPr sz="2704" b="0" i="0" u="none">
                <a:solidFill>
                  <a:srgbClr val="334155"/>
                </a:solidFill>
                <a:latin typeface="Calibri"/>
              </a:rPr>
              <a:t>Parentheses first</a:t>
            </a:r>
          </a:p>
        </p:txBody>
      </p:sp>
      <p:sp>
        <p:nvSpPr>
          <p:cNvPr id="11" name="Rectangle 10"/>
          <p:cNvSpPr/>
          <p:nvPr/>
        </p:nvSpPr>
        <p:spPr>
          <a:xfrm>
            <a:off x="9913620" y="5249143"/>
            <a:ext cx="7459980" cy="1410576"/>
          </a:xfrm>
          <a:prstGeom prst="rect">
            <a:avLst/>
          </a:prstGeom>
          <a:solidFill>
            <a:srgbClr val="E6F4F4"/>
          </a:solidFill>
          <a:ln>
            <a:noFill/>
          </a:ln>
        </p:spPr>
        <p:txBody>
          <a:bodyPr rtlCol="0" anchor="ctr" lIns="0" rIns="0" tIns="0" bIns="0"/>
          <a:lstStyle/>
          <a:p>
            <a:pPr algn="ctr"/>
          </a:p>
        </p:txBody>
      </p:sp>
      <p:sp>
        <p:nvSpPr>
          <p:cNvPr id="12" name="Rectangle 11"/>
          <p:cNvSpPr/>
          <p:nvPr/>
        </p:nvSpPr>
        <p:spPr>
          <a:xfrm>
            <a:off x="9913620" y="5249143"/>
            <a:ext cx="47625" cy="1410576"/>
          </a:xfrm>
          <a:prstGeom prst="rect">
            <a:avLst/>
          </a:prstGeom>
          <a:solidFill>
            <a:srgbClr val="0E8A8A"/>
          </a:solidFill>
          <a:ln>
            <a:noFill/>
          </a:ln>
        </p:spPr>
        <p:txBody>
          <a:bodyPr rtlCol="0" anchor="ctr" lIns="0" rIns="0" tIns="0" bIns="0"/>
          <a:lstStyle/>
          <a:p>
            <a:pPr algn="ctr"/>
          </a:p>
        </p:txBody>
      </p:sp>
      <p:sp>
        <p:nvSpPr>
          <p:cNvPr id="13" name="TextBox 12"/>
          <p:cNvSpPr txBox="1"/>
          <p:nvPr/>
        </p:nvSpPr>
        <p:spPr>
          <a:xfrm>
            <a:off x="10340340" y="5515843"/>
            <a:ext cx="6606540" cy="877176"/>
          </a:xfrm>
          <a:prstGeom prst="rect">
            <a:avLst/>
          </a:prstGeom>
          <a:noFill/>
        </p:spPr>
        <p:txBody>
          <a:bodyPr wrap="square" lIns="0" rIns="0" tIns="0" bIns="0"/>
          <a:lstStyle/>
          <a:p>
            <a:pPr>
              <a:lnSpc>
                <a:spcPct val="112000"/>
              </a:lnSpc>
            </a:pPr>
            <a:r>
              <a:rPr sz="2511" b="0" i="0" u="none">
                <a:solidFill>
                  <a:srgbClr val="0F172A"/>
                </a:solidFill>
                <a:latin typeface="Calibri"/>
              </a:rPr>
              <a:t>Aliases with spaces need quotes: </a:t>
            </a:r>
            <a:r>
              <a:rPr sz="2511" b="1" i="0" u="none">
                <a:solidFill>
                  <a:srgbClr val="0F172A"/>
                </a:solidFill>
                <a:latin typeface="Calibri"/>
              </a:rPr>
              <a:t>AS "Proposed salary"</a:t>
            </a:r>
            <a:r>
              <a:rPr sz="2511" b="0" i="0" u="none">
                <a:solidFill>
                  <a:srgbClr val="0F172A"/>
                </a:solidFill>
                <a:latin typeface="Calibri"/>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SELECT</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32/71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ORDER BY and limiting rows</a:t>
            </a:r>
          </a:p>
        </p:txBody>
      </p:sp>
      <p:sp>
        <p:nvSpPr>
          <p:cNvPr id="6" name="Rectangle 5"/>
          <p:cNvSpPr/>
          <p:nvPr/>
        </p:nvSpPr>
        <p:spPr>
          <a:xfrm>
            <a:off x="914400" y="2482024"/>
            <a:ext cx="9553575" cy="4547981"/>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9020175" cy="4014581"/>
          </a:xfrm>
          <a:prstGeom prst="rect">
            <a:avLst/>
          </a:prstGeom>
          <a:noFill/>
        </p:spPr>
        <p:txBody>
          <a:bodyPr wrap="none" lIns="0" rIns="0" tIns="0" bIns="0"/>
          <a:lstStyle/>
          <a:p>
            <a:pPr>
              <a:lnSpc>
                <a:spcPct val="110000"/>
              </a:lnSpc>
            </a:pPr>
            <a:r>
              <a:rPr sz="1842" b="1" i="0" u="none">
                <a:solidFill>
                  <a:srgbClr val="0E8A8A"/>
                </a:solidFill>
                <a:latin typeface="Courier New"/>
              </a:rPr>
              <a:t>SELECT</a:t>
            </a:r>
            <a:r>
              <a:rPr sz="1842" b="0" i="0" u="none">
                <a:solidFill>
                  <a:srgbClr val="0F172A"/>
                </a:solidFill>
                <a:latin typeface="Courier New"/>
              </a:rPr>
              <a:t>   </a:t>
            </a:r>
            <a:r>
              <a:rPr sz="1842" b="0" i="0" u="none">
                <a:solidFill>
                  <a:srgbClr val="0F172A"/>
                </a:solidFill>
                <a:latin typeface="Courier New"/>
              </a:rPr>
              <a:t>fname</a:t>
            </a:r>
            <a:r>
              <a:rPr sz="1842" b="0" i="0" u="none">
                <a:solidFill>
                  <a:srgbClr val="0F172A"/>
                </a:solidFill>
                <a:latin typeface="Courier New"/>
              </a:rPr>
              <a:t>,</a:t>
            </a:r>
            <a:r>
              <a:rPr sz="1842" b="0" i="0" u="none">
                <a:solidFill>
                  <a:srgbClr val="0F172A"/>
                </a:solidFill>
                <a:latin typeface="Courier New"/>
              </a:rPr>
              <a:t> </a:t>
            </a:r>
            <a:r>
              <a:rPr sz="1842" b="0" i="0" u="none">
                <a:solidFill>
                  <a:srgbClr val="0F172A"/>
                </a:solidFill>
                <a:latin typeface="Courier New"/>
              </a:rPr>
              <a:t>dno</a:t>
            </a:r>
            <a:r>
              <a:rPr sz="1842" b="0" i="0" u="none">
                <a:solidFill>
                  <a:srgbClr val="0F172A"/>
                </a:solidFill>
                <a:latin typeface="Courier New"/>
              </a:rPr>
              <a:t>,</a:t>
            </a:r>
            <a:r>
              <a:rPr sz="1842" b="0" i="0" u="none">
                <a:solidFill>
                  <a:srgbClr val="0F172A"/>
                </a:solidFill>
                <a:latin typeface="Courier New"/>
              </a:rPr>
              <a:t> </a:t>
            </a:r>
            <a:r>
              <a:rPr sz="1842" b="0" i="0" u="none">
                <a:solidFill>
                  <a:srgbClr val="0F172A"/>
                </a:solidFill>
                <a:latin typeface="Courier New"/>
              </a:rPr>
              <a:t>hire_date</a:t>
            </a:r>
          </a:p>
          <a:p>
            <a:pPr>
              <a:lnSpc>
                <a:spcPct val="110000"/>
              </a:lnSpc>
            </a:pPr>
            <a:r>
              <a:rPr sz="1842" b="1" i="0" u="none">
                <a:solidFill>
                  <a:srgbClr val="0E8A8A"/>
                </a:solidFill>
                <a:latin typeface="Courier New"/>
              </a:rPr>
              <a:t>FROM</a:t>
            </a:r>
            <a:r>
              <a:rPr sz="1842" b="0" i="0" u="none">
                <a:solidFill>
                  <a:srgbClr val="0F172A"/>
                </a:solidFill>
                <a:latin typeface="Courier New"/>
              </a:rPr>
              <a:t>     </a:t>
            </a:r>
            <a:r>
              <a:rPr sz="1842" b="0" i="0" u="none">
                <a:solidFill>
                  <a:srgbClr val="0F172A"/>
                </a:solidFill>
                <a:latin typeface="Courier New"/>
              </a:rPr>
              <a:t>employee</a:t>
            </a:r>
          </a:p>
          <a:p>
            <a:pPr>
              <a:lnSpc>
                <a:spcPct val="110000"/>
              </a:lnSpc>
            </a:pPr>
            <a:r>
              <a:rPr sz="1842" b="1" i="0" u="none">
                <a:solidFill>
                  <a:srgbClr val="0E8A8A"/>
                </a:solidFill>
                <a:latin typeface="Courier New"/>
              </a:rPr>
              <a:t>ORDER</a:t>
            </a:r>
            <a:r>
              <a:rPr sz="1842" b="0" i="0" u="none">
                <a:solidFill>
                  <a:srgbClr val="0F172A"/>
                </a:solidFill>
                <a:latin typeface="Courier New"/>
              </a:rPr>
              <a:t> </a:t>
            </a:r>
            <a:r>
              <a:rPr sz="1842" b="1" i="0" u="none">
                <a:solidFill>
                  <a:srgbClr val="0E8A8A"/>
                </a:solidFill>
                <a:latin typeface="Courier New"/>
              </a:rPr>
              <a:t>BY</a:t>
            </a:r>
            <a:r>
              <a:rPr sz="1842" b="0" i="0" u="none">
                <a:solidFill>
                  <a:srgbClr val="0F172A"/>
                </a:solidFill>
                <a:latin typeface="Courier New"/>
              </a:rPr>
              <a:t> </a:t>
            </a:r>
            <a:r>
              <a:rPr sz="1842" b="0" i="0" u="none">
                <a:solidFill>
                  <a:srgbClr val="0F172A"/>
                </a:solidFill>
                <a:latin typeface="Courier New"/>
              </a:rPr>
              <a:t>hire_date</a:t>
            </a:r>
            <a:r>
              <a:rPr sz="1842" b="0" i="0" u="none">
                <a:solidFill>
                  <a:srgbClr val="0F172A"/>
                </a:solidFill>
                <a:latin typeface="Courier New"/>
              </a:rPr>
              <a:t> </a:t>
            </a:r>
            <a:r>
              <a:rPr sz="1842" b="1" i="0" u="none">
                <a:solidFill>
                  <a:srgbClr val="0E8A8A"/>
                </a:solidFill>
                <a:latin typeface="Courier New"/>
              </a:rPr>
              <a:t>DESC</a:t>
            </a:r>
            <a:r>
              <a:rPr sz="1842" b="0" i="0" u="none">
                <a:solidFill>
                  <a:srgbClr val="0F172A"/>
                </a:solidFill>
                <a:latin typeface="Courier New"/>
              </a:rPr>
              <a:t>;</a:t>
            </a:r>
          </a:p>
          <a:p>
            <a:pPr>
              <a:lnSpc>
                <a:spcPct val="110000"/>
              </a:lnSpc>
            </a:pPr>
            <a:r>
              <a:rPr sz="1842" b="0" i="0" u="none">
                <a:solidFill>
                  <a:srgbClr val="0F172A"/>
                </a:solidFill>
                <a:latin typeface="Courier New"/>
              </a:rPr>
              <a:t> </a:t>
            </a:r>
          </a:p>
          <a:p>
            <a:pPr>
              <a:lnSpc>
                <a:spcPct val="110000"/>
              </a:lnSpc>
            </a:pPr>
            <a:r>
              <a:rPr sz="1842" b="1" i="0" u="none">
                <a:solidFill>
                  <a:srgbClr val="0E8A8A"/>
                </a:solidFill>
                <a:latin typeface="Courier New"/>
              </a:rPr>
              <a:t>SELECT</a:t>
            </a:r>
            <a:r>
              <a:rPr sz="1842" b="0" i="0" u="none">
                <a:solidFill>
                  <a:srgbClr val="0F172A"/>
                </a:solidFill>
                <a:latin typeface="Courier New"/>
              </a:rPr>
              <a:t>   </a:t>
            </a:r>
            <a:r>
              <a:rPr sz="1842" b="0" i="0" u="none">
                <a:solidFill>
                  <a:srgbClr val="0F172A"/>
                </a:solidFill>
                <a:latin typeface="Courier New"/>
              </a:rPr>
              <a:t>fname</a:t>
            </a:r>
            <a:r>
              <a:rPr sz="1842" b="0" i="0" u="none">
                <a:solidFill>
                  <a:srgbClr val="0F172A"/>
                </a:solidFill>
                <a:latin typeface="Courier New"/>
              </a:rPr>
              <a:t>,</a:t>
            </a:r>
            <a:r>
              <a:rPr sz="1842" b="0" i="0" u="none">
                <a:solidFill>
                  <a:srgbClr val="0F172A"/>
                </a:solidFill>
                <a:latin typeface="Courier New"/>
              </a:rPr>
              <a:t> </a:t>
            </a:r>
            <a:r>
              <a:rPr sz="1842" b="0" i="0" u="none">
                <a:solidFill>
                  <a:srgbClr val="0F172A"/>
                </a:solidFill>
                <a:latin typeface="Courier New"/>
              </a:rPr>
              <a:t>dno</a:t>
            </a:r>
            <a:r>
              <a:rPr sz="1842" b="0" i="0" u="none">
                <a:solidFill>
                  <a:srgbClr val="0F172A"/>
                </a:solidFill>
                <a:latin typeface="Courier New"/>
              </a:rPr>
              <a:t>,</a:t>
            </a:r>
            <a:r>
              <a:rPr sz="1842" b="0" i="0" u="none">
                <a:solidFill>
                  <a:srgbClr val="0F172A"/>
                </a:solidFill>
                <a:latin typeface="Courier New"/>
              </a:rPr>
              <a:t> </a:t>
            </a:r>
            <a:r>
              <a:rPr sz="1842" b="0" i="0" u="none">
                <a:solidFill>
                  <a:srgbClr val="0F172A"/>
                </a:solidFill>
                <a:latin typeface="Courier New"/>
              </a:rPr>
              <a:t>salary</a:t>
            </a:r>
          </a:p>
          <a:p>
            <a:pPr>
              <a:lnSpc>
                <a:spcPct val="110000"/>
              </a:lnSpc>
            </a:pPr>
            <a:r>
              <a:rPr sz="1842" b="1" i="0" u="none">
                <a:solidFill>
                  <a:srgbClr val="0E8A8A"/>
                </a:solidFill>
                <a:latin typeface="Courier New"/>
              </a:rPr>
              <a:t>FROM</a:t>
            </a:r>
            <a:r>
              <a:rPr sz="1842" b="0" i="0" u="none">
                <a:solidFill>
                  <a:srgbClr val="0F172A"/>
                </a:solidFill>
                <a:latin typeface="Courier New"/>
              </a:rPr>
              <a:t>     </a:t>
            </a:r>
            <a:r>
              <a:rPr sz="1842" b="0" i="0" u="none">
                <a:solidFill>
                  <a:srgbClr val="0F172A"/>
                </a:solidFill>
                <a:latin typeface="Courier New"/>
              </a:rPr>
              <a:t>employee</a:t>
            </a:r>
          </a:p>
          <a:p>
            <a:pPr>
              <a:lnSpc>
                <a:spcPct val="110000"/>
              </a:lnSpc>
            </a:pPr>
            <a:r>
              <a:rPr sz="1842" b="1" i="0" u="none">
                <a:solidFill>
                  <a:srgbClr val="0E8A8A"/>
                </a:solidFill>
                <a:latin typeface="Courier New"/>
              </a:rPr>
              <a:t>ORDER</a:t>
            </a:r>
            <a:r>
              <a:rPr sz="1842" b="0" i="0" u="none">
                <a:solidFill>
                  <a:srgbClr val="0F172A"/>
                </a:solidFill>
                <a:latin typeface="Courier New"/>
              </a:rPr>
              <a:t> </a:t>
            </a:r>
            <a:r>
              <a:rPr sz="1842" b="1" i="0" u="none">
                <a:solidFill>
                  <a:srgbClr val="0E8A8A"/>
                </a:solidFill>
                <a:latin typeface="Courier New"/>
              </a:rPr>
              <a:t>BY</a:t>
            </a:r>
            <a:r>
              <a:rPr sz="1842" b="0" i="0" u="none">
                <a:solidFill>
                  <a:srgbClr val="0F172A"/>
                </a:solidFill>
                <a:latin typeface="Courier New"/>
              </a:rPr>
              <a:t> </a:t>
            </a:r>
            <a:r>
              <a:rPr sz="1842" b="0" i="0" u="none">
                <a:solidFill>
                  <a:srgbClr val="0F172A"/>
                </a:solidFill>
                <a:latin typeface="Courier New"/>
              </a:rPr>
              <a:t>dno</a:t>
            </a:r>
            <a:r>
              <a:rPr sz="1842" b="0" i="0" u="none">
                <a:solidFill>
                  <a:srgbClr val="0F172A"/>
                </a:solidFill>
                <a:latin typeface="Courier New"/>
              </a:rPr>
              <a:t> </a:t>
            </a:r>
            <a:r>
              <a:rPr sz="1842" b="1" i="0" u="none">
                <a:solidFill>
                  <a:srgbClr val="0E8A8A"/>
                </a:solidFill>
                <a:latin typeface="Courier New"/>
              </a:rPr>
              <a:t>ASC</a:t>
            </a:r>
            <a:r>
              <a:rPr sz="1842" b="0" i="0" u="none">
                <a:solidFill>
                  <a:srgbClr val="0F172A"/>
                </a:solidFill>
                <a:latin typeface="Courier New"/>
              </a:rPr>
              <a:t>,</a:t>
            </a:r>
            <a:r>
              <a:rPr sz="1842" b="0" i="0" u="none">
                <a:solidFill>
                  <a:srgbClr val="0F172A"/>
                </a:solidFill>
                <a:latin typeface="Courier New"/>
              </a:rPr>
              <a:t> </a:t>
            </a:r>
            <a:r>
              <a:rPr sz="1842" b="0" i="0" u="none">
                <a:solidFill>
                  <a:srgbClr val="0F172A"/>
                </a:solidFill>
                <a:latin typeface="Courier New"/>
              </a:rPr>
              <a:t>salary</a:t>
            </a:r>
            <a:r>
              <a:rPr sz="1842" b="0" i="0" u="none">
                <a:solidFill>
                  <a:srgbClr val="0F172A"/>
                </a:solidFill>
                <a:latin typeface="Courier New"/>
              </a:rPr>
              <a:t> </a:t>
            </a:r>
            <a:r>
              <a:rPr sz="1842" b="1" i="0" u="none">
                <a:solidFill>
                  <a:srgbClr val="0E8A8A"/>
                </a:solidFill>
                <a:latin typeface="Courier New"/>
              </a:rPr>
              <a:t>DESC</a:t>
            </a:r>
            <a:r>
              <a:rPr sz="1842" b="0" i="0" u="none">
                <a:solidFill>
                  <a:srgbClr val="0F172A"/>
                </a:solidFill>
                <a:latin typeface="Courier New"/>
              </a:rPr>
              <a:t>;</a:t>
            </a:r>
          </a:p>
          <a:p>
            <a:pPr>
              <a:lnSpc>
                <a:spcPct val="110000"/>
              </a:lnSpc>
            </a:pPr>
            <a:r>
              <a:rPr sz="1842" b="0" i="0" u="none">
                <a:solidFill>
                  <a:srgbClr val="0F172A"/>
                </a:solidFill>
                <a:latin typeface="Courier New"/>
              </a:rPr>
              <a:t> </a:t>
            </a:r>
          </a:p>
          <a:p>
            <a:pPr>
              <a:lnSpc>
                <a:spcPct val="110000"/>
              </a:lnSpc>
            </a:pPr>
            <a:r>
              <a:rPr sz="1842" b="0" i="1" u="none">
                <a:solidFill>
                  <a:srgbClr val="64748B"/>
                </a:solidFill>
                <a:latin typeface="Courier New"/>
              </a:rPr>
              <a:t>-- top 3 earners</a:t>
            </a:r>
          </a:p>
          <a:p>
            <a:pPr>
              <a:lnSpc>
                <a:spcPct val="110000"/>
              </a:lnSpc>
            </a:pPr>
            <a:r>
              <a:rPr sz="1842" b="1" i="0" u="none">
                <a:solidFill>
                  <a:srgbClr val="0E8A8A"/>
                </a:solidFill>
                <a:latin typeface="Courier New"/>
              </a:rPr>
              <a:t>SELECT</a:t>
            </a:r>
            <a:r>
              <a:rPr sz="1842" b="0" i="0" u="none">
                <a:solidFill>
                  <a:srgbClr val="0F172A"/>
                </a:solidFill>
                <a:latin typeface="Courier New"/>
              </a:rPr>
              <a:t>   </a:t>
            </a:r>
            <a:r>
              <a:rPr sz="1842" b="0" i="0" u="none">
                <a:solidFill>
                  <a:srgbClr val="0F172A"/>
                </a:solidFill>
                <a:latin typeface="Courier New"/>
              </a:rPr>
              <a:t>fname</a:t>
            </a:r>
            <a:r>
              <a:rPr sz="1842" b="0" i="0" u="none">
                <a:solidFill>
                  <a:srgbClr val="0F172A"/>
                </a:solidFill>
                <a:latin typeface="Courier New"/>
              </a:rPr>
              <a:t>,</a:t>
            </a:r>
            <a:r>
              <a:rPr sz="1842" b="0" i="0" u="none">
                <a:solidFill>
                  <a:srgbClr val="0F172A"/>
                </a:solidFill>
                <a:latin typeface="Courier New"/>
              </a:rPr>
              <a:t> </a:t>
            </a:r>
            <a:r>
              <a:rPr sz="1842" b="0" i="0" u="none">
                <a:solidFill>
                  <a:srgbClr val="0F172A"/>
                </a:solidFill>
                <a:latin typeface="Courier New"/>
              </a:rPr>
              <a:t>salary</a:t>
            </a:r>
            <a:r>
              <a:rPr sz="1842" b="0" i="0" u="none">
                <a:solidFill>
                  <a:srgbClr val="0F172A"/>
                </a:solidFill>
                <a:latin typeface="Courier New"/>
              </a:rPr>
              <a:t> </a:t>
            </a:r>
            <a:r>
              <a:rPr sz="1842" b="1" i="0" u="none">
                <a:solidFill>
                  <a:srgbClr val="0E8A8A"/>
                </a:solidFill>
                <a:latin typeface="Courier New"/>
              </a:rPr>
              <a:t>FROM</a:t>
            </a:r>
            <a:r>
              <a:rPr sz="1842" b="0" i="0" u="none">
                <a:solidFill>
                  <a:srgbClr val="0F172A"/>
                </a:solidFill>
                <a:latin typeface="Courier New"/>
              </a:rPr>
              <a:t> </a:t>
            </a:r>
            <a:r>
              <a:rPr sz="1842" b="0" i="0" u="none">
                <a:solidFill>
                  <a:srgbClr val="0F172A"/>
                </a:solidFill>
                <a:latin typeface="Courier New"/>
              </a:rPr>
              <a:t>employee</a:t>
            </a:r>
          </a:p>
          <a:p>
            <a:pPr>
              <a:lnSpc>
                <a:spcPct val="110000"/>
              </a:lnSpc>
            </a:pPr>
            <a:r>
              <a:rPr sz="1842" b="1" i="0" u="none">
                <a:solidFill>
                  <a:srgbClr val="0E8A8A"/>
                </a:solidFill>
                <a:latin typeface="Courier New"/>
              </a:rPr>
              <a:t>ORDER</a:t>
            </a:r>
            <a:r>
              <a:rPr sz="1842" b="0" i="0" u="none">
                <a:solidFill>
                  <a:srgbClr val="0F172A"/>
                </a:solidFill>
                <a:latin typeface="Courier New"/>
              </a:rPr>
              <a:t> </a:t>
            </a:r>
            <a:r>
              <a:rPr sz="1842" b="1" i="0" u="none">
                <a:solidFill>
                  <a:srgbClr val="0E8A8A"/>
                </a:solidFill>
                <a:latin typeface="Courier New"/>
              </a:rPr>
              <a:t>BY</a:t>
            </a:r>
            <a:r>
              <a:rPr sz="1842" b="0" i="0" u="none">
                <a:solidFill>
                  <a:srgbClr val="0F172A"/>
                </a:solidFill>
                <a:latin typeface="Courier New"/>
              </a:rPr>
              <a:t> </a:t>
            </a:r>
            <a:r>
              <a:rPr sz="1842" b="0" i="0" u="none">
                <a:solidFill>
                  <a:srgbClr val="0F172A"/>
                </a:solidFill>
                <a:latin typeface="Courier New"/>
              </a:rPr>
              <a:t>salary</a:t>
            </a:r>
            <a:r>
              <a:rPr sz="1842" b="0" i="0" u="none">
                <a:solidFill>
                  <a:srgbClr val="0F172A"/>
                </a:solidFill>
                <a:latin typeface="Courier New"/>
              </a:rPr>
              <a:t> </a:t>
            </a:r>
            <a:r>
              <a:rPr sz="1842" b="1" i="0" u="none">
                <a:solidFill>
                  <a:srgbClr val="0E8A8A"/>
                </a:solidFill>
                <a:latin typeface="Courier New"/>
              </a:rPr>
              <a:t>DESC</a:t>
            </a:r>
          </a:p>
          <a:p>
            <a:pPr>
              <a:lnSpc>
                <a:spcPct val="110000"/>
              </a:lnSpc>
            </a:pPr>
            <a:r>
              <a:rPr sz="1842" b="1" i="0" u="none">
                <a:solidFill>
                  <a:srgbClr val="0E8A8A"/>
                </a:solidFill>
                <a:latin typeface="Courier New"/>
              </a:rPr>
              <a:t>FETCH</a:t>
            </a:r>
            <a:r>
              <a:rPr sz="1842" b="0" i="0" u="none">
                <a:solidFill>
                  <a:srgbClr val="0F172A"/>
                </a:solidFill>
                <a:latin typeface="Courier New"/>
              </a:rPr>
              <a:t> </a:t>
            </a:r>
            <a:r>
              <a:rPr sz="1842" b="1" i="0" u="none">
                <a:solidFill>
                  <a:srgbClr val="0E8A8A"/>
                </a:solidFill>
                <a:latin typeface="Courier New"/>
              </a:rPr>
              <a:t>FIRST</a:t>
            </a:r>
            <a:r>
              <a:rPr sz="1842" b="0" i="0" u="none">
                <a:solidFill>
                  <a:srgbClr val="0F172A"/>
                </a:solidFill>
                <a:latin typeface="Courier New"/>
              </a:rPr>
              <a:t> </a:t>
            </a:r>
            <a:r>
              <a:rPr sz="1842" b="0" i="0" u="none">
                <a:solidFill>
                  <a:srgbClr val="B45309"/>
                </a:solidFill>
                <a:latin typeface="Courier New"/>
              </a:rPr>
              <a:t>3</a:t>
            </a:r>
            <a:r>
              <a:rPr sz="1842" b="0" i="0" u="none">
                <a:solidFill>
                  <a:srgbClr val="0F172A"/>
                </a:solidFill>
                <a:latin typeface="Courier New"/>
              </a:rPr>
              <a:t> </a:t>
            </a:r>
            <a:r>
              <a:rPr sz="1842" b="1" i="0" u="none">
                <a:solidFill>
                  <a:srgbClr val="0E8A8A"/>
                </a:solidFill>
                <a:latin typeface="Courier New"/>
              </a:rPr>
              <a:t>ROWS</a:t>
            </a:r>
            <a:r>
              <a:rPr sz="1842" b="0" i="0" u="none">
                <a:solidFill>
                  <a:srgbClr val="0F172A"/>
                </a:solidFill>
                <a:latin typeface="Courier New"/>
              </a:rPr>
              <a:t> </a:t>
            </a:r>
            <a:r>
              <a:rPr sz="1842" b="1" i="0" u="none">
                <a:solidFill>
                  <a:srgbClr val="0E8A8A"/>
                </a:solidFill>
                <a:latin typeface="Courier New"/>
              </a:rPr>
              <a:t>ONLY</a:t>
            </a:r>
            <a:r>
              <a:rPr sz="1842" b="0" i="0" u="none">
                <a:solidFill>
                  <a:srgbClr val="0F172A"/>
                </a:solidFill>
                <a:latin typeface="Courier New"/>
              </a:rPr>
              <a:t>;</a:t>
            </a:r>
            <a:r>
              <a:rPr sz="1842" b="0" i="0" u="none">
                <a:solidFill>
                  <a:srgbClr val="0F172A"/>
                </a:solidFill>
                <a:latin typeface="Courier New"/>
              </a:rPr>
              <a:t>   </a:t>
            </a:r>
            <a:r>
              <a:rPr sz="1842" b="0" i="1" u="none">
                <a:solidFill>
                  <a:srgbClr val="64748B"/>
                </a:solidFill>
                <a:latin typeface="Courier New"/>
              </a:rPr>
              <a:t>-- standard, Oracle 12c+, PostgreSQL</a:t>
            </a:r>
          </a:p>
          <a:p>
            <a:pPr>
              <a:lnSpc>
                <a:spcPct val="110000"/>
              </a:lnSpc>
            </a:pPr>
            <a:r>
              <a:rPr sz="1842" b="0" i="1" u="none">
                <a:solidFill>
                  <a:srgbClr val="64748B"/>
                </a:solidFill>
                <a:latin typeface="Courier New"/>
              </a:rPr>
              <a:t>-- SQL Server: SELECT TOP 3 …   MySQL: … LIMIT 3</a:t>
            </a:r>
          </a:p>
        </p:txBody>
      </p:sp>
      <p:sp>
        <p:nvSpPr>
          <p:cNvPr id="8" name="Rectangle 7"/>
          <p:cNvSpPr/>
          <p:nvPr/>
        </p:nvSpPr>
        <p:spPr>
          <a:xfrm>
            <a:off x="10894695" y="2482024"/>
            <a:ext cx="6478905" cy="1410576"/>
          </a:xfrm>
          <a:prstGeom prst="rect">
            <a:avLst/>
          </a:prstGeom>
          <a:solidFill>
            <a:srgbClr val="E6F4F4"/>
          </a:solidFill>
          <a:ln>
            <a:noFill/>
          </a:ln>
        </p:spPr>
        <p:txBody>
          <a:bodyPr rtlCol="0" anchor="ctr" lIns="0" rIns="0" tIns="0" bIns="0"/>
          <a:lstStyle/>
          <a:p>
            <a:pPr algn="ctr"/>
          </a:p>
        </p:txBody>
      </p:sp>
      <p:sp>
        <p:nvSpPr>
          <p:cNvPr id="9" name="Rectangle 8"/>
          <p:cNvSpPr/>
          <p:nvPr/>
        </p:nvSpPr>
        <p:spPr>
          <a:xfrm>
            <a:off x="10894695" y="2482024"/>
            <a:ext cx="47625" cy="1410576"/>
          </a:xfrm>
          <a:prstGeom prst="rect">
            <a:avLst/>
          </a:prstGeom>
          <a:solidFill>
            <a:srgbClr val="0E8A8A"/>
          </a:solidFill>
          <a:ln>
            <a:noFill/>
          </a:ln>
        </p:spPr>
        <p:txBody>
          <a:bodyPr rtlCol="0" anchor="ctr" lIns="0" rIns="0" tIns="0" bIns="0"/>
          <a:lstStyle/>
          <a:p>
            <a:pPr algn="ctr"/>
          </a:p>
        </p:txBody>
      </p:sp>
      <p:sp>
        <p:nvSpPr>
          <p:cNvPr id="10" name="TextBox 9"/>
          <p:cNvSpPr txBox="1"/>
          <p:nvPr/>
        </p:nvSpPr>
        <p:spPr>
          <a:xfrm>
            <a:off x="11321415" y="2748724"/>
            <a:ext cx="5625465" cy="877176"/>
          </a:xfrm>
          <a:prstGeom prst="rect">
            <a:avLst/>
          </a:prstGeom>
          <a:noFill/>
        </p:spPr>
        <p:txBody>
          <a:bodyPr wrap="square" lIns="0" rIns="0" tIns="0" bIns="0"/>
          <a:lstStyle/>
          <a:p>
            <a:pPr>
              <a:lnSpc>
                <a:spcPct val="112000"/>
              </a:lnSpc>
            </a:pPr>
            <a:r>
              <a:rPr sz="2511" b="1" i="0" u="none">
                <a:solidFill>
                  <a:srgbClr val="0F172A"/>
                </a:solidFill>
                <a:latin typeface="Calibri"/>
              </a:rPr>
              <a:t>ASC</a:t>
            </a:r>
            <a:r>
              <a:rPr sz="2511" b="0" i="0" u="none">
                <a:solidFill>
                  <a:srgbClr val="0F172A"/>
                </a:solidFill>
                <a:latin typeface="Calibri"/>
              </a:rPr>
              <a:t> is the default. Each column can have its own direction.</a:t>
            </a:r>
          </a:p>
        </p:txBody>
      </p:sp>
      <p:sp>
        <p:nvSpPr>
          <p:cNvPr id="11" name="Rectangle 10"/>
          <p:cNvSpPr/>
          <p:nvPr/>
        </p:nvSpPr>
        <p:spPr>
          <a:xfrm>
            <a:off x="10894695" y="4105960"/>
            <a:ext cx="6478905" cy="1410576"/>
          </a:xfrm>
          <a:prstGeom prst="rect">
            <a:avLst/>
          </a:prstGeom>
          <a:solidFill>
            <a:srgbClr val="FEF3C7"/>
          </a:solidFill>
          <a:ln>
            <a:noFill/>
          </a:ln>
        </p:spPr>
        <p:txBody>
          <a:bodyPr rtlCol="0" anchor="ctr" lIns="0" rIns="0" tIns="0" bIns="0"/>
          <a:lstStyle/>
          <a:p>
            <a:pPr algn="ctr"/>
          </a:p>
        </p:txBody>
      </p:sp>
      <p:sp>
        <p:nvSpPr>
          <p:cNvPr id="12" name="Rectangle 11"/>
          <p:cNvSpPr/>
          <p:nvPr/>
        </p:nvSpPr>
        <p:spPr>
          <a:xfrm>
            <a:off x="10894695" y="4105960"/>
            <a:ext cx="47625" cy="1410576"/>
          </a:xfrm>
          <a:prstGeom prst="rect">
            <a:avLst/>
          </a:prstGeom>
          <a:solidFill>
            <a:srgbClr val="B45309"/>
          </a:solidFill>
          <a:ln>
            <a:noFill/>
          </a:ln>
        </p:spPr>
        <p:txBody>
          <a:bodyPr rtlCol="0" anchor="ctr" lIns="0" rIns="0" tIns="0" bIns="0"/>
          <a:lstStyle/>
          <a:p>
            <a:pPr algn="ctr"/>
          </a:p>
        </p:txBody>
      </p:sp>
      <p:sp>
        <p:nvSpPr>
          <p:cNvPr id="13" name="TextBox 12"/>
          <p:cNvSpPr txBox="1"/>
          <p:nvPr/>
        </p:nvSpPr>
        <p:spPr>
          <a:xfrm>
            <a:off x="11321415" y="4372660"/>
            <a:ext cx="5625465" cy="877176"/>
          </a:xfrm>
          <a:prstGeom prst="rect">
            <a:avLst/>
          </a:prstGeom>
          <a:noFill/>
        </p:spPr>
        <p:txBody>
          <a:bodyPr wrap="square" lIns="0" rIns="0" tIns="0" bIns="0"/>
          <a:lstStyle/>
          <a:p>
            <a:pPr>
              <a:lnSpc>
                <a:spcPct val="112000"/>
              </a:lnSpc>
            </a:pPr>
            <a:r>
              <a:rPr sz="2511" b="0" i="0" u="none">
                <a:solidFill>
                  <a:srgbClr val="0F172A"/>
                </a:solidFill>
                <a:latin typeface="Calibri"/>
              </a:rPr>
              <a:t>Without ORDER BY, row order is </a:t>
            </a:r>
            <a:r>
              <a:rPr sz="2511" b="1" i="0" u="none">
                <a:solidFill>
                  <a:srgbClr val="0F172A"/>
                </a:solidFill>
                <a:latin typeface="Calibri"/>
              </a:rPr>
              <a:t>not guaranteed</a:t>
            </a:r>
            <a:r>
              <a:rPr sz="2511" b="0" i="0" u="none">
                <a:solidFill>
                  <a:srgbClr val="0F172A"/>
                </a:solidFill>
                <a:latin typeface="Calibri"/>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28816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SELECT</a:t>
            </a:r>
          </a:p>
        </p:txBody>
      </p:sp>
      <p:cxnSp>
        <p:nvCxnSpPr>
          <p:cNvPr id="3" name="Connector 2"/>
          <p:cNvCxnSpPr/>
          <p:nvPr/>
        </p:nvCxnSpPr>
        <p:spPr>
          <a:xfrm>
            <a:off x="2278761" y="981075"/>
            <a:ext cx="14247114"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33/71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CASE: if-then-else inside a query</a:t>
            </a:r>
          </a:p>
        </p:txBody>
      </p:sp>
      <p:sp>
        <p:nvSpPr>
          <p:cNvPr id="6" name="Rectangle 5"/>
          <p:cNvSpPr/>
          <p:nvPr/>
        </p:nvSpPr>
        <p:spPr>
          <a:xfrm>
            <a:off x="914400" y="2482024"/>
            <a:ext cx="8572500" cy="3356066"/>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2822666"/>
          </a:xfrm>
          <a:prstGeom prst="rect">
            <a:avLst/>
          </a:prstGeom>
          <a:noFill/>
        </p:spPr>
        <p:txBody>
          <a:bodyPr wrap="none" lIns="0" rIns="0" tIns="0" bIns="0"/>
          <a:lstStyle/>
          <a:p>
            <a:pPr>
              <a:lnSpc>
                <a:spcPct val="110000"/>
              </a:lnSpc>
            </a:pPr>
            <a:r>
              <a:rPr sz="2405" b="1" i="0" u="none">
                <a:solidFill>
                  <a:srgbClr val="0E8A8A"/>
                </a:solidFill>
                <a:latin typeface="Courier New"/>
              </a:rPr>
              <a:t>SELECT</a:t>
            </a:r>
            <a:r>
              <a:rPr sz="2405" b="0" i="0" u="none">
                <a:solidFill>
                  <a:srgbClr val="0F172A"/>
                </a:solidFill>
                <a:latin typeface="Courier New"/>
              </a:rPr>
              <a:t> </a:t>
            </a:r>
            <a:r>
              <a:rPr sz="2405" b="0" i="0" u="none">
                <a:solidFill>
                  <a:srgbClr val="0F172A"/>
                </a:solidFill>
                <a:latin typeface="Courier New"/>
              </a:rPr>
              <a:t>fname</a:t>
            </a:r>
            <a:r>
              <a:rPr sz="2405" b="0" i="0" u="none">
                <a:solidFill>
                  <a:srgbClr val="0F172A"/>
                </a:solidFill>
                <a:latin typeface="Courier New"/>
              </a:rPr>
              <a:t>,</a:t>
            </a:r>
            <a:r>
              <a:rPr sz="2405" b="0" i="0" u="none">
                <a:solidFill>
                  <a:srgbClr val="0F172A"/>
                </a:solidFill>
                <a:latin typeface="Courier New"/>
              </a:rPr>
              <a:t> </a:t>
            </a:r>
            <a:r>
              <a:rPr sz="2405" b="0" i="0" u="none">
                <a:solidFill>
                  <a:srgbClr val="0F172A"/>
                </a:solidFill>
                <a:latin typeface="Courier New"/>
              </a:rPr>
              <a:t>salary</a:t>
            </a:r>
            <a:r>
              <a:rPr sz="2405" b="0" i="0" u="none">
                <a:solidFill>
                  <a:srgbClr val="0F172A"/>
                </a:solidFill>
                <a:latin typeface="Courier New"/>
              </a:rPr>
              <a:t>,</a:t>
            </a:r>
          </a:p>
          <a:p>
            <a:pPr>
              <a:lnSpc>
                <a:spcPct val="110000"/>
              </a:lnSpc>
            </a:pPr>
            <a:r>
              <a:rPr sz="2405" b="0" i="0" u="none">
                <a:solidFill>
                  <a:srgbClr val="0F172A"/>
                </a:solidFill>
                <a:latin typeface="Courier New"/>
              </a:rPr>
              <a:t>       </a:t>
            </a:r>
            <a:r>
              <a:rPr sz="2405" b="1" i="0" u="none">
                <a:solidFill>
                  <a:srgbClr val="0E8A8A"/>
                </a:solidFill>
                <a:latin typeface="Courier New"/>
              </a:rPr>
              <a:t>CASE</a:t>
            </a:r>
          </a:p>
          <a:p>
            <a:pPr>
              <a:lnSpc>
                <a:spcPct val="110000"/>
              </a:lnSpc>
            </a:pPr>
            <a:r>
              <a:rPr sz="2405" b="0" i="0" u="none">
                <a:solidFill>
                  <a:srgbClr val="0F172A"/>
                </a:solidFill>
                <a:latin typeface="Courier New"/>
              </a:rPr>
              <a:t>         </a:t>
            </a:r>
            <a:r>
              <a:rPr sz="2405" b="1" i="0" u="none">
                <a:solidFill>
                  <a:srgbClr val="0E8A8A"/>
                </a:solidFill>
                <a:latin typeface="Courier New"/>
              </a:rPr>
              <a:t>WHEN</a:t>
            </a:r>
            <a:r>
              <a:rPr sz="2405" b="0" i="0" u="none">
                <a:solidFill>
                  <a:srgbClr val="0F172A"/>
                </a:solidFill>
                <a:latin typeface="Courier New"/>
              </a:rPr>
              <a:t> </a:t>
            </a:r>
            <a:r>
              <a:rPr sz="2405" b="0" i="0" u="none">
                <a:solidFill>
                  <a:srgbClr val="0F172A"/>
                </a:solidFill>
                <a:latin typeface="Courier New"/>
              </a:rPr>
              <a:t>salary</a:t>
            </a:r>
            <a:r>
              <a:rPr sz="2405" b="0" i="0" u="none">
                <a:solidFill>
                  <a:srgbClr val="0F172A"/>
                </a:solidFill>
                <a:latin typeface="Courier New"/>
              </a:rPr>
              <a:t> </a:t>
            </a:r>
            <a:r>
              <a:rPr sz="2405" b="0" i="0" u="none">
                <a:solidFill>
                  <a:srgbClr val="0F172A"/>
                </a:solidFill>
                <a:latin typeface="Courier New"/>
              </a:rPr>
              <a:t>&gt;</a:t>
            </a:r>
            <a:r>
              <a:rPr sz="2405" b="0" i="0" u="none">
                <a:solidFill>
                  <a:srgbClr val="0F172A"/>
                </a:solidFill>
                <a:latin typeface="Courier New"/>
              </a:rPr>
              <a:t>=</a:t>
            </a:r>
            <a:r>
              <a:rPr sz="2405" b="0" i="0" u="none">
                <a:solidFill>
                  <a:srgbClr val="0F172A"/>
                </a:solidFill>
                <a:latin typeface="Courier New"/>
              </a:rPr>
              <a:t> </a:t>
            </a:r>
            <a:r>
              <a:rPr sz="2405" b="0" i="0" u="none">
                <a:solidFill>
                  <a:srgbClr val="B45309"/>
                </a:solidFill>
                <a:latin typeface="Courier New"/>
              </a:rPr>
              <a:t>40000</a:t>
            </a:r>
            <a:r>
              <a:rPr sz="2405" b="0" i="0" u="none">
                <a:solidFill>
                  <a:srgbClr val="0F172A"/>
                </a:solidFill>
                <a:latin typeface="Courier New"/>
              </a:rPr>
              <a:t> </a:t>
            </a:r>
            <a:r>
              <a:rPr sz="2405" b="1" i="0" u="none">
                <a:solidFill>
                  <a:srgbClr val="0E8A8A"/>
                </a:solidFill>
                <a:latin typeface="Courier New"/>
              </a:rPr>
              <a:t>THEN</a:t>
            </a:r>
            <a:r>
              <a:rPr sz="2405" b="0" i="0" u="none">
                <a:solidFill>
                  <a:srgbClr val="0F172A"/>
                </a:solidFill>
                <a:latin typeface="Courier New"/>
              </a:rPr>
              <a:t> </a:t>
            </a:r>
            <a:r>
              <a:rPr sz="2405" b="0" i="0" u="none">
                <a:solidFill>
                  <a:srgbClr val="B45309"/>
                </a:solidFill>
                <a:latin typeface="Courier New"/>
              </a:rPr>
              <a:t>'High'</a:t>
            </a:r>
          </a:p>
          <a:p>
            <a:pPr>
              <a:lnSpc>
                <a:spcPct val="110000"/>
              </a:lnSpc>
            </a:pPr>
            <a:r>
              <a:rPr sz="2405" b="0" i="0" u="none">
                <a:solidFill>
                  <a:srgbClr val="0F172A"/>
                </a:solidFill>
                <a:latin typeface="Courier New"/>
              </a:rPr>
              <a:t>         </a:t>
            </a:r>
            <a:r>
              <a:rPr sz="2405" b="1" i="0" u="none">
                <a:solidFill>
                  <a:srgbClr val="0E8A8A"/>
                </a:solidFill>
                <a:latin typeface="Courier New"/>
              </a:rPr>
              <a:t>WHEN</a:t>
            </a:r>
            <a:r>
              <a:rPr sz="2405" b="0" i="0" u="none">
                <a:solidFill>
                  <a:srgbClr val="0F172A"/>
                </a:solidFill>
                <a:latin typeface="Courier New"/>
              </a:rPr>
              <a:t> </a:t>
            </a:r>
            <a:r>
              <a:rPr sz="2405" b="0" i="0" u="none">
                <a:solidFill>
                  <a:srgbClr val="0F172A"/>
                </a:solidFill>
                <a:latin typeface="Courier New"/>
              </a:rPr>
              <a:t>salary</a:t>
            </a:r>
            <a:r>
              <a:rPr sz="2405" b="0" i="0" u="none">
                <a:solidFill>
                  <a:srgbClr val="0F172A"/>
                </a:solidFill>
                <a:latin typeface="Courier New"/>
              </a:rPr>
              <a:t> </a:t>
            </a:r>
            <a:r>
              <a:rPr sz="2405" b="0" i="0" u="none">
                <a:solidFill>
                  <a:srgbClr val="0F172A"/>
                </a:solidFill>
                <a:latin typeface="Courier New"/>
              </a:rPr>
              <a:t>&gt;</a:t>
            </a:r>
            <a:r>
              <a:rPr sz="2405" b="0" i="0" u="none">
                <a:solidFill>
                  <a:srgbClr val="0F172A"/>
                </a:solidFill>
                <a:latin typeface="Courier New"/>
              </a:rPr>
              <a:t>=</a:t>
            </a:r>
            <a:r>
              <a:rPr sz="2405" b="0" i="0" u="none">
                <a:solidFill>
                  <a:srgbClr val="0F172A"/>
                </a:solidFill>
                <a:latin typeface="Courier New"/>
              </a:rPr>
              <a:t> </a:t>
            </a:r>
            <a:r>
              <a:rPr sz="2405" b="0" i="0" u="none">
                <a:solidFill>
                  <a:srgbClr val="B45309"/>
                </a:solidFill>
                <a:latin typeface="Courier New"/>
              </a:rPr>
              <a:t>25000</a:t>
            </a:r>
            <a:r>
              <a:rPr sz="2405" b="0" i="0" u="none">
                <a:solidFill>
                  <a:srgbClr val="0F172A"/>
                </a:solidFill>
                <a:latin typeface="Courier New"/>
              </a:rPr>
              <a:t> </a:t>
            </a:r>
            <a:r>
              <a:rPr sz="2405" b="1" i="0" u="none">
                <a:solidFill>
                  <a:srgbClr val="0E8A8A"/>
                </a:solidFill>
                <a:latin typeface="Courier New"/>
              </a:rPr>
              <a:t>THEN</a:t>
            </a:r>
            <a:r>
              <a:rPr sz="2405" b="0" i="0" u="none">
                <a:solidFill>
                  <a:srgbClr val="0F172A"/>
                </a:solidFill>
                <a:latin typeface="Courier New"/>
              </a:rPr>
              <a:t> </a:t>
            </a:r>
            <a:r>
              <a:rPr sz="2405" b="0" i="0" u="none">
                <a:solidFill>
                  <a:srgbClr val="B45309"/>
                </a:solidFill>
                <a:latin typeface="Courier New"/>
              </a:rPr>
              <a:t>'Medium'</a:t>
            </a:r>
          </a:p>
          <a:p>
            <a:pPr>
              <a:lnSpc>
                <a:spcPct val="110000"/>
              </a:lnSpc>
            </a:pPr>
            <a:r>
              <a:rPr sz="2405" b="0" i="0" u="none">
                <a:solidFill>
                  <a:srgbClr val="0F172A"/>
                </a:solidFill>
                <a:latin typeface="Courier New"/>
              </a:rPr>
              <a:t>         </a:t>
            </a:r>
            <a:r>
              <a:rPr sz="2405" b="1" i="0" u="none">
                <a:solidFill>
                  <a:srgbClr val="0E8A8A"/>
                </a:solidFill>
                <a:latin typeface="Courier New"/>
              </a:rPr>
              <a:t>ELSE</a:t>
            </a:r>
            <a:r>
              <a:rPr sz="2405" b="0" i="0" u="none">
                <a:solidFill>
                  <a:srgbClr val="0F172A"/>
                </a:solidFill>
                <a:latin typeface="Courier New"/>
              </a:rPr>
              <a:t> </a:t>
            </a:r>
            <a:r>
              <a:rPr sz="2405" b="0" i="0" u="none">
                <a:solidFill>
                  <a:srgbClr val="B45309"/>
                </a:solidFill>
                <a:latin typeface="Courier New"/>
              </a:rPr>
              <a:t>'Low'</a:t>
            </a:r>
          </a:p>
          <a:p>
            <a:pPr>
              <a:lnSpc>
                <a:spcPct val="110000"/>
              </a:lnSpc>
            </a:pPr>
            <a:r>
              <a:rPr sz="2405" b="0" i="0" u="none">
                <a:solidFill>
                  <a:srgbClr val="0F172A"/>
                </a:solidFill>
                <a:latin typeface="Courier New"/>
              </a:rPr>
              <a:t>       </a:t>
            </a:r>
            <a:r>
              <a:rPr sz="2405" b="1" i="0" u="none">
                <a:solidFill>
                  <a:srgbClr val="0E8A8A"/>
                </a:solidFill>
                <a:latin typeface="Courier New"/>
              </a:rPr>
              <a:t>END</a:t>
            </a:r>
            <a:r>
              <a:rPr sz="2405" b="0" i="0" u="none">
                <a:solidFill>
                  <a:srgbClr val="0F172A"/>
                </a:solidFill>
                <a:latin typeface="Courier New"/>
              </a:rPr>
              <a:t> </a:t>
            </a:r>
            <a:r>
              <a:rPr sz="2405" b="1" i="0" u="none">
                <a:solidFill>
                  <a:srgbClr val="0E8A8A"/>
                </a:solidFill>
                <a:latin typeface="Courier New"/>
              </a:rPr>
              <a:t>AS</a:t>
            </a:r>
            <a:r>
              <a:rPr sz="2405" b="0" i="0" u="none">
                <a:solidFill>
                  <a:srgbClr val="0F172A"/>
                </a:solidFill>
                <a:latin typeface="Courier New"/>
              </a:rPr>
              <a:t> </a:t>
            </a:r>
            <a:r>
              <a:rPr sz="2405" b="0" i="0" u="none">
                <a:solidFill>
                  <a:srgbClr val="0F172A"/>
                </a:solidFill>
                <a:latin typeface="Courier New"/>
              </a:rPr>
              <a:t>salary_band</a:t>
            </a:r>
          </a:p>
          <a:p>
            <a:pPr>
              <a:lnSpc>
                <a:spcPct val="110000"/>
              </a:lnSpc>
            </a:pPr>
            <a:r>
              <a:rPr sz="2405" b="1" i="0" u="none">
                <a:solidFill>
                  <a:srgbClr val="0E8A8A"/>
                </a:solidFill>
                <a:latin typeface="Courier New"/>
              </a:rPr>
              <a:t>FROM</a:t>
            </a:r>
            <a:r>
              <a:rPr sz="2405" b="0" i="0" u="none">
                <a:solidFill>
                  <a:srgbClr val="0F172A"/>
                </a:solidFill>
                <a:latin typeface="Courier New"/>
              </a:rPr>
              <a:t>   </a:t>
            </a:r>
            <a:r>
              <a:rPr sz="2405" b="0" i="0" u="none">
                <a:solidFill>
                  <a:srgbClr val="0F172A"/>
                </a:solidFill>
                <a:latin typeface="Courier New"/>
              </a:rPr>
              <a:t>employee</a:t>
            </a:r>
            <a:r>
              <a:rPr sz="2405" b="0" i="0" u="none">
                <a:solidFill>
                  <a:srgbClr val="0F172A"/>
                </a:solidFill>
                <a:latin typeface="Courier New"/>
              </a:rPr>
              <a:t>;</a:t>
            </a:r>
          </a:p>
        </p:txBody>
      </p:sp>
      <p:sp>
        <p:nvSpPr>
          <p:cNvPr id="8" name="Rectangle 7"/>
          <p:cNvSpPr/>
          <p:nvPr/>
        </p:nvSpPr>
        <p:spPr>
          <a:xfrm>
            <a:off x="9913620" y="2482024"/>
            <a:ext cx="7459980" cy="2191313"/>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13670" y="2882074"/>
            <a:ext cx="6659880" cy="1391213"/>
          </a:xfrm>
          <a:prstGeom prst="rect">
            <a:avLst/>
          </a:prstGeom>
          <a:noFill/>
        </p:spPr>
        <p:txBody>
          <a:bodyPr wrap="square" lIns="0" rIns="0" tIns="0" bIns="0" anchor="t"/>
          <a:lstStyle/>
          <a:p>
            <a:pPr algn="l">
              <a:lnSpc>
                <a:spcPct val="111800"/>
              </a:lnSpc>
            </a:pPr>
            <a:r>
              <a:rPr sz="2704" b="0" i="0" u="none">
                <a:solidFill>
                  <a:srgbClr val="334155"/>
                </a:solidFill>
                <a:latin typeface="Calibri"/>
              </a:rPr>
              <a:t>CASE returns the first matching branch. It can be used in SELECT, WHERE, ORDER BY and inside aggregates.</a:t>
            </a:r>
          </a:p>
        </p:txBody>
      </p:sp>
      <p:sp>
        <p:nvSpPr>
          <p:cNvPr id="10" name="Rectangle 9"/>
          <p:cNvSpPr/>
          <p:nvPr/>
        </p:nvSpPr>
        <p:spPr>
          <a:xfrm>
            <a:off x="9913620" y="4886698"/>
            <a:ext cx="7459980" cy="1410576"/>
          </a:xfrm>
          <a:prstGeom prst="rect">
            <a:avLst/>
          </a:prstGeom>
          <a:solidFill>
            <a:srgbClr val="E6F4F4"/>
          </a:solidFill>
          <a:ln>
            <a:noFill/>
          </a:ln>
        </p:spPr>
        <p:txBody>
          <a:bodyPr rtlCol="0" anchor="ctr" lIns="0" rIns="0" tIns="0" bIns="0"/>
          <a:lstStyle/>
          <a:p>
            <a:pPr algn="ctr"/>
          </a:p>
        </p:txBody>
      </p:sp>
      <p:sp>
        <p:nvSpPr>
          <p:cNvPr id="11" name="Rectangle 10"/>
          <p:cNvSpPr/>
          <p:nvPr/>
        </p:nvSpPr>
        <p:spPr>
          <a:xfrm>
            <a:off x="9913620" y="4886698"/>
            <a:ext cx="47625" cy="1410576"/>
          </a:xfrm>
          <a:prstGeom prst="rect">
            <a:avLst/>
          </a:prstGeom>
          <a:solidFill>
            <a:srgbClr val="0E8A8A"/>
          </a:solidFill>
          <a:ln>
            <a:noFill/>
          </a:ln>
        </p:spPr>
        <p:txBody>
          <a:bodyPr rtlCol="0" anchor="ctr" lIns="0" rIns="0" tIns="0" bIns="0"/>
          <a:lstStyle/>
          <a:p>
            <a:pPr algn="ctr"/>
          </a:p>
        </p:txBody>
      </p:sp>
      <p:sp>
        <p:nvSpPr>
          <p:cNvPr id="12" name="TextBox 11"/>
          <p:cNvSpPr txBox="1"/>
          <p:nvPr/>
        </p:nvSpPr>
        <p:spPr>
          <a:xfrm>
            <a:off x="10340340" y="5153398"/>
            <a:ext cx="6606540" cy="877176"/>
          </a:xfrm>
          <a:prstGeom prst="rect">
            <a:avLst/>
          </a:prstGeom>
          <a:noFill/>
        </p:spPr>
        <p:txBody>
          <a:bodyPr wrap="square" lIns="0" rIns="0" tIns="0" bIns="0"/>
          <a:lstStyle/>
          <a:p>
            <a:pPr>
              <a:lnSpc>
                <a:spcPct val="112000"/>
              </a:lnSpc>
            </a:pPr>
            <a:r>
              <a:rPr sz="2511" b="0" i="0" u="none">
                <a:solidFill>
                  <a:srgbClr val="0F172A"/>
                </a:solidFill>
                <a:latin typeface="Courier New"/>
              </a:rPr>
              <a:t>SUM(CASE WHEN gender = 'F' THEN 1 ELSE 0 END)</a:t>
            </a:r>
            <a:r>
              <a:rPr sz="2511" b="0" i="0" u="none">
                <a:solidFill>
                  <a:srgbClr val="0F172A"/>
                </a:solidFill>
                <a:latin typeface="Calibri"/>
              </a:rPr>
              <a:t> counts women per group.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05</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34/71</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05</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Joining tables</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Combine rows from several tables: inner, outer, self, non-equi and cross joins.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JOINS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35/71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Types of join</a:t>
            </a:r>
          </a:p>
        </p:txBody>
      </p:sp>
      <p:sp>
        <p:nvSpPr>
          <p:cNvPr id="6" name="Oval 5"/>
          <p:cNvSpPr/>
          <p:nvPr/>
        </p:nvSpPr>
        <p:spPr>
          <a:xfrm>
            <a:off x="2847975" y="3200400"/>
            <a:ext cx="704850" cy="1409700"/>
          </a:xfrm>
          <a:prstGeom prst="ellipse">
            <a:avLst/>
          </a:prstGeom>
          <a:solidFill>
            <a:srgbClr val="0E8A8A"/>
          </a:solidFill>
          <a:ln>
            <a:noFill/>
          </a:ln>
        </p:spPr>
        <p:txBody>
          <a:bodyPr rtlCol="0" anchor="ctr" lIns="0" rIns="0" tIns="0" bIns="0"/>
          <a:lstStyle/>
          <a:p>
            <a:pPr algn="ctr"/>
          </a:p>
        </p:txBody>
      </p:sp>
      <p:sp>
        <p:nvSpPr>
          <p:cNvPr id="7" name="Oval 6"/>
          <p:cNvSpPr/>
          <p:nvPr/>
        </p:nvSpPr>
        <p:spPr>
          <a:xfrm>
            <a:off x="1790700" y="3028950"/>
            <a:ext cx="1752600" cy="1752600"/>
          </a:xfrm>
          <a:prstGeom prst="ellipse">
            <a:avLst/>
          </a:prstGeom>
          <a:noFill/>
          <a:ln w="28575">
            <a:solidFill>
              <a:srgbClr val="0F172A"/>
            </a:solidFill>
          </a:ln>
        </p:spPr>
        <p:txBody>
          <a:bodyPr rtlCol="0" anchor="ctr" lIns="0" rIns="0" tIns="0" bIns="0"/>
          <a:lstStyle/>
          <a:p>
            <a:pPr algn="ctr"/>
          </a:p>
        </p:txBody>
      </p:sp>
      <p:sp>
        <p:nvSpPr>
          <p:cNvPr id="8" name="Oval 7"/>
          <p:cNvSpPr/>
          <p:nvPr/>
        </p:nvSpPr>
        <p:spPr>
          <a:xfrm>
            <a:off x="2857500" y="3028950"/>
            <a:ext cx="1752600" cy="1752600"/>
          </a:xfrm>
          <a:prstGeom prst="ellipse">
            <a:avLst/>
          </a:prstGeom>
          <a:noFill/>
          <a:ln w="28575">
            <a:solidFill>
              <a:srgbClr val="0F172A"/>
            </a:solidFill>
          </a:ln>
        </p:spPr>
        <p:txBody>
          <a:bodyPr rtlCol="0" anchor="ctr" lIns="0" rIns="0" tIns="0" bIns="0"/>
          <a:lstStyle/>
          <a:p>
            <a:pPr algn="ctr"/>
          </a:p>
        </p:txBody>
      </p:sp>
      <p:sp>
        <p:nvSpPr>
          <p:cNvPr id="9" name="TextBox 8"/>
          <p:cNvSpPr txBox="1"/>
          <p:nvPr/>
        </p:nvSpPr>
        <p:spPr>
          <a:xfrm>
            <a:off x="1924050" y="3733800"/>
            <a:ext cx="571500" cy="355777"/>
          </a:xfrm>
          <a:prstGeom prst="rect">
            <a:avLst/>
          </a:prstGeom>
          <a:noFill/>
        </p:spPr>
        <p:txBody>
          <a:bodyPr wrap="square" lIns="0" rIns="0" tIns="0" bIns="0" anchor="t"/>
          <a:lstStyle/>
          <a:p>
            <a:pPr algn="l">
              <a:lnSpc>
                <a:spcPct val="111800"/>
              </a:lnSpc>
            </a:pPr>
            <a:r>
              <a:rPr sz="1932" b="1" i="0" u="none">
                <a:solidFill>
                  <a:srgbClr val="0F172A"/>
                </a:solidFill>
                <a:latin typeface="Calibri"/>
              </a:rPr>
              <a:t>A</a:t>
            </a:r>
          </a:p>
        </p:txBody>
      </p:sp>
      <p:sp>
        <p:nvSpPr>
          <p:cNvPr id="10" name="TextBox 9"/>
          <p:cNvSpPr txBox="1"/>
          <p:nvPr/>
        </p:nvSpPr>
        <p:spPr>
          <a:xfrm>
            <a:off x="3905250" y="3733800"/>
            <a:ext cx="571500" cy="355777"/>
          </a:xfrm>
          <a:prstGeom prst="rect">
            <a:avLst/>
          </a:prstGeom>
          <a:noFill/>
        </p:spPr>
        <p:txBody>
          <a:bodyPr wrap="square" lIns="0" rIns="0" tIns="0" bIns="0" anchor="t"/>
          <a:lstStyle/>
          <a:p>
            <a:pPr algn="r">
              <a:lnSpc>
                <a:spcPct val="111800"/>
              </a:lnSpc>
            </a:pPr>
            <a:r>
              <a:rPr sz="1932" b="1" i="0" u="none">
                <a:solidFill>
                  <a:srgbClr val="0F172A"/>
                </a:solidFill>
                <a:latin typeface="Calibri"/>
              </a:rPr>
              <a:t>B</a:t>
            </a:r>
          </a:p>
        </p:txBody>
      </p:sp>
      <p:sp>
        <p:nvSpPr>
          <p:cNvPr id="11" name="TextBox 10"/>
          <p:cNvSpPr txBox="1"/>
          <p:nvPr/>
        </p:nvSpPr>
        <p:spPr>
          <a:xfrm>
            <a:off x="1333500" y="5143500"/>
            <a:ext cx="3733800" cy="381190"/>
          </a:xfrm>
          <a:prstGeom prst="rect">
            <a:avLst/>
          </a:prstGeom>
          <a:noFill/>
        </p:spPr>
        <p:txBody>
          <a:bodyPr wrap="square" lIns="0" rIns="0" tIns="0" bIns="0" anchor="t"/>
          <a:lstStyle/>
          <a:p>
            <a:pPr algn="ctr">
              <a:lnSpc>
                <a:spcPct val="111800"/>
              </a:lnSpc>
            </a:pPr>
            <a:r>
              <a:rPr sz="2070" b="1" i="0" u="none">
                <a:solidFill>
                  <a:srgbClr val="0F172A"/>
                </a:solidFill>
                <a:latin typeface="Arial"/>
              </a:rPr>
              <a:t>INNER JOIN</a:t>
            </a:r>
          </a:p>
        </p:txBody>
      </p:sp>
      <p:sp>
        <p:nvSpPr>
          <p:cNvPr id="12" name="TextBox 11"/>
          <p:cNvSpPr txBox="1"/>
          <p:nvPr/>
        </p:nvSpPr>
        <p:spPr>
          <a:xfrm>
            <a:off x="1333500" y="5600700"/>
            <a:ext cx="3733800" cy="626554"/>
          </a:xfrm>
          <a:prstGeom prst="rect">
            <a:avLst/>
          </a:prstGeom>
          <a:noFill/>
        </p:spPr>
        <p:txBody>
          <a:bodyPr wrap="square" lIns="0" rIns="0" tIns="0" bIns="0" anchor="t"/>
          <a:lstStyle/>
          <a:p>
            <a:pPr algn="ctr">
              <a:lnSpc>
                <a:spcPct val="111800"/>
              </a:lnSpc>
            </a:pPr>
            <a:r>
              <a:rPr sz="1794" b="0" i="0" u="none">
                <a:solidFill>
                  <a:srgbClr val="334155"/>
                </a:solidFill>
                <a:latin typeface="Calibri"/>
              </a:rPr>
              <a:t>Only rows with a </a:t>
            </a:r>
            <a:r>
              <a:rPr sz="1794" b="1" i="0" u="none">
                <a:solidFill>
                  <a:srgbClr val="334155"/>
                </a:solidFill>
                <a:latin typeface="Calibri"/>
              </a:rPr>
              <a:t>match in both</a:t>
            </a:r>
            <a:r>
              <a:rPr sz="1794" b="0" i="0" u="none">
                <a:solidFill>
                  <a:srgbClr val="334155"/>
                </a:solidFill>
                <a:latin typeface="Calibri"/>
              </a:rPr>
              <a:t> tables.</a:t>
            </a:r>
          </a:p>
        </p:txBody>
      </p:sp>
      <p:sp>
        <p:nvSpPr>
          <p:cNvPr id="13" name="Oval 12"/>
          <p:cNvSpPr/>
          <p:nvPr/>
        </p:nvSpPr>
        <p:spPr>
          <a:xfrm>
            <a:off x="5753100" y="3028950"/>
            <a:ext cx="1752600" cy="1752600"/>
          </a:xfrm>
          <a:prstGeom prst="ellipse">
            <a:avLst/>
          </a:prstGeom>
          <a:solidFill>
            <a:srgbClr val="E6F4F4"/>
          </a:solidFill>
          <a:ln>
            <a:noFill/>
          </a:ln>
        </p:spPr>
        <p:txBody>
          <a:bodyPr rtlCol="0" anchor="ctr" lIns="0" rIns="0" tIns="0" bIns="0"/>
          <a:lstStyle/>
          <a:p>
            <a:pPr algn="ctr"/>
          </a:p>
        </p:txBody>
      </p:sp>
      <p:sp>
        <p:nvSpPr>
          <p:cNvPr id="14" name="Oval 13"/>
          <p:cNvSpPr/>
          <p:nvPr/>
        </p:nvSpPr>
        <p:spPr>
          <a:xfrm>
            <a:off x="6810375" y="3200400"/>
            <a:ext cx="704850" cy="1409700"/>
          </a:xfrm>
          <a:prstGeom prst="ellipse">
            <a:avLst/>
          </a:prstGeom>
          <a:solidFill>
            <a:srgbClr val="0E8A8A"/>
          </a:solidFill>
          <a:ln>
            <a:noFill/>
          </a:ln>
        </p:spPr>
        <p:txBody>
          <a:bodyPr rtlCol="0" anchor="ctr" lIns="0" rIns="0" tIns="0" bIns="0"/>
          <a:lstStyle/>
          <a:p>
            <a:pPr algn="ctr"/>
          </a:p>
        </p:txBody>
      </p:sp>
      <p:sp>
        <p:nvSpPr>
          <p:cNvPr id="15" name="Oval 14"/>
          <p:cNvSpPr/>
          <p:nvPr/>
        </p:nvSpPr>
        <p:spPr>
          <a:xfrm>
            <a:off x="5753100" y="3028950"/>
            <a:ext cx="1752600" cy="1752600"/>
          </a:xfrm>
          <a:prstGeom prst="ellipse">
            <a:avLst/>
          </a:prstGeom>
          <a:noFill/>
          <a:ln w="28575">
            <a:solidFill>
              <a:srgbClr val="0F172A"/>
            </a:solidFill>
          </a:ln>
        </p:spPr>
        <p:txBody>
          <a:bodyPr rtlCol="0" anchor="ctr" lIns="0" rIns="0" tIns="0" bIns="0"/>
          <a:lstStyle/>
          <a:p>
            <a:pPr algn="ctr"/>
          </a:p>
        </p:txBody>
      </p:sp>
      <p:sp>
        <p:nvSpPr>
          <p:cNvPr id="16" name="Oval 15"/>
          <p:cNvSpPr/>
          <p:nvPr/>
        </p:nvSpPr>
        <p:spPr>
          <a:xfrm>
            <a:off x="6819900" y="3028950"/>
            <a:ext cx="1752600" cy="1752600"/>
          </a:xfrm>
          <a:prstGeom prst="ellipse">
            <a:avLst/>
          </a:prstGeom>
          <a:noFill/>
          <a:ln w="28575">
            <a:solidFill>
              <a:srgbClr val="0F172A"/>
            </a:solidFill>
          </a:ln>
        </p:spPr>
        <p:txBody>
          <a:bodyPr rtlCol="0" anchor="ctr" lIns="0" rIns="0" tIns="0" bIns="0"/>
          <a:lstStyle/>
          <a:p>
            <a:pPr algn="ctr"/>
          </a:p>
        </p:txBody>
      </p:sp>
      <p:sp>
        <p:nvSpPr>
          <p:cNvPr id="17" name="TextBox 16"/>
          <p:cNvSpPr txBox="1"/>
          <p:nvPr/>
        </p:nvSpPr>
        <p:spPr>
          <a:xfrm>
            <a:off x="5886450" y="3733800"/>
            <a:ext cx="571500" cy="355777"/>
          </a:xfrm>
          <a:prstGeom prst="rect">
            <a:avLst/>
          </a:prstGeom>
          <a:noFill/>
        </p:spPr>
        <p:txBody>
          <a:bodyPr wrap="square" lIns="0" rIns="0" tIns="0" bIns="0" anchor="t"/>
          <a:lstStyle/>
          <a:p>
            <a:pPr algn="l">
              <a:lnSpc>
                <a:spcPct val="111800"/>
              </a:lnSpc>
            </a:pPr>
            <a:r>
              <a:rPr sz="1932" b="1" i="0" u="none">
                <a:solidFill>
                  <a:srgbClr val="0F172A"/>
                </a:solidFill>
                <a:latin typeface="Calibri"/>
              </a:rPr>
              <a:t>A</a:t>
            </a:r>
          </a:p>
        </p:txBody>
      </p:sp>
      <p:sp>
        <p:nvSpPr>
          <p:cNvPr id="18" name="TextBox 17"/>
          <p:cNvSpPr txBox="1"/>
          <p:nvPr/>
        </p:nvSpPr>
        <p:spPr>
          <a:xfrm>
            <a:off x="7867650" y="3733800"/>
            <a:ext cx="571500" cy="355777"/>
          </a:xfrm>
          <a:prstGeom prst="rect">
            <a:avLst/>
          </a:prstGeom>
          <a:noFill/>
        </p:spPr>
        <p:txBody>
          <a:bodyPr wrap="square" lIns="0" rIns="0" tIns="0" bIns="0" anchor="t"/>
          <a:lstStyle/>
          <a:p>
            <a:pPr algn="r">
              <a:lnSpc>
                <a:spcPct val="111800"/>
              </a:lnSpc>
            </a:pPr>
            <a:r>
              <a:rPr sz="1932" b="1" i="0" u="none">
                <a:solidFill>
                  <a:srgbClr val="0F172A"/>
                </a:solidFill>
                <a:latin typeface="Calibri"/>
              </a:rPr>
              <a:t>B</a:t>
            </a:r>
          </a:p>
        </p:txBody>
      </p:sp>
      <p:sp>
        <p:nvSpPr>
          <p:cNvPr id="19" name="TextBox 18"/>
          <p:cNvSpPr txBox="1"/>
          <p:nvPr/>
        </p:nvSpPr>
        <p:spPr>
          <a:xfrm>
            <a:off x="5295900" y="5143500"/>
            <a:ext cx="3733800" cy="381190"/>
          </a:xfrm>
          <a:prstGeom prst="rect">
            <a:avLst/>
          </a:prstGeom>
          <a:noFill/>
        </p:spPr>
        <p:txBody>
          <a:bodyPr wrap="square" lIns="0" rIns="0" tIns="0" bIns="0" anchor="t"/>
          <a:lstStyle/>
          <a:p>
            <a:pPr algn="ctr">
              <a:lnSpc>
                <a:spcPct val="111800"/>
              </a:lnSpc>
            </a:pPr>
            <a:r>
              <a:rPr sz="2070" b="1" i="0" u="none">
                <a:solidFill>
                  <a:srgbClr val="0F172A"/>
                </a:solidFill>
                <a:latin typeface="Arial"/>
              </a:rPr>
              <a:t>LEFT OUTER JOIN</a:t>
            </a:r>
          </a:p>
        </p:txBody>
      </p:sp>
      <p:sp>
        <p:nvSpPr>
          <p:cNvPr id="20" name="TextBox 19"/>
          <p:cNvSpPr txBox="1"/>
          <p:nvPr/>
        </p:nvSpPr>
        <p:spPr>
          <a:xfrm>
            <a:off x="5295900" y="5600700"/>
            <a:ext cx="3733800" cy="626554"/>
          </a:xfrm>
          <a:prstGeom prst="rect">
            <a:avLst/>
          </a:prstGeom>
          <a:noFill/>
        </p:spPr>
        <p:txBody>
          <a:bodyPr wrap="square" lIns="0" rIns="0" tIns="0" bIns="0" anchor="t"/>
          <a:lstStyle/>
          <a:p>
            <a:pPr algn="ctr">
              <a:lnSpc>
                <a:spcPct val="111800"/>
              </a:lnSpc>
            </a:pPr>
            <a:r>
              <a:rPr sz="1794" b="0" i="0" u="none">
                <a:solidFill>
                  <a:srgbClr val="334155"/>
                </a:solidFill>
                <a:latin typeface="Calibri"/>
              </a:rPr>
              <a:t>All rows of the </a:t>
            </a:r>
            <a:r>
              <a:rPr sz="1794" b="1" i="0" u="none">
                <a:solidFill>
                  <a:srgbClr val="334155"/>
                </a:solidFill>
                <a:latin typeface="Calibri"/>
              </a:rPr>
              <a:t>left</a:t>
            </a:r>
            <a:r>
              <a:rPr sz="1794" b="0" i="0" u="none">
                <a:solidFill>
                  <a:srgbClr val="334155"/>
                </a:solidFill>
                <a:latin typeface="Calibri"/>
              </a:rPr>
              <a:t> table + matches; NULLs where none.</a:t>
            </a:r>
          </a:p>
        </p:txBody>
      </p:sp>
      <p:sp>
        <p:nvSpPr>
          <p:cNvPr id="21" name="Oval 20"/>
          <p:cNvSpPr/>
          <p:nvPr/>
        </p:nvSpPr>
        <p:spPr>
          <a:xfrm>
            <a:off x="10782300" y="3028950"/>
            <a:ext cx="1752600" cy="1752600"/>
          </a:xfrm>
          <a:prstGeom prst="ellipse">
            <a:avLst/>
          </a:prstGeom>
          <a:solidFill>
            <a:srgbClr val="E6F4F4"/>
          </a:solidFill>
          <a:ln>
            <a:noFill/>
          </a:ln>
        </p:spPr>
        <p:txBody>
          <a:bodyPr rtlCol="0" anchor="ctr" lIns="0" rIns="0" tIns="0" bIns="0"/>
          <a:lstStyle/>
          <a:p>
            <a:pPr algn="ctr"/>
          </a:p>
        </p:txBody>
      </p:sp>
      <p:sp>
        <p:nvSpPr>
          <p:cNvPr id="22" name="Oval 21"/>
          <p:cNvSpPr/>
          <p:nvPr/>
        </p:nvSpPr>
        <p:spPr>
          <a:xfrm>
            <a:off x="10772775" y="3200400"/>
            <a:ext cx="704850" cy="1409700"/>
          </a:xfrm>
          <a:prstGeom prst="ellipse">
            <a:avLst/>
          </a:prstGeom>
          <a:solidFill>
            <a:srgbClr val="0E8A8A"/>
          </a:solidFill>
          <a:ln>
            <a:noFill/>
          </a:ln>
        </p:spPr>
        <p:txBody>
          <a:bodyPr rtlCol="0" anchor="ctr" lIns="0" rIns="0" tIns="0" bIns="0"/>
          <a:lstStyle/>
          <a:p>
            <a:pPr algn="ctr"/>
          </a:p>
        </p:txBody>
      </p:sp>
      <p:sp>
        <p:nvSpPr>
          <p:cNvPr id="23" name="Oval 22"/>
          <p:cNvSpPr/>
          <p:nvPr/>
        </p:nvSpPr>
        <p:spPr>
          <a:xfrm>
            <a:off x="9715500" y="3028950"/>
            <a:ext cx="1752600" cy="1752600"/>
          </a:xfrm>
          <a:prstGeom prst="ellipse">
            <a:avLst/>
          </a:prstGeom>
          <a:noFill/>
          <a:ln w="28575">
            <a:solidFill>
              <a:srgbClr val="0F172A"/>
            </a:solidFill>
          </a:ln>
        </p:spPr>
        <p:txBody>
          <a:bodyPr rtlCol="0" anchor="ctr" lIns="0" rIns="0" tIns="0" bIns="0"/>
          <a:lstStyle/>
          <a:p>
            <a:pPr algn="ctr"/>
          </a:p>
        </p:txBody>
      </p:sp>
      <p:sp>
        <p:nvSpPr>
          <p:cNvPr id="24" name="Oval 23"/>
          <p:cNvSpPr/>
          <p:nvPr/>
        </p:nvSpPr>
        <p:spPr>
          <a:xfrm>
            <a:off x="10782300" y="3028950"/>
            <a:ext cx="1752600" cy="1752600"/>
          </a:xfrm>
          <a:prstGeom prst="ellipse">
            <a:avLst/>
          </a:prstGeom>
          <a:noFill/>
          <a:ln w="28575">
            <a:solidFill>
              <a:srgbClr val="0F172A"/>
            </a:solidFill>
          </a:ln>
        </p:spPr>
        <p:txBody>
          <a:bodyPr rtlCol="0" anchor="ctr" lIns="0" rIns="0" tIns="0" bIns="0"/>
          <a:lstStyle/>
          <a:p>
            <a:pPr algn="ctr"/>
          </a:p>
        </p:txBody>
      </p:sp>
      <p:sp>
        <p:nvSpPr>
          <p:cNvPr id="25" name="TextBox 24"/>
          <p:cNvSpPr txBox="1"/>
          <p:nvPr/>
        </p:nvSpPr>
        <p:spPr>
          <a:xfrm>
            <a:off x="9848850" y="3733800"/>
            <a:ext cx="571500" cy="355777"/>
          </a:xfrm>
          <a:prstGeom prst="rect">
            <a:avLst/>
          </a:prstGeom>
          <a:noFill/>
        </p:spPr>
        <p:txBody>
          <a:bodyPr wrap="square" lIns="0" rIns="0" tIns="0" bIns="0" anchor="t"/>
          <a:lstStyle/>
          <a:p>
            <a:pPr algn="l">
              <a:lnSpc>
                <a:spcPct val="111800"/>
              </a:lnSpc>
            </a:pPr>
            <a:r>
              <a:rPr sz="1932" b="1" i="0" u="none">
                <a:solidFill>
                  <a:srgbClr val="0F172A"/>
                </a:solidFill>
                <a:latin typeface="Calibri"/>
              </a:rPr>
              <a:t>A</a:t>
            </a:r>
          </a:p>
        </p:txBody>
      </p:sp>
      <p:sp>
        <p:nvSpPr>
          <p:cNvPr id="26" name="TextBox 25"/>
          <p:cNvSpPr txBox="1"/>
          <p:nvPr/>
        </p:nvSpPr>
        <p:spPr>
          <a:xfrm>
            <a:off x="11830050" y="3733800"/>
            <a:ext cx="571500" cy="355777"/>
          </a:xfrm>
          <a:prstGeom prst="rect">
            <a:avLst/>
          </a:prstGeom>
          <a:noFill/>
        </p:spPr>
        <p:txBody>
          <a:bodyPr wrap="square" lIns="0" rIns="0" tIns="0" bIns="0" anchor="t"/>
          <a:lstStyle/>
          <a:p>
            <a:pPr algn="r">
              <a:lnSpc>
                <a:spcPct val="111800"/>
              </a:lnSpc>
            </a:pPr>
            <a:r>
              <a:rPr sz="1932" b="1" i="0" u="none">
                <a:solidFill>
                  <a:srgbClr val="0F172A"/>
                </a:solidFill>
                <a:latin typeface="Calibri"/>
              </a:rPr>
              <a:t>B</a:t>
            </a:r>
          </a:p>
        </p:txBody>
      </p:sp>
      <p:sp>
        <p:nvSpPr>
          <p:cNvPr id="27" name="TextBox 26"/>
          <p:cNvSpPr txBox="1"/>
          <p:nvPr/>
        </p:nvSpPr>
        <p:spPr>
          <a:xfrm>
            <a:off x="9258300" y="5143500"/>
            <a:ext cx="3733800" cy="381190"/>
          </a:xfrm>
          <a:prstGeom prst="rect">
            <a:avLst/>
          </a:prstGeom>
          <a:noFill/>
        </p:spPr>
        <p:txBody>
          <a:bodyPr wrap="square" lIns="0" rIns="0" tIns="0" bIns="0" anchor="t"/>
          <a:lstStyle/>
          <a:p>
            <a:pPr algn="ctr">
              <a:lnSpc>
                <a:spcPct val="111800"/>
              </a:lnSpc>
            </a:pPr>
            <a:r>
              <a:rPr sz="2070" b="1" i="0" u="none">
                <a:solidFill>
                  <a:srgbClr val="0F172A"/>
                </a:solidFill>
                <a:latin typeface="Arial"/>
              </a:rPr>
              <a:t>RIGHT OUTER JOIN</a:t>
            </a:r>
          </a:p>
        </p:txBody>
      </p:sp>
      <p:sp>
        <p:nvSpPr>
          <p:cNvPr id="28" name="TextBox 27"/>
          <p:cNvSpPr txBox="1"/>
          <p:nvPr/>
        </p:nvSpPr>
        <p:spPr>
          <a:xfrm>
            <a:off x="9258300" y="5600700"/>
            <a:ext cx="3733800" cy="626554"/>
          </a:xfrm>
          <a:prstGeom prst="rect">
            <a:avLst/>
          </a:prstGeom>
          <a:noFill/>
        </p:spPr>
        <p:txBody>
          <a:bodyPr wrap="square" lIns="0" rIns="0" tIns="0" bIns="0" anchor="t"/>
          <a:lstStyle/>
          <a:p>
            <a:pPr algn="ctr">
              <a:lnSpc>
                <a:spcPct val="111800"/>
              </a:lnSpc>
            </a:pPr>
            <a:r>
              <a:rPr sz="1794" b="0" i="0" u="none">
                <a:solidFill>
                  <a:srgbClr val="334155"/>
                </a:solidFill>
                <a:latin typeface="Calibri"/>
              </a:rPr>
              <a:t>All rows of the </a:t>
            </a:r>
            <a:r>
              <a:rPr sz="1794" b="1" i="0" u="none">
                <a:solidFill>
                  <a:srgbClr val="334155"/>
                </a:solidFill>
                <a:latin typeface="Calibri"/>
              </a:rPr>
              <a:t>right</a:t>
            </a:r>
            <a:r>
              <a:rPr sz="1794" b="0" i="0" u="none">
                <a:solidFill>
                  <a:srgbClr val="334155"/>
                </a:solidFill>
                <a:latin typeface="Calibri"/>
              </a:rPr>
              <a:t> table + matches; NULLs where none.</a:t>
            </a:r>
          </a:p>
        </p:txBody>
      </p:sp>
      <p:sp>
        <p:nvSpPr>
          <p:cNvPr id="29" name="Oval 28"/>
          <p:cNvSpPr/>
          <p:nvPr/>
        </p:nvSpPr>
        <p:spPr>
          <a:xfrm>
            <a:off x="13677900" y="3028950"/>
            <a:ext cx="1752600" cy="1752600"/>
          </a:xfrm>
          <a:prstGeom prst="ellipse">
            <a:avLst/>
          </a:prstGeom>
          <a:solidFill>
            <a:srgbClr val="E6F4F4"/>
          </a:solidFill>
          <a:ln>
            <a:noFill/>
          </a:ln>
        </p:spPr>
        <p:txBody>
          <a:bodyPr rtlCol="0" anchor="ctr" lIns="0" rIns="0" tIns="0" bIns="0"/>
          <a:lstStyle/>
          <a:p>
            <a:pPr algn="ctr"/>
          </a:p>
        </p:txBody>
      </p:sp>
      <p:sp>
        <p:nvSpPr>
          <p:cNvPr id="30" name="Oval 29"/>
          <p:cNvSpPr/>
          <p:nvPr/>
        </p:nvSpPr>
        <p:spPr>
          <a:xfrm>
            <a:off x="14744700" y="3028950"/>
            <a:ext cx="1752600" cy="1752600"/>
          </a:xfrm>
          <a:prstGeom prst="ellipse">
            <a:avLst/>
          </a:prstGeom>
          <a:solidFill>
            <a:srgbClr val="E6F4F4"/>
          </a:solidFill>
          <a:ln>
            <a:noFill/>
          </a:ln>
        </p:spPr>
        <p:txBody>
          <a:bodyPr rtlCol="0" anchor="ctr" lIns="0" rIns="0" tIns="0" bIns="0"/>
          <a:lstStyle/>
          <a:p>
            <a:pPr algn="ctr"/>
          </a:p>
        </p:txBody>
      </p:sp>
      <p:sp>
        <p:nvSpPr>
          <p:cNvPr id="31" name="Oval 30"/>
          <p:cNvSpPr/>
          <p:nvPr/>
        </p:nvSpPr>
        <p:spPr>
          <a:xfrm>
            <a:off x="14735175" y="3200400"/>
            <a:ext cx="704850" cy="1409700"/>
          </a:xfrm>
          <a:prstGeom prst="ellipse">
            <a:avLst/>
          </a:prstGeom>
          <a:solidFill>
            <a:srgbClr val="0E8A8A"/>
          </a:solidFill>
          <a:ln>
            <a:noFill/>
          </a:ln>
        </p:spPr>
        <p:txBody>
          <a:bodyPr rtlCol="0" anchor="ctr" lIns="0" rIns="0" tIns="0" bIns="0"/>
          <a:lstStyle/>
          <a:p>
            <a:pPr algn="ctr"/>
          </a:p>
        </p:txBody>
      </p:sp>
      <p:sp>
        <p:nvSpPr>
          <p:cNvPr id="32" name="Oval 31"/>
          <p:cNvSpPr/>
          <p:nvPr/>
        </p:nvSpPr>
        <p:spPr>
          <a:xfrm>
            <a:off x="13677900" y="3028950"/>
            <a:ext cx="1752600" cy="1752600"/>
          </a:xfrm>
          <a:prstGeom prst="ellipse">
            <a:avLst/>
          </a:prstGeom>
          <a:noFill/>
          <a:ln w="28575">
            <a:solidFill>
              <a:srgbClr val="0F172A"/>
            </a:solidFill>
          </a:ln>
        </p:spPr>
        <p:txBody>
          <a:bodyPr rtlCol="0" anchor="ctr" lIns="0" rIns="0" tIns="0" bIns="0"/>
          <a:lstStyle/>
          <a:p>
            <a:pPr algn="ctr"/>
          </a:p>
        </p:txBody>
      </p:sp>
      <p:sp>
        <p:nvSpPr>
          <p:cNvPr id="33" name="Oval 32"/>
          <p:cNvSpPr/>
          <p:nvPr/>
        </p:nvSpPr>
        <p:spPr>
          <a:xfrm>
            <a:off x="14744700" y="3028950"/>
            <a:ext cx="1752600" cy="1752600"/>
          </a:xfrm>
          <a:prstGeom prst="ellipse">
            <a:avLst/>
          </a:prstGeom>
          <a:noFill/>
          <a:ln w="28575">
            <a:solidFill>
              <a:srgbClr val="0F172A"/>
            </a:solidFill>
          </a:ln>
        </p:spPr>
        <p:txBody>
          <a:bodyPr rtlCol="0" anchor="ctr" lIns="0" rIns="0" tIns="0" bIns="0"/>
          <a:lstStyle/>
          <a:p>
            <a:pPr algn="ctr"/>
          </a:p>
        </p:txBody>
      </p:sp>
      <p:sp>
        <p:nvSpPr>
          <p:cNvPr id="34" name="TextBox 33"/>
          <p:cNvSpPr txBox="1"/>
          <p:nvPr/>
        </p:nvSpPr>
        <p:spPr>
          <a:xfrm>
            <a:off x="13811250" y="3733800"/>
            <a:ext cx="571500" cy="355777"/>
          </a:xfrm>
          <a:prstGeom prst="rect">
            <a:avLst/>
          </a:prstGeom>
          <a:noFill/>
        </p:spPr>
        <p:txBody>
          <a:bodyPr wrap="square" lIns="0" rIns="0" tIns="0" bIns="0" anchor="t"/>
          <a:lstStyle/>
          <a:p>
            <a:pPr algn="l">
              <a:lnSpc>
                <a:spcPct val="111800"/>
              </a:lnSpc>
            </a:pPr>
            <a:r>
              <a:rPr sz="1932" b="1" i="0" u="none">
                <a:solidFill>
                  <a:srgbClr val="0F172A"/>
                </a:solidFill>
                <a:latin typeface="Calibri"/>
              </a:rPr>
              <a:t>A</a:t>
            </a:r>
          </a:p>
        </p:txBody>
      </p:sp>
      <p:sp>
        <p:nvSpPr>
          <p:cNvPr id="35" name="TextBox 34"/>
          <p:cNvSpPr txBox="1"/>
          <p:nvPr/>
        </p:nvSpPr>
        <p:spPr>
          <a:xfrm>
            <a:off x="15792450" y="3733800"/>
            <a:ext cx="571500" cy="355777"/>
          </a:xfrm>
          <a:prstGeom prst="rect">
            <a:avLst/>
          </a:prstGeom>
          <a:noFill/>
        </p:spPr>
        <p:txBody>
          <a:bodyPr wrap="square" lIns="0" rIns="0" tIns="0" bIns="0" anchor="t"/>
          <a:lstStyle/>
          <a:p>
            <a:pPr algn="r">
              <a:lnSpc>
                <a:spcPct val="111800"/>
              </a:lnSpc>
            </a:pPr>
            <a:r>
              <a:rPr sz="1932" b="1" i="0" u="none">
                <a:solidFill>
                  <a:srgbClr val="0F172A"/>
                </a:solidFill>
                <a:latin typeface="Calibri"/>
              </a:rPr>
              <a:t>B</a:t>
            </a:r>
          </a:p>
        </p:txBody>
      </p:sp>
      <p:sp>
        <p:nvSpPr>
          <p:cNvPr id="36" name="TextBox 35"/>
          <p:cNvSpPr txBox="1"/>
          <p:nvPr/>
        </p:nvSpPr>
        <p:spPr>
          <a:xfrm>
            <a:off x="13220700" y="5143500"/>
            <a:ext cx="3733800" cy="381190"/>
          </a:xfrm>
          <a:prstGeom prst="rect">
            <a:avLst/>
          </a:prstGeom>
          <a:noFill/>
        </p:spPr>
        <p:txBody>
          <a:bodyPr wrap="square" lIns="0" rIns="0" tIns="0" bIns="0" anchor="t"/>
          <a:lstStyle/>
          <a:p>
            <a:pPr algn="ctr">
              <a:lnSpc>
                <a:spcPct val="111800"/>
              </a:lnSpc>
            </a:pPr>
            <a:r>
              <a:rPr sz="2070" b="1" i="0" u="none">
                <a:solidFill>
                  <a:srgbClr val="0F172A"/>
                </a:solidFill>
                <a:latin typeface="Arial"/>
              </a:rPr>
              <a:t>FULL OUTER JOIN</a:t>
            </a:r>
          </a:p>
        </p:txBody>
      </p:sp>
      <p:sp>
        <p:nvSpPr>
          <p:cNvPr id="37" name="TextBox 36"/>
          <p:cNvSpPr txBox="1"/>
          <p:nvPr/>
        </p:nvSpPr>
        <p:spPr>
          <a:xfrm>
            <a:off x="13220700" y="5600700"/>
            <a:ext cx="3733800" cy="626554"/>
          </a:xfrm>
          <a:prstGeom prst="rect">
            <a:avLst/>
          </a:prstGeom>
          <a:noFill/>
        </p:spPr>
        <p:txBody>
          <a:bodyPr wrap="square" lIns="0" rIns="0" tIns="0" bIns="0" anchor="t"/>
          <a:lstStyle/>
          <a:p>
            <a:pPr algn="ctr">
              <a:lnSpc>
                <a:spcPct val="111800"/>
              </a:lnSpc>
            </a:pPr>
            <a:r>
              <a:rPr sz="1794" b="1" i="0" u="none">
                <a:solidFill>
                  <a:srgbClr val="334155"/>
                </a:solidFill>
                <a:latin typeface="Calibri"/>
              </a:rPr>
              <a:t>All rows of both</a:t>
            </a:r>
            <a:r>
              <a:rPr sz="1794" b="0" i="0" u="none">
                <a:solidFill>
                  <a:srgbClr val="334155"/>
                </a:solidFill>
                <a:latin typeface="Calibri"/>
              </a:rPr>
              <a:t> tables, matched where possible, NULLs elsewhere.</a:t>
            </a:r>
          </a:p>
        </p:txBody>
      </p:sp>
      <p:sp>
        <p:nvSpPr>
          <p:cNvPr id="38" name="Rectangle 37"/>
          <p:cNvSpPr/>
          <p:nvPr/>
        </p:nvSpPr>
        <p:spPr>
          <a:xfrm>
            <a:off x="1219200" y="6858000"/>
            <a:ext cx="7810500" cy="1714576"/>
          </a:xfrm>
          <a:prstGeom prst="rect">
            <a:avLst/>
          </a:prstGeom>
          <a:solidFill>
            <a:srgbClr val="FFFFFF"/>
          </a:solidFill>
          <a:ln w="14287">
            <a:solidFill>
              <a:srgbClr val="E2E8F0"/>
            </a:solidFill>
          </a:ln>
        </p:spPr>
        <p:txBody>
          <a:bodyPr rtlCol="0" anchor="ctr" lIns="0" rIns="0" tIns="0" bIns="0"/>
          <a:lstStyle/>
          <a:p>
            <a:pPr algn="ctr"/>
          </a:p>
        </p:txBody>
      </p:sp>
      <p:sp>
        <p:nvSpPr>
          <p:cNvPr id="39" name="TextBox 38"/>
          <p:cNvSpPr txBox="1"/>
          <p:nvPr/>
        </p:nvSpPr>
        <p:spPr>
          <a:xfrm>
            <a:off x="1504950" y="7143750"/>
            <a:ext cx="7239000" cy="402221"/>
          </a:xfrm>
          <a:prstGeom prst="rect">
            <a:avLst/>
          </a:prstGeom>
          <a:noFill/>
        </p:spPr>
        <p:txBody>
          <a:bodyPr wrap="square" lIns="0" rIns="0" tIns="0" bIns="0" anchor="t"/>
          <a:lstStyle/>
          <a:p>
            <a:pPr algn="l">
              <a:lnSpc>
                <a:spcPct val="103200"/>
              </a:lnSpc>
            </a:pPr>
            <a:r>
              <a:rPr sz="2346" b="1" i="0" u="none">
                <a:solidFill>
                  <a:srgbClr val="0F172A"/>
                </a:solidFill>
                <a:latin typeface="Arial"/>
              </a:rPr>
              <a:t>CROSS JOIN</a:t>
            </a:r>
          </a:p>
        </p:txBody>
      </p:sp>
      <p:sp>
        <p:nvSpPr>
          <p:cNvPr id="40" name="TextBox 39"/>
          <p:cNvSpPr txBox="1"/>
          <p:nvPr/>
        </p:nvSpPr>
        <p:spPr>
          <a:xfrm>
            <a:off x="1504950" y="7660271"/>
            <a:ext cx="7239000" cy="330365"/>
          </a:xfrm>
          <a:prstGeom prst="rect">
            <a:avLst/>
          </a:prstGeom>
          <a:noFill/>
        </p:spPr>
        <p:txBody>
          <a:bodyPr wrap="square" lIns="0" rIns="0" tIns="0" bIns="0" anchor="t"/>
          <a:lstStyle/>
          <a:p>
            <a:pPr algn="l">
              <a:lnSpc>
                <a:spcPct val="111800"/>
              </a:lnSpc>
            </a:pPr>
            <a:r>
              <a:rPr sz="1794" b="0" i="0" u="none">
                <a:solidFill>
                  <a:srgbClr val="334155"/>
                </a:solidFill>
                <a:latin typeface="Calibri"/>
              </a:rPr>
              <a:t>Cartesian product: </a:t>
            </a:r>
            <a:r>
              <a:rPr sz="1794" b="1" i="0" u="none">
                <a:solidFill>
                  <a:srgbClr val="334155"/>
                </a:solidFill>
                <a:latin typeface="Calibri"/>
              </a:rPr>
              <a:t>every</a:t>
            </a:r>
            <a:r>
              <a:rPr sz="1794" b="0" i="0" u="none">
                <a:solidFill>
                  <a:srgbClr val="334155"/>
                </a:solidFill>
                <a:latin typeface="Calibri"/>
              </a:rPr>
              <a:t> row with </a:t>
            </a:r>
            <a:r>
              <a:rPr sz="1794" b="1" i="0" u="none">
                <a:solidFill>
                  <a:srgbClr val="334155"/>
                </a:solidFill>
                <a:latin typeface="Calibri"/>
              </a:rPr>
              <a:t>every</a:t>
            </a:r>
            <a:r>
              <a:rPr sz="1794" b="0" i="0" u="none">
                <a:solidFill>
                  <a:srgbClr val="334155"/>
                </a:solidFill>
                <a:latin typeface="Calibri"/>
              </a:rPr>
              <a:t> row (m × n rows).</a:t>
            </a:r>
          </a:p>
        </p:txBody>
      </p:sp>
      <p:sp>
        <p:nvSpPr>
          <p:cNvPr id="41" name="Rectangle 40"/>
          <p:cNvSpPr/>
          <p:nvPr/>
        </p:nvSpPr>
        <p:spPr>
          <a:xfrm>
            <a:off x="9258300" y="6858000"/>
            <a:ext cx="7810500" cy="1714576"/>
          </a:xfrm>
          <a:prstGeom prst="rect">
            <a:avLst/>
          </a:prstGeom>
          <a:solidFill>
            <a:srgbClr val="FFFFFF"/>
          </a:solidFill>
          <a:ln w="14287">
            <a:solidFill>
              <a:srgbClr val="E2E8F0"/>
            </a:solidFill>
          </a:ln>
        </p:spPr>
        <p:txBody>
          <a:bodyPr rtlCol="0" anchor="ctr" lIns="0" rIns="0" tIns="0" bIns="0"/>
          <a:lstStyle/>
          <a:p>
            <a:pPr algn="ctr"/>
          </a:p>
        </p:txBody>
      </p:sp>
      <p:sp>
        <p:nvSpPr>
          <p:cNvPr id="42" name="TextBox 41"/>
          <p:cNvSpPr txBox="1"/>
          <p:nvPr/>
        </p:nvSpPr>
        <p:spPr>
          <a:xfrm>
            <a:off x="9544050" y="7143750"/>
            <a:ext cx="7239000" cy="402221"/>
          </a:xfrm>
          <a:prstGeom prst="rect">
            <a:avLst/>
          </a:prstGeom>
          <a:noFill/>
        </p:spPr>
        <p:txBody>
          <a:bodyPr wrap="square" lIns="0" rIns="0" tIns="0" bIns="0" anchor="t"/>
          <a:lstStyle/>
          <a:p>
            <a:pPr algn="l">
              <a:lnSpc>
                <a:spcPct val="103200"/>
              </a:lnSpc>
            </a:pPr>
            <a:r>
              <a:rPr sz="2346" b="1" i="0" u="none">
                <a:solidFill>
                  <a:srgbClr val="0F172A"/>
                </a:solidFill>
                <a:latin typeface="Arial"/>
              </a:rPr>
              <a:t>SELF JOIN</a:t>
            </a:r>
          </a:p>
        </p:txBody>
      </p:sp>
      <p:sp>
        <p:nvSpPr>
          <p:cNvPr id="43" name="TextBox 42"/>
          <p:cNvSpPr txBox="1"/>
          <p:nvPr/>
        </p:nvSpPr>
        <p:spPr>
          <a:xfrm>
            <a:off x="9544050" y="7660271"/>
            <a:ext cx="7239000" cy="626554"/>
          </a:xfrm>
          <a:prstGeom prst="rect">
            <a:avLst/>
          </a:prstGeom>
          <a:noFill/>
        </p:spPr>
        <p:txBody>
          <a:bodyPr wrap="square" lIns="0" rIns="0" tIns="0" bIns="0" anchor="t"/>
          <a:lstStyle/>
          <a:p>
            <a:pPr algn="l">
              <a:lnSpc>
                <a:spcPct val="111800"/>
              </a:lnSpc>
            </a:pPr>
            <a:r>
              <a:rPr sz="1794" b="0" i="0" u="none">
                <a:solidFill>
                  <a:srgbClr val="334155"/>
                </a:solidFill>
                <a:latin typeface="Calibri"/>
              </a:rPr>
              <a:t>A table joined to </a:t>
            </a:r>
            <a:r>
              <a:rPr sz="1794" b="1" i="0" u="none">
                <a:solidFill>
                  <a:srgbClr val="334155"/>
                </a:solidFill>
                <a:latin typeface="Calibri"/>
              </a:rPr>
              <a:t>itself</a:t>
            </a:r>
            <a:r>
              <a:rPr sz="1794" b="0" i="0" u="none">
                <a:solidFill>
                  <a:srgbClr val="334155"/>
                </a:solidFill>
                <a:latin typeface="Calibri"/>
              </a:rPr>
              <a:t> using two aliases, e.g. employee e, employee 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JOINS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36/71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Inner join: two syntaxes</a:t>
            </a:r>
          </a:p>
        </p:txBody>
      </p:sp>
      <p:sp>
        <p:nvSpPr>
          <p:cNvPr id="6" name="TextBox 5"/>
          <p:cNvSpPr txBox="1"/>
          <p:nvPr/>
        </p:nvSpPr>
        <p:spPr>
          <a:xfrm>
            <a:off x="914400" y="2482024"/>
            <a:ext cx="16459200" cy="498088"/>
          </a:xfrm>
          <a:prstGeom prst="rect">
            <a:avLst/>
          </a:prstGeom>
          <a:noFill/>
        </p:spPr>
        <p:txBody>
          <a:bodyPr wrap="square" lIns="0" rIns="0" tIns="0" bIns="0" anchor="t"/>
          <a:lstStyle/>
          <a:p>
            <a:pPr algn="l">
              <a:lnSpc>
                <a:spcPct val="111800"/>
              </a:lnSpc>
            </a:pPr>
            <a:r>
              <a:rPr sz="2704" b="0" i="0" u="none">
                <a:solidFill>
                  <a:srgbClr val="334155"/>
                </a:solidFill>
                <a:latin typeface="Calibri"/>
              </a:rPr>
              <a:t>Retrieve the name and address of employees who work for the </a:t>
            </a:r>
            <a:r>
              <a:rPr sz="2704" b="1" i="0" u="none">
                <a:solidFill>
                  <a:srgbClr val="334155"/>
                </a:solidFill>
                <a:latin typeface="Calibri"/>
              </a:rPr>
              <a:t>Research</a:t>
            </a:r>
            <a:r>
              <a:rPr sz="2704" b="0" i="0" u="none">
                <a:solidFill>
                  <a:srgbClr val="334155"/>
                </a:solidFill>
                <a:latin typeface="Calibri"/>
              </a:rPr>
              <a:t> department.</a:t>
            </a:r>
          </a:p>
        </p:txBody>
      </p:sp>
      <p:sp>
        <p:nvSpPr>
          <p:cNvPr id="7" name="TextBox 6"/>
          <p:cNvSpPr txBox="1"/>
          <p:nvPr/>
        </p:nvSpPr>
        <p:spPr>
          <a:xfrm>
            <a:off x="914400" y="3297486"/>
            <a:ext cx="8016240"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Older style (join condition in WHERE)</a:t>
            </a:r>
          </a:p>
        </p:txBody>
      </p:sp>
      <p:sp>
        <p:nvSpPr>
          <p:cNvPr id="8" name="Rectangle 7"/>
          <p:cNvSpPr/>
          <p:nvPr/>
        </p:nvSpPr>
        <p:spPr>
          <a:xfrm>
            <a:off x="914400" y="3884439"/>
            <a:ext cx="8016240" cy="2217578"/>
          </a:xfrm>
          <a:prstGeom prst="rect">
            <a:avLst/>
          </a:prstGeom>
          <a:solidFill>
            <a:srgbClr val="F8FAFC"/>
          </a:solidFill>
          <a:ln w="14287">
            <a:solidFill>
              <a:srgbClr val="E2E8F0"/>
            </a:solidFill>
          </a:ln>
        </p:spPr>
        <p:txBody>
          <a:bodyPr rtlCol="0" anchor="ctr" lIns="0" rIns="0" tIns="0" bIns="0"/>
          <a:lstStyle/>
          <a:p>
            <a:pPr algn="ctr"/>
          </a:p>
        </p:txBody>
      </p:sp>
      <p:sp>
        <p:nvSpPr>
          <p:cNvPr id="9" name="TextBox 8"/>
          <p:cNvSpPr txBox="1"/>
          <p:nvPr/>
        </p:nvSpPr>
        <p:spPr>
          <a:xfrm>
            <a:off x="1181100" y="4151139"/>
            <a:ext cx="7482840" cy="1684178"/>
          </a:xfrm>
          <a:prstGeom prst="rect">
            <a:avLst/>
          </a:prstGeom>
          <a:noFill/>
        </p:spPr>
        <p:txBody>
          <a:bodyPr wrap="none" lIns="0" rIns="0" tIns="0" bIns="0"/>
          <a:lstStyle/>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fname</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lname</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address</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department</a:t>
            </a:r>
          </a:p>
          <a:p>
            <a:pPr>
              <a:lnSpc>
                <a:spcPct val="110000"/>
              </a:lnSpc>
            </a:pPr>
            <a:r>
              <a:rPr sz="2511" b="1" i="0" u="none">
                <a:solidFill>
                  <a:srgbClr val="0E8A8A"/>
                </a:solidFill>
                <a:latin typeface="Courier New"/>
              </a:rPr>
              <a:t>WHERE</a:t>
            </a:r>
            <a:r>
              <a:rPr sz="2511" b="0" i="0" u="none">
                <a:solidFill>
                  <a:srgbClr val="0F172A"/>
                </a:solidFill>
                <a:latin typeface="Courier New"/>
              </a:rPr>
              <a:t>  </a:t>
            </a:r>
            <a:r>
              <a:rPr sz="2511" b="0" i="0" u="none">
                <a:solidFill>
                  <a:srgbClr val="0F172A"/>
                </a:solidFill>
                <a:latin typeface="Courier New"/>
              </a:rPr>
              <a:t>dname</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B45309"/>
                </a:solidFill>
                <a:latin typeface="Courier New"/>
              </a:rPr>
              <a:t>'Research'</a:t>
            </a:r>
          </a:p>
          <a:p>
            <a:pPr>
              <a:lnSpc>
                <a:spcPct val="110000"/>
              </a:lnSpc>
            </a:pPr>
            <a:r>
              <a:rPr sz="2511" b="0" i="0" u="none">
                <a:solidFill>
                  <a:srgbClr val="0F172A"/>
                </a:solidFill>
                <a:latin typeface="Courier New"/>
              </a:rPr>
              <a:t>  </a:t>
            </a:r>
            <a:r>
              <a:rPr sz="2511" b="1" i="0" u="none">
                <a:solidFill>
                  <a:srgbClr val="0E8A8A"/>
                </a:solidFill>
                <a:latin typeface="Courier New"/>
              </a:rPr>
              <a:t>AND</a:t>
            </a:r>
            <a:r>
              <a:rPr sz="2511" b="0" i="0" u="none">
                <a:solidFill>
                  <a:srgbClr val="0F172A"/>
                </a:solidFill>
                <a:latin typeface="Courier New"/>
              </a:rPr>
              <a:t>  </a:t>
            </a:r>
            <a:r>
              <a:rPr sz="2511" b="0" i="0" u="none">
                <a:solidFill>
                  <a:srgbClr val="0F172A"/>
                </a:solidFill>
                <a:latin typeface="Courier New"/>
              </a:rPr>
              <a:t>dnumber</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dno</a:t>
            </a:r>
            <a:r>
              <a:rPr sz="2511" b="0" i="0" u="none">
                <a:solidFill>
                  <a:srgbClr val="0F172A"/>
                </a:solidFill>
                <a:latin typeface="Courier New"/>
              </a:rPr>
              <a:t>;</a:t>
            </a:r>
          </a:p>
        </p:txBody>
      </p:sp>
      <p:sp>
        <p:nvSpPr>
          <p:cNvPr id="10" name="TextBox 9"/>
          <p:cNvSpPr txBox="1"/>
          <p:nvPr/>
        </p:nvSpPr>
        <p:spPr>
          <a:xfrm>
            <a:off x="9357360" y="3297486"/>
            <a:ext cx="8016240" cy="426933"/>
          </a:xfrm>
          <a:prstGeom prst="rect">
            <a:avLst/>
          </a:prstGeom>
          <a:noFill/>
        </p:spPr>
        <p:txBody>
          <a:bodyPr wrap="square" lIns="0" rIns="0" tIns="0" bIns="0" anchor="t"/>
          <a:lstStyle/>
          <a:p>
            <a:pPr algn="l">
              <a:lnSpc>
                <a:spcPct val="111800"/>
              </a:lnSpc>
            </a:pPr>
            <a:r>
              <a:rPr sz="2318" b="1" i="0" u="none">
                <a:solidFill>
                  <a:srgbClr val="0E8A8A"/>
                </a:solidFill>
                <a:latin typeface="Arial"/>
              </a:rPr>
              <a:t>ANSI JOIN syntax (recommended)</a:t>
            </a:r>
          </a:p>
        </p:txBody>
      </p:sp>
      <p:sp>
        <p:nvSpPr>
          <p:cNvPr id="11" name="Rectangle 10"/>
          <p:cNvSpPr/>
          <p:nvPr/>
        </p:nvSpPr>
        <p:spPr>
          <a:xfrm>
            <a:off x="9357360" y="3884439"/>
            <a:ext cx="8016240" cy="2147345"/>
          </a:xfrm>
          <a:prstGeom prst="rect">
            <a:avLst/>
          </a:prstGeom>
          <a:solidFill>
            <a:srgbClr val="F8FAFC"/>
          </a:solidFill>
          <a:ln w="14287">
            <a:solidFill>
              <a:srgbClr val="E2E8F0"/>
            </a:solidFill>
          </a:ln>
        </p:spPr>
        <p:txBody>
          <a:bodyPr rtlCol="0" anchor="ctr" lIns="0" rIns="0" tIns="0" bIns="0"/>
          <a:lstStyle/>
          <a:p>
            <a:pPr algn="ctr"/>
          </a:p>
        </p:txBody>
      </p:sp>
      <p:sp>
        <p:nvSpPr>
          <p:cNvPr id="12" name="TextBox 11"/>
          <p:cNvSpPr txBox="1"/>
          <p:nvPr/>
        </p:nvSpPr>
        <p:spPr>
          <a:xfrm>
            <a:off x="9624060" y="4151139"/>
            <a:ext cx="7482840" cy="1613945"/>
          </a:xfrm>
          <a:prstGeom prst="rect">
            <a:avLst/>
          </a:prstGeom>
          <a:noFill/>
        </p:spPr>
        <p:txBody>
          <a:bodyPr wrap="none" lIns="0" rIns="0" tIns="0" bIns="0"/>
          <a:lstStyle/>
          <a:p>
            <a:pPr>
              <a:lnSpc>
                <a:spcPct val="110000"/>
              </a:lnSpc>
            </a:pPr>
            <a:r>
              <a:rPr sz="2406" b="1" i="0" u="none">
                <a:solidFill>
                  <a:srgbClr val="0E8A8A"/>
                </a:solidFill>
                <a:latin typeface="Courier New"/>
              </a:rPr>
              <a:t>SELECT</a:t>
            </a:r>
            <a:r>
              <a:rPr sz="2406" b="0" i="0" u="none">
                <a:solidFill>
                  <a:srgbClr val="0F172A"/>
                </a:solidFill>
                <a:latin typeface="Courier New"/>
              </a:rPr>
              <a:t> </a:t>
            </a:r>
            <a:r>
              <a:rPr sz="2406" b="0" i="0" u="none">
                <a:solidFill>
                  <a:srgbClr val="0F172A"/>
                </a:solidFill>
                <a:latin typeface="Courier New"/>
              </a:rPr>
              <a:t>e</a:t>
            </a:r>
            <a:r>
              <a:rPr sz="2406" b="0" i="0" u="none">
                <a:solidFill>
                  <a:srgbClr val="0F172A"/>
                </a:solidFill>
                <a:latin typeface="Courier New"/>
              </a:rPr>
              <a:t>.</a:t>
            </a:r>
            <a:r>
              <a:rPr sz="2406" b="0" i="0" u="none">
                <a:solidFill>
                  <a:srgbClr val="0F172A"/>
                </a:solidFill>
                <a:latin typeface="Courier New"/>
              </a:rPr>
              <a:t>fname</a:t>
            </a:r>
            <a:r>
              <a:rPr sz="2406" b="0" i="0" u="none">
                <a:solidFill>
                  <a:srgbClr val="0F172A"/>
                </a:solidFill>
                <a:latin typeface="Courier New"/>
              </a:rPr>
              <a:t>,</a:t>
            </a:r>
            <a:r>
              <a:rPr sz="2406" b="0" i="0" u="none">
                <a:solidFill>
                  <a:srgbClr val="0F172A"/>
                </a:solidFill>
                <a:latin typeface="Courier New"/>
              </a:rPr>
              <a:t> </a:t>
            </a:r>
            <a:r>
              <a:rPr sz="2406" b="0" i="0" u="none">
                <a:solidFill>
                  <a:srgbClr val="0F172A"/>
                </a:solidFill>
                <a:latin typeface="Courier New"/>
              </a:rPr>
              <a:t>e</a:t>
            </a:r>
            <a:r>
              <a:rPr sz="2406" b="0" i="0" u="none">
                <a:solidFill>
                  <a:srgbClr val="0F172A"/>
                </a:solidFill>
                <a:latin typeface="Courier New"/>
              </a:rPr>
              <a:t>.</a:t>
            </a:r>
            <a:r>
              <a:rPr sz="2406" b="0" i="0" u="none">
                <a:solidFill>
                  <a:srgbClr val="0F172A"/>
                </a:solidFill>
                <a:latin typeface="Courier New"/>
              </a:rPr>
              <a:t>lname</a:t>
            </a:r>
            <a:r>
              <a:rPr sz="2406" b="0" i="0" u="none">
                <a:solidFill>
                  <a:srgbClr val="0F172A"/>
                </a:solidFill>
                <a:latin typeface="Courier New"/>
              </a:rPr>
              <a:t>,</a:t>
            </a:r>
            <a:r>
              <a:rPr sz="2406" b="0" i="0" u="none">
                <a:solidFill>
                  <a:srgbClr val="0F172A"/>
                </a:solidFill>
                <a:latin typeface="Courier New"/>
              </a:rPr>
              <a:t> </a:t>
            </a:r>
            <a:r>
              <a:rPr sz="2406" b="0" i="0" u="none">
                <a:solidFill>
                  <a:srgbClr val="0F172A"/>
                </a:solidFill>
                <a:latin typeface="Courier New"/>
              </a:rPr>
              <a:t>e</a:t>
            </a:r>
            <a:r>
              <a:rPr sz="2406" b="0" i="0" u="none">
                <a:solidFill>
                  <a:srgbClr val="0F172A"/>
                </a:solidFill>
                <a:latin typeface="Courier New"/>
              </a:rPr>
              <a:t>.</a:t>
            </a:r>
            <a:r>
              <a:rPr sz="2406" b="0" i="0" u="none">
                <a:solidFill>
                  <a:srgbClr val="0F172A"/>
                </a:solidFill>
                <a:latin typeface="Courier New"/>
              </a:rPr>
              <a:t>address</a:t>
            </a:r>
          </a:p>
          <a:p>
            <a:pPr>
              <a:lnSpc>
                <a:spcPct val="110000"/>
              </a:lnSpc>
            </a:pPr>
            <a:r>
              <a:rPr sz="2406" b="1" i="0" u="none">
                <a:solidFill>
                  <a:srgbClr val="0E8A8A"/>
                </a:solidFill>
                <a:latin typeface="Courier New"/>
              </a:rPr>
              <a:t>FROM</a:t>
            </a:r>
            <a:r>
              <a:rPr sz="2406" b="0" i="0" u="none">
                <a:solidFill>
                  <a:srgbClr val="0F172A"/>
                </a:solidFill>
                <a:latin typeface="Courier New"/>
              </a:rPr>
              <a:t>   </a:t>
            </a:r>
            <a:r>
              <a:rPr sz="2406" b="0" i="0" u="none">
                <a:solidFill>
                  <a:srgbClr val="0F172A"/>
                </a:solidFill>
                <a:latin typeface="Courier New"/>
              </a:rPr>
              <a:t>employee</a:t>
            </a:r>
            <a:r>
              <a:rPr sz="2406" b="0" i="0" u="none">
                <a:solidFill>
                  <a:srgbClr val="0F172A"/>
                </a:solidFill>
                <a:latin typeface="Courier New"/>
              </a:rPr>
              <a:t> </a:t>
            </a:r>
            <a:r>
              <a:rPr sz="2406" b="0" i="0" u="none">
                <a:solidFill>
                  <a:srgbClr val="0F172A"/>
                </a:solidFill>
                <a:latin typeface="Courier New"/>
              </a:rPr>
              <a:t>e</a:t>
            </a:r>
          </a:p>
          <a:p>
            <a:pPr>
              <a:lnSpc>
                <a:spcPct val="110000"/>
              </a:lnSpc>
            </a:pPr>
            <a:r>
              <a:rPr sz="2406" b="1" i="0" u="none">
                <a:solidFill>
                  <a:srgbClr val="0E8A8A"/>
                </a:solidFill>
                <a:latin typeface="Courier New"/>
              </a:rPr>
              <a:t>JOIN</a:t>
            </a:r>
            <a:r>
              <a:rPr sz="2406" b="0" i="0" u="none">
                <a:solidFill>
                  <a:srgbClr val="0F172A"/>
                </a:solidFill>
                <a:latin typeface="Courier New"/>
              </a:rPr>
              <a:t>   </a:t>
            </a:r>
            <a:r>
              <a:rPr sz="2406" b="0" i="0" u="none">
                <a:solidFill>
                  <a:srgbClr val="0F172A"/>
                </a:solidFill>
                <a:latin typeface="Courier New"/>
              </a:rPr>
              <a:t>department</a:t>
            </a:r>
            <a:r>
              <a:rPr sz="2406" b="0" i="0" u="none">
                <a:solidFill>
                  <a:srgbClr val="0F172A"/>
                </a:solidFill>
                <a:latin typeface="Courier New"/>
              </a:rPr>
              <a:t> </a:t>
            </a:r>
            <a:r>
              <a:rPr sz="2406" b="0" i="0" u="none">
                <a:solidFill>
                  <a:srgbClr val="0F172A"/>
                </a:solidFill>
                <a:latin typeface="Courier New"/>
              </a:rPr>
              <a:t>d</a:t>
            </a:r>
            <a:r>
              <a:rPr sz="2406" b="0" i="0" u="none">
                <a:solidFill>
                  <a:srgbClr val="0F172A"/>
                </a:solidFill>
                <a:latin typeface="Courier New"/>
              </a:rPr>
              <a:t> </a:t>
            </a:r>
            <a:r>
              <a:rPr sz="2406" b="1" i="0" u="none">
                <a:solidFill>
                  <a:srgbClr val="0E8A8A"/>
                </a:solidFill>
                <a:latin typeface="Courier New"/>
              </a:rPr>
              <a:t>ON</a:t>
            </a:r>
            <a:r>
              <a:rPr sz="2406" b="0" i="0" u="none">
                <a:solidFill>
                  <a:srgbClr val="0F172A"/>
                </a:solidFill>
                <a:latin typeface="Courier New"/>
              </a:rPr>
              <a:t> </a:t>
            </a:r>
            <a:r>
              <a:rPr sz="2406" b="0" i="0" u="none">
                <a:solidFill>
                  <a:srgbClr val="0F172A"/>
                </a:solidFill>
                <a:latin typeface="Courier New"/>
              </a:rPr>
              <a:t>d</a:t>
            </a:r>
            <a:r>
              <a:rPr sz="2406" b="0" i="0" u="none">
                <a:solidFill>
                  <a:srgbClr val="0F172A"/>
                </a:solidFill>
                <a:latin typeface="Courier New"/>
              </a:rPr>
              <a:t>.</a:t>
            </a:r>
            <a:r>
              <a:rPr sz="2406" b="0" i="0" u="none">
                <a:solidFill>
                  <a:srgbClr val="0F172A"/>
                </a:solidFill>
                <a:latin typeface="Courier New"/>
              </a:rPr>
              <a:t>dnumber</a:t>
            </a:r>
            <a:r>
              <a:rPr sz="2406" b="0" i="0" u="none">
                <a:solidFill>
                  <a:srgbClr val="0F172A"/>
                </a:solidFill>
                <a:latin typeface="Courier New"/>
              </a:rPr>
              <a:t> </a:t>
            </a:r>
            <a:r>
              <a:rPr sz="2406" b="0" i="0" u="none">
                <a:solidFill>
                  <a:srgbClr val="0F172A"/>
                </a:solidFill>
                <a:latin typeface="Courier New"/>
              </a:rPr>
              <a:t>=</a:t>
            </a:r>
            <a:r>
              <a:rPr sz="2406" b="0" i="0" u="none">
                <a:solidFill>
                  <a:srgbClr val="0F172A"/>
                </a:solidFill>
                <a:latin typeface="Courier New"/>
              </a:rPr>
              <a:t> </a:t>
            </a:r>
            <a:r>
              <a:rPr sz="2406" b="0" i="0" u="none">
                <a:solidFill>
                  <a:srgbClr val="0F172A"/>
                </a:solidFill>
                <a:latin typeface="Courier New"/>
              </a:rPr>
              <a:t>e</a:t>
            </a:r>
            <a:r>
              <a:rPr sz="2406" b="0" i="0" u="none">
                <a:solidFill>
                  <a:srgbClr val="0F172A"/>
                </a:solidFill>
                <a:latin typeface="Courier New"/>
              </a:rPr>
              <a:t>.</a:t>
            </a:r>
            <a:r>
              <a:rPr sz="2406" b="0" i="0" u="none">
                <a:solidFill>
                  <a:srgbClr val="0F172A"/>
                </a:solidFill>
                <a:latin typeface="Courier New"/>
              </a:rPr>
              <a:t>dno</a:t>
            </a:r>
          </a:p>
          <a:p>
            <a:pPr>
              <a:lnSpc>
                <a:spcPct val="110000"/>
              </a:lnSpc>
            </a:pPr>
            <a:r>
              <a:rPr sz="2406" b="1" i="0" u="none">
                <a:solidFill>
                  <a:srgbClr val="0E8A8A"/>
                </a:solidFill>
                <a:latin typeface="Courier New"/>
              </a:rPr>
              <a:t>WHERE</a:t>
            </a:r>
            <a:r>
              <a:rPr sz="2406" b="0" i="0" u="none">
                <a:solidFill>
                  <a:srgbClr val="0F172A"/>
                </a:solidFill>
                <a:latin typeface="Courier New"/>
              </a:rPr>
              <a:t>  </a:t>
            </a:r>
            <a:r>
              <a:rPr sz="2406" b="0" i="0" u="none">
                <a:solidFill>
                  <a:srgbClr val="0F172A"/>
                </a:solidFill>
                <a:latin typeface="Courier New"/>
              </a:rPr>
              <a:t>d</a:t>
            </a:r>
            <a:r>
              <a:rPr sz="2406" b="0" i="0" u="none">
                <a:solidFill>
                  <a:srgbClr val="0F172A"/>
                </a:solidFill>
                <a:latin typeface="Courier New"/>
              </a:rPr>
              <a:t>.</a:t>
            </a:r>
            <a:r>
              <a:rPr sz="2406" b="0" i="0" u="none">
                <a:solidFill>
                  <a:srgbClr val="0F172A"/>
                </a:solidFill>
                <a:latin typeface="Courier New"/>
              </a:rPr>
              <a:t>dname</a:t>
            </a:r>
            <a:r>
              <a:rPr sz="2406" b="0" i="0" u="none">
                <a:solidFill>
                  <a:srgbClr val="0F172A"/>
                </a:solidFill>
                <a:latin typeface="Courier New"/>
              </a:rPr>
              <a:t> </a:t>
            </a:r>
            <a:r>
              <a:rPr sz="2406" b="0" i="0" u="none">
                <a:solidFill>
                  <a:srgbClr val="0F172A"/>
                </a:solidFill>
                <a:latin typeface="Courier New"/>
              </a:rPr>
              <a:t>=</a:t>
            </a:r>
            <a:r>
              <a:rPr sz="2406" b="0" i="0" u="none">
                <a:solidFill>
                  <a:srgbClr val="0F172A"/>
                </a:solidFill>
                <a:latin typeface="Courier New"/>
              </a:rPr>
              <a:t> </a:t>
            </a:r>
            <a:r>
              <a:rPr sz="2406" b="0" i="0" u="none">
                <a:solidFill>
                  <a:srgbClr val="B45309"/>
                </a:solidFill>
                <a:latin typeface="Courier New"/>
              </a:rPr>
              <a:t>'Research'</a:t>
            </a:r>
            <a:r>
              <a:rPr sz="2406" b="0" i="0" u="none">
                <a:solidFill>
                  <a:srgbClr val="0F172A"/>
                </a:solidFill>
                <a:latin typeface="Courier New"/>
              </a:rPr>
              <a:t>;</a:t>
            </a:r>
          </a:p>
        </p:txBody>
      </p:sp>
      <p:sp>
        <p:nvSpPr>
          <p:cNvPr id="13" name="Rectangle 12"/>
          <p:cNvSpPr/>
          <p:nvPr/>
        </p:nvSpPr>
        <p:spPr>
          <a:xfrm>
            <a:off x="914400" y="6419391"/>
            <a:ext cx="16459200" cy="1410576"/>
          </a:xfrm>
          <a:prstGeom prst="rect">
            <a:avLst/>
          </a:prstGeom>
          <a:solidFill>
            <a:srgbClr val="E6F4F4"/>
          </a:solidFill>
          <a:ln>
            <a:noFill/>
          </a:ln>
        </p:spPr>
        <p:txBody>
          <a:bodyPr rtlCol="0" anchor="ctr" lIns="0" rIns="0" tIns="0" bIns="0"/>
          <a:lstStyle/>
          <a:p>
            <a:pPr algn="ctr"/>
          </a:p>
        </p:txBody>
      </p:sp>
      <p:sp>
        <p:nvSpPr>
          <p:cNvPr id="14" name="Rectangle 13"/>
          <p:cNvSpPr/>
          <p:nvPr/>
        </p:nvSpPr>
        <p:spPr>
          <a:xfrm>
            <a:off x="914400" y="6419391"/>
            <a:ext cx="47625" cy="1410576"/>
          </a:xfrm>
          <a:prstGeom prst="rect">
            <a:avLst/>
          </a:prstGeom>
          <a:solidFill>
            <a:srgbClr val="0E8A8A"/>
          </a:solidFill>
          <a:ln>
            <a:noFill/>
          </a:ln>
        </p:spPr>
        <p:txBody>
          <a:bodyPr rtlCol="0" anchor="ctr" lIns="0" rIns="0" tIns="0" bIns="0"/>
          <a:lstStyle/>
          <a:p>
            <a:pPr algn="ctr"/>
          </a:p>
        </p:txBody>
      </p:sp>
      <p:sp>
        <p:nvSpPr>
          <p:cNvPr id="15" name="TextBox 14"/>
          <p:cNvSpPr txBox="1"/>
          <p:nvPr/>
        </p:nvSpPr>
        <p:spPr>
          <a:xfrm>
            <a:off x="1341120" y="6686091"/>
            <a:ext cx="15605760" cy="877176"/>
          </a:xfrm>
          <a:prstGeom prst="rect">
            <a:avLst/>
          </a:prstGeom>
          <a:noFill/>
        </p:spPr>
        <p:txBody>
          <a:bodyPr wrap="square" lIns="0" rIns="0" tIns="0" bIns="0"/>
          <a:lstStyle/>
          <a:p>
            <a:pPr>
              <a:lnSpc>
                <a:spcPct val="112000"/>
              </a:lnSpc>
            </a:pPr>
            <a:r>
              <a:rPr sz="2511" b="0" i="0" u="none">
                <a:solidFill>
                  <a:srgbClr val="0F172A"/>
                </a:solidFill>
                <a:latin typeface="Calibri"/>
              </a:rPr>
              <a:t>The ANSI form keeps </a:t>
            </a:r>
            <a:r>
              <a:rPr sz="2511" b="1" i="0" u="none">
                <a:solidFill>
                  <a:srgbClr val="0F172A"/>
                </a:solidFill>
                <a:latin typeface="Calibri"/>
              </a:rPr>
              <a:t>join conditions</a:t>
            </a:r>
            <a:r>
              <a:rPr sz="2511" b="0" i="0" u="none">
                <a:solidFill>
                  <a:srgbClr val="0F172A"/>
                </a:solidFill>
                <a:latin typeface="Calibri"/>
              </a:rPr>
              <a:t> (ON) apart from </a:t>
            </a:r>
            <a:r>
              <a:rPr sz="2511" b="1" i="0" u="none">
                <a:solidFill>
                  <a:srgbClr val="0F172A"/>
                </a:solidFill>
                <a:latin typeface="Calibri"/>
              </a:rPr>
              <a:t>filters</a:t>
            </a:r>
            <a:r>
              <a:rPr sz="2511" b="0" i="0" u="none">
                <a:solidFill>
                  <a:srgbClr val="0F172A"/>
                </a:solidFill>
                <a:latin typeface="Calibri"/>
              </a:rPr>
              <a:t> (WHERE) and works the same for outer joins. Forgetting the condition in the old style silently creates a Cartesian product.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JOINS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37/71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Ambiguous columns and table aliases</a:t>
            </a:r>
          </a:p>
        </p:txBody>
      </p:sp>
      <p:sp>
        <p:nvSpPr>
          <p:cNvPr id="6" name="Rectangle 5"/>
          <p:cNvSpPr/>
          <p:nvPr/>
        </p:nvSpPr>
        <p:spPr>
          <a:xfrm>
            <a:off x="914400" y="2482024"/>
            <a:ext cx="8572500" cy="2233325"/>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1699925"/>
          </a:xfrm>
          <a:prstGeom prst="rect">
            <a:avLst/>
          </a:prstGeom>
          <a:noFill/>
        </p:spPr>
        <p:txBody>
          <a:bodyPr wrap="none" lIns="0" rIns="0" tIns="0" bIns="0"/>
          <a:lstStyle/>
          <a:p>
            <a:pPr>
              <a:lnSpc>
                <a:spcPct val="110000"/>
              </a:lnSpc>
            </a:pPr>
            <a:r>
              <a:rPr sz="2028" b="0" i="1" u="none">
                <a:solidFill>
                  <a:srgbClr val="64748B"/>
                </a:solidFill>
                <a:latin typeface="Courier New"/>
              </a:rPr>
              <a:t>-- both tables have a column called name and id</a:t>
            </a:r>
          </a:p>
          <a:p>
            <a:pPr>
              <a:lnSpc>
                <a:spcPct val="110000"/>
              </a:lnSpc>
            </a:pPr>
            <a:r>
              <a:rPr sz="2028" b="1" i="0" u="none">
                <a:solidFill>
                  <a:srgbClr val="0E8A8A"/>
                </a:solidFill>
                <a:latin typeface="Courier New"/>
              </a:rPr>
              <a:t>SELECT</a:t>
            </a:r>
            <a:r>
              <a:rPr sz="2028" b="0" i="0" u="none">
                <a:solidFill>
                  <a:srgbClr val="0F172A"/>
                </a:solidFill>
                <a:latin typeface="Courier New"/>
              </a:rPr>
              <a:t> </a:t>
            </a:r>
            <a:r>
              <a:rPr sz="2028" b="0" i="0" u="none">
                <a:solidFill>
                  <a:srgbClr val="0F172A"/>
                </a:solidFill>
                <a:latin typeface="Courier New"/>
              </a:rPr>
              <a:t>d</a:t>
            </a:r>
            <a:r>
              <a:rPr sz="2028" b="0" i="0" u="none">
                <a:solidFill>
                  <a:srgbClr val="0F172A"/>
                </a:solidFill>
                <a:latin typeface="Courier New"/>
              </a:rPr>
              <a:t>.</a:t>
            </a:r>
            <a:r>
              <a:rPr sz="2028" b="0" i="0" u="none">
                <a:solidFill>
                  <a:srgbClr val="0F172A"/>
                </a:solidFill>
                <a:latin typeface="Courier New"/>
              </a:rPr>
              <a:t>name</a:t>
            </a:r>
            <a:r>
              <a:rPr sz="2028" b="0" i="0" u="none">
                <a:solidFill>
                  <a:srgbClr val="0F172A"/>
                </a:solidFill>
                <a:latin typeface="Courier New"/>
              </a:rPr>
              <a:t> </a:t>
            </a:r>
            <a:r>
              <a:rPr sz="2028" b="1" i="0" u="none">
                <a:solidFill>
                  <a:srgbClr val="0E8A8A"/>
                </a:solidFill>
                <a:latin typeface="Courier New"/>
              </a:rPr>
              <a:t>AS</a:t>
            </a:r>
            <a:r>
              <a:rPr sz="2028" b="0" i="0" u="none">
                <a:solidFill>
                  <a:srgbClr val="0F172A"/>
                </a:solidFill>
                <a:latin typeface="Courier New"/>
              </a:rPr>
              <a:t> </a:t>
            </a:r>
            <a:r>
              <a:rPr sz="2028" b="0" i="0" u="none">
                <a:solidFill>
                  <a:srgbClr val="0F172A"/>
                </a:solidFill>
                <a:latin typeface="Courier New"/>
              </a:rPr>
              <a:t>department</a:t>
            </a:r>
            <a:r>
              <a:rPr sz="2028" b="0" i="0" u="none">
                <a:solidFill>
                  <a:srgbClr val="0F172A"/>
                </a:solidFill>
                <a:latin typeface="Courier New"/>
              </a:rPr>
              <a:t>,</a:t>
            </a:r>
            <a:r>
              <a:rPr sz="2028" b="0" i="0" u="none">
                <a:solidFill>
                  <a:srgbClr val="0F172A"/>
                </a:solidFill>
                <a:latin typeface="Courier New"/>
              </a:rPr>
              <a:t> </a:t>
            </a:r>
            <a:r>
              <a:rPr sz="2028" b="0" i="0" u="none">
                <a:solidFill>
                  <a:srgbClr val="0F172A"/>
                </a:solidFill>
                <a:latin typeface="Courier New"/>
              </a:rPr>
              <a:t>e</a:t>
            </a:r>
            <a:r>
              <a:rPr sz="2028" b="0" i="0" u="none">
                <a:solidFill>
                  <a:srgbClr val="0F172A"/>
                </a:solidFill>
                <a:latin typeface="Courier New"/>
              </a:rPr>
              <a:t>.</a:t>
            </a:r>
            <a:r>
              <a:rPr sz="2028" b="0" i="0" u="none">
                <a:solidFill>
                  <a:srgbClr val="0F172A"/>
                </a:solidFill>
                <a:latin typeface="Courier New"/>
              </a:rPr>
              <a:t>id</a:t>
            </a:r>
            <a:r>
              <a:rPr sz="2028" b="0" i="0" u="none">
                <a:solidFill>
                  <a:srgbClr val="0F172A"/>
                </a:solidFill>
                <a:latin typeface="Courier New"/>
              </a:rPr>
              <a:t>,</a:t>
            </a:r>
            <a:r>
              <a:rPr sz="2028" b="0" i="0" u="none">
                <a:solidFill>
                  <a:srgbClr val="0F172A"/>
                </a:solidFill>
                <a:latin typeface="Courier New"/>
              </a:rPr>
              <a:t> </a:t>
            </a:r>
            <a:r>
              <a:rPr sz="2028" b="0" i="0" u="none">
                <a:solidFill>
                  <a:srgbClr val="0F172A"/>
                </a:solidFill>
                <a:latin typeface="Courier New"/>
              </a:rPr>
              <a:t>e</a:t>
            </a:r>
            <a:r>
              <a:rPr sz="2028" b="0" i="0" u="none">
                <a:solidFill>
                  <a:srgbClr val="0F172A"/>
                </a:solidFill>
                <a:latin typeface="Courier New"/>
              </a:rPr>
              <a:t>.</a:t>
            </a:r>
            <a:r>
              <a:rPr sz="2028" b="0" i="0" u="none">
                <a:solidFill>
                  <a:srgbClr val="0F172A"/>
                </a:solidFill>
                <a:latin typeface="Courier New"/>
              </a:rPr>
              <a:t>name</a:t>
            </a:r>
            <a:r>
              <a:rPr sz="2028" b="0" i="0" u="none">
                <a:solidFill>
                  <a:srgbClr val="0F172A"/>
                </a:solidFill>
                <a:latin typeface="Courier New"/>
              </a:rPr>
              <a:t>,</a:t>
            </a:r>
            <a:r>
              <a:rPr sz="2028" b="0" i="0" u="none">
                <a:solidFill>
                  <a:srgbClr val="0F172A"/>
                </a:solidFill>
                <a:latin typeface="Courier New"/>
              </a:rPr>
              <a:t> </a:t>
            </a:r>
            <a:r>
              <a:rPr sz="2028" b="0" i="0" u="none">
                <a:solidFill>
                  <a:srgbClr val="0F172A"/>
                </a:solidFill>
                <a:latin typeface="Courier New"/>
              </a:rPr>
              <a:t>e</a:t>
            </a:r>
            <a:r>
              <a:rPr sz="2028" b="0" i="0" u="none">
                <a:solidFill>
                  <a:srgbClr val="0F172A"/>
                </a:solidFill>
                <a:latin typeface="Courier New"/>
              </a:rPr>
              <a:t>.</a:t>
            </a:r>
            <a:r>
              <a:rPr sz="2028" b="0" i="0" u="none">
                <a:solidFill>
                  <a:srgbClr val="0F172A"/>
                </a:solidFill>
                <a:latin typeface="Courier New"/>
              </a:rPr>
              <a:t>salary</a:t>
            </a:r>
          </a:p>
          <a:p>
            <a:pPr>
              <a:lnSpc>
                <a:spcPct val="110000"/>
              </a:lnSpc>
            </a:pPr>
            <a:r>
              <a:rPr sz="2028" b="1" i="0" u="none">
                <a:solidFill>
                  <a:srgbClr val="0E8A8A"/>
                </a:solidFill>
                <a:latin typeface="Courier New"/>
              </a:rPr>
              <a:t>FROM</a:t>
            </a:r>
            <a:r>
              <a:rPr sz="2028" b="0" i="0" u="none">
                <a:solidFill>
                  <a:srgbClr val="0F172A"/>
                </a:solidFill>
                <a:latin typeface="Courier New"/>
              </a:rPr>
              <a:t>   </a:t>
            </a:r>
            <a:r>
              <a:rPr sz="2028" b="0" i="0" u="none">
                <a:solidFill>
                  <a:srgbClr val="0F172A"/>
                </a:solidFill>
                <a:latin typeface="Courier New"/>
              </a:rPr>
              <a:t>department</a:t>
            </a:r>
            <a:r>
              <a:rPr sz="2028" b="0" i="0" u="none">
                <a:solidFill>
                  <a:srgbClr val="0F172A"/>
                </a:solidFill>
                <a:latin typeface="Courier New"/>
              </a:rPr>
              <a:t> </a:t>
            </a:r>
            <a:r>
              <a:rPr sz="2028" b="0" i="0" u="none">
                <a:solidFill>
                  <a:srgbClr val="0F172A"/>
                </a:solidFill>
                <a:latin typeface="Courier New"/>
              </a:rPr>
              <a:t>d</a:t>
            </a:r>
          </a:p>
          <a:p>
            <a:pPr>
              <a:lnSpc>
                <a:spcPct val="110000"/>
              </a:lnSpc>
            </a:pPr>
            <a:r>
              <a:rPr sz="2028" b="1" i="0" u="none">
                <a:solidFill>
                  <a:srgbClr val="0E8A8A"/>
                </a:solidFill>
                <a:latin typeface="Courier New"/>
              </a:rPr>
              <a:t>JOIN</a:t>
            </a:r>
            <a:r>
              <a:rPr sz="2028" b="0" i="0" u="none">
                <a:solidFill>
                  <a:srgbClr val="0F172A"/>
                </a:solidFill>
                <a:latin typeface="Courier New"/>
              </a:rPr>
              <a:t>   </a:t>
            </a:r>
            <a:r>
              <a:rPr sz="2028" b="0" i="0" u="none">
                <a:solidFill>
                  <a:srgbClr val="0F172A"/>
                </a:solidFill>
                <a:latin typeface="Courier New"/>
              </a:rPr>
              <a:t>employee</a:t>
            </a:r>
            <a:r>
              <a:rPr sz="2028" b="0" i="0" u="none">
                <a:solidFill>
                  <a:srgbClr val="0F172A"/>
                </a:solidFill>
                <a:latin typeface="Courier New"/>
              </a:rPr>
              <a:t>   </a:t>
            </a:r>
            <a:r>
              <a:rPr sz="2028" b="0" i="0" u="none">
                <a:solidFill>
                  <a:srgbClr val="0F172A"/>
                </a:solidFill>
                <a:latin typeface="Courier New"/>
              </a:rPr>
              <a:t>e</a:t>
            </a:r>
            <a:r>
              <a:rPr sz="2028" b="0" i="0" u="none">
                <a:solidFill>
                  <a:srgbClr val="0F172A"/>
                </a:solidFill>
                <a:latin typeface="Courier New"/>
              </a:rPr>
              <a:t> </a:t>
            </a:r>
            <a:r>
              <a:rPr sz="2028" b="1" i="0" u="none">
                <a:solidFill>
                  <a:srgbClr val="0E8A8A"/>
                </a:solidFill>
                <a:latin typeface="Courier New"/>
              </a:rPr>
              <a:t>ON</a:t>
            </a:r>
            <a:r>
              <a:rPr sz="2028" b="0" i="0" u="none">
                <a:solidFill>
                  <a:srgbClr val="0F172A"/>
                </a:solidFill>
                <a:latin typeface="Courier New"/>
              </a:rPr>
              <a:t> </a:t>
            </a:r>
            <a:r>
              <a:rPr sz="2028" b="0" i="0" u="none">
                <a:solidFill>
                  <a:srgbClr val="0F172A"/>
                </a:solidFill>
                <a:latin typeface="Courier New"/>
              </a:rPr>
              <a:t>d</a:t>
            </a:r>
            <a:r>
              <a:rPr sz="2028" b="0" i="0" u="none">
                <a:solidFill>
                  <a:srgbClr val="0F172A"/>
                </a:solidFill>
                <a:latin typeface="Courier New"/>
              </a:rPr>
              <a:t>.</a:t>
            </a:r>
            <a:r>
              <a:rPr sz="2028" b="0" i="0" u="none">
                <a:solidFill>
                  <a:srgbClr val="0F172A"/>
                </a:solidFill>
                <a:latin typeface="Courier New"/>
              </a:rPr>
              <a:t>id</a:t>
            </a:r>
            <a:r>
              <a:rPr sz="2028" b="0" i="0" u="none">
                <a:solidFill>
                  <a:srgbClr val="0F172A"/>
                </a:solidFill>
                <a:latin typeface="Courier New"/>
              </a:rPr>
              <a:t> </a:t>
            </a:r>
            <a:r>
              <a:rPr sz="2028" b="0" i="0" u="none">
                <a:solidFill>
                  <a:srgbClr val="0F172A"/>
                </a:solidFill>
                <a:latin typeface="Courier New"/>
              </a:rPr>
              <a:t>=</a:t>
            </a:r>
            <a:r>
              <a:rPr sz="2028" b="0" i="0" u="none">
                <a:solidFill>
                  <a:srgbClr val="0F172A"/>
                </a:solidFill>
                <a:latin typeface="Courier New"/>
              </a:rPr>
              <a:t> </a:t>
            </a:r>
            <a:r>
              <a:rPr sz="2028" b="0" i="0" u="none">
                <a:solidFill>
                  <a:srgbClr val="0F172A"/>
                </a:solidFill>
                <a:latin typeface="Courier New"/>
              </a:rPr>
              <a:t>e</a:t>
            </a:r>
            <a:r>
              <a:rPr sz="2028" b="0" i="0" u="none">
                <a:solidFill>
                  <a:srgbClr val="0F172A"/>
                </a:solidFill>
                <a:latin typeface="Courier New"/>
              </a:rPr>
              <a:t>.</a:t>
            </a:r>
            <a:r>
              <a:rPr sz="2028" b="0" i="0" u="none">
                <a:solidFill>
                  <a:srgbClr val="0F172A"/>
                </a:solidFill>
                <a:latin typeface="Courier New"/>
              </a:rPr>
              <a:t>dept_id</a:t>
            </a:r>
          </a:p>
          <a:p>
            <a:pPr>
              <a:lnSpc>
                <a:spcPct val="110000"/>
              </a:lnSpc>
            </a:pPr>
            <a:r>
              <a:rPr sz="2028" b="1" i="0" u="none">
                <a:solidFill>
                  <a:srgbClr val="0E8A8A"/>
                </a:solidFill>
                <a:latin typeface="Courier New"/>
              </a:rPr>
              <a:t>ORDER</a:t>
            </a:r>
            <a:r>
              <a:rPr sz="2028" b="0" i="0" u="none">
                <a:solidFill>
                  <a:srgbClr val="0F172A"/>
                </a:solidFill>
                <a:latin typeface="Courier New"/>
              </a:rPr>
              <a:t> </a:t>
            </a:r>
            <a:r>
              <a:rPr sz="2028" b="1" i="0" u="none">
                <a:solidFill>
                  <a:srgbClr val="0E8A8A"/>
                </a:solidFill>
                <a:latin typeface="Courier New"/>
              </a:rPr>
              <a:t>BY</a:t>
            </a:r>
            <a:r>
              <a:rPr sz="2028" b="0" i="0" u="none">
                <a:solidFill>
                  <a:srgbClr val="0F172A"/>
                </a:solidFill>
                <a:latin typeface="Courier New"/>
              </a:rPr>
              <a:t> </a:t>
            </a:r>
            <a:r>
              <a:rPr sz="2028" b="0" i="0" u="none">
                <a:solidFill>
                  <a:srgbClr val="0F172A"/>
                </a:solidFill>
                <a:latin typeface="Courier New"/>
              </a:rPr>
              <a:t>d</a:t>
            </a:r>
            <a:r>
              <a:rPr sz="2028" b="0" i="0" u="none">
                <a:solidFill>
                  <a:srgbClr val="0F172A"/>
                </a:solidFill>
                <a:latin typeface="Courier New"/>
              </a:rPr>
              <a:t>.</a:t>
            </a:r>
            <a:r>
              <a:rPr sz="2028" b="0" i="0" u="none">
                <a:solidFill>
                  <a:srgbClr val="0F172A"/>
                </a:solidFill>
                <a:latin typeface="Courier New"/>
              </a:rPr>
              <a:t>name</a:t>
            </a:r>
            <a:r>
              <a:rPr sz="2028" b="0" i="0" u="none">
                <a:solidFill>
                  <a:srgbClr val="0F172A"/>
                </a:solidFill>
                <a:latin typeface="Courier New"/>
              </a:rPr>
              <a:t>;</a:t>
            </a:r>
          </a:p>
        </p:txBody>
      </p:sp>
      <p:sp>
        <p:nvSpPr>
          <p:cNvPr id="8" name="Rectangle 7"/>
          <p:cNvSpPr/>
          <p:nvPr/>
        </p:nvSpPr>
        <p:spPr>
          <a:xfrm>
            <a:off x="9913620" y="2482024"/>
            <a:ext cx="7459980" cy="2191313"/>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13670" y="2882074"/>
            <a:ext cx="6659880" cy="1391213"/>
          </a:xfrm>
          <a:prstGeom prst="rect">
            <a:avLst/>
          </a:prstGeom>
          <a:noFill/>
        </p:spPr>
        <p:txBody>
          <a:bodyPr wrap="square" lIns="0" rIns="0" tIns="0" bIns="0" anchor="t"/>
          <a:lstStyle/>
          <a:p>
            <a:pPr algn="l">
              <a:lnSpc>
                <a:spcPct val="111800"/>
              </a:lnSpc>
            </a:pPr>
            <a:r>
              <a:rPr sz="2704" b="0" i="0" u="none">
                <a:solidFill>
                  <a:srgbClr val="334155"/>
                </a:solidFill>
                <a:latin typeface="Calibri"/>
              </a:rPr>
              <a:t>When two tables share a column name, </a:t>
            </a:r>
            <a:r>
              <a:rPr sz="2704" b="1" i="0" u="none">
                <a:solidFill>
                  <a:srgbClr val="334155"/>
                </a:solidFill>
                <a:latin typeface="Calibri"/>
              </a:rPr>
              <a:t>prefix</a:t>
            </a:r>
            <a:r>
              <a:rPr sz="2704" b="0" i="0" u="none">
                <a:solidFill>
                  <a:srgbClr val="334155"/>
                </a:solidFill>
                <a:latin typeface="Calibri"/>
              </a:rPr>
              <a:t> it: </a:t>
            </a:r>
            <a:r>
              <a:rPr sz="2704" b="0" i="0" u="none">
                <a:solidFill>
                  <a:srgbClr val="0F172A"/>
                </a:solidFill>
                <a:latin typeface="Courier New"/>
              </a:rPr>
              <a:t>department.name</a:t>
            </a:r>
            <a:r>
              <a:rPr sz="2704" b="0" i="0" u="none">
                <a:solidFill>
                  <a:srgbClr val="334155"/>
                </a:solidFill>
                <a:latin typeface="Calibri"/>
              </a:rPr>
              <a:t> or with an alias </a:t>
            </a:r>
            <a:r>
              <a:rPr sz="2704" b="0" i="0" u="none">
                <a:solidFill>
                  <a:srgbClr val="0F172A"/>
                </a:solidFill>
                <a:latin typeface="Courier New"/>
              </a:rPr>
              <a:t>d.name</a:t>
            </a:r>
            <a:r>
              <a:rPr sz="2704" b="0" i="0" u="none">
                <a:solidFill>
                  <a:srgbClr val="334155"/>
                </a:solidFill>
                <a:latin typeface="Calibri"/>
              </a:rPr>
              <a:t>.</a:t>
            </a:r>
          </a:p>
        </p:txBody>
      </p:sp>
      <p:sp>
        <p:nvSpPr>
          <p:cNvPr id="10" name="Rectangle 9"/>
          <p:cNvSpPr/>
          <p:nvPr/>
        </p:nvSpPr>
        <p:spPr>
          <a:xfrm>
            <a:off x="9913620" y="4886698"/>
            <a:ext cx="7459980" cy="1825241"/>
          </a:xfrm>
          <a:prstGeom prst="rect">
            <a:avLst/>
          </a:prstGeom>
          <a:solidFill>
            <a:srgbClr val="E6F4F4"/>
          </a:solidFill>
          <a:ln>
            <a:noFill/>
          </a:ln>
        </p:spPr>
        <p:txBody>
          <a:bodyPr rtlCol="0" anchor="ctr" lIns="0" rIns="0" tIns="0" bIns="0"/>
          <a:lstStyle/>
          <a:p>
            <a:pPr algn="ctr"/>
          </a:p>
        </p:txBody>
      </p:sp>
      <p:sp>
        <p:nvSpPr>
          <p:cNvPr id="11" name="Rectangle 10"/>
          <p:cNvSpPr/>
          <p:nvPr/>
        </p:nvSpPr>
        <p:spPr>
          <a:xfrm>
            <a:off x="9913620" y="4886698"/>
            <a:ext cx="47625" cy="1825241"/>
          </a:xfrm>
          <a:prstGeom prst="rect">
            <a:avLst/>
          </a:prstGeom>
          <a:solidFill>
            <a:srgbClr val="0E8A8A"/>
          </a:solidFill>
          <a:ln>
            <a:noFill/>
          </a:ln>
        </p:spPr>
        <p:txBody>
          <a:bodyPr rtlCol="0" anchor="ctr" lIns="0" rIns="0" tIns="0" bIns="0"/>
          <a:lstStyle/>
          <a:p>
            <a:pPr algn="ctr"/>
          </a:p>
        </p:txBody>
      </p:sp>
      <p:sp>
        <p:nvSpPr>
          <p:cNvPr id="12" name="TextBox 11"/>
          <p:cNvSpPr txBox="1"/>
          <p:nvPr/>
        </p:nvSpPr>
        <p:spPr>
          <a:xfrm>
            <a:off x="10340340" y="5153398"/>
            <a:ext cx="6606540" cy="1291841"/>
          </a:xfrm>
          <a:prstGeom prst="rect">
            <a:avLst/>
          </a:prstGeom>
          <a:noFill/>
        </p:spPr>
        <p:txBody>
          <a:bodyPr wrap="square" lIns="0" rIns="0" tIns="0" bIns="0"/>
          <a:lstStyle/>
          <a:p>
            <a:pPr>
              <a:lnSpc>
                <a:spcPct val="112000"/>
              </a:lnSpc>
            </a:pPr>
            <a:r>
              <a:rPr sz="2511" b="0" i="0" u="none">
                <a:solidFill>
                  <a:srgbClr val="0F172A"/>
                </a:solidFill>
                <a:latin typeface="Calibri"/>
              </a:rPr>
              <a:t>Prefixing </a:t>
            </a:r>
            <a:r>
              <a:rPr sz="2511" b="1" i="0" u="none">
                <a:solidFill>
                  <a:srgbClr val="0F172A"/>
                </a:solidFill>
                <a:latin typeface="Calibri"/>
              </a:rPr>
              <a:t>every</a:t>
            </a:r>
            <a:r>
              <a:rPr sz="2511" b="0" i="0" u="none">
                <a:solidFill>
                  <a:srgbClr val="0F172A"/>
                </a:solidFill>
                <a:latin typeface="Calibri"/>
              </a:rPr>
              <a:t> column makes queries easier to read and avoids errors when a new column is added.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JOINS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38/71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Self join: employees and their supervisors</a:t>
            </a:r>
          </a:p>
        </p:txBody>
      </p:sp>
      <p:sp>
        <p:nvSpPr>
          <p:cNvPr id="6" name="Rectangle 5"/>
          <p:cNvSpPr/>
          <p:nvPr/>
        </p:nvSpPr>
        <p:spPr>
          <a:xfrm>
            <a:off x="914400" y="2482024"/>
            <a:ext cx="11058525" cy="2680815"/>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10525125" cy="2147415"/>
          </a:xfrm>
          <a:prstGeom prst="rect">
            <a:avLst/>
          </a:prstGeom>
          <a:noFill/>
        </p:spPr>
        <p:txBody>
          <a:bodyPr wrap="none" lIns="0" rIns="0" tIns="0" bIns="0"/>
          <a:lstStyle/>
          <a:p>
            <a:pPr>
              <a:lnSpc>
                <a:spcPct val="110000"/>
              </a:lnSpc>
            </a:pPr>
            <a:r>
              <a:rPr sz="1829" b="1" i="0" u="none">
                <a:solidFill>
                  <a:srgbClr val="0E8A8A"/>
                </a:solidFill>
                <a:latin typeface="Courier New"/>
              </a:rPr>
              <a:t>SELECT</a:t>
            </a:r>
            <a:r>
              <a:rPr sz="1829" b="0" i="0" u="none">
                <a:solidFill>
                  <a:srgbClr val="0F172A"/>
                </a:solidFill>
                <a:latin typeface="Courier New"/>
              </a:rPr>
              <a:t> </a:t>
            </a:r>
            <a:r>
              <a:rPr sz="1829" b="0" i="0" u="none">
                <a:solidFill>
                  <a:srgbClr val="0F172A"/>
                </a:solidFill>
                <a:latin typeface="Courier New"/>
              </a:rPr>
              <a:t>e</a:t>
            </a:r>
            <a:r>
              <a:rPr sz="1829" b="0" i="0" u="none">
                <a:solidFill>
                  <a:srgbClr val="0F172A"/>
                </a:solidFill>
                <a:latin typeface="Courier New"/>
              </a:rPr>
              <a:t>.</a:t>
            </a:r>
            <a:r>
              <a:rPr sz="1829" b="0" i="0" u="none">
                <a:solidFill>
                  <a:srgbClr val="0F172A"/>
                </a:solidFill>
                <a:latin typeface="Courier New"/>
              </a:rPr>
              <a:t>fname</a:t>
            </a:r>
            <a:r>
              <a:rPr sz="1829" b="0" i="0" u="none">
                <a:solidFill>
                  <a:srgbClr val="0F172A"/>
                </a:solidFill>
                <a:latin typeface="Courier New"/>
              </a:rPr>
              <a:t> </a:t>
            </a:r>
            <a:r>
              <a:rPr sz="1829" b="1" i="0" u="none">
                <a:solidFill>
                  <a:srgbClr val="0E8A8A"/>
                </a:solidFill>
                <a:latin typeface="Courier New"/>
              </a:rPr>
              <a:t>AS</a:t>
            </a:r>
            <a:r>
              <a:rPr sz="1829" b="0" i="0" u="none">
                <a:solidFill>
                  <a:srgbClr val="0F172A"/>
                </a:solidFill>
                <a:latin typeface="Courier New"/>
              </a:rPr>
              <a:t> </a:t>
            </a:r>
            <a:r>
              <a:rPr sz="1829" b="0" i="0" u="none">
                <a:solidFill>
                  <a:srgbClr val="0F172A"/>
                </a:solidFill>
                <a:latin typeface="Courier New"/>
              </a:rPr>
              <a:t>employee</a:t>
            </a:r>
            <a:r>
              <a:rPr sz="1829" b="0" i="0" u="none">
                <a:solidFill>
                  <a:srgbClr val="0F172A"/>
                </a:solidFill>
                <a:latin typeface="Courier New"/>
              </a:rPr>
              <a:t>,</a:t>
            </a:r>
          </a:p>
          <a:p>
            <a:pPr>
              <a:lnSpc>
                <a:spcPct val="110000"/>
              </a:lnSpc>
            </a:pPr>
            <a:r>
              <a:rPr sz="1829" b="0" i="0" u="none">
                <a:solidFill>
                  <a:srgbClr val="0F172A"/>
                </a:solidFill>
                <a:latin typeface="Courier New"/>
              </a:rPr>
              <a:t>       </a:t>
            </a:r>
            <a:r>
              <a:rPr sz="1829" b="0" i="0" u="none">
                <a:solidFill>
                  <a:srgbClr val="0F172A"/>
                </a:solidFill>
                <a:latin typeface="Courier New"/>
              </a:rPr>
              <a:t>s</a:t>
            </a:r>
            <a:r>
              <a:rPr sz="1829" b="0" i="0" u="none">
                <a:solidFill>
                  <a:srgbClr val="0F172A"/>
                </a:solidFill>
                <a:latin typeface="Courier New"/>
              </a:rPr>
              <a:t>.</a:t>
            </a:r>
            <a:r>
              <a:rPr sz="1829" b="0" i="0" u="none">
                <a:solidFill>
                  <a:srgbClr val="0F172A"/>
                </a:solidFill>
                <a:latin typeface="Courier New"/>
              </a:rPr>
              <a:t>fname</a:t>
            </a:r>
            <a:r>
              <a:rPr sz="1829" b="0" i="0" u="none">
                <a:solidFill>
                  <a:srgbClr val="0F172A"/>
                </a:solidFill>
                <a:latin typeface="Courier New"/>
              </a:rPr>
              <a:t> </a:t>
            </a:r>
            <a:r>
              <a:rPr sz="1829" b="1" i="0" u="none">
                <a:solidFill>
                  <a:srgbClr val="0E8A8A"/>
                </a:solidFill>
                <a:latin typeface="Courier New"/>
              </a:rPr>
              <a:t>AS</a:t>
            </a:r>
            <a:r>
              <a:rPr sz="1829" b="0" i="0" u="none">
                <a:solidFill>
                  <a:srgbClr val="0F172A"/>
                </a:solidFill>
                <a:latin typeface="Courier New"/>
              </a:rPr>
              <a:t> </a:t>
            </a:r>
            <a:r>
              <a:rPr sz="1829" b="0" i="0" u="none">
                <a:solidFill>
                  <a:srgbClr val="0F172A"/>
                </a:solidFill>
                <a:latin typeface="Courier New"/>
              </a:rPr>
              <a:t>supervisor</a:t>
            </a:r>
          </a:p>
          <a:p>
            <a:pPr>
              <a:lnSpc>
                <a:spcPct val="110000"/>
              </a:lnSpc>
            </a:pPr>
            <a:r>
              <a:rPr sz="1829" b="1" i="0" u="none">
                <a:solidFill>
                  <a:srgbClr val="0E8A8A"/>
                </a:solidFill>
                <a:latin typeface="Courier New"/>
              </a:rPr>
              <a:t>FROM</a:t>
            </a:r>
            <a:r>
              <a:rPr sz="1829" b="0" i="0" u="none">
                <a:solidFill>
                  <a:srgbClr val="0F172A"/>
                </a:solidFill>
                <a:latin typeface="Courier New"/>
              </a:rPr>
              <a:t>   </a:t>
            </a:r>
            <a:r>
              <a:rPr sz="1829" b="0" i="0" u="none">
                <a:solidFill>
                  <a:srgbClr val="0F172A"/>
                </a:solidFill>
                <a:latin typeface="Courier New"/>
              </a:rPr>
              <a:t>employee</a:t>
            </a:r>
            <a:r>
              <a:rPr sz="1829" b="0" i="0" u="none">
                <a:solidFill>
                  <a:srgbClr val="0F172A"/>
                </a:solidFill>
                <a:latin typeface="Courier New"/>
              </a:rPr>
              <a:t> </a:t>
            </a:r>
            <a:r>
              <a:rPr sz="1829" b="0" i="0" u="none">
                <a:solidFill>
                  <a:srgbClr val="0F172A"/>
                </a:solidFill>
                <a:latin typeface="Courier New"/>
              </a:rPr>
              <a:t>e</a:t>
            </a:r>
          </a:p>
          <a:p>
            <a:pPr>
              <a:lnSpc>
                <a:spcPct val="110000"/>
              </a:lnSpc>
            </a:pPr>
            <a:r>
              <a:rPr sz="1829" b="1" i="0" u="none">
                <a:solidFill>
                  <a:srgbClr val="0E8A8A"/>
                </a:solidFill>
                <a:latin typeface="Courier New"/>
              </a:rPr>
              <a:t>JOIN</a:t>
            </a:r>
            <a:r>
              <a:rPr sz="1829" b="0" i="0" u="none">
                <a:solidFill>
                  <a:srgbClr val="0F172A"/>
                </a:solidFill>
                <a:latin typeface="Courier New"/>
              </a:rPr>
              <a:t>   </a:t>
            </a:r>
            <a:r>
              <a:rPr sz="1829" b="0" i="0" u="none">
                <a:solidFill>
                  <a:srgbClr val="0F172A"/>
                </a:solidFill>
                <a:latin typeface="Courier New"/>
              </a:rPr>
              <a:t>employee</a:t>
            </a:r>
            <a:r>
              <a:rPr sz="1829" b="0" i="0" u="none">
                <a:solidFill>
                  <a:srgbClr val="0F172A"/>
                </a:solidFill>
                <a:latin typeface="Courier New"/>
              </a:rPr>
              <a:t> </a:t>
            </a:r>
            <a:r>
              <a:rPr sz="1829" b="0" i="0" u="none">
                <a:solidFill>
                  <a:srgbClr val="0F172A"/>
                </a:solidFill>
                <a:latin typeface="Courier New"/>
              </a:rPr>
              <a:t>s</a:t>
            </a:r>
            <a:r>
              <a:rPr sz="1829" b="0" i="0" u="none">
                <a:solidFill>
                  <a:srgbClr val="0F172A"/>
                </a:solidFill>
                <a:latin typeface="Courier New"/>
              </a:rPr>
              <a:t> </a:t>
            </a:r>
            <a:r>
              <a:rPr sz="1829" b="1" i="0" u="none">
                <a:solidFill>
                  <a:srgbClr val="0E8A8A"/>
                </a:solidFill>
                <a:latin typeface="Courier New"/>
              </a:rPr>
              <a:t>ON</a:t>
            </a:r>
            <a:r>
              <a:rPr sz="1829" b="0" i="0" u="none">
                <a:solidFill>
                  <a:srgbClr val="0F172A"/>
                </a:solidFill>
                <a:latin typeface="Courier New"/>
              </a:rPr>
              <a:t> </a:t>
            </a:r>
            <a:r>
              <a:rPr sz="1829" b="0" i="0" u="none">
                <a:solidFill>
                  <a:srgbClr val="0F172A"/>
                </a:solidFill>
                <a:latin typeface="Courier New"/>
              </a:rPr>
              <a:t>e</a:t>
            </a:r>
            <a:r>
              <a:rPr sz="1829" b="0" i="0" u="none">
                <a:solidFill>
                  <a:srgbClr val="0F172A"/>
                </a:solidFill>
                <a:latin typeface="Courier New"/>
              </a:rPr>
              <a:t>.</a:t>
            </a:r>
            <a:r>
              <a:rPr sz="1829" b="0" i="0" u="none">
                <a:solidFill>
                  <a:srgbClr val="0F172A"/>
                </a:solidFill>
                <a:latin typeface="Courier New"/>
              </a:rPr>
              <a:t>super_ssn</a:t>
            </a:r>
            <a:r>
              <a:rPr sz="1829" b="0" i="0" u="none">
                <a:solidFill>
                  <a:srgbClr val="0F172A"/>
                </a:solidFill>
                <a:latin typeface="Courier New"/>
              </a:rPr>
              <a:t> </a:t>
            </a:r>
            <a:r>
              <a:rPr sz="1829" b="0" i="0" u="none">
                <a:solidFill>
                  <a:srgbClr val="0F172A"/>
                </a:solidFill>
                <a:latin typeface="Courier New"/>
              </a:rPr>
              <a:t>=</a:t>
            </a:r>
            <a:r>
              <a:rPr sz="1829" b="0" i="0" u="none">
                <a:solidFill>
                  <a:srgbClr val="0F172A"/>
                </a:solidFill>
                <a:latin typeface="Courier New"/>
              </a:rPr>
              <a:t> </a:t>
            </a:r>
            <a:r>
              <a:rPr sz="1829" b="0" i="0" u="none">
                <a:solidFill>
                  <a:srgbClr val="0F172A"/>
                </a:solidFill>
                <a:latin typeface="Courier New"/>
              </a:rPr>
              <a:t>s</a:t>
            </a:r>
            <a:r>
              <a:rPr sz="1829" b="0" i="0" u="none">
                <a:solidFill>
                  <a:srgbClr val="0F172A"/>
                </a:solidFill>
                <a:latin typeface="Courier New"/>
              </a:rPr>
              <a:t>.</a:t>
            </a:r>
            <a:r>
              <a:rPr sz="1829" b="0" i="0" u="none">
                <a:solidFill>
                  <a:srgbClr val="0F172A"/>
                </a:solidFill>
                <a:latin typeface="Courier New"/>
              </a:rPr>
              <a:t>ssn</a:t>
            </a:r>
            <a:r>
              <a:rPr sz="1829" b="0" i="0" u="none">
                <a:solidFill>
                  <a:srgbClr val="0F172A"/>
                </a:solidFill>
                <a:latin typeface="Courier New"/>
              </a:rPr>
              <a:t>;</a:t>
            </a:r>
          </a:p>
          <a:p>
            <a:pPr>
              <a:lnSpc>
                <a:spcPct val="110000"/>
              </a:lnSpc>
            </a:pPr>
            <a:r>
              <a:rPr sz="1829" b="0" i="0" u="none">
                <a:solidFill>
                  <a:srgbClr val="0F172A"/>
                </a:solidFill>
                <a:latin typeface="Courier New"/>
              </a:rPr>
              <a:t> </a:t>
            </a:r>
          </a:p>
          <a:p>
            <a:pPr>
              <a:lnSpc>
                <a:spcPct val="110000"/>
              </a:lnSpc>
            </a:pPr>
            <a:r>
              <a:rPr sz="1829" b="0" i="1" u="none">
                <a:solidFill>
                  <a:srgbClr val="64748B"/>
                </a:solidFill>
                <a:latin typeface="Courier New"/>
              </a:rPr>
              <a:t>-- full names:  e.fname || ' ' || e.lname   (standard, Oracle, PostgreSQL)</a:t>
            </a:r>
          </a:p>
          <a:p>
            <a:pPr>
              <a:lnSpc>
                <a:spcPct val="110000"/>
              </a:lnSpc>
            </a:pPr>
            <a:r>
              <a:rPr sz="1829" b="0" i="1" u="none">
                <a:solidFill>
                  <a:srgbClr val="64748B"/>
                </a:solidFill>
                <a:latin typeface="Courier New"/>
              </a:rPr>
              <a:t>--              CONCAT(e.fname, ' ', e.lname)  (SQL Server, MySQL)</a:t>
            </a:r>
          </a:p>
        </p:txBody>
      </p:sp>
      <p:sp>
        <p:nvSpPr>
          <p:cNvPr id="8" name="Rectangle 7"/>
          <p:cNvSpPr/>
          <p:nvPr/>
        </p:nvSpPr>
        <p:spPr>
          <a:xfrm>
            <a:off x="12399645" y="2482024"/>
            <a:ext cx="4973955" cy="2637876"/>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2799695" y="2882074"/>
            <a:ext cx="4173855" cy="1837776"/>
          </a:xfrm>
          <a:prstGeom prst="rect">
            <a:avLst/>
          </a:prstGeom>
          <a:noFill/>
        </p:spPr>
        <p:txBody>
          <a:bodyPr wrap="square" lIns="0" rIns="0" tIns="0" bIns="0" anchor="t"/>
          <a:lstStyle/>
          <a:p>
            <a:pPr algn="l">
              <a:lnSpc>
                <a:spcPct val="111800"/>
              </a:lnSpc>
            </a:pPr>
            <a:r>
              <a:rPr sz="2704" b="0" i="0" u="none">
                <a:solidFill>
                  <a:srgbClr val="334155"/>
                </a:solidFill>
                <a:latin typeface="Calibri"/>
              </a:rPr>
              <a:t>Two </a:t>
            </a:r>
            <a:r>
              <a:rPr sz="2704" b="1" i="0" u="none">
                <a:solidFill>
                  <a:srgbClr val="334155"/>
                </a:solidFill>
                <a:latin typeface="Calibri"/>
              </a:rPr>
              <a:t>aliases</a:t>
            </a:r>
            <a:r>
              <a:rPr sz="2704" b="0" i="0" u="none">
                <a:solidFill>
                  <a:srgbClr val="334155"/>
                </a:solidFill>
                <a:latin typeface="Calibri"/>
              </a:rPr>
              <a:t> of the same table play two roles: </a:t>
            </a:r>
            <a:r>
              <a:rPr sz="2704" b="1" i="0" u="none">
                <a:solidFill>
                  <a:srgbClr val="334155"/>
                </a:solidFill>
                <a:latin typeface="Calibri"/>
              </a:rPr>
              <a:t>e</a:t>
            </a:r>
            <a:r>
              <a:rPr sz="2704" b="0" i="0" u="none">
                <a:solidFill>
                  <a:srgbClr val="334155"/>
                </a:solidFill>
                <a:latin typeface="Calibri"/>
              </a:rPr>
              <a:t> = employee, </a:t>
            </a:r>
            <a:r>
              <a:rPr sz="2704" b="1" i="0" u="none">
                <a:solidFill>
                  <a:srgbClr val="334155"/>
                </a:solidFill>
                <a:latin typeface="Calibri"/>
              </a:rPr>
              <a:t>s</a:t>
            </a:r>
            <a:r>
              <a:rPr sz="2704" b="0" i="0" u="none">
                <a:solidFill>
                  <a:srgbClr val="334155"/>
                </a:solidFill>
                <a:latin typeface="Calibri"/>
              </a:rPr>
              <a:t> = supervisor.</a:t>
            </a:r>
          </a:p>
        </p:txBody>
      </p:sp>
      <p:sp>
        <p:nvSpPr>
          <p:cNvPr id="10" name="Rectangle 9"/>
          <p:cNvSpPr/>
          <p:nvPr/>
        </p:nvSpPr>
        <p:spPr>
          <a:xfrm>
            <a:off x="12399645" y="5333260"/>
            <a:ext cx="4973955" cy="2239906"/>
          </a:xfrm>
          <a:prstGeom prst="rect">
            <a:avLst/>
          </a:prstGeom>
          <a:solidFill>
            <a:srgbClr val="FEF3C7"/>
          </a:solidFill>
          <a:ln>
            <a:noFill/>
          </a:ln>
        </p:spPr>
        <p:txBody>
          <a:bodyPr rtlCol="0" anchor="ctr" lIns="0" rIns="0" tIns="0" bIns="0"/>
          <a:lstStyle/>
          <a:p>
            <a:pPr algn="ctr"/>
          </a:p>
        </p:txBody>
      </p:sp>
      <p:sp>
        <p:nvSpPr>
          <p:cNvPr id="11" name="Rectangle 10"/>
          <p:cNvSpPr/>
          <p:nvPr/>
        </p:nvSpPr>
        <p:spPr>
          <a:xfrm>
            <a:off x="12399645" y="5333260"/>
            <a:ext cx="47625" cy="2239906"/>
          </a:xfrm>
          <a:prstGeom prst="rect">
            <a:avLst/>
          </a:prstGeom>
          <a:solidFill>
            <a:srgbClr val="B45309"/>
          </a:solidFill>
          <a:ln>
            <a:noFill/>
          </a:ln>
        </p:spPr>
        <p:txBody>
          <a:bodyPr rtlCol="0" anchor="ctr" lIns="0" rIns="0" tIns="0" bIns="0"/>
          <a:lstStyle/>
          <a:p>
            <a:pPr algn="ctr"/>
          </a:p>
        </p:txBody>
      </p:sp>
      <p:sp>
        <p:nvSpPr>
          <p:cNvPr id="12" name="TextBox 11"/>
          <p:cNvSpPr txBox="1"/>
          <p:nvPr/>
        </p:nvSpPr>
        <p:spPr>
          <a:xfrm>
            <a:off x="12826365" y="5599960"/>
            <a:ext cx="4120515" cy="1706506"/>
          </a:xfrm>
          <a:prstGeom prst="rect">
            <a:avLst/>
          </a:prstGeom>
          <a:noFill/>
        </p:spPr>
        <p:txBody>
          <a:bodyPr wrap="square" lIns="0" rIns="0" tIns="0" bIns="0"/>
          <a:lstStyle/>
          <a:p>
            <a:pPr>
              <a:lnSpc>
                <a:spcPct val="112000"/>
              </a:lnSpc>
            </a:pPr>
            <a:r>
              <a:rPr sz="2511" b="0" i="0" u="none">
                <a:solidFill>
                  <a:srgbClr val="0F172A"/>
                </a:solidFill>
                <a:latin typeface="Calibri"/>
              </a:rPr>
              <a:t>Swap the condition (</a:t>
            </a:r>
            <a:r>
              <a:rPr sz="2511" b="1" i="0" u="none">
                <a:solidFill>
                  <a:srgbClr val="0F172A"/>
                </a:solidFill>
                <a:latin typeface="Calibri"/>
              </a:rPr>
              <a:t>s.super_ssn = e.ssn</a:t>
            </a:r>
            <a:r>
              <a:rPr sz="2511" b="0" i="0" u="none">
                <a:solidFill>
                  <a:srgbClr val="0F172A"/>
                </a:solidFill>
                <a:latin typeface="Calibri"/>
              </a:rPr>
              <a:t>) and the roles swap: you would list supervisors as employees.</a:t>
            </a:r>
          </a:p>
        </p:txBody>
      </p:sp>
      <p:sp>
        <p:nvSpPr>
          <p:cNvPr id="13" name="Rectangle 12"/>
          <p:cNvSpPr/>
          <p:nvPr/>
        </p:nvSpPr>
        <p:spPr>
          <a:xfrm>
            <a:off x="12399645" y="7786527"/>
            <a:ext cx="4973955" cy="1825241"/>
          </a:xfrm>
          <a:prstGeom prst="rect">
            <a:avLst/>
          </a:prstGeom>
          <a:solidFill>
            <a:srgbClr val="E6F4F4"/>
          </a:solidFill>
          <a:ln>
            <a:noFill/>
          </a:ln>
        </p:spPr>
        <p:txBody>
          <a:bodyPr rtlCol="0" anchor="ctr" lIns="0" rIns="0" tIns="0" bIns="0"/>
          <a:lstStyle/>
          <a:p>
            <a:pPr algn="ctr"/>
          </a:p>
        </p:txBody>
      </p:sp>
      <p:sp>
        <p:nvSpPr>
          <p:cNvPr id="14" name="Rectangle 13"/>
          <p:cNvSpPr/>
          <p:nvPr/>
        </p:nvSpPr>
        <p:spPr>
          <a:xfrm>
            <a:off x="12399645" y="7786527"/>
            <a:ext cx="47625" cy="1825241"/>
          </a:xfrm>
          <a:prstGeom prst="rect">
            <a:avLst/>
          </a:prstGeom>
          <a:solidFill>
            <a:srgbClr val="0E8A8A"/>
          </a:solidFill>
          <a:ln>
            <a:noFill/>
          </a:ln>
        </p:spPr>
        <p:txBody>
          <a:bodyPr rtlCol="0" anchor="ctr" lIns="0" rIns="0" tIns="0" bIns="0"/>
          <a:lstStyle/>
          <a:p>
            <a:pPr algn="ctr"/>
          </a:p>
        </p:txBody>
      </p:sp>
      <p:sp>
        <p:nvSpPr>
          <p:cNvPr id="15" name="TextBox 14"/>
          <p:cNvSpPr txBox="1"/>
          <p:nvPr/>
        </p:nvSpPr>
        <p:spPr>
          <a:xfrm>
            <a:off x="12826365" y="8053227"/>
            <a:ext cx="4120515" cy="1291841"/>
          </a:xfrm>
          <a:prstGeom prst="rect">
            <a:avLst/>
          </a:prstGeom>
          <a:noFill/>
        </p:spPr>
        <p:txBody>
          <a:bodyPr wrap="square" lIns="0" rIns="0" tIns="0" bIns="0"/>
          <a:lstStyle/>
          <a:p>
            <a:pPr>
              <a:lnSpc>
                <a:spcPct val="112000"/>
              </a:lnSpc>
            </a:pPr>
            <a:r>
              <a:rPr sz="2511" b="0" i="0" u="none">
                <a:solidFill>
                  <a:srgbClr val="0F172A"/>
                </a:solidFill>
                <a:latin typeface="Calibri"/>
              </a:rPr>
              <a:t>Use LEFT JOIN to also list employees with </a:t>
            </a:r>
            <a:r>
              <a:rPr sz="2511" b="1" i="0" u="none">
                <a:solidFill>
                  <a:srgbClr val="0F172A"/>
                </a:solidFill>
                <a:latin typeface="Calibri"/>
              </a:rPr>
              <a:t>no</a:t>
            </a:r>
            <a:r>
              <a:rPr sz="2511" b="0" i="0" u="none">
                <a:solidFill>
                  <a:srgbClr val="0F172A"/>
                </a:solidFill>
                <a:latin typeface="Calibri"/>
              </a:rPr>
              <a:t> supervisor.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JOINS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39/71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Outer join: keep unmatched rows</a:t>
            </a:r>
          </a:p>
        </p:txBody>
      </p:sp>
      <p:sp>
        <p:nvSpPr>
          <p:cNvPr id="6" name="TextBox 5"/>
          <p:cNvSpPr txBox="1"/>
          <p:nvPr/>
        </p:nvSpPr>
        <p:spPr>
          <a:xfrm>
            <a:off x="914400" y="2482024"/>
            <a:ext cx="16459200" cy="498088"/>
          </a:xfrm>
          <a:prstGeom prst="rect">
            <a:avLst/>
          </a:prstGeom>
          <a:noFill/>
        </p:spPr>
        <p:txBody>
          <a:bodyPr wrap="square" lIns="0" rIns="0" tIns="0" bIns="0" anchor="t"/>
          <a:lstStyle/>
          <a:p>
            <a:pPr algn="l">
              <a:lnSpc>
                <a:spcPct val="111800"/>
              </a:lnSpc>
            </a:pPr>
            <a:r>
              <a:rPr sz="2704" b="0" i="0" u="none">
                <a:solidFill>
                  <a:srgbClr val="334155"/>
                </a:solidFill>
                <a:latin typeface="Calibri"/>
              </a:rPr>
              <a:t>Display all departments, </a:t>
            </a:r>
            <a:r>
              <a:rPr sz="2704" b="1" i="0" u="none">
                <a:solidFill>
                  <a:srgbClr val="334155"/>
                </a:solidFill>
                <a:latin typeface="Calibri"/>
              </a:rPr>
              <a:t>even those with no employees</a:t>
            </a:r>
            <a:r>
              <a:rPr sz="2704" b="0" i="0" u="none">
                <a:solidFill>
                  <a:srgbClr val="334155"/>
                </a:solidFill>
                <a:latin typeface="Calibri"/>
              </a:rPr>
              <a:t>.</a:t>
            </a:r>
          </a:p>
        </p:txBody>
      </p:sp>
      <p:sp>
        <p:nvSpPr>
          <p:cNvPr id="7" name="Rectangle 6"/>
          <p:cNvSpPr/>
          <p:nvPr/>
        </p:nvSpPr>
        <p:spPr>
          <a:xfrm>
            <a:off x="914400" y="3342825"/>
            <a:ext cx="8632873" cy="3059667"/>
          </a:xfrm>
          <a:prstGeom prst="rect">
            <a:avLst/>
          </a:prstGeom>
          <a:solidFill>
            <a:srgbClr val="F8FAFC"/>
          </a:solidFill>
          <a:ln w="14287">
            <a:solidFill>
              <a:srgbClr val="E2E8F0"/>
            </a:solidFill>
          </a:ln>
        </p:spPr>
        <p:txBody>
          <a:bodyPr rtlCol="0" anchor="ctr" lIns="0" rIns="0" tIns="0" bIns="0"/>
          <a:lstStyle/>
          <a:p>
            <a:pPr algn="ctr"/>
          </a:p>
        </p:txBody>
      </p:sp>
      <p:sp>
        <p:nvSpPr>
          <p:cNvPr id="8" name="TextBox 7"/>
          <p:cNvSpPr txBox="1"/>
          <p:nvPr/>
        </p:nvSpPr>
        <p:spPr>
          <a:xfrm>
            <a:off x="1181100" y="3609525"/>
            <a:ext cx="8099473" cy="2526267"/>
          </a:xfrm>
          <a:prstGeom prst="rect">
            <a:avLst/>
          </a:prstGeom>
          <a:noFill/>
        </p:spPr>
        <p:txBody>
          <a:bodyPr wrap="none" lIns="0" rIns="0" tIns="0" bIns="0"/>
          <a:lstStyle/>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e</a:t>
            </a:r>
            <a:r>
              <a:rPr sz="2511" b="0" i="0" u="none">
                <a:solidFill>
                  <a:srgbClr val="0F172A"/>
                </a:solidFill>
                <a:latin typeface="Courier New"/>
              </a:rPr>
              <a:t>.</a:t>
            </a:r>
            <a:r>
              <a:rPr sz="2511" b="0" i="0" u="none">
                <a:solidFill>
                  <a:srgbClr val="0F172A"/>
                </a:solidFill>
                <a:latin typeface="Courier New"/>
              </a:rPr>
              <a:t>name</a:t>
            </a:r>
            <a:r>
              <a:rPr sz="2511" b="0" i="0" u="none">
                <a:solidFill>
                  <a:srgbClr val="0F172A"/>
                </a:solidFill>
                <a:latin typeface="Courier New"/>
              </a:rPr>
              <a:t>  </a:t>
            </a:r>
            <a:r>
              <a:rPr sz="2511" b="1" i="0" u="none">
                <a:solidFill>
                  <a:srgbClr val="0E8A8A"/>
                </a:solidFill>
                <a:latin typeface="Courier New"/>
              </a:rPr>
              <a:t>AS</a:t>
            </a:r>
            <a:r>
              <a:rPr sz="2511" b="0" i="0" u="none">
                <a:solidFill>
                  <a:srgbClr val="0F172A"/>
                </a:solidFill>
                <a:latin typeface="Courier New"/>
              </a:rPr>
              <a:t> </a:t>
            </a:r>
            <a:r>
              <a:rPr sz="2511" b="0" i="0" u="none">
                <a:solidFill>
                  <a:srgbClr val="0F172A"/>
                </a:solidFill>
                <a:latin typeface="Courier New"/>
              </a:rPr>
              <a:t>employee</a:t>
            </a:r>
            <a:r>
              <a:rPr sz="2511" b="0" i="0" u="none">
                <a:solidFill>
                  <a:srgbClr val="0F172A"/>
                </a:solidFill>
                <a:latin typeface="Courier New"/>
              </a:rPr>
              <a:t>,</a:t>
            </a:r>
          </a:p>
          <a:p>
            <a:pPr>
              <a:lnSpc>
                <a:spcPct val="110000"/>
              </a:lnSpc>
            </a:pPr>
            <a:r>
              <a:rPr sz="2511" b="0" i="0" u="none">
                <a:solidFill>
                  <a:srgbClr val="0F172A"/>
                </a:solidFill>
                <a:latin typeface="Courier New"/>
              </a:rPr>
              <a:t>       </a:t>
            </a:r>
            <a:r>
              <a:rPr sz="2511" b="0" i="0" u="none">
                <a:solidFill>
                  <a:srgbClr val="0F172A"/>
                </a:solidFill>
                <a:latin typeface="Courier New"/>
              </a:rPr>
              <a:t>d</a:t>
            </a:r>
            <a:r>
              <a:rPr sz="2511" b="0" i="0" u="none">
                <a:solidFill>
                  <a:srgbClr val="0F172A"/>
                </a:solidFill>
                <a:latin typeface="Courier New"/>
              </a:rPr>
              <a:t>.</a:t>
            </a:r>
            <a:r>
              <a:rPr sz="2511" b="0" i="0" u="none">
                <a:solidFill>
                  <a:srgbClr val="0F172A"/>
                </a:solidFill>
                <a:latin typeface="Courier New"/>
              </a:rPr>
              <a:t>id</a:t>
            </a:r>
            <a:r>
              <a:rPr sz="2511" b="0" i="0" u="none">
                <a:solidFill>
                  <a:srgbClr val="0F172A"/>
                </a:solidFill>
                <a:latin typeface="Courier New"/>
              </a:rPr>
              <a:t>    </a:t>
            </a:r>
            <a:r>
              <a:rPr sz="2511" b="1" i="0" u="none">
                <a:solidFill>
                  <a:srgbClr val="0E8A8A"/>
                </a:solidFill>
                <a:latin typeface="Courier New"/>
              </a:rPr>
              <a:t>AS</a:t>
            </a:r>
            <a:r>
              <a:rPr sz="2511" b="0" i="0" u="none">
                <a:solidFill>
                  <a:srgbClr val="0F172A"/>
                </a:solidFill>
                <a:latin typeface="Courier New"/>
              </a:rPr>
              <a:t> </a:t>
            </a:r>
            <a:r>
              <a:rPr sz="2511" b="0" i="0" u="none">
                <a:solidFill>
                  <a:srgbClr val="0F172A"/>
                </a:solidFill>
                <a:latin typeface="Courier New"/>
              </a:rPr>
              <a:t>dept_id</a:t>
            </a:r>
            <a:r>
              <a:rPr sz="2511" b="0" i="0" u="none">
                <a:solidFill>
                  <a:srgbClr val="0F172A"/>
                </a:solidFill>
                <a:latin typeface="Courier New"/>
              </a:rPr>
              <a:t>,</a:t>
            </a:r>
          </a:p>
          <a:p>
            <a:pPr>
              <a:lnSpc>
                <a:spcPct val="110000"/>
              </a:lnSpc>
            </a:pPr>
            <a:r>
              <a:rPr sz="2511" b="0" i="0" u="none">
                <a:solidFill>
                  <a:srgbClr val="0F172A"/>
                </a:solidFill>
                <a:latin typeface="Courier New"/>
              </a:rPr>
              <a:t>       </a:t>
            </a:r>
            <a:r>
              <a:rPr sz="2511" b="0" i="0" u="none">
                <a:solidFill>
                  <a:srgbClr val="0F172A"/>
                </a:solidFill>
                <a:latin typeface="Courier New"/>
              </a:rPr>
              <a:t>d</a:t>
            </a:r>
            <a:r>
              <a:rPr sz="2511" b="0" i="0" u="none">
                <a:solidFill>
                  <a:srgbClr val="0F172A"/>
                </a:solidFill>
                <a:latin typeface="Courier New"/>
              </a:rPr>
              <a:t>.</a:t>
            </a:r>
            <a:r>
              <a:rPr sz="2511" b="0" i="0" u="none">
                <a:solidFill>
                  <a:srgbClr val="0F172A"/>
                </a:solidFill>
                <a:latin typeface="Courier New"/>
              </a:rPr>
              <a:t>name</a:t>
            </a:r>
            <a:r>
              <a:rPr sz="2511" b="0" i="0" u="none">
                <a:solidFill>
                  <a:srgbClr val="0F172A"/>
                </a:solidFill>
                <a:latin typeface="Courier New"/>
              </a:rPr>
              <a:t>  </a:t>
            </a:r>
            <a:r>
              <a:rPr sz="2511" b="1" i="0" u="none">
                <a:solidFill>
                  <a:srgbClr val="0E8A8A"/>
                </a:solidFill>
                <a:latin typeface="Courier New"/>
              </a:rPr>
              <a:t>AS</a:t>
            </a:r>
            <a:r>
              <a:rPr sz="2511" b="0" i="0" u="none">
                <a:solidFill>
                  <a:srgbClr val="0F172A"/>
                </a:solidFill>
                <a:latin typeface="Courier New"/>
              </a:rPr>
              <a:t> </a:t>
            </a:r>
            <a:r>
              <a:rPr sz="2511" b="0" i="0" u="none">
                <a:solidFill>
                  <a:srgbClr val="0F172A"/>
                </a:solidFill>
                <a:latin typeface="Courier New"/>
              </a:rPr>
              <a:t>department</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employees</a:t>
            </a:r>
            <a:r>
              <a:rPr sz="2511" b="0" i="0" u="none">
                <a:solidFill>
                  <a:srgbClr val="0F172A"/>
                </a:solidFill>
                <a:latin typeface="Courier New"/>
              </a:rPr>
              <a:t> </a:t>
            </a:r>
            <a:r>
              <a:rPr sz="2511" b="0" i="0" u="none">
                <a:solidFill>
                  <a:srgbClr val="0F172A"/>
                </a:solidFill>
                <a:latin typeface="Courier New"/>
              </a:rPr>
              <a:t>e</a:t>
            </a:r>
          </a:p>
          <a:p>
            <a:pPr>
              <a:lnSpc>
                <a:spcPct val="110000"/>
              </a:lnSpc>
            </a:pPr>
            <a:r>
              <a:rPr sz="2511" b="1" i="0" u="none">
                <a:solidFill>
                  <a:srgbClr val="0E8A8A"/>
                </a:solidFill>
                <a:latin typeface="Courier New"/>
              </a:rPr>
              <a:t>RIGHT</a:t>
            </a:r>
            <a:r>
              <a:rPr sz="2511" b="0" i="0" u="none">
                <a:solidFill>
                  <a:srgbClr val="0F172A"/>
                </a:solidFill>
                <a:latin typeface="Courier New"/>
              </a:rPr>
              <a:t>  </a:t>
            </a:r>
            <a:r>
              <a:rPr sz="2511" b="1" i="0" u="none">
                <a:solidFill>
                  <a:srgbClr val="0E8A8A"/>
                </a:solidFill>
                <a:latin typeface="Courier New"/>
              </a:rPr>
              <a:t>JOIN</a:t>
            </a:r>
            <a:r>
              <a:rPr sz="2511" b="0" i="0" u="none">
                <a:solidFill>
                  <a:srgbClr val="0F172A"/>
                </a:solidFill>
                <a:latin typeface="Courier New"/>
              </a:rPr>
              <a:t> </a:t>
            </a:r>
            <a:r>
              <a:rPr sz="2511" b="0" i="0" u="none">
                <a:solidFill>
                  <a:srgbClr val="0F172A"/>
                </a:solidFill>
                <a:latin typeface="Courier New"/>
              </a:rPr>
              <a:t>departments</a:t>
            </a:r>
            <a:r>
              <a:rPr sz="2511" b="0" i="0" u="none">
                <a:solidFill>
                  <a:srgbClr val="0F172A"/>
                </a:solidFill>
                <a:latin typeface="Courier New"/>
              </a:rPr>
              <a:t> </a:t>
            </a:r>
            <a:r>
              <a:rPr sz="2511" b="0" i="0" u="none">
                <a:solidFill>
                  <a:srgbClr val="0F172A"/>
                </a:solidFill>
                <a:latin typeface="Courier New"/>
              </a:rPr>
              <a:t>d</a:t>
            </a:r>
          </a:p>
          <a:p>
            <a:pPr>
              <a:lnSpc>
                <a:spcPct val="110000"/>
              </a:lnSpc>
            </a:pPr>
            <a:r>
              <a:rPr sz="2511" b="0" i="0" u="none">
                <a:solidFill>
                  <a:srgbClr val="0F172A"/>
                </a:solidFill>
                <a:latin typeface="Courier New"/>
              </a:rPr>
              <a:t>       </a:t>
            </a:r>
            <a:r>
              <a:rPr sz="2511" b="1" i="0" u="none">
                <a:solidFill>
                  <a:srgbClr val="0E8A8A"/>
                </a:solidFill>
                <a:latin typeface="Courier New"/>
              </a:rPr>
              <a:t>ON</a:t>
            </a:r>
            <a:r>
              <a:rPr sz="2511" b="0" i="0" u="none">
                <a:solidFill>
                  <a:srgbClr val="0F172A"/>
                </a:solidFill>
                <a:latin typeface="Courier New"/>
              </a:rPr>
              <a:t> </a:t>
            </a:r>
            <a:r>
              <a:rPr sz="2511" b="0" i="0" u="none">
                <a:solidFill>
                  <a:srgbClr val="0F172A"/>
                </a:solidFill>
                <a:latin typeface="Courier New"/>
              </a:rPr>
              <a:t>e</a:t>
            </a:r>
            <a:r>
              <a:rPr sz="2511" b="0" i="0" u="none">
                <a:solidFill>
                  <a:srgbClr val="0F172A"/>
                </a:solidFill>
                <a:latin typeface="Courier New"/>
              </a:rPr>
              <a:t>.</a:t>
            </a:r>
            <a:r>
              <a:rPr sz="2511" b="0" i="0" u="none">
                <a:solidFill>
                  <a:srgbClr val="0F172A"/>
                </a:solidFill>
                <a:latin typeface="Courier New"/>
              </a:rPr>
              <a:t>dept_id</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d</a:t>
            </a:r>
            <a:r>
              <a:rPr sz="2511" b="0" i="0" u="none">
                <a:solidFill>
                  <a:srgbClr val="0F172A"/>
                </a:solidFill>
                <a:latin typeface="Courier New"/>
              </a:rPr>
              <a:t>.</a:t>
            </a:r>
            <a:r>
              <a:rPr sz="2511" b="0" i="0" u="none">
                <a:solidFill>
                  <a:srgbClr val="0F172A"/>
                </a:solidFill>
                <a:latin typeface="Courier New"/>
              </a:rPr>
              <a:t>id</a:t>
            </a:r>
            <a:r>
              <a:rPr sz="2511" b="0" i="0" u="none">
                <a:solidFill>
                  <a:srgbClr val="0F172A"/>
                </a:solidFill>
                <a:latin typeface="Courier New"/>
              </a:rPr>
              <a:t>;</a:t>
            </a:r>
          </a:p>
        </p:txBody>
      </p:sp>
      <p:sp>
        <p:nvSpPr>
          <p:cNvPr id="9" name="TextBox 8"/>
          <p:cNvSpPr txBox="1"/>
          <p:nvPr/>
        </p:nvSpPr>
        <p:spPr>
          <a:xfrm>
            <a:off x="9973993" y="3342825"/>
            <a:ext cx="7399606"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RESULT</a:t>
            </a:r>
          </a:p>
        </p:txBody>
      </p:sp>
      <p:graphicFrame>
        <p:nvGraphicFramePr>
          <p:cNvPr id="10" name="Table 9"/>
          <p:cNvGraphicFramePr>
            <a:graphicFrameLocks noGrp="1"/>
          </p:cNvGraphicFramePr>
          <p:nvPr/>
        </p:nvGraphicFramePr>
        <p:xfrm>
          <a:off x="9973993" y="3929778"/>
          <a:ext cx="7399605" cy="2900200"/>
        </p:xfrm>
        <a:graphic>
          <a:graphicData uri="http://schemas.openxmlformats.org/drawingml/2006/table">
            <a:tbl>
              <a:tblPr firstRow="0" bandRow="0">
                <a:tableStyleId>{5940675A-B579-460E-94D1-54222C63F5DA}</a:tableStyleId>
              </a:tblPr>
              <a:tblGrid>
                <a:gridCol w="2466535"/>
                <a:gridCol w="2466535"/>
                <a:gridCol w="2466535"/>
              </a:tblGrid>
              <a:tr h="580040">
                <a:tc>
                  <a:txBody>
                    <a:bodyPr/>
                    <a:lstStyle/>
                    <a:p>
                      <a:r>
                        <a:rPr sz="2318" b="1" i="0" u="none">
                          <a:solidFill>
                            <a:srgbClr val="FFFFFF"/>
                          </a:solidFill>
                          <a:latin typeface="Arial"/>
                        </a:rPr>
                        <a:t>Employee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Dept_ID</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Department</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Ahmed Ali</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IT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Mohamed Samir</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200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Marketing</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Mona Selim</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IT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NULL</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300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HR</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JOINS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40/71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Equi-join and non-equi-join</a:t>
            </a:r>
          </a:p>
        </p:txBody>
      </p:sp>
      <p:sp>
        <p:nvSpPr>
          <p:cNvPr id="6" name="Rectangle 5"/>
          <p:cNvSpPr/>
          <p:nvPr/>
        </p:nvSpPr>
        <p:spPr>
          <a:xfrm>
            <a:off x="914400" y="2482024"/>
            <a:ext cx="7962900" cy="2586349"/>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7162800" cy="1786249"/>
          </a:xfrm>
          <a:prstGeom prst="rect">
            <a:avLst/>
          </a:prstGeom>
          <a:noFill/>
        </p:spPr>
        <p:txBody>
          <a:bodyPr wrap="square" lIns="0" rIns="0" tIns="0" bIns="0" anchor="t"/>
          <a:lstStyle/>
          <a:p>
            <a:pPr algn="l" marL="350870" indent="-350870">
              <a:lnSpc>
                <a:spcPct val="111800"/>
              </a:lnSpc>
              <a:buChar char="•"/>
            </a:pPr>
            <a:r>
              <a:rPr sz="2511" b="1" i="0" u="none">
                <a:solidFill>
                  <a:srgbClr val="334155"/>
                </a:solidFill>
                <a:latin typeface="Calibri"/>
              </a:rPr>
              <a:t>Equi-join</a:t>
            </a:r>
            <a:r>
              <a:rPr sz="2511" b="0" i="0" u="none">
                <a:solidFill>
                  <a:srgbClr val="334155"/>
                </a:solidFill>
                <a:latin typeface="Calibri"/>
              </a:rPr>
              <a:t>: condition uses = (d.dnumber = e.dno)</a:t>
            </a:r>
          </a:p>
          <a:p>
            <a:pPr algn="l" marL="350870" indent="-350870">
              <a:lnSpc>
                <a:spcPct val="111800"/>
              </a:lnSpc>
              <a:spcBef>
                <a:spcPts val="627"/>
              </a:spcBef>
              <a:buChar char="•"/>
            </a:pPr>
            <a:r>
              <a:rPr sz="2511" b="1" i="0" u="none">
                <a:solidFill>
                  <a:srgbClr val="334155"/>
                </a:solidFill>
                <a:latin typeface="Calibri"/>
              </a:rPr>
              <a:t>Non-equi-join</a:t>
            </a:r>
            <a:r>
              <a:rPr sz="2511" b="0" i="0" u="none">
                <a:solidFill>
                  <a:srgbClr val="334155"/>
                </a:solidFill>
                <a:latin typeface="Calibri"/>
              </a:rPr>
              <a:t>: any other operator (BETWEEN, &lt;, &gt;=)</a:t>
            </a:r>
          </a:p>
        </p:txBody>
      </p:sp>
      <p:sp>
        <p:nvSpPr>
          <p:cNvPr id="8" name="Rectangle 7"/>
          <p:cNvSpPr/>
          <p:nvPr/>
        </p:nvSpPr>
        <p:spPr>
          <a:xfrm>
            <a:off x="914400" y="5335074"/>
            <a:ext cx="7962900" cy="1841515"/>
          </a:xfrm>
          <a:prstGeom prst="rect">
            <a:avLst/>
          </a:prstGeom>
          <a:solidFill>
            <a:srgbClr val="F8FAFC"/>
          </a:solidFill>
          <a:ln w="14287">
            <a:solidFill>
              <a:srgbClr val="E2E8F0"/>
            </a:solidFill>
          </a:ln>
        </p:spPr>
        <p:txBody>
          <a:bodyPr rtlCol="0" anchor="ctr" lIns="0" rIns="0" tIns="0" bIns="0"/>
          <a:lstStyle/>
          <a:p>
            <a:pPr algn="ctr"/>
          </a:p>
        </p:txBody>
      </p:sp>
      <p:sp>
        <p:nvSpPr>
          <p:cNvPr id="9" name="TextBox 8"/>
          <p:cNvSpPr txBox="1"/>
          <p:nvPr/>
        </p:nvSpPr>
        <p:spPr>
          <a:xfrm>
            <a:off x="1181100" y="5601774"/>
            <a:ext cx="7429500" cy="1308115"/>
          </a:xfrm>
          <a:prstGeom prst="rect">
            <a:avLst/>
          </a:prstGeom>
          <a:noFill/>
        </p:spPr>
        <p:txBody>
          <a:bodyPr wrap="none" lIns="0" rIns="0" tIns="0" bIns="0"/>
          <a:lstStyle/>
          <a:p>
            <a:pPr>
              <a:lnSpc>
                <a:spcPct val="110000"/>
              </a:lnSpc>
            </a:pPr>
            <a:r>
              <a:rPr sz="1950" b="1" i="0" u="none">
                <a:solidFill>
                  <a:srgbClr val="0E8A8A"/>
                </a:solidFill>
                <a:latin typeface="Courier New"/>
              </a:rPr>
              <a:t>SELECT</a:t>
            </a:r>
            <a:r>
              <a:rPr sz="1950" b="0" i="0" u="none">
                <a:solidFill>
                  <a:srgbClr val="0F172A"/>
                </a:solidFill>
                <a:latin typeface="Courier New"/>
              </a:rPr>
              <a:t> </a:t>
            </a:r>
            <a:r>
              <a:rPr sz="1950" b="0" i="0" u="none">
                <a:solidFill>
                  <a:srgbClr val="0F172A"/>
                </a:solidFill>
                <a:latin typeface="Courier New"/>
              </a:rPr>
              <a:t>e</a:t>
            </a:r>
            <a:r>
              <a:rPr sz="1950" b="0" i="0" u="none">
                <a:solidFill>
                  <a:srgbClr val="0F172A"/>
                </a:solidFill>
                <a:latin typeface="Courier New"/>
              </a:rPr>
              <a:t>.</a:t>
            </a:r>
            <a:r>
              <a:rPr sz="1950" b="0" i="0" u="none">
                <a:solidFill>
                  <a:srgbClr val="0F172A"/>
                </a:solidFill>
                <a:latin typeface="Courier New"/>
              </a:rPr>
              <a:t>name</a:t>
            </a:r>
            <a:r>
              <a:rPr sz="1950" b="0" i="0" u="none">
                <a:solidFill>
                  <a:srgbClr val="0F172A"/>
                </a:solidFill>
                <a:latin typeface="Courier New"/>
              </a:rPr>
              <a:t>,</a:t>
            </a:r>
            <a:r>
              <a:rPr sz="1950" b="0" i="0" u="none">
                <a:solidFill>
                  <a:srgbClr val="0F172A"/>
                </a:solidFill>
                <a:latin typeface="Courier New"/>
              </a:rPr>
              <a:t> </a:t>
            </a:r>
            <a:r>
              <a:rPr sz="1950" b="0" i="0" u="none">
                <a:solidFill>
                  <a:srgbClr val="0F172A"/>
                </a:solidFill>
                <a:latin typeface="Courier New"/>
              </a:rPr>
              <a:t>e</a:t>
            </a:r>
            <a:r>
              <a:rPr sz="1950" b="0" i="0" u="none">
                <a:solidFill>
                  <a:srgbClr val="0F172A"/>
                </a:solidFill>
                <a:latin typeface="Courier New"/>
              </a:rPr>
              <a:t>.</a:t>
            </a:r>
            <a:r>
              <a:rPr sz="1950" b="0" i="0" u="none">
                <a:solidFill>
                  <a:srgbClr val="0F172A"/>
                </a:solidFill>
                <a:latin typeface="Courier New"/>
              </a:rPr>
              <a:t>salary</a:t>
            </a:r>
            <a:r>
              <a:rPr sz="1950" b="0" i="0" u="none">
                <a:solidFill>
                  <a:srgbClr val="0F172A"/>
                </a:solidFill>
                <a:latin typeface="Courier New"/>
              </a:rPr>
              <a:t>,</a:t>
            </a:r>
            <a:r>
              <a:rPr sz="1950" b="0" i="0" u="none">
                <a:solidFill>
                  <a:srgbClr val="0F172A"/>
                </a:solidFill>
                <a:latin typeface="Courier New"/>
              </a:rPr>
              <a:t> </a:t>
            </a:r>
            <a:r>
              <a:rPr sz="1950" b="0" i="0" u="none">
                <a:solidFill>
                  <a:srgbClr val="0F172A"/>
                </a:solidFill>
                <a:latin typeface="Courier New"/>
              </a:rPr>
              <a:t>j</a:t>
            </a:r>
            <a:r>
              <a:rPr sz="1950" b="0" i="0" u="none">
                <a:solidFill>
                  <a:srgbClr val="0F172A"/>
                </a:solidFill>
                <a:latin typeface="Courier New"/>
              </a:rPr>
              <a:t>.</a:t>
            </a:r>
            <a:r>
              <a:rPr sz="1950" b="0" i="0" u="none">
                <a:solidFill>
                  <a:srgbClr val="0F172A"/>
                </a:solidFill>
                <a:latin typeface="Courier New"/>
              </a:rPr>
              <a:t>grade</a:t>
            </a:r>
          </a:p>
          <a:p>
            <a:pPr>
              <a:lnSpc>
                <a:spcPct val="110000"/>
              </a:lnSpc>
            </a:pPr>
            <a:r>
              <a:rPr sz="1950" b="1" i="0" u="none">
                <a:solidFill>
                  <a:srgbClr val="0E8A8A"/>
                </a:solidFill>
                <a:latin typeface="Courier New"/>
              </a:rPr>
              <a:t>FROM</a:t>
            </a:r>
            <a:r>
              <a:rPr sz="1950" b="0" i="0" u="none">
                <a:solidFill>
                  <a:srgbClr val="0F172A"/>
                </a:solidFill>
                <a:latin typeface="Courier New"/>
              </a:rPr>
              <a:t>   </a:t>
            </a:r>
            <a:r>
              <a:rPr sz="1950" b="0" i="0" u="none">
                <a:solidFill>
                  <a:srgbClr val="0F172A"/>
                </a:solidFill>
                <a:latin typeface="Courier New"/>
              </a:rPr>
              <a:t>employees</a:t>
            </a:r>
            <a:r>
              <a:rPr sz="1950" b="0" i="0" u="none">
                <a:solidFill>
                  <a:srgbClr val="0F172A"/>
                </a:solidFill>
                <a:latin typeface="Courier New"/>
              </a:rPr>
              <a:t>  </a:t>
            </a:r>
            <a:r>
              <a:rPr sz="1950" b="0" i="0" u="none">
                <a:solidFill>
                  <a:srgbClr val="0F172A"/>
                </a:solidFill>
                <a:latin typeface="Courier New"/>
              </a:rPr>
              <a:t>e</a:t>
            </a:r>
          </a:p>
          <a:p>
            <a:pPr>
              <a:lnSpc>
                <a:spcPct val="110000"/>
              </a:lnSpc>
            </a:pPr>
            <a:r>
              <a:rPr sz="1950" b="1" i="0" u="none">
                <a:solidFill>
                  <a:srgbClr val="0E8A8A"/>
                </a:solidFill>
                <a:latin typeface="Courier New"/>
              </a:rPr>
              <a:t>JOIN</a:t>
            </a:r>
            <a:r>
              <a:rPr sz="1950" b="0" i="0" u="none">
                <a:solidFill>
                  <a:srgbClr val="0F172A"/>
                </a:solidFill>
                <a:latin typeface="Courier New"/>
              </a:rPr>
              <a:t>   </a:t>
            </a:r>
            <a:r>
              <a:rPr sz="1950" b="0" i="0" u="none">
                <a:solidFill>
                  <a:srgbClr val="0F172A"/>
                </a:solidFill>
                <a:latin typeface="Courier New"/>
              </a:rPr>
              <a:t>job_grades</a:t>
            </a:r>
            <a:r>
              <a:rPr sz="1950" b="0" i="0" u="none">
                <a:solidFill>
                  <a:srgbClr val="0F172A"/>
                </a:solidFill>
                <a:latin typeface="Courier New"/>
              </a:rPr>
              <a:t> </a:t>
            </a:r>
            <a:r>
              <a:rPr sz="1950" b="0" i="0" u="none">
                <a:solidFill>
                  <a:srgbClr val="0F172A"/>
                </a:solidFill>
                <a:latin typeface="Courier New"/>
              </a:rPr>
              <a:t>j</a:t>
            </a:r>
          </a:p>
          <a:p>
            <a:pPr>
              <a:lnSpc>
                <a:spcPct val="110000"/>
              </a:lnSpc>
            </a:pPr>
            <a:r>
              <a:rPr sz="1950" b="0" i="0" u="none">
                <a:solidFill>
                  <a:srgbClr val="0F172A"/>
                </a:solidFill>
                <a:latin typeface="Courier New"/>
              </a:rPr>
              <a:t>  </a:t>
            </a:r>
            <a:r>
              <a:rPr sz="1950" b="1" i="0" u="none">
                <a:solidFill>
                  <a:srgbClr val="0E8A8A"/>
                </a:solidFill>
                <a:latin typeface="Courier New"/>
              </a:rPr>
              <a:t>ON</a:t>
            </a:r>
            <a:r>
              <a:rPr sz="1950" b="0" i="0" u="none">
                <a:solidFill>
                  <a:srgbClr val="0F172A"/>
                </a:solidFill>
                <a:latin typeface="Courier New"/>
              </a:rPr>
              <a:t>   </a:t>
            </a:r>
            <a:r>
              <a:rPr sz="1950" b="0" i="0" u="none">
                <a:solidFill>
                  <a:srgbClr val="0F172A"/>
                </a:solidFill>
                <a:latin typeface="Courier New"/>
              </a:rPr>
              <a:t>e</a:t>
            </a:r>
            <a:r>
              <a:rPr sz="1950" b="0" i="0" u="none">
                <a:solidFill>
                  <a:srgbClr val="0F172A"/>
                </a:solidFill>
                <a:latin typeface="Courier New"/>
              </a:rPr>
              <a:t>.</a:t>
            </a:r>
            <a:r>
              <a:rPr sz="1950" b="0" i="0" u="none">
                <a:solidFill>
                  <a:srgbClr val="0F172A"/>
                </a:solidFill>
                <a:latin typeface="Courier New"/>
              </a:rPr>
              <a:t>salary</a:t>
            </a:r>
            <a:r>
              <a:rPr sz="1950" b="0" i="0" u="none">
                <a:solidFill>
                  <a:srgbClr val="0F172A"/>
                </a:solidFill>
                <a:latin typeface="Courier New"/>
              </a:rPr>
              <a:t> </a:t>
            </a:r>
            <a:r>
              <a:rPr sz="1950" b="1" i="0" u="none">
                <a:solidFill>
                  <a:srgbClr val="0E8A8A"/>
                </a:solidFill>
                <a:latin typeface="Courier New"/>
              </a:rPr>
              <a:t>BETWEEN</a:t>
            </a:r>
            <a:r>
              <a:rPr sz="1950" b="0" i="0" u="none">
                <a:solidFill>
                  <a:srgbClr val="0F172A"/>
                </a:solidFill>
                <a:latin typeface="Courier New"/>
              </a:rPr>
              <a:t> </a:t>
            </a:r>
            <a:r>
              <a:rPr sz="1950" b="0" i="0" u="none">
                <a:solidFill>
                  <a:srgbClr val="0F172A"/>
                </a:solidFill>
                <a:latin typeface="Courier New"/>
              </a:rPr>
              <a:t>j</a:t>
            </a:r>
            <a:r>
              <a:rPr sz="1950" b="0" i="0" u="none">
                <a:solidFill>
                  <a:srgbClr val="0F172A"/>
                </a:solidFill>
                <a:latin typeface="Courier New"/>
              </a:rPr>
              <a:t>.</a:t>
            </a:r>
            <a:r>
              <a:rPr sz="1950" b="0" i="0" u="none">
                <a:solidFill>
                  <a:srgbClr val="0F172A"/>
                </a:solidFill>
                <a:latin typeface="Courier New"/>
              </a:rPr>
              <a:t>low_sal</a:t>
            </a:r>
            <a:r>
              <a:rPr sz="1950" b="0" i="0" u="none">
                <a:solidFill>
                  <a:srgbClr val="0F172A"/>
                </a:solidFill>
                <a:latin typeface="Courier New"/>
              </a:rPr>
              <a:t> </a:t>
            </a:r>
            <a:r>
              <a:rPr sz="1950" b="1" i="0" u="none">
                <a:solidFill>
                  <a:srgbClr val="0E8A8A"/>
                </a:solidFill>
                <a:latin typeface="Courier New"/>
              </a:rPr>
              <a:t>AND</a:t>
            </a:r>
            <a:r>
              <a:rPr sz="1950" b="0" i="0" u="none">
                <a:solidFill>
                  <a:srgbClr val="0F172A"/>
                </a:solidFill>
                <a:latin typeface="Courier New"/>
              </a:rPr>
              <a:t> </a:t>
            </a:r>
            <a:r>
              <a:rPr sz="1950" b="0" i="0" u="none">
                <a:solidFill>
                  <a:srgbClr val="0F172A"/>
                </a:solidFill>
                <a:latin typeface="Courier New"/>
              </a:rPr>
              <a:t>j</a:t>
            </a:r>
            <a:r>
              <a:rPr sz="1950" b="0" i="0" u="none">
                <a:solidFill>
                  <a:srgbClr val="0F172A"/>
                </a:solidFill>
                <a:latin typeface="Courier New"/>
              </a:rPr>
              <a:t>.</a:t>
            </a:r>
            <a:r>
              <a:rPr sz="1950" b="0" i="0" u="none">
                <a:solidFill>
                  <a:srgbClr val="0F172A"/>
                </a:solidFill>
                <a:latin typeface="Courier New"/>
              </a:rPr>
              <a:t>high_sal</a:t>
            </a:r>
            <a:r>
              <a:rPr sz="1950" b="0" i="0" u="none">
                <a:solidFill>
                  <a:srgbClr val="0F172A"/>
                </a:solidFill>
                <a:latin typeface="Courier New"/>
              </a:rPr>
              <a:t>;</a:t>
            </a:r>
          </a:p>
        </p:txBody>
      </p:sp>
      <p:sp>
        <p:nvSpPr>
          <p:cNvPr id="10" name="TextBox 9"/>
          <p:cNvSpPr txBox="1"/>
          <p:nvPr/>
        </p:nvSpPr>
        <p:spPr>
          <a:xfrm>
            <a:off x="9410700" y="2482024"/>
            <a:ext cx="7962900"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employees</a:t>
            </a:r>
          </a:p>
        </p:txBody>
      </p:sp>
      <p:graphicFrame>
        <p:nvGraphicFramePr>
          <p:cNvPr id="11" name="Table 10"/>
          <p:cNvGraphicFramePr>
            <a:graphicFrameLocks noGrp="1"/>
          </p:cNvGraphicFramePr>
          <p:nvPr/>
        </p:nvGraphicFramePr>
        <p:xfrm>
          <a:off x="9410700" y="3068977"/>
          <a:ext cx="7962900" cy="1740120"/>
        </p:xfrm>
        <a:graphic>
          <a:graphicData uri="http://schemas.openxmlformats.org/drawingml/2006/table">
            <a:tbl>
              <a:tblPr firstRow="0" bandRow="0">
                <a:tableStyleId>{5940675A-B579-460E-94D1-54222C63F5DA}</a:tableStyleId>
              </a:tblPr>
              <a:tblGrid>
                <a:gridCol w="2654300"/>
                <a:gridCol w="2654300"/>
                <a:gridCol w="2654300"/>
              </a:tblGrid>
              <a:tr h="580040">
                <a:tc>
                  <a:txBody>
                    <a:bodyPr/>
                    <a:lstStyle/>
                    <a:p>
                      <a:r>
                        <a:rPr sz="2318" b="1" i="0" u="none">
                          <a:solidFill>
                            <a:srgbClr val="FFFFFF"/>
                          </a:solidFill>
                          <a:latin typeface="Arial"/>
                        </a:rPr>
                        <a:t>EmpNo</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Name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Salary</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100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Ahmed</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5000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200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Mai</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3000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12" name="TextBox 11"/>
          <p:cNvSpPr txBox="1"/>
          <p:nvPr/>
        </p:nvSpPr>
        <p:spPr>
          <a:xfrm>
            <a:off x="9410700" y="4969119"/>
            <a:ext cx="7962900"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job_grades</a:t>
            </a:r>
          </a:p>
        </p:txBody>
      </p:sp>
      <p:graphicFrame>
        <p:nvGraphicFramePr>
          <p:cNvPr id="13" name="Table 12"/>
          <p:cNvGraphicFramePr>
            <a:graphicFrameLocks noGrp="1"/>
          </p:cNvGraphicFramePr>
          <p:nvPr/>
        </p:nvGraphicFramePr>
        <p:xfrm>
          <a:off x="9410700" y="5556072"/>
          <a:ext cx="7962900" cy="1740120"/>
        </p:xfrm>
        <a:graphic>
          <a:graphicData uri="http://schemas.openxmlformats.org/drawingml/2006/table">
            <a:tbl>
              <a:tblPr firstRow="0" bandRow="0">
                <a:tableStyleId>{5940675A-B579-460E-94D1-54222C63F5DA}</a:tableStyleId>
              </a:tblPr>
              <a:tblGrid>
                <a:gridCol w="2654300"/>
                <a:gridCol w="2654300"/>
                <a:gridCol w="2654300"/>
              </a:tblGrid>
              <a:tr h="580040">
                <a:tc>
                  <a:txBody>
                    <a:bodyPr/>
                    <a:lstStyle/>
                    <a:p>
                      <a:r>
                        <a:rPr sz="2318" b="1" i="0" u="none">
                          <a:solidFill>
                            <a:srgbClr val="FFFFFF"/>
                          </a:solidFill>
                          <a:latin typeface="Arial"/>
                        </a:rPr>
                        <a:t>LowSal</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HighSal</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Grade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1000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3999</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B</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4000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7000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A</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14" name="TextBox 13"/>
          <p:cNvSpPr txBox="1"/>
          <p:nvPr/>
        </p:nvSpPr>
        <p:spPr>
          <a:xfrm>
            <a:off x="9410700" y="7456214"/>
            <a:ext cx="7962900" cy="462511"/>
          </a:xfrm>
          <a:prstGeom prst="rect">
            <a:avLst/>
          </a:prstGeom>
          <a:noFill/>
        </p:spPr>
        <p:txBody>
          <a:bodyPr wrap="square" lIns="0" rIns="0" tIns="0" bIns="0" anchor="t"/>
          <a:lstStyle/>
          <a:p>
            <a:pPr algn="l">
              <a:lnSpc>
                <a:spcPct val="111800"/>
              </a:lnSpc>
            </a:pPr>
            <a:r>
              <a:rPr sz="2511" b="0" i="0" u="none">
                <a:solidFill>
                  <a:srgbClr val="334155"/>
                </a:solidFill>
                <a:latin typeface="Calibri"/>
              </a:rPr>
              <a:t>Result: Ahmed 5000 </a:t>
            </a:r>
            <a:r>
              <a:rPr sz="2511" b="1" i="0" u="none">
                <a:solidFill>
                  <a:srgbClr val="334155"/>
                </a:solidFill>
                <a:latin typeface="Calibri"/>
              </a:rPr>
              <a:t>A</a:t>
            </a:r>
            <a:r>
              <a:rPr sz="2511" b="0" i="0" u="none">
                <a:solidFill>
                  <a:srgbClr val="334155"/>
                </a:solidFill>
                <a:latin typeface="Calibri"/>
              </a:rPr>
              <a:t> · Mai 3000 </a:t>
            </a:r>
            <a:r>
              <a:rPr sz="2511" b="1" i="0" u="none">
                <a:solidFill>
                  <a:srgbClr val="334155"/>
                </a:solidFill>
                <a:latin typeface="Calibri"/>
              </a:rPr>
              <a:t>B</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JOINS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41/71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Cartesian product (CROSS JOIN)</a:t>
            </a:r>
          </a:p>
        </p:txBody>
      </p:sp>
      <p:sp>
        <p:nvSpPr>
          <p:cNvPr id="6" name="Rectangle 5"/>
          <p:cNvSpPr/>
          <p:nvPr/>
        </p:nvSpPr>
        <p:spPr>
          <a:xfrm>
            <a:off x="914400" y="2482024"/>
            <a:ext cx="8639175" cy="2886886"/>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105775" cy="2353486"/>
          </a:xfrm>
          <a:prstGeom prst="rect">
            <a:avLst/>
          </a:prstGeom>
          <a:noFill/>
        </p:spPr>
        <p:txBody>
          <a:bodyPr wrap="none" lIns="0" rIns="0" tIns="0" bIns="0"/>
          <a:lstStyle/>
          <a:p>
            <a:pPr>
              <a:lnSpc>
                <a:spcPct val="110000"/>
              </a:lnSpc>
            </a:pPr>
            <a:r>
              <a:rPr sz="2005" b="1" i="0" u="none">
                <a:solidFill>
                  <a:srgbClr val="0E8A8A"/>
                </a:solidFill>
                <a:latin typeface="Courier New"/>
              </a:rPr>
              <a:t>SELECT</a:t>
            </a:r>
            <a:r>
              <a:rPr sz="2005" b="0" i="0" u="none">
                <a:solidFill>
                  <a:srgbClr val="0F172A"/>
                </a:solidFill>
                <a:latin typeface="Courier New"/>
              </a:rPr>
              <a:t> </a:t>
            </a:r>
            <a:r>
              <a:rPr sz="2005" b="0" i="0" u="none">
                <a:solidFill>
                  <a:srgbClr val="0F172A"/>
                </a:solidFill>
                <a:latin typeface="Courier New"/>
              </a:rPr>
              <a:t>e</a:t>
            </a:r>
            <a:r>
              <a:rPr sz="2005" b="0" i="0" u="none">
                <a:solidFill>
                  <a:srgbClr val="0F172A"/>
                </a:solidFill>
                <a:latin typeface="Courier New"/>
              </a:rPr>
              <a:t>.</a:t>
            </a:r>
            <a:r>
              <a:rPr sz="2005" b="0" i="0" u="none">
                <a:solidFill>
                  <a:srgbClr val="0F172A"/>
                </a:solidFill>
                <a:latin typeface="Courier New"/>
              </a:rPr>
              <a:t>fname</a:t>
            </a:r>
            <a:r>
              <a:rPr sz="2005" b="0" i="0" u="none">
                <a:solidFill>
                  <a:srgbClr val="0F172A"/>
                </a:solidFill>
                <a:latin typeface="Courier New"/>
              </a:rPr>
              <a:t>,</a:t>
            </a:r>
            <a:r>
              <a:rPr sz="2005" b="0" i="0" u="none">
                <a:solidFill>
                  <a:srgbClr val="0F172A"/>
                </a:solidFill>
                <a:latin typeface="Courier New"/>
              </a:rPr>
              <a:t> </a:t>
            </a:r>
            <a:r>
              <a:rPr sz="2005" b="0" i="0" u="none">
                <a:solidFill>
                  <a:srgbClr val="0F172A"/>
                </a:solidFill>
                <a:latin typeface="Courier New"/>
              </a:rPr>
              <a:t>p</a:t>
            </a:r>
            <a:r>
              <a:rPr sz="2005" b="0" i="0" u="none">
                <a:solidFill>
                  <a:srgbClr val="0F172A"/>
                </a:solidFill>
                <a:latin typeface="Courier New"/>
              </a:rPr>
              <a:t>.</a:t>
            </a:r>
            <a:r>
              <a:rPr sz="2005" b="0" i="0" u="none">
                <a:solidFill>
                  <a:srgbClr val="0F172A"/>
                </a:solidFill>
                <a:latin typeface="Courier New"/>
              </a:rPr>
              <a:t>pname</a:t>
            </a:r>
          </a:p>
          <a:p>
            <a:pPr>
              <a:lnSpc>
                <a:spcPct val="110000"/>
              </a:lnSpc>
            </a:pPr>
            <a:r>
              <a:rPr sz="2005" b="1" i="0" u="none">
                <a:solidFill>
                  <a:srgbClr val="0E8A8A"/>
                </a:solidFill>
                <a:latin typeface="Courier New"/>
              </a:rPr>
              <a:t>FROM</a:t>
            </a:r>
            <a:r>
              <a:rPr sz="2005" b="0" i="0" u="none">
                <a:solidFill>
                  <a:srgbClr val="0F172A"/>
                </a:solidFill>
                <a:latin typeface="Courier New"/>
              </a:rPr>
              <a:t>   </a:t>
            </a:r>
            <a:r>
              <a:rPr sz="2005" b="0" i="0" u="none">
                <a:solidFill>
                  <a:srgbClr val="0F172A"/>
                </a:solidFill>
                <a:latin typeface="Courier New"/>
              </a:rPr>
              <a:t>employee</a:t>
            </a:r>
            <a:r>
              <a:rPr sz="2005" b="0" i="0" u="none">
                <a:solidFill>
                  <a:srgbClr val="0F172A"/>
                </a:solidFill>
                <a:latin typeface="Courier New"/>
              </a:rPr>
              <a:t> </a:t>
            </a:r>
            <a:r>
              <a:rPr sz="2005" b="0" i="0" u="none">
                <a:solidFill>
                  <a:srgbClr val="0F172A"/>
                </a:solidFill>
                <a:latin typeface="Courier New"/>
              </a:rPr>
              <a:t>e</a:t>
            </a:r>
          </a:p>
          <a:p>
            <a:pPr>
              <a:lnSpc>
                <a:spcPct val="110000"/>
              </a:lnSpc>
            </a:pPr>
            <a:r>
              <a:rPr sz="2005" b="1" i="0" u="none">
                <a:solidFill>
                  <a:srgbClr val="0E8A8A"/>
                </a:solidFill>
                <a:latin typeface="Courier New"/>
              </a:rPr>
              <a:t>CROSS</a:t>
            </a:r>
            <a:r>
              <a:rPr sz="2005" b="0" i="0" u="none">
                <a:solidFill>
                  <a:srgbClr val="0F172A"/>
                </a:solidFill>
                <a:latin typeface="Courier New"/>
              </a:rPr>
              <a:t>  </a:t>
            </a:r>
            <a:r>
              <a:rPr sz="2005" b="1" i="0" u="none">
                <a:solidFill>
                  <a:srgbClr val="0E8A8A"/>
                </a:solidFill>
                <a:latin typeface="Courier New"/>
              </a:rPr>
              <a:t>JOIN</a:t>
            </a:r>
            <a:r>
              <a:rPr sz="2005" b="0" i="0" u="none">
                <a:solidFill>
                  <a:srgbClr val="0F172A"/>
                </a:solidFill>
                <a:latin typeface="Courier New"/>
              </a:rPr>
              <a:t> </a:t>
            </a:r>
            <a:r>
              <a:rPr sz="2005" b="0" i="0" u="none">
                <a:solidFill>
                  <a:srgbClr val="0F172A"/>
                </a:solidFill>
                <a:latin typeface="Courier New"/>
              </a:rPr>
              <a:t>project</a:t>
            </a:r>
            <a:r>
              <a:rPr sz="2005" b="0" i="0" u="none">
                <a:solidFill>
                  <a:srgbClr val="0F172A"/>
                </a:solidFill>
                <a:latin typeface="Courier New"/>
              </a:rPr>
              <a:t> </a:t>
            </a:r>
            <a:r>
              <a:rPr sz="2005" b="0" i="0" u="none">
                <a:solidFill>
                  <a:srgbClr val="0F172A"/>
                </a:solidFill>
                <a:latin typeface="Courier New"/>
              </a:rPr>
              <a:t>p</a:t>
            </a:r>
            <a:r>
              <a:rPr sz="2005" b="0" i="0" u="none">
                <a:solidFill>
                  <a:srgbClr val="0F172A"/>
                </a:solidFill>
                <a:latin typeface="Courier New"/>
              </a:rPr>
              <a:t>;</a:t>
            </a:r>
          </a:p>
          <a:p>
            <a:pPr>
              <a:lnSpc>
                <a:spcPct val="110000"/>
              </a:lnSpc>
            </a:pPr>
            <a:r>
              <a:rPr sz="2005" b="0" i="0" u="none">
                <a:solidFill>
                  <a:srgbClr val="0F172A"/>
                </a:solidFill>
                <a:latin typeface="Courier New"/>
              </a:rPr>
              <a:t> </a:t>
            </a:r>
          </a:p>
          <a:p>
            <a:pPr>
              <a:lnSpc>
                <a:spcPct val="110000"/>
              </a:lnSpc>
            </a:pPr>
            <a:r>
              <a:rPr sz="2005" b="0" i="1" u="none">
                <a:solidFill>
                  <a:srgbClr val="64748B"/>
                </a:solidFill>
                <a:latin typeface="Courier New"/>
              </a:rPr>
              <a:t>-- the same thing by accident:</a:t>
            </a:r>
          </a:p>
          <a:p>
            <a:pPr>
              <a:lnSpc>
                <a:spcPct val="110000"/>
              </a:lnSpc>
            </a:pPr>
            <a:r>
              <a:rPr sz="2005" b="1" i="0" u="none">
                <a:solidFill>
                  <a:srgbClr val="0E8A8A"/>
                </a:solidFill>
                <a:latin typeface="Courier New"/>
              </a:rPr>
              <a:t>SELECT</a:t>
            </a:r>
            <a:r>
              <a:rPr sz="2005" b="0" i="0" u="none">
                <a:solidFill>
                  <a:srgbClr val="0F172A"/>
                </a:solidFill>
                <a:latin typeface="Courier New"/>
              </a:rPr>
              <a:t> </a:t>
            </a:r>
            <a:r>
              <a:rPr sz="2005" b="0" i="0" u="none">
                <a:solidFill>
                  <a:srgbClr val="0F172A"/>
                </a:solidFill>
                <a:latin typeface="Courier New"/>
              </a:rPr>
              <a:t>e</a:t>
            </a:r>
            <a:r>
              <a:rPr sz="2005" b="0" i="0" u="none">
                <a:solidFill>
                  <a:srgbClr val="0F172A"/>
                </a:solidFill>
                <a:latin typeface="Courier New"/>
              </a:rPr>
              <a:t>.</a:t>
            </a:r>
            <a:r>
              <a:rPr sz="2005" b="0" i="0" u="none">
                <a:solidFill>
                  <a:srgbClr val="0F172A"/>
                </a:solidFill>
                <a:latin typeface="Courier New"/>
              </a:rPr>
              <a:t>fname</a:t>
            </a:r>
            <a:r>
              <a:rPr sz="2005" b="0" i="0" u="none">
                <a:solidFill>
                  <a:srgbClr val="0F172A"/>
                </a:solidFill>
                <a:latin typeface="Courier New"/>
              </a:rPr>
              <a:t>,</a:t>
            </a:r>
            <a:r>
              <a:rPr sz="2005" b="0" i="0" u="none">
                <a:solidFill>
                  <a:srgbClr val="0F172A"/>
                </a:solidFill>
                <a:latin typeface="Courier New"/>
              </a:rPr>
              <a:t> </a:t>
            </a:r>
            <a:r>
              <a:rPr sz="2005" b="0" i="0" u="none">
                <a:solidFill>
                  <a:srgbClr val="0F172A"/>
                </a:solidFill>
                <a:latin typeface="Courier New"/>
              </a:rPr>
              <a:t>p</a:t>
            </a:r>
            <a:r>
              <a:rPr sz="2005" b="0" i="0" u="none">
                <a:solidFill>
                  <a:srgbClr val="0F172A"/>
                </a:solidFill>
                <a:latin typeface="Courier New"/>
              </a:rPr>
              <a:t>.</a:t>
            </a:r>
            <a:r>
              <a:rPr sz="2005" b="0" i="0" u="none">
                <a:solidFill>
                  <a:srgbClr val="0F172A"/>
                </a:solidFill>
                <a:latin typeface="Courier New"/>
              </a:rPr>
              <a:t>pname</a:t>
            </a:r>
          </a:p>
          <a:p>
            <a:pPr>
              <a:lnSpc>
                <a:spcPct val="110000"/>
              </a:lnSpc>
            </a:pPr>
            <a:r>
              <a:rPr sz="2005" b="1" i="0" u="none">
                <a:solidFill>
                  <a:srgbClr val="0E8A8A"/>
                </a:solidFill>
                <a:latin typeface="Courier New"/>
              </a:rPr>
              <a:t>FROM</a:t>
            </a:r>
            <a:r>
              <a:rPr sz="2005" b="0" i="0" u="none">
                <a:solidFill>
                  <a:srgbClr val="0F172A"/>
                </a:solidFill>
                <a:latin typeface="Courier New"/>
              </a:rPr>
              <a:t>   </a:t>
            </a:r>
            <a:r>
              <a:rPr sz="2005" b="0" i="0" u="none">
                <a:solidFill>
                  <a:srgbClr val="0F172A"/>
                </a:solidFill>
                <a:latin typeface="Courier New"/>
              </a:rPr>
              <a:t>employee</a:t>
            </a:r>
            <a:r>
              <a:rPr sz="2005" b="0" i="0" u="none">
                <a:solidFill>
                  <a:srgbClr val="0F172A"/>
                </a:solidFill>
                <a:latin typeface="Courier New"/>
              </a:rPr>
              <a:t> </a:t>
            </a:r>
            <a:r>
              <a:rPr sz="2005" b="0" i="0" u="none">
                <a:solidFill>
                  <a:srgbClr val="0F172A"/>
                </a:solidFill>
                <a:latin typeface="Courier New"/>
              </a:rPr>
              <a:t>e</a:t>
            </a:r>
            <a:r>
              <a:rPr sz="2005" b="0" i="0" u="none">
                <a:solidFill>
                  <a:srgbClr val="0F172A"/>
                </a:solidFill>
                <a:latin typeface="Courier New"/>
              </a:rPr>
              <a:t>,</a:t>
            </a:r>
            <a:r>
              <a:rPr sz="2005" b="0" i="0" u="none">
                <a:solidFill>
                  <a:srgbClr val="0F172A"/>
                </a:solidFill>
                <a:latin typeface="Courier New"/>
              </a:rPr>
              <a:t> </a:t>
            </a:r>
            <a:r>
              <a:rPr sz="2005" b="0" i="0" u="none">
                <a:solidFill>
                  <a:srgbClr val="0F172A"/>
                </a:solidFill>
                <a:latin typeface="Courier New"/>
              </a:rPr>
              <a:t>project</a:t>
            </a:r>
            <a:r>
              <a:rPr sz="2005" b="0" i="0" u="none">
                <a:solidFill>
                  <a:srgbClr val="0F172A"/>
                </a:solidFill>
                <a:latin typeface="Courier New"/>
              </a:rPr>
              <a:t> </a:t>
            </a:r>
            <a:r>
              <a:rPr sz="2005" b="0" i="0" u="none">
                <a:solidFill>
                  <a:srgbClr val="0F172A"/>
                </a:solidFill>
                <a:latin typeface="Courier New"/>
              </a:rPr>
              <a:t>p</a:t>
            </a:r>
            <a:r>
              <a:rPr sz="2005" b="0" i="0" u="none">
                <a:solidFill>
                  <a:srgbClr val="0F172A"/>
                </a:solidFill>
                <a:latin typeface="Courier New"/>
              </a:rPr>
              <a:t>;</a:t>
            </a:r>
            <a:r>
              <a:rPr sz="2005" b="0" i="0" u="none">
                <a:solidFill>
                  <a:srgbClr val="0F172A"/>
                </a:solidFill>
                <a:latin typeface="Courier New"/>
              </a:rPr>
              <a:t>   </a:t>
            </a:r>
            <a:r>
              <a:rPr sz="2005" b="0" i="1" u="none">
                <a:solidFill>
                  <a:srgbClr val="64748B"/>
                </a:solidFill>
                <a:latin typeface="Courier New"/>
              </a:rPr>
              <a:t>-- no join condition</a:t>
            </a:r>
          </a:p>
        </p:txBody>
      </p:sp>
      <p:sp>
        <p:nvSpPr>
          <p:cNvPr id="8" name="Rectangle 7"/>
          <p:cNvSpPr/>
          <p:nvPr/>
        </p:nvSpPr>
        <p:spPr>
          <a:xfrm>
            <a:off x="9980295" y="2482024"/>
            <a:ext cx="7393305" cy="2191313"/>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80345" y="2882074"/>
            <a:ext cx="6593205" cy="1391213"/>
          </a:xfrm>
          <a:prstGeom prst="rect">
            <a:avLst/>
          </a:prstGeom>
          <a:noFill/>
        </p:spPr>
        <p:txBody>
          <a:bodyPr wrap="square" lIns="0" rIns="0" tIns="0" bIns="0" anchor="t"/>
          <a:lstStyle/>
          <a:p>
            <a:pPr algn="l">
              <a:lnSpc>
                <a:spcPct val="111800"/>
              </a:lnSpc>
            </a:pPr>
            <a:r>
              <a:rPr sz="2704" b="0" i="0" u="none">
                <a:solidFill>
                  <a:srgbClr val="334155"/>
                </a:solidFill>
                <a:latin typeface="Calibri"/>
              </a:rPr>
              <a:t>Every row of the first table paired with </a:t>
            </a:r>
            <a:r>
              <a:rPr sz="2704" b="1" i="0" u="none">
                <a:solidFill>
                  <a:srgbClr val="334155"/>
                </a:solidFill>
                <a:latin typeface="Calibri"/>
              </a:rPr>
              <a:t>every</a:t>
            </a:r>
            <a:r>
              <a:rPr sz="2704" b="0" i="0" u="none">
                <a:solidFill>
                  <a:srgbClr val="334155"/>
                </a:solidFill>
                <a:latin typeface="Calibri"/>
              </a:rPr>
              <a:t> row of the second: 8 employees × 6 projects = </a:t>
            </a:r>
            <a:r>
              <a:rPr sz="2704" b="1" i="0" u="none">
                <a:solidFill>
                  <a:srgbClr val="334155"/>
                </a:solidFill>
                <a:latin typeface="Calibri"/>
              </a:rPr>
              <a:t>48 rows</a:t>
            </a:r>
            <a:r>
              <a:rPr sz="2704" b="0" i="0" u="none">
                <a:solidFill>
                  <a:srgbClr val="334155"/>
                </a:solidFill>
                <a:latin typeface="Calibri"/>
              </a:rPr>
              <a:t>.</a:t>
            </a:r>
          </a:p>
        </p:txBody>
      </p:sp>
      <p:sp>
        <p:nvSpPr>
          <p:cNvPr id="10" name="Rectangle 9"/>
          <p:cNvSpPr/>
          <p:nvPr/>
        </p:nvSpPr>
        <p:spPr>
          <a:xfrm>
            <a:off x="9980295" y="4886698"/>
            <a:ext cx="7393305" cy="1825241"/>
          </a:xfrm>
          <a:prstGeom prst="rect">
            <a:avLst/>
          </a:prstGeom>
          <a:solidFill>
            <a:srgbClr val="FEF3C7"/>
          </a:solidFill>
          <a:ln>
            <a:noFill/>
          </a:ln>
        </p:spPr>
        <p:txBody>
          <a:bodyPr rtlCol="0" anchor="ctr" lIns="0" rIns="0" tIns="0" bIns="0"/>
          <a:lstStyle/>
          <a:p>
            <a:pPr algn="ctr"/>
          </a:p>
        </p:txBody>
      </p:sp>
      <p:sp>
        <p:nvSpPr>
          <p:cNvPr id="11" name="Rectangle 10"/>
          <p:cNvSpPr/>
          <p:nvPr/>
        </p:nvSpPr>
        <p:spPr>
          <a:xfrm>
            <a:off x="9980295" y="4886698"/>
            <a:ext cx="47625" cy="1825241"/>
          </a:xfrm>
          <a:prstGeom prst="rect">
            <a:avLst/>
          </a:prstGeom>
          <a:solidFill>
            <a:srgbClr val="B45309"/>
          </a:solidFill>
          <a:ln>
            <a:noFill/>
          </a:ln>
        </p:spPr>
        <p:txBody>
          <a:bodyPr rtlCol="0" anchor="ctr" lIns="0" rIns="0" tIns="0" bIns="0"/>
          <a:lstStyle/>
          <a:p>
            <a:pPr algn="ctr"/>
          </a:p>
        </p:txBody>
      </p:sp>
      <p:sp>
        <p:nvSpPr>
          <p:cNvPr id="12" name="TextBox 11"/>
          <p:cNvSpPr txBox="1"/>
          <p:nvPr/>
        </p:nvSpPr>
        <p:spPr>
          <a:xfrm>
            <a:off x="10407015" y="5153398"/>
            <a:ext cx="6539865" cy="1291841"/>
          </a:xfrm>
          <a:prstGeom prst="rect">
            <a:avLst/>
          </a:prstGeom>
          <a:noFill/>
        </p:spPr>
        <p:txBody>
          <a:bodyPr wrap="square" lIns="0" rIns="0" tIns="0" bIns="0"/>
          <a:lstStyle/>
          <a:p>
            <a:pPr>
              <a:lnSpc>
                <a:spcPct val="112000"/>
              </a:lnSpc>
            </a:pPr>
            <a:r>
              <a:rPr sz="2511" b="0" i="0" u="none">
                <a:solidFill>
                  <a:srgbClr val="0F172A"/>
                </a:solidFill>
                <a:latin typeface="Calibri"/>
              </a:rPr>
              <a:t>Useful on purpose for generating combinations (e.g. all sizes × all colors); usually a sign of a </a:t>
            </a:r>
            <a:r>
              <a:rPr sz="2511" b="1" i="0" u="none">
                <a:solidFill>
                  <a:srgbClr val="0F172A"/>
                </a:solidFill>
                <a:latin typeface="Calibri"/>
              </a:rPr>
              <a:t>missing join condition</a:t>
            </a:r>
            <a:r>
              <a:rPr sz="2511" b="0" i="0" u="none">
                <a:solidFill>
                  <a:srgbClr val="0F172A"/>
                </a:solidFill>
                <a:latin typeface="Calibri"/>
              </a:rP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06</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42/71</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06</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Subqueries &amp; set operators</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Queries inside queries, EXISTS, UNION and friends, and CTEs.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76593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SUBQUERIES</a:t>
            </a:r>
          </a:p>
        </p:txBody>
      </p:sp>
      <p:cxnSp>
        <p:nvCxnSpPr>
          <p:cNvPr id="3" name="Connector 2"/>
          <p:cNvCxnSpPr/>
          <p:nvPr/>
        </p:nvCxnSpPr>
        <p:spPr>
          <a:xfrm>
            <a:off x="2756535" y="981075"/>
            <a:ext cx="1376934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43/71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Subqueries (nested queries)</a:t>
            </a:r>
          </a:p>
        </p:txBody>
      </p:sp>
      <p:sp>
        <p:nvSpPr>
          <p:cNvPr id="6" name="Rectangle 5"/>
          <p:cNvSpPr/>
          <p:nvPr/>
        </p:nvSpPr>
        <p:spPr>
          <a:xfrm>
            <a:off x="914400" y="2482024"/>
            <a:ext cx="5496850" cy="6553885"/>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4696750" cy="5753785"/>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A complete SELECT </a:t>
            </a:r>
            <a:r>
              <a:rPr sz="2704" b="1" i="0" u="none">
                <a:solidFill>
                  <a:srgbClr val="334155"/>
                </a:solidFill>
                <a:latin typeface="Calibri"/>
              </a:rPr>
              <a:t>inside</a:t>
            </a:r>
            <a:r>
              <a:rPr sz="2704" b="0" i="0" u="none">
                <a:solidFill>
                  <a:srgbClr val="334155"/>
                </a:solidFill>
                <a:latin typeface="Calibri"/>
              </a:rPr>
              <a:t> another statement</a:t>
            </a:r>
          </a:p>
          <a:p>
            <a:pPr algn="l" marL="377860" indent="-377860">
              <a:lnSpc>
                <a:spcPct val="111800"/>
              </a:lnSpc>
              <a:spcBef>
                <a:spcPts val="676"/>
              </a:spcBef>
              <a:buChar char="•"/>
            </a:pPr>
            <a:r>
              <a:rPr sz="2704" b="0" i="0" u="none">
                <a:solidFill>
                  <a:srgbClr val="334155"/>
                </a:solidFill>
                <a:latin typeface="Calibri"/>
              </a:rPr>
              <a:t>A non-correlated subquery runs </a:t>
            </a:r>
            <a:r>
              <a:rPr sz="2704" b="1" i="0" u="none">
                <a:solidFill>
                  <a:srgbClr val="334155"/>
                </a:solidFill>
                <a:latin typeface="Calibri"/>
              </a:rPr>
              <a:t>once</a:t>
            </a:r>
            <a:r>
              <a:rPr sz="2704" b="0" i="0" u="none">
                <a:solidFill>
                  <a:srgbClr val="334155"/>
                </a:solidFill>
                <a:latin typeface="Calibri"/>
              </a:rPr>
              <a:t>, independent of the outer row</a:t>
            </a:r>
          </a:p>
          <a:p>
            <a:pPr algn="l" marL="377860" indent="-377860">
              <a:lnSpc>
                <a:spcPct val="111800"/>
              </a:lnSpc>
              <a:spcBef>
                <a:spcPts val="676"/>
              </a:spcBef>
              <a:buChar char="•"/>
            </a:pPr>
            <a:r>
              <a:rPr sz="2704" b="0" i="0" u="none">
                <a:solidFill>
                  <a:srgbClr val="334155"/>
                </a:solidFill>
                <a:latin typeface="Calibri"/>
              </a:rPr>
              <a:t>In </a:t>
            </a:r>
            <a:r>
              <a:rPr sz="2704" b="1" i="0" u="none">
                <a:solidFill>
                  <a:srgbClr val="334155"/>
                </a:solidFill>
                <a:latin typeface="Calibri"/>
              </a:rPr>
              <a:t>WHERE</a:t>
            </a:r>
            <a:r>
              <a:rPr sz="2704" b="0" i="0" u="none">
                <a:solidFill>
                  <a:srgbClr val="334155"/>
                </a:solidFill>
                <a:latin typeface="Calibri"/>
              </a:rPr>
              <a:t>, </a:t>
            </a:r>
            <a:r>
              <a:rPr sz="2704" b="1" i="0" u="none">
                <a:solidFill>
                  <a:srgbClr val="334155"/>
                </a:solidFill>
                <a:latin typeface="Calibri"/>
              </a:rPr>
              <a:t>HAVING</a:t>
            </a:r>
            <a:r>
              <a:rPr sz="2704" b="0" i="0" u="none">
                <a:solidFill>
                  <a:srgbClr val="334155"/>
                </a:solidFill>
                <a:latin typeface="Calibri"/>
              </a:rPr>
              <a:t> or </a:t>
            </a:r>
            <a:r>
              <a:rPr sz="2704" b="1" i="0" u="none">
                <a:solidFill>
                  <a:srgbClr val="334155"/>
                </a:solidFill>
                <a:latin typeface="Calibri"/>
              </a:rPr>
              <a:t>SELECT</a:t>
            </a:r>
          </a:p>
          <a:p>
            <a:pPr algn="l" marL="377860" indent="-377860">
              <a:lnSpc>
                <a:spcPct val="111800"/>
              </a:lnSpc>
              <a:spcBef>
                <a:spcPts val="676"/>
              </a:spcBef>
              <a:buChar char="•"/>
            </a:pPr>
            <a:r>
              <a:rPr sz="2704" b="0" i="0" u="none">
                <a:solidFill>
                  <a:srgbClr val="334155"/>
                </a:solidFill>
                <a:latin typeface="Calibri"/>
              </a:rPr>
              <a:t>In </a:t>
            </a:r>
            <a:r>
              <a:rPr sz="2704" b="1" i="0" u="none">
                <a:solidFill>
                  <a:srgbClr val="334155"/>
                </a:solidFill>
                <a:latin typeface="Calibri"/>
              </a:rPr>
              <a:t>FROM</a:t>
            </a:r>
            <a:r>
              <a:rPr sz="2704" b="0" i="0" u="none">
                <a:solidFill>
                  <a:srgbClr val="334155"/>
                </a:solidFill>
                <a:latin typeface="Calibri"/>
              </a:rPr>
              <a:t> it is a derived table (an </a:t>
            </a:r>
            <a:r>
              <a:rPr sz="2704" b="0" i="1" u="none">
                <a:solidFill>
                  <a:srgbClr val="334155"/>
                </a:solidFill>
                <a:latin typeface="Calibri"/>
              </a:rPr>
              <a:t>inline view</a:t>
            </a:r>
            <a:r>
              <a:rPr sz="2704" b="0" i="0" u="none">
                <a:solidFill>
                  <a:srgbClr val="334155"/>
                </a:solidFill>
                <a:latin typeface="Calibri"/>
              </a:rPr>
              <a:t>)</a:t>
            </a:r>
          </a:p>
          <a:p>
            <a:pPr algn="l" marL="377860" indent="-377860">
              <a:lnSpc>
                <a:spcPct val="111800"/>
              </a:lnSpc>
              <a:spcBef>
                <a:spcPts val="676"/>
              </a:spcBef>
              <a:buChar char="•"/>
            </a:pPr>
            <a:r>
              <a:rPr sz="2704" b="0" i="0" u="none">
                <a:solidFill>
                  <a:srgbClr val="334155"/>
                </a:solidFill>
                <a:latin typeface="Calibri"/>
              </a:rPr>
              <a:t>Single-row subqueries use = &lt; &gt;; multi-row ones use IN, ANY, ALL</a:t>
            </a:r>
          </a:p>
        </p:txBody>
      </p:sp>
      <p:sp>
        <p:nvSpPr>
          <p:cNvPr id="8" name="Rectangle 7"/>
          <p:cNvSpPr/>
          <p:nvPr/>
        </p:nvSpPr>
        <p:spPr>
          <a:xfrm>
            <a:off x="6837970" y="2482024"/>
            <a:ext cx="10535629" cy="3059667"/>
          </a:xfrm>
          <a:prstGeom prst="rect">
            <a:avLst/>
          </a:prstGeom>
          <a:solidFill>
            <a:srgbClr val="F8FAFC"/>
          </a:solidFill>
          <a:ln w="14287">
            <a:solidFill>
              <a:srgbClr val="E2E8F0"/>
            </a:solidFill>
          </a:ln>
        </p:spPr>
        <p:txBody>
          <a:bodyPr rtlCol="0" anchor="ctr" lIns="0" rIns="0" tIns="0" bIns="0"/>
          <a:lstStyle/>
          <a:p>
            <a:pPr algn="ctr"/>
          </a:p>
        </p:txBody>
      </p:sp>
      <p:sp>
        <p:nvSpPr>
          <p:cNvPr id="9" name="TextBox 8"/>
          <p:cNvSpPr txBox="1"/>
          <p:nvPr/>
        </p:nvSpPr>
        <p:spPr>
          <a:xfrm>
            <a:off x="7104670" y="2748724"/>
            <a:ext cx="10002229" cy="2526267"/>
          </a:xfrm>
          <a:prstGeom prst="rect">
            <a:avLst/>
          </a:prstGeom>
          <a:noFill/>
        </p:spPr>
        <p:txBody>
          <a:bodyPr wrap="none" lIns="0" rIns="0" tIns="0" bIns="0"/>
          <a:lstStyle/>
          <a:p>
            <a:pPr>
              <a:lnSpc>
                <a:spcPct val="110000"/>
              </a:lnSpc>
            </a:pPr>
            <a:r>
              <a:rPr sz="2511" b="0" i="1" u="none">
                <a:solidFill>
                  <a:srgbClr val="64748B"/>
                </a:solidFill>
                <a:latin typeface="Courier New"/>
              </a:rPr>
              <a:t>-- employees in departments located in Houston</a:t>
            </a:r>
          </a:p>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fname</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a:t>
            </a:r>
          </a:p>
          <a:p>
            <a:pPr>
              <a:lnSpc>
                <a:spcPct val="110000"/>
              </a:lnSpc>
            </a:pPr>
            <a:r>
              <a:rPr sz="2511" b="1" i="0" u="none">
                <a:solidFill>
                  <a:srgbClr val="0E8A8A"/>
                </a:solidFill>
                <a:latin typeface="Courier New"/>
              </a:rPr>
              <a:t>WHERE</a:t>
            </a:r>
            <a:r>
              <a:rPr sz="2511" b="0" i="0" u="none">
                <a:solidFill>
                  <a:srgbClr val="0F172A"/>
                </a:solidFill>
                <a:latin typeface="Courier New"/>
              </a:rPr>
              <a:t>  </a:t>
            </a:r>
            <a:r>
              <a:rPr sz="2511" b="0" i="0" u="none">
                <a:solidFill>
                  <a:srgbClr val="0F172A"/>
                </a:solidFill>
                <a:latin typeface="Courier New"/>
              </a:rPr>
              <a:t>dno</a:t>
            </a:r>
            <a:r>
              <a:rPr sz="2511" b="0" i="0" u="none">
                <a:solidFill>
                  <a:srgbClr val="0F172A"/>
                </a:solidFill>
                <a:latin typeface="Courier New"/>
              </a:rPr>
              <a:t> </a:t>
            </a:r>
            <a:r>
              <a:rPr sz="2511" b="1" i="0" u="none">
                <a:solidFill>
                  <a:srgbClr val="0E8A8A"/>
                </a:solidFill>
                <a:latin typeface="Courier New"/>
              </a:rPr>
              <a:t>IN</a:t>
            </a:r>
            <a:r>
              <a:rPr sz="2511" b="0" i="0" u="none">
                <a:solidFill>
                  <a:srgbClr val="0F172A"/>
                </a:solidFill>
                <a:latin typeface="Courier New"/>
              </a:rPr>
              <a:t> </a:t>
            </a:r>
            <a:r>
              <a:rPr sz="2511" b="0" i="0" u="none">
                <a:solidFill>
                  <a:srgbClr val="0F172A"/>
                </a:solidFill>
                <a:latin typeface="Courier New"/>
              </a:rPr>
              <a:t>(</a:t>
            </a: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dnumber</a:t>
            </a:r>
          </a:p>
          <a:p>
            <a:pPr>
              <a:lnSpc>
                <a:spcPct val="110000"/>
              </a:lnSpc>
            </a:pPr>
            <a:r>
              <a:rPr sz="2511" b="0" i="0" u="none">
                <a:solidFill>
                  <a:srgbClr val="0F172A"/>
                </a:solidFill>
                <a:latin typeface="Courier New"/>
              </a:rPr>
              <a:t>               </a:t>
            </a: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dept_locations</a:t>
            </a:r>
          </a:p>
          <a:p>
            <a:pPr>
              <a:lnSpc>
                <a:spcPct val="110000"/>
              </a:lnSpc>
            </a:pPr>
            <a:r>
              <a:rPr sz="2511" b="0" i="0" u="none">
                <a:solidFill>
                  <a:srgbClr val="0F172A"/>
                </a:solidFill>
                <a:latin typeface="Courier New"/>
              </a:rPr>
              <a:t>               </a:t>
            </a:r>
            <a:r>
              <a:rPr sz="2511" b="1" i="0" u="none">
                <a:solidFill>
                  <a:srgbClr val="0E8A8A"/>
                </a:solidFill>
                <a:latin typeface="Courier New"/>
              </a:rPr>
              <a:t>WHERE</a:t>
            </a:r>
            <a:r>
              <a:rPr sz="2511" b="0" i="0" u="none">
                <a:solidFill>
                  <a:srgbClr val="0F172A"/>
                </a:solidFill>
                <a:latin typeface="Courier New"/>
              </a:rPr>
              <a:t>  </a:t>
            </a:r>
            <a:r>
              <a:rPr sz="2511" b="0" i="0" u="none">
                <a:solidFill>
                  <a:srgbClr val="0F172A"/>
                </a:solidFill>
                <a:latin typeface="Courier New"/>
              </a:rPr>
              <a:t>dlocation</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B45309"/>
                </a:solidFill>
                <a:latin typeface="Courier New"/>
              </a:rPr>
              <a:t>'Houston'</a:t>
            </a:r>
            <a:r>
              <a:rPr sz="2511" b="0" i="0" u="none">
                <a:solidFill>
                  <a:srgbClr val="0F172A"/>
                </a:solidFill>
                <a:latin typeface="Courier New"/>
              </a:rPr>
              <a:t>)</a:t>
            </a:r>
            <a:r>
              <a:rPr sz="2511" b="0" i="0" u="none">
                <a:solidFill>
                  <a:srgbClr val="0F172A"/>
                </a:solidFill>
                <a:latin typeface="Courier New"/>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76593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SUBQUERIES</a:t>
            </a:r>
          </a:p>
        </p:txBody>
      </p:sp>
      <p:cxnSp>
        <p:nvCxnSpPr>
          <p:cNvPr id="3" name="Connector 2"/>
          <p:cNvCxnSpPr/>
          <p:nvPr/>
        </p:nvCxnSpPr>
        <p:spPr>
          <a:xfrm>
            <a:off x="2756535" y="981075"/>
            <a:ext cx="1376934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44/71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Subqueries returning one value</a:t>
            </a:r>
          </a:p>
        </p:txBody>
      </p:sp>
      <p:sp>
        <p:nvSpPr>
          <p:cNvPr id="6" name="Rectangle 5"/>
          <p:cNvSpPr/>
          <p:nvPr/>
        </p:nvSpPr>
        <p:spPr>
          <a:xfrm>
            <a:off x="914400" y="2482024"/>
            <a:ext cx="8782050" cy="2883181"/>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248650" cy="2349781"/>
          </a:xfrm>
          <a:prstGeom prst="rect">
            <a:avLst/>
          </a:prstGeom>
          <a:noFill/>
        </p:spPr>
        <p:txBody>
          <a:bodyPr wrap="none" lIns="0" rIns="0" tIns="0" bIns="0"/>
          <a:lstStyle/>
          <a:p>
            <a:pPr>
              <a:lnSpc>
                <a:spcPct val="110000"/>
              </a:lnSpc>
            </a:pPr>
            <a:r>
              <a:rPr sz="2002" b="0" i="1" u="none">
                <a:solidFill>
                  <a:srgbClr val="64748B"/>
                </a:solidFill>
                <a:latin typeface="Courier New"/>
              </a:rPr>
              <a:t>-- department of the highest-paid employee</a:t>
            </a:r>
          </a:p>
          <a:p>
            <a:pPr>
              <a:lnSpc>
                <a:spcPct val="110000"/>
              </a:lnSpc>
            </a:pPr>
            <a:r>
              <a:rPr sz="2002" b="1" i="0" u="none">
                <a:solidFill>
                  <a:srgbClr val="0E8A8A"/>
                </a:solidFill>
                <a:latin typeface="Courier New"/>
              </a:rPr>
              <a:t>SELECT</a:t>
            </a:r>
            <a:r>
              <a:rPr sz="2002" b="0" i="0" u="none">
                <a:solidFill>
                  <a:srgbClr val="0F172A"/>
                </a:solidFill>
                <a:latin typeface="Courier New"/>
              </a:rPr>
              <a:t> </a:t>
            </a:r>
            <a:r>
              <a:rPr sz="2002" b="0" i="0" u="none">
                <a:solidFill>
                  <a:srgbClr val="0F172A"/>
                </a:solidFill>
                <a:latin typeface="Courier New"/>
              </a:rPr>
              <a:t>dname</a:t>
            </a:r>
          </a:p>
          <a:p>
            <a:pPr>
              <a:lnSpc>
                <a:spcPct val="110000"/>
              </a:lnSpc>
            </a:pPr>
            <a:r>
              <a:rPr sz="2002" b="1" i="0" u="none">
                <a:solidFill>
                  <a:srgbClr val="0E8A8A"/>
                </a:solidFill>
                <a:latin typeface="Courier New"/>
              </a:rPr>
              <a:t>FROM</a:t>
            </a:r>
            <a:r>
              <a:rPr sz="2002" b="0" i="0" u="none">
                <a:solidFill>
                  <a:srgbClr val="0F172A"/>
                </a:solidFill>
                <a:latin typeface="Courier New"/>
              </a:rPr>
              <a:t>   </a:t>
            </a:r>
            <a:r>
              <a:rPr sz="2002" b="0" i="0" u="none">
                <a:solidFill>
                  <a:srgbClr val="0F172A"/>
                </a:solidFill>
                <a:latin typeface="Courier New"/>
              </a:rPr>
              <a:t>department</a:t>
            </a:r>
          </a:p>
          <a:p>
            <a:pPr>
              <a:lnSpc>
                <a:spcPct val="110000"/>
              </a:lnSpc>
            </a:pPr>
            <a:r>
              <a:rPr sz="2002" b="1" i="0" u="none">
                <a:solidFill>
                  <a:srgbClr val="0E8A8A"/>
                </a:solidFill>
                <a:latin typeface="Courier New"/>
              </a:rPr>
              <a:t>WHERE</a:t>
            </a:r>
            <a:r>
              <a:rPr sz="2002" b="0" i="0" u="none">
                <a:solidFill>
                  <a:srgbClr val="0F172A"/>
                </a:solidFill>
                <a:latin typeface="Courier New"/>
              </a:rPr>
              <a:t>  </a:t>
            </a:r>
            <a:r>
              <a:rPr sz="2002" b="0" i="0" u="none">
                <a:solidFill>
                  <a:srgbClr val="0F172A"/>
                </a:solidFill>
                <a:latin typeface="Courier New"/>
              </a:rPr>
              <a:t>dnumber</a:t>
            </a:r>
            <a:r>
              <a:rPr sz="2002" b="0" i="0" u="none">
                <a:solidFill>
                  <a:srgbClr val="0F172A"/>
                </a:solidFill>
                <a:latin typeface="Courier New"/>
              </a:rPr>
              <a:t> </a:t>
            </a:r>
            <a:r>
              <a:rPr sz="2002" b="0" i="0" u="none">
                <a:solidFill>
                  <a:srgbClr val="0F172A"/>
                </a:solidFill>
                <a:latin typeface="Courier New"/>
              </a:rPr>
              <a:t>=</a:t>
            </a:r>
            <a:r>
              <a:rPr sz="2002" b="0" i="0" u="none">
                <a:solidFill>
                  <a:srgbClr val="0F172A"/>
                </a:solidFill>
                <a:latin typeface="Courier New"/>
              </a:rPr>
              <a:t> </a:t>
            </a:r>
            <a:r>
              <a:rPr sz="2002" b="0" i="0" u="none">
                <a:solidFill>
                  <a:srgbClr val="0F172A"/>
                </a:solidFill>
                <a:latin typeface="Courier New"/>
              </a:rPr>
              <a:t>(</a:t>
            </a:r>
            <a:r>
              <a:rPr sz="2002" b="1" i="0" u="none">
                <a:solidFill>
                  <a:srgbClr val="0E8A8A"/>
                </a:solidFill>
                <a:latin typeface="Courier New"/>
              </a:rPr>
              <a:t>SELECT</a:t>
            </a:r>
            <a:r>
              <a:rPr sz="2002" b="0" i="0" u="none">
                <a:solidFill>
                  <a:srgbClr val="0F172A"/>
                </a:solidFill>
                <a:latin typeface="Courier New"/>
              </a:rPr>
              <a:t> </a:t>
            </a:r>
            <a:r>
              <a:rPr sz="2002" b="0" i="0" u="none">
                <a:solidFill>
                  <a:srgbClr val="0F172A"/>
                </a:solidFill>
                <a:latin typeface="Courier New"/>
              </a:rPr>
              <a:t>dno</a:t>
            </a:r>
          </a:p>
          <a:p>
            <a:pPr>
              <a:lnSpc>
                <a:spcPct val="110000"/>
              </a:lnSpc>
            </a:pPr>
            <a:r>
              <a:rPr sz="2002" b="0" i="0" u="none">
                <a:solidFill>
                  <a:srgbClr val="0F172A"/>
                </a:solidFill>
                <a:latin typeface="Courier New"/>
              </a:rPr>
              <a:t>                  </a:t>
            </a:r>
            <a:r>
              <a:rPr sz="2002" b="1" i="0" u="none">
                <a:solidFill>
                  <a:srgbClr val="0E8A8A"/>
                </a:solidFill>
                <a:latin typeface="Courier New"/>
              </a:rPr>
              <a:t>FROM</a:t>
            </a:r>
            <a:r>
              <a:rPr sz="2002" b="0" i="0" u="none">
                <a:solidFill>
                  <a:srgbClr val="0F172A"/>
                </a:solidFill>
                <a:latin typeface="Courier New"/>
              </a:rPr>
              <a:t>   </a:t>
            </a:r>
            <a:r>
              <a:rPr sz="2002" b="0" i="0" u="none">
                <a:solidFill>
                  <a:srgbClr val="0F172A"/>
                </a:solidFill>
                <a:latin typeface="Courier New"/>
              </a:rPr>
              <a:t>employee</a:t>
            </a:r>
          </a:p>
          <a:p>
            <a:pPr>
              <a:lnSpc>
                <a:spcPct val="110000"/>
              </a:lnSpc>
            </a:pPr>
            <a:r>
              <a:rPr sz="2002" b="0" i="0" u="none">
                <a:solidFill>
                  <a:srgbClr val="0F172A"/>
                </a:solidFill>
                <a:latin typeface="Courier New"/>
              </a:rPr>
              <a:t>                  </a:t>
            </a:r>
            <a:r>
              <a:rPr sz="2002" b="1" i="0" u="none">
                <a:solidFill>
                  <a:srgbClr val="0E8A8A"/>
                </a:solidFill>
                <a:latin typeface="Courier New"/>
              </a:rPr>
              <a:t>WHERE</a:t>
            </a:r>
            <a:r>
              <a:rPr sz="2002" b="0" i="0" u="none">
                <a:solidFill>
                  <a:srgbClr val="0F172A"/>
                </a:solidFill>
                <a:latin typeface="Courier New"/>
              </a:rPr>
              <a:t>  </a:t>
            </a:r>
            <a:r>
              <a:rPr sz="2002" b="0" i="0" u="none">
                <a:solidFill>
                  <a:srgbClr val="0F172A"/>
                </a:solidFill>
                <a:latin typeface="Courier New"/>
              </a:rPr>
              <a:t>salary</a:t>
            </a:r>
            <a:r>
              <a:rPr sz="2002" b="0" i="0" u="none">
                <a:solidFill>
                  <a:srgbClr val="0F172A"/>
                </a:solidFill>
                <a:latin typeface="Courier New"/>
              </a:rPr>
              <a:t> </a:t>
            </a:r>
            <a:r>
              <a:rPr sz="2002" b="0" i="0" u="none">
                <a:solidFill>
                  <a:srgbClr val="0F172A"/>
                </a:solidFill>
                <a:latin typeface="Courier New"/>
              </a:rPr>
              <a:t>=</a:t>
            </a:r>
            <a:r>
              <a:rPr sz="2002" b="0" i="0" u="none">
                <a:solidFill>
                  <a:srgbClr val="0F172A"/>
                </a:solidFill>
                <a:latin typeface="Courier New"/>
              </a:rPr>
              <a:t> </a:t>
            </a:r>
            <a:r>
              <a:rPr sz="2002" b="0" i="0" u="none">
                <a:solidFill>
                  <a:srgbClr val="0F172A"/>
                </a:solidFill>
                <a:latin typeface="Courier New"/>
              </a:rPr>
              <a:t>(</a:t>
            </a:r>
            <a:r>
              <a:rPr sz="2002" b="1" i="0" u="none">
                <a:solidFill>
                  <a:srgbClr val="0E8A8A"/>
                </a:solidFill>
                <a:latin typeface="Courier New"/>
              </a:rPr>
              <a:t>SELECT</a:t>
            </a:r>
            <a:r>
              <a:rPr sz="2002" b="0" i="0" u="none">
                <a:solidFill>
                  <a:srgbClr val="0F172A"/>
                </a:solidFill>
                <a:latin typeface="Courier New"/>
              </a:rPr>
              <a:t> </a:t>
            </a:r>
            <a:r>
              <a:rPr sz="2002" b="1" i="0" u="none">
                <a:solidFill>
                  <a:srgbClr val="0E8A8A"/>
                </a:solidFill>
                <a:latin typeface="Courier New"/>
              </a:rPr>
              <a:t>MAX</a:t>
            </a:r>
            <a:r>
              <a:rPr sz="2002" b="0" i="0" u="none">
                <a:solidFill>
                  <a:srgbClr val="0F172A"/>
                </a:solidFill>
                <a:latin typeface="Courier New"/>
              </a:rPr>
              <a:t>(</a:t>
            </a:r>
            <a:r>
              <a:rPr sz="2002" b="0" i="0" u="none">
                <a:solidFill>
                  <a:srgbClr val="0F172A"/>
                </a:solidFill>
                <a:latin typeface="Courier New"/>
              </a:rPr>
              <a:t>salary</a:t>
            </a:r>
            <a:r>
              <a:rPr sz="2002" b="0" i="0" u="none">
                <a:solidFill>
                  <a:srgbClr val="0F172A"/>
                </a:solidFill>
                <a:latin typeface="Courier New"/>
              </a:rPr>
              <a:t>)</a:t>
            </a:r>
          </a:p>
          <a:p>
            <a:pPr>
              <a:lnSpc>
                <a:spcPct val="110000"/>
              </a:lnSpc>
            </a:pPr>
            <a:r>
              <a:rPr sz="2002" b="0" i="0" u="none">
                <a:solidFill>
                  <a:srgbClr val="0F172A"/>
                </a:solidFill>
                <a:latin typeface="Courier New"/>
              </a:rPr>
              <a:t>                                   </a:t>
            </a:r>
            <a:r>
              <a:rPr sz="2002" b="1" i="0" u="none">
                <a:solidFill>
                  <a:srgbClr val="0E8A8A"/>
                </a:solidFill>
                <a:latin typeface="Courier New"/>
              </a:rPr>
              <a:t>FROM</a:t>
            </a:r>
            <a:r>
              <a:rPr sz="2002" b="0" i="0" u="none">
                <a:solidFill>
                  <a:srgbClr val="0F172A"/>
                </a:solidFill>
                <a:latin typeface="Courier New"/>
              </a:rPr>
              <a:t>   </a:t>
            </a:r>
            <a:r>
              <a:rPr sz="2002" b="0" i="0" u="none">
                <a:solidFill>
                  <a:srgbClr val="0F172A"/>
                </a:solidFill>
                <a:latin typeface="Courier New"/>
              </a:rPr>
              <a:t>employee</a:t>
            </a:r>
            <a:r>
              <a:rPr sz="2002" b="0" i="0" u="none">
                <a:solidFill>
                  <a:srgbClr val="0F172A"/>
                </a:solidFill>
                <a:latin typeface="Courier New"/>
              </a:rPr>
              <a:t>)</a:t>
            </a:r>
            <a:r>
              <a:rPr sz="2002" b="0" i="0" u="none">
                <a:solidFill>
                  <a:srgbClr val="0F172A"/>
                </a:solidFill>
                <a:latin typeface="Courier New"/>
              </a:rPr>
              <a:t>)</a:t>
            </a:r>
            <a:r>
              <a:rPr sz="2002" b="0" i="0" u="none">
                <a:solidFill>
                  <a:srgbClr val="0F172A"/>
                </a:solidFill>
                <a:latin typeface="Courier New"/>
              </a:rPr>
              <a:t>;</a:t>
            </a:r>
          </a:p>
        </p:txBody>
      </p:sp>
      <p:sp>
        <p:nvSpPr>
          <p:cNvPr id="8" name="Rectangle 7"/>
          <p:cNvSpPr/>
          <p:nvPr/>
        </p:nvSpPr>
        <p:spPr>
          <a:xfrm>
            <a:off x="10123170" y="2482024"/>
            <a:ext cx="7250430" cy="2191313"/>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523220" y="2882074"/>
            <a:ext cx="6450330" cy="1391213"/>
          </a:xfrm>
          <a:prstGeom prst="rect">
            <a:avLst/>
          </a:prstGeom>
          <a:noFill/>
        </p:spPr>
        <p:txBody>
          <a:bodyPr wrap="square" lIns="0" rIns="0" tIns="0" bIns="0" anchor="t"/>
          <a:lstStyle/>
          <a:p>
            <a:pPr algn="l">
              <a:lnSpc>
                <a:spcPct val="111800"/>
              </a:lnSpc>
            </a:pPr>
            <a:r>
              <a:rPr sz="2704" b="0" i="0" u="none">
                <a:solidFill>
                  <a:srgbClr val="334155"/>
                </a:solidFill>
                <a:latin typeface="Calibri"/>
              </a:rPr>
              <a:t>Subqueries can nest. Read them </a:t>
            </a:r>
            <a:r>
              <a:rPr sz="2704" b="1" i="0" u="none">
                <a:solidFill>
                  <a:srgbClr val="334155"/>
                </a:solidFill>
                <a:latin typeface="Calibri"/>
              </a:rPr>
              <a:t>inside out</a:t>
            </a:r>
            <a:r>
              <a:rPr sz="2704" b="0" i="0" u="none">
                <a:solidFill>
                  <a:srgbClr val="334155"/>
                </a:solidFill>
                <a:latin typeface="Calibri"/>
              </a:rPr>
              <a:t>: the max salary → whose department → its name.</a:t>
            </a:r>
          </a:p>
        </p:txBody>
      </p:sp>
      <p:sp>
        <p:nvSpPr>
          <p:cNvPr id="10" name="Rectangle 9"/>
          <p:cNvSpPr/>
          <p:nvPr/>
        </p:nvSpPr>
        <p:spPr>
          <a:xfrm>
            <a:off x="10123170" y="4886698"/>
            <a:ext cx="7250430" cy="1825241"/>
          </a:xfrm>
          <a:prstGeom prst="rect">
            <a:avLst/>
          </a:prstGeom>
          <a:solidFill>
            <a:srgbClr val="FEF3C7"/>
          </a:solidFill>
          <a:ln>
            <a:noFill/>
          </a:ln>
        </p:spPr>
        <p:txBody>
          <a:bodyPr rtlCol="0" anchor="ctr" lIns="0" rIns="0" tIns="0" bIns="0"/>
          <a:lstStyle/>
          <a:p>
            <a:pPr algn="ctr"/>
          </a:p>
        </p:txBody>
      </p:sp>
      <p:sp>
        <p:nvSpPr>
          <p:cNvPr id="11" name="Rectangle 10"/>
          <p:cNvSpPr/>
          <p:nvPr/>
        </p:nvSpPr>
        <p:spPr>
          <a:xfrm>
            <a:off x="10123170" y="4886698"/>
            <a:ext cx="47625" cy="1825241"/>
          </a:xfrm>
          <a:prstGeom prst="rect">
            <a:avLst/>
          </a:prstGeom>
          <a:solidFill>
            <a:srgbClr val="B45309"/>
          </a:solidFill>
          <a:ln>
            <a:noFill/>
          </a:ln>
        </p:spPr>
        <p:txBody>
          <a:bodyPr rtlCol="0" anchor="ctr" lIns="0" rIns="0" tIns="0" bIns="0"/>
          <a:lstStyle/>
          <a:p>
            <a:pPr algn="ctr"/>
          </a:p>
        </p:txBody>
      </p:sp>
      <p:sp>
        <p:nvSpPr>
          <p:cNvPr id="12" name="TextBox 11"/>
          <p:cNvSpPr txBox="1"/>
          <p:nvPr/>
        </p:nvSpPr>
        <p:spPr>
          <a:xfrm>
            <a:off x="10549890" y="5153398"/>
            <a:ext cx="6396990" cy="1291841"/>
          </a:xfrm>
          <a:prstGeom prst="rect">
            <a:avLst/>
          </a:prstGeom>
          <a:noFill/>
        </p:spPr>
        <p:txBody>
          <a:bodyPr wrap="square" lIns="0" rIns="0" tIns="0" bIns="0"/>
          <a:lstStyle/>
          <a:p>
            <a:pPr>
              <a:lnSpc>
                <a:spcPct val="112000"/>
              </a:lnSpc>
            </a:pPr>
            <a:r>
              <a:rPr sz="2511" b="0" i="0" u="none">
                <a:solidFill>
                  <a:srgbClr val="0F172A"/>
                </a:solidFill>
                <a:latin typeface="Calibri"/>
              </a:rPr>
              <a:t>If a single-row subquery returns </a:t>
            </a:r>
            <a:r>
              <a:rPr sz="2511" b="1" i="0" u="none">
                <a:solidFill>
                  <a:srgbClr val="0F172A"/>
                </a:solidFill>
                <a:latin typeface="Calibri"/>
              </a:rPr>
              <a:t>more than one</a:t>
            </a:r>
            <a:r>
              <a:rPr sz="2511" b="0" i="0" u="none">
                <a:solidFill>
                  <a:srgbClr val="0F172A"/>
                </a:solidFill>
                <a:latin typeface="Calibri"/>
              </a:rPr>
              <a:t> row (two top earners in different departments), = fails. Use IN to be safe.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76593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SUBQUERIES</a:t>
            </a:r>
          </a:p>
        </p:txBody>
      </p:sp>
      <p:cxnSp>
        <p:nvCxnSpPr>
          <p:cNvPr id="3" name="Connector 2"/>
          <p:cNvCxnSpPr/>
          <p:nvPr/>
        </p:nvCxnSpPr>
        <p:spPr>
          <a:xfrm>
            <a:off x="2756535" y="981075"/>
            <a:ext cx="1376934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45/71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ALL and ANY</a:t>
            </a:r>
          </a:p>
        </p:txBody>
      </p:sp>
      <p:sp>
        <p:nvSpPr>
          <p:cNvPr id="6" name="Rectangle 5"/>
          <p:cNvSpPr/>
          <p:nvPr/>
        </p:nvSpPr>
        <p:spPr>
          <a:xfrm>
            <a:off x="914400" y="2482024"/>
            <a:ext cx="8572500" cy="4201315"/>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3667915"/>
          </a:xfrm>
          <a:prstGeom prst="rect">
            <a:avLst/>
          </a:prstGeom>
          <a:noFill/>
        </p:spPr>
        <p:txBody>
          <a:bodyPr wrap="none" lIns="0" rIns="0" tIns="0" bIns="0"/>
          <a:lstStyle/>
          <a:p>
            <a:pPr>
              <a:lnSpc>
                <a:spcPct val="110000"/>
              </a:lnSpc>
            </a:pPr>
            <a:r>
              <a:rPr sz="1989" b="0" i="1" u="none">
                <a:solidFill>
                  <a:srgbClr val="64748B"/>
                </a:solidFill>
                <a:latin typeface="Courier New"/>
              </a:rPr>
              <a:t>-- earn more than EVERY employee in dept 5</a:t>
            </a:r>
          </a:p>
          <a:p>
            <a:pPr>
              <a:lnSpc>
                <a:spcPct val="110000"/>
              </a:lnSpc>
            </a:pPr>
            <a:r>
              <a:rPr sz="1989" b="1" i="0" u="none">
                <a:solidFill>
                  <a:srgbClr val="0E8A8A"/>
                </a:solidFill>
                <a:latin typeface="Courier New"/>
              </a:rPr>
              <a:t>SELECT</a:t>
            </a:r>
            <a:r>
              <a:rPr sz="1989" b="0" i="0" u="none">
                <a:solidFill>
                  <a:srgbClr val="0F172A"/>
                </a:solidFill>
                <a:latin typeface="Courier New"/>
              </a:rPr>
              <a:t> </a:t>
            </a:r>
            <a:r>
              <a:rPr sz="1989" b="0" i="0" u="none">
                <a:solidFill>
                  <a:srgbClr val="0F172A"/>
                </a:solidFill>
                <a:latin typeface="Courier New"/>
              </a:rPr>
              <a:t>lname</a:t>
            </a:r>
            <a:r>
              <a:rPr sz="1989" b="0" i="0" u="none">
                <a:solidFill>
                  <a:srgbClr val="0F172A"/>
                </a:solidFill>
                <a:latin typeface="Courier New"/>
              </a:rPr>
              <a:t>,</a:t>
            </a:r>
            <a:r>
              <a:rPr sz="1989" b="0" i="0" u="none">
                <a:solidFill>
                  <a:srgbClr val="0F172A"/>
                </a:solidFill>
                <a:latin typeface="Courier New"/>
              </a:rPr>
              <a:t> </a:t>
            </a:r>
            <a:r>
              <a:rPr sz="1989" b="0" i="0" u="none">
                <a:solidFill>
                  <a:srgbClr val="0F172A"/>
                </a:solidFill>
                <a:latin typeface="Courier New"/>
              </a:rPr>
              <a:t>fname</a:t>
            </a:r>
          </a:p>
          <a:p>
            <a:pPr>
              <a:lnSpc>
                <a:spcPct val="110000"/>
              </a:lnSpc>
            </a:pPr>
            <a:r>
              <a:rPr sz="1989" b="1" i="0" u="none">
                <a:solidFill>
                  <a:srgbClr val="0E8A8A"/>
                </a:solidFill>
                <a:latin typeface="Courier New"/>
              </a:rPr>
              <a:t>FROM</a:t>
            </a:r>
            <a:r>
              <a:rPr sz="1989" b="0" i="0" u="none">
                <a:solidFill>
                  <a:srgbClr val="0F172A"/>
                </a:solidFill>
                <a:latin typeface="Courier New"/>
              </a:rPr>
              <a:t>   </a:t>
            </a:r>
            <a:r>
              <a:rPr sz="1989" b="0" i="0" u="none">
                <a:solidFill>
                  <a:srgbClr val="0F172A"/>
                </a:solidFill>
                <a:latin typeface="Courier New"/>
              </a:rPr>
              <a:t>employee</a:t>
            </a:r>
          </a:p>
          <a:p>
            <a:pPr>
              <a:lnSpc>
                <a:spcPct val="110000"/>
              </a:lnSpc>
            </a:pPr>
            <a:r>
              <a:rPr sz="1989" b="1" i="0" u="none">
                <a:solidFill>
                  <a:srgbClr val="0E8A8A"/>
                </a:solidFill>
                <a:latin typeface="Courier New"/>
              </a:rPr>
              <a:t>WHERE</a:t>
            </a:r>
            <a:r>
              <a:rPr sz="1989" b="0" i="0" u="none">
                <a:solidFill>
                  <a:srgbClr val="0F172A"/>
                </a:solidFill>
                <a:latin typeface="Courier New"/>
              </a:rPr>
              <a:t>  </a:t>
            </a:r>
            <a:r>
              <a:rPr sz="1989" b="0" i="0" u="none">
                <a:solidFill>
                  <a:srgbClr val="0F172A"/>
                </a:solidFill>
                <a:latin typeface="Courier New"/>
              </a:rPr>
              <a:t>salary</a:t>
            </a:r>
            <a:r>
              <a:rPr sz="1989" b="0" i="0" u="none">
                <a:solidFill>
                  <a:srgbClr val="0F172A"/>
                </a:solidFill>
                <a:latin typeface="Courier New"/>
              </a:rPr>
              <a:t> </a:t>
            </a:r>
            <a:r>
              <a:rPr sz="1989" b="0" i="0" u="none">
                <a:solidFill>
                  <a:srgbClr val="0F172A"/>
                </a:solidFill>
                <a:latin typeface="Courier New"/>
              </a:rPr>
              <a:t>&gt;</a:t>
            </a:r>
            <a:r>
              <a:rPr sz="1989" b="0" i="0" u="none">
                <a:solidFill>
                  <a:srgbClr val="0F172A"/>
                </a:solidFill>
                <a:latin typeface="Courier New"/>
              </a:rPr>
              <a:t> </a:t>
            </a:r>
            <a:r>
              <a:rPr sz="1989" b="1" i="0" u="none">
                <a:solidFill>
                  <a:srgbClr val="0E8A8A"/>
                </a:solidFill>
                <a:latin typeface="Courier New"/>
              </a:rPr>
              <a:t>ALL</a:t>
            </a:r>
            <a:r>
              <a:rPr sz="1989" b="0" i="0" u="none">
                <a:solidFill>
                  <a:srgbClr val="0F172A"/>
                </a:solidFill>
                <a:latin typeface="Courier New"/>
              </a:rPr>
              <a:t> </a:t>
            </a:r>
            <a:r>
              <a:rPr sz="1989" b="0" i="0" u="none">
                <a:solidFill>
                  <a:srgbClr val="0F172A"/>
                </a:solidFill>
                <a:latin typeface="Courier New"/>
              </a:rPr>
              <a:t>(</a:t>
            </a:r>
            <a:r>
              <a:rPr sz="1989" b="1" i="0" u="none">
                <a:solidFill>
                  <a:srgbClr val="0E8A8A"/>
                </a:solidFill>
                <a:latin typeface="Courier New"/>
              </a:rPr>
              <a:t>SELECT</a:t>
            </a:r>
            <a:r>
              <a:rPr sz="1989" b="0" i="0" u="none">
                <a:solidFill>
                  <a:srgbClr val="0F172A"/>
                </a:solidFill>
                <a:latin typeface="Courier New"/>
              </a:rPr>
              <a:t> </a:t>
            </a:r>
            <a:r>
              <a:rPr sz="1989" b="0" i="0" u="none">
                <a:solidFill>
                  <a:srgbClr val="0F172A"/>
                </a:solidFill>
                <a:latin typeface="Courier New"/>
              </a:rPr>
              <a:t>salary</a:t>
            </a:r>
          </a:p>
          <a:p>
            <a:pPr>
              <a:lnSpc>
                <a:spcPct val="110000"/>
              </a:lnSpc>
            </a:pPr>
            <a:r>
              <a:rPr sz="1989" b="0" i="0" u="none">
                <a:solidFill>
                  <a:srgbClr val="0F172A"/>
                </a:solidFill>
                <a:latin typeface="Courier New"/>
              </a:rPr>
              <a:t>                     </a:t>
            </a:r>
            <a:r>
              <a:rPr sz="1989" b="1" i="0" u="none">
                <a:solidFill>
                  <a:srgbClr val="0E8A8A"/>
                </a:solidFill>
                <a:latin typeface="Courier New"/>
              </a:rPr>
              <a:t>FROM</a:t>
            </a:r>
            <a:r>
              <a:rPr sz="1989" b="0" i="0" u="none">
                <a:solidFill>
                  <a:srgbClr val="0F172A"/>
                </a:solidFill>
                <a:latin typeface="Courier New"/>
              </a:rPr>
              <a:t>   </a:t>
            </a:r>
            <a:r>
              <a:rPr sz="1989" b="0" i="0" u="none">
                <a:solidFill>
                  <a:srgbClr val="0F172A"/>
                </a:solidFill>
                <a:latin typeface="Courier New"/>
              </a:rPr>
              <a:t>employee</a:t>
            </a:r>
          </a:p>
          <a:p>
            <a:pPr>
              <a:lnSpc>
                <a:spcPct val="110000"/>
              </a:lnSpc>
            </a:pPr>
            <a:r>
              <a:rPr sz="1989" b="0" i="0" u="none">
                <a:solidFill>
                  <a:srgbClr val="0F172A"/>
                </a:solidFill>
                <a:latin typeface="Courier New"/>
              </a:rPr>
              <a:t>                     </a:t>
            </a:r>
            <a:r>
              <a:rPr sz="1989" b="1" i="0" u="none">
                <a:solidFill>
                  <a:srgbClr val="0E8A8A"/>
                </a:solidFill>
                <a:latin typeface="Courier New"/>
              </a:rPr>
              <a:t>WHERE</a:t>
            </a:r>
            <a:r>
              <a:rPr sz="1989" b="0" i="0" u="none">
                <a:solidFill>
                  <a:srgbClr val="0F172A"/>
                </a:solidFill>
                <a:latin typeface="Courier New"/>
              </a:rPr>
              <a:t>  </a:t>
            </a:r>
            <a:r>
              <a:rPr sz="1989" b="0" i="0" u="none">
                <a:solidFill>
                  <a:srgbClr val="0F172A"/>
                </a:solidFill>
                <a:latin typeface="Courier New"/>
              </a:rPr>
              <a:t>dno</a:t>
            </a:r>
            <a:r>
              <a:rPr sz="1989" b="0" i="0" u="none">
                <a:solidFill>
                  <a:srgbClr val="0F172A"/>
                </a:solidFill>
                <a:latin typeface="Courier New"/>
              </a:rPr>
              <a:t> </a:t>
            </a:r>
            <a:r>
              <a:rPr sz="1989" b="0" i="0" u="none">
                <a:solidFill>
                  <a:srgbClr val="0F172A"/>
                </a:solidFill>
                <a:latin typeface="Courier New"/>
              </a:rPr>
              <a:t>=</a:t>
            </a:r>
            <a:r>
              <a:rPr sz="1989" b="0" i="0" u="none">
                <a:solidFill>
                  <a:srgbClr val="0F172A"/>
                </a:solidFill>
                <a:latin typeface="Courier New"/>
              </a:rPr>
              <a:t> </a:t>
            </a:r>
            <a:r>
              <a:rPr sz="1989" b="0" i="0" u="none">
                <a:solidFill>
                  <a:srgbClr val="B45309"/>
                </a:solidFill>
                <a:latin typeface="Courier New"/>
              </a:rPr>
              <a:t>5</a:t>
            </a:r>
            <a:r>
              <a:rPr sz="1989" b="0" i="0" u="none">
                <a:solidFill>
                  <a:srgbClr val="0F172A"/>
                </a:solidFill>
                <a:latin typeface="Courier New"/>
              </a:rPr>
              <a:t>)</a:t>
            </a:r>
            <a:r>
              <a:rPr sz="1989" b="0" i="0" u="none">
                <a:solidFill>
                  <a:srgbClr val="0F172A"/>
                </a:solidFill>
                <a:latin typeface="Courier New"/>
              </a:rPr>
              <a:t>;</a:t>
            </a:r>
          </a:p>
          <a:p>
            <a:pPr>
              <a:lnSpc>
                <a:spcPct val="110000"/>
              </a:lnSpc>
            </a:pPr>
            <a:r>
              <a:rPr sz="1989" b="0" i="0" u="none">
                <a:solidFill>
                  <a:srgbClr val="0F172A"/>
                </a:solidFill>
                <a:latin typeface="Courier New"/>
              </a:rPr>
              <a:t> </a:t>
            </a:r>
          </a:p>
          <a:p>
            <a:pPr>
              <a:lnSpc>
                <a:spcPct val="110000"/>
              </a:lnSpc>
            </a:pPr>
            <a:r>
              <a:rPr sz="1989" b="0" i="1" u="none">
                <a:solidFill>
                  <a:srgbClr val="64748B"/>
                </a:solidFill>
                <a:latin typeface="Courier New"/>
              </a:rPr>
              <a:t>-- usually the same with an aggregate</a:t>
            </a:r>
          </a:p>
          <a:p>
            <a:pPr>
              <a:lnSpc>
                <a:spcPct val="110000"/>
              </a:lnSpc>
            </a:pPr>
            <a:r>
              <a:rPr sz="1989" b="0" i="1" u="none">
                <a:solidFill>
                  <a:srgbClr val="64748B"/>
                </a:solidFill>
                <a:latin typeface="Courier New"/>
              </a:rPr>
              <a:t>-- (if dept 5 is not empty and has no NULL salaries)</a:t>
            </a:r>
          </a:p>
          <a:p>
            <a:pPr>
              <a:lnSpc>
                <a:spcPct val="110000"/>
              </a:lnSpc>
            </a:pPr>
            <a:r>
              <a:rPr sz="1989" b="1" i="0" u="none">
                <a:solidFill>
                  <a:srgbClr val="0E8A8A"/>
                </a:solidFill>
                <a:latin typeface="Courier New"/>
              </a:rPr>
              <a:t>WHERE</a:t>
            </a:r>
            <a:r>
              <a:rPr sz="1989" b="0" i="0" u="none">
                <a:solidFill>
                  <a:srgbClr val="0F172A"/>
                </a:solidFill>
                <a:latin typeface="Courier New"/>
              </a:rPr>
              <a:t>  </a:t>
            </a:r>
            <a:r>
              <a:rPr sz="1989" b="0" i="0" u="none">
                <a:solidFill>
                  <a:srgbClr val="0F172A"/>
                </a:solidFill>
                <a:latin typeface="Courier New"/>
              </a:rPr>
              <a:t>salary</a:t>
            </a:r>
            <a:r>
              <a:rPr sz="1989" b="0" i="0" u="none">
                <a:solidFill>
                  <a:srgbClr val="0F172A"/>
                </a:solidFill>
                <a:latin typeface="Courier New"/>
              </a:rPr>
              <a:t> </a:t>
            </a:r>
            <a:r>
              <a:rPr sz="1989" b="0" i="0" u="none">
                <a:solidFill>
                  <a:srgbClr val="0F172A"/>
                </a:solidFill>
                <a:latin typeface="Courier New"/>
              </a:rPr>
              <a:t>&gt;</a:t>
            </a:r>
            <a:r>
              <a:rPr sz="1989" b="0" i="0" u="none">
                <a:solidFill>
                  <a:srgbClr val="0F172A"/>
                </a:solidFill>
                <a:latin typeface="Courier New"/>
              </a:rPr>
              <a:t> </a:t>
            </a:r>
            <a:r>
              <a:rPr sz="1989" b="0" i="0" u="none">
                <a:solidFill>
                  <a:srgbClr val="0F172A"/>
                </a:solidFill>
                <a:latin typeface="Courier New"/>
              </a:rPr>
              <a:t>(</a:t>
            </a:r>
            <a:r>
              <a:rPr sz="1989" b="1" i="0" u="none">
                <a:solidFill>
                  <a:srgbClr val="0E8A8A"/>
                </a:solidFill>
                <a:latin typeface="Courier New"/>
              </a:rPr>
              <a:t>SELECT</a:t>
            </a:r>
            <a:r>
              <a:rPr sz="1989" b="0" i="0" u="none">
                <a:solidFill>
                  <a:srgbClr val="0F172A"/>
                </a:solidFill>
                <a:latin typeface="Courier New"/>
              </a:rPr>
              <a:t> </a:t>
            </a:r>
            <a:r>
              <a:rPr sz="1989" b="1" i="0" u="none">
                <a:solidFill>
                  <a:srgbClr val="0E8A8A"/>
                </a:solidFill>
                <a:latin typeface="Courier New"/>
              </a:rPr>
              <a:t>MAX</a:t>
            </a:r>
            <a:r>
              <a:rPr sz="1989" b="0" i="0" u="none">
                <a:solidFill>
                  <a:srgbClr val="0F172A"/>
                </a:solidFill>
                <a:latin typeface="Courier New"/>
              </a:rPr>
              <a:t>(</a:t>
            </a:r>
            <a:r>
              <a:rPr sz="1989" b="0" i="0" u="none">
                <a:solidFill>
                  <a:srgbClr val="0F172A"/>
                </a:solidFill>
                <a:latin typeface="Courier New"/>
              </a:rPr>
              <a:t>salary</a:t>
            </a:r>
            <a:r>
              <a:rPr sz="1989" b="0" i="0" u="none">
                <a:solidFill>
                  <a:srgbClr val="0F172A"/>
                </a:solidFill>
                <a:latin typeface="Courier New"/>
              </a:rPr>
              <a:t>)</a:t>
            </a:r>
          </a:p>
          <a:p>
            <a:pPr>
              <a:lnSpc>
                <a:spcPct val="110000"/>
              </a:lnSpc>
            </a:pPr>
            <a:r>
              <a:rPr sz="1989" b="0" i="0" u="none">
                <a:solidFill>
                  <a:srgbClr val="0F172A"/>
                </a:solidFill>
                <a:latin typeface="Courier New"/>
              </a:rPr>
              <a:t>                 </a:t>
            </a:r>
            <a:r>
              <a:rPr sz="1989" b="1" i="0" u="none">
                <a:solidFill>
                  <a:srgbClr val="0E8A8A"/>
                </a:solidFill>
                <a:latin typeface="Courier New"/>
              </a:rPr>
              <a:t>FROM</a:t>
            </a:r>
            <a:r>
              <a:rPr sz="1989" b="0" i="0" u="none">
                <a:solidFill>
                  <a:srgbClr val="0F172A"/>
                </a:solidFill>
                <a:latin typeface="Courier New"/>
              </a:rPr>
              <a:t> </a:t>
            </a:r>
            <a:r>
              <a:rPr sz="1989" b="0" i="0" u="none">
                <a:solidFill>
                  <a:srgbClr val="0F172A"/>
                </a:solidFill>
                <a:latin typeface="Courier New"/>
              </a:rPr>
              <a:t>employee</a:t>
            </a:r>
            <a:r>
              <a:rPr sz="1989" b="0" i="0" u="none">
                <a:solidFill>
                  <a:srgbClr val="0F172A"/>
                </a:solidFill>
                <a:latin typeface="Courier New"/>
              </a:rPr>
              <a:t> </a:t>
            </a:r>
            <a:r>
              <a:rPr sz="1989" b="1" i="0" u="none">
                <a:solidFill>
                  <a:srgbClr val="0E8A8A"/>
                </a:solidFill>
                <a:latin typeface="Courier New"/>
              </a:rPr>
              <a:t>WHERE</a:t>
            </a:r>
            <a:r>
              <a:rPr sz="1989" b="0" i="0" u="none">
                <a:solidFill>
                  <a:srgbClr val="0F172A"/>
                </a:solidFill>
                <a:latin typeface="Courier New"/>
              </a:rPr>
              <a:t> </a:t>
            </a:r>
            <a:r>
              <a:rPr sz="1989" b="0" i="0" u="none">
                <a:solidFill>
                  <a:srgbClr val="0F172A"/>
                </a:solidFill>
                <a:latin typeface="Courier New"/>
              </a:rPr>
              <a:t>dno</a:t>
            </a:r>
            <a:r>
              <a:rPr sz="1989" b="0" i="0" u="none">
                <a:solidFill>
                  <a:srgbClr val="0F172A"/>
                </a:solidFill>
                <a:latin typeface="Courier New"/>
              </a:rPr>
              <a:t> </a:t>
            </a:r>
            <a:r>
              <a:rPr sz="1989" b="0" i="0" u="none">
                <a:solidFill>
                  <a:srgbClr val="0F172A"/>
                </a:solidFill>
                <a:latin typeface="Courier New"/>
              </a:rPr>
              <a:t>=</a:t>
            </a:r>
            <a:r>
              <a:rPr sz="1989" b="0" i="0" u="none">
                <a:solidFill>
                  <a:srgbClr val="0F172A"/>
                </a:solidFill>
                <a:latin typeface="Courier New"/>
              </a:rPr>
              <a:t> </a:t>
            </a:r>
            <a:r>
              <a:rPr sz="1989" b="0" i="0" u="none">
                <a:solidFill>
                  <a:srgbClr val="B45309"/>
                </a:solidFill>
                <a:latin typeface="Courier New"/>
              </a:rPr>
              <a:t>5</a:t>
            </a:r>
            <a:r>
              <a:rPr sz="1989" b="0" i="0" u="none">
                <a:solidFill>
                  <a:srgbClr val="0F172A"/>
                </a:solidFill>
                <a:latin typeface="Courier New"/>
              </a:rPr>
              <a:t>)</a:t>
            </a:r>
            <a:r>
              <a:rPr sz="1989" b="0" i="0" u="none">
                <a:solidFill>
                  <a:srgbClr val="0F172A"/>
                </a:solidFill>
                <a:latin typeface="Courier New"/>
              </a:rPr>
              <a:t>;</a:t>
            </a:r>
          </a:p>
        </p:txBody>
      </p:sp>
      <p:graphicFrame>
        <p:nvGraphicFramePr>
          <p:cNvPr id="8" name="Table 7"/>
          <p:cNvGraphicFramePr>
            <a:graphicFrameLocks noGrp="1"/>
          </p:cNvGraphicFramePr>
          <p:nvPr/>
        </p:nvGraphicFramePr>
        <p:xfrm>
          <a:off x="9913620" y="2482024"/>
          <a:ext cx="7459980" cy="3141885"/>
        </p:xfrm>
        <a:graphic>
          <a:graphicData uri="http://schemas.openxmlformats.org/drawingml/2006/table">
            <a:tbl>
              <a:tblPr firstRow="0" bandRow="0">
                <a:tableStyleId>{5940675A-B579-460E-94D1-54222C63F5DA}</a:tableStyleId>
              </a:tblPr>
              <a:tblGrid>
                <a:gridCol w="3729990"/>
                <a:gridCol w="3729990"/>
              </a:tblGrid>
              <a:tr h="628377">
                <a:tc>
                  <a:txBody>
                    <a:bodyPr/>
                    <a:lstStyle/>
                    <a:p>
                      <a:r>
                        <a:rPr sz="2511" b="1" i="0" u="none">
                          <a:solidFill>
                            <a:srgbClr val="FFFFFF"/>
                          </a:solidFill>
                          <a:latin typeface="Arial"/>
                        </a:rPr>
                        <a:t>Form</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Means</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&gt; ALL (…)</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&gt; the maximum</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&lt; ALL (…)</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&lt; the minimum</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&gt; ANY (…)</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&gt; the minimum</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 ANY (…)</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same as IN</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76593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SUBQUERIES</a:t>
            </a:r>
          </a:p>
        </p:txBody>
      </p:sp>
      <p:cxnSp>
        <p:nvCxnSpPr>
          <p:cNvPr id="3" name="Connector 2"/>
          <p:cNvCxnSpPr/>
          <p:nvPr/>
        </p:nvCxnSpPr>
        <p:spPr>
          <a:xfrm>
            <a:off x="2756535" y="981075"/>
            <a:ext cx="1376934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46/71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Correlated subqueries and EXISTS</a:t>
            </a:r>
          </a:p>
        </p:txBody>
      </p:sp>
      <p:sp>
        <p:nvSpPr>
          <p:cNvPr id="6" name="Rectangle 5"/>
          <p:cNvSpPr/>
          <p:nvPr/>
        </p:nvSpPr>
        <p:spPr>
          <a:xfrm>
            <a:off x="914400" y="2482024"/>
            <a:ext cx="8572500" cy="4786419"/>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4253019"/>
          </a:xfrm>
          <a:prstGeom prst="rect">
            <a:avLst/>
          </a:prstGeom>
          <a:noFill/>
        </p:spPr>
        <p:txBody>
          <a:bodyPr wrap="none" lIns="0" rIns="0" tIns="0" bIns="0"/>
          <a:lstStyle/>
          <a:p>
            <a:pPr>
              <a:lnSpc>
                <a:spcPct val="110000"/>
              </a:lnSpc>
            </a:pPr>
            <a:r>
              <a:rPr sz="1951" b="0" i="1" u="none">
                <a:solidFill>
                  <a:srgbClr val="64748B"/>
                </a:solidFill>
                <a:latin typeface="Courier New"/>
              </a:rPr>
              <a:t>-- suppliers who have at least one order</a:t>
            </a:r>
          </a:p>
          <a:p>
            <a:pPr>
              <a:lnSpc>
                <a:spcPct val="110000"/>
              </a:lnSpc>
            </a:pPr>
            <a:r>
              <a:rPr sz="1951" b="1" i="0" u="none">
                <a:solidFill>
                  <a:srgbClr val="0E8A8A"/>
                </a:solidFill>
                <a:latin typeface="Courier New"/>
              </a:rPr>
              <a:t>SELECT</a:t>
            </a:r>
            <a:r>
              <a:rPr sz="1951" b="0" i="0" u="none">
                <a:solidFill>
                  <a:srgbClr val="0F172A"/>
                </a:solidFill>
                <a:latin typeface="Courier New"/>
              </a:rPr>
              <a:t> </a:t>
            </a:r>
            <a:r>
              <a:rPr sz="1951" b="0" i="0" u="none">
                <a:solidFill>
                  <a:srgbClr val="0F172A"/>
                </a:solidFill>
                <a:latin typeface="Courier New"/>
              </a:rPr>
              <a:t>*</a:t>
            </a:r>
          </a:p>
          <a:p>
            <a:pPr>
              <a:lnSpc>
                <a:spcPct val="110000"/>
              </a:lnSpc>
            </a:pPr>
            <a:r>
              <a:rPr sz="1951" b="1" i="0" u="none">
                <a:solidFill>
                  <a:srgbClr val="0E8A8A"/>
                </a:solidFill>
                <a:latin typeface="Courier New"/>
              </a:rPr>
              <a:t>FROM</a:t>
            </a:r>
            <a:r>
              <a:rPr sz="1951" b="0" i="0" u="none">
                <a:solidFill>
                  <a:srgbClr val="0F172A"/>
                </a:solidFill>
                <a:latin typeface="Courier New"/>
              </a:rPr>
              <a:t>   </a:t>
            </a:r>
            <a:r>
              <a:rPr sz="1951" b="0" i="0" u="none">
                <a:solidFill>
                  <a:srgbClr val="0F172A"/>
                </a:solidFill>
                <a:latin typeface="Courier New"/>
              </a:rPr>
              <a:t>suppliers</a:t>
            </a:r>
            <a:r>
              <a:rPr sz="1951" b="0" i="0" u="none">
                <a:solidFill>
                  <a:srgbClr val="0F172A"/>
                </a:solidFill>
                <a:latin typeface="Courier New"/>
              </a:rPr>
              <a:t> </a:t>
            </a:r>
            <a:r>
              <a:rPr sz="1951" b="0" i="0" u="none">
                <a:solidFill>
                  <a:srgbClr val="0F172A"/>
                </a:solidFill>
                <a:latin typeface="Courier New"/>
              </a:rPr>
              <a:t>s</a:t>
            </a:r>
          </a:p>
          <a:p>
            <a:pPr>
              <a:lnSpc>
                <a:spcPct val="110000"/>
              </a:lnSpc>
            </a:pPr>
            <a:r>
              <a:rPr sz="1951" b="1" i="0" u="none">
                <a:solidFill>
                  <a:srgbClr val="0E8A8A"/>
                </a:solidFill>
                <a:latin typeface="Courier New"/>
              </a:rPr>
              <a:t>WHERE</a:t>
            </a:r>
            <a:r>
              <a:rPr sz="1951" b="0" i="0" u="none">
                <a:solidFill>
                  <a:srgbClr val="0F172A"/>
                </a:solidFill>
                <a:latin typeface="Courier New"/>
              </a:rPr>
              <a:t>  </a:t>
            </a:r>
            <a:r>
              <a:rPr sz="1951" b="1" i="0" u="none">
                <a:solidFill>
                  <a:srgbClr val="0E8A8A"/>
                </a:solidFill>
                <a:latin typeface="Courier New"/>
              </a:rPr>
              <a:t>EXISTS</a:t>
            </a:r>
            <a:r>
              <a:rPr sz="1951" b="0" i="0" u="none">
                <a:solidFill>
                  <a:srgbClr val="0F172A"/>
                </a:solidFill>
                <a:latin typeface="Courier New"/>
              </a:rPr>
              <a:t> </a:t>
            </a:r>
            <a:r>
              <a:rPr sz="1951" b="0" i="0" u="none">
                <a:solidFill>
                  <a:srgbClr val="0F172A"/>
                </a:solidFill>
                <a:latin typeface="Courier New"/>
              </a:rPr>
              <a:t>(</a:t>
            </a:r>
            <a:r>
              <a:rPr sz="1951" b="1" i="0" u="none">
                <a:solidFill>
                  <a:srgbClr val="0E8A8A"/>
                </a:solidFill>
                <a:latin typeface="Courier New"/>
              </a:rPr>
              <a:t>SELECT</a:t>
            </a:r>
            <a:r>
              <a:rPr sz="1951" b="0" i="0" u="none">
                <a:solidFill>
                  <a:srgbClr val="0F172A"/>
                </a:solidFill>
                <a:latin typeface="Courier New"/>
              </a:rPr>
              <a:t> </a:t>
            </a:r>
            <a:r>
              <a:rPr sz="1951" b="0" i="0" u="none">
                <a:solidFill>
                  <a:srgbClr val="B45309"/>
                </a:solidFill>
                <a:latin typeface="Courier New"/>
              </a:rPr>
              <a:t>1</a:t>
            </a:r>
          </a:p>
          <a:p>
            <a:pPr>
              <a:lnSpc>
                <a:spcPct val="110000"/>
              </a:lnSpc>
            </a:pPr>
            <a:r>
              <a:rPr sz="1951" b="0" i="0" u="none">
                <a:solidFill>
                  <a:srgbClr val="0F172A"/>
                </a:solidFill>
                <a:latin typeface="Courier New"/>
              </a:rPr>
              <a:t>               </a:t>
            </a:r>
            <a:r>
              <a:rPr sz="1951" b="1" i="0" u="none">
                <a:solidFill>
                  <a:srgbClr val="0E8A8A"/>
                </a:solidFill>
                <a:latin typeface="Courier New"/>
              </a:rPr>
              <a:t>FROM</a:t>
            </a:r>
            <a:r>
              <a:rPr sz="1951" b="0" i="0" u="none">
                <a:solidFill>
                  <a:srgbClr val="0F172A"/>
                </a:solidFill>
                <a:latin typeface="Courier New"/>
              </a:rPr>
              <a:t>   </a:t>
            </a:r>
            <a:r>
              <a:rPr sz="1951" b="0" i="0" u="none">
                <a:solidFill>
                  <a:srgbClr val="0F172A"/>
                </a:solidFill>
                <a:latin typeface="Courier New"/>
              </a:rPr>
              <a:t>orders</a:t>
            </a:r>
            <a:r>
              <a:rPr sz="1951" b="0" i="0" u="none">
                <a:solidFill>
                  <a:srgbClr val="0F172A"/>
                </a:solidFill>
                <a:latin typeface="Courier New"/>
              </a:rPr>
              <a:t> </a:t>
            </a:r>
            <a:r>
              <a:rPr sz="1951" b="0" i="0" u="none">
                <a:solidFill>
                  <a:srgbClr val="0F172A"/>
                </a:solidFill>
                <a:latin typeface="Courier New"/>
              </a:rPr>
              <a:t>o</a:t>
            </a:r>
          </a:p>
          <a:p>
            <a:pPr>
              <a:lnSpc>
                <a:spcPct val="110000"/>
              </a:lnSpc>
            </a:pPr>
            <a:r>
              <a:rPr sz="1951" b="0" i="0" u="none">
                <a:solidFill>
                  <a:srgbClr val="0F172A"/>
                </a:solidFill>
                <a:latin typeface="Courier New"/>
              </a:rPr>
              <a:t>               </a:t>
            </a:r>
            <a:r>
              <a:rPr sz="1951" b="1" i="0" u="none">
                <a:solidFill>
                  <a:srgbClr val="0E8A8A"/>
                </a:solidFill>
                <a:latin typeface="Courier New"/>
              </a:rPr>
              <a:t>WHERE</a:t>
            </a:r>
            <a:r>
              <a:rPr sz="1951" b="0" i="0" u="none">
                <a:solidFill>
                  <a:srgbClr val="0F172A"/>
                </a:solidFill>
                <a:latin typeface="Courier New"/>
              </a:rPr>
              <a:t>  </a:t>
            </a:r>
            <a:r>
              <a:rPr sz="1951" b="0" i="0" u="none">
                <a:solidFill>
                  <a:srgbClr val="0F172A"/>
                </a:solidFill>
                <a:latin typeface="Courier New"/>
              </a:rPr>
              <a:t>o</a:t>
            </a:r>
            <a:r>
              <a:rPr sz="1951" b="0" i="0" u="none">
                <a:solidFill>
                  <a:srgbClr val="0F172A"/>
                </a:solidFill>
                <a:latin typeface="Courier New"/>
              </a:rPr>
              <a:t>.</a:t>
            </a:r>
            <a:r>
              <a:rPr sz="1951" b="0" i="0" u="none">
                <a:solidFill>
                  <a:srgbClr val="0F172A"/>
                </a:solidFill>
                <a:latin typeface="Courier New"/>
              </a:rPr>
              <a:t>supplier_id</a:t>
            </a:r>
            <a:r>
              <a:rPr sz="1951" b="0" i="0" u="none">
                <a:solidFill>
                  <a:srgbClr val="0F172A"/>
                </a:solidFill>
                <a:latin typeface="Courier New"/>
              </a:rPr>
              <a:t> </a:t>
            </a:r>
            <a:r>
              <a:rPr sz="1951" b="0" i="0" u="none">
                <a:solidFill>
                  <a:srgbClr val="0F172A"/>
                </a:solidFill>
                <a:latin typeface="Courier New"/>
              </a:rPr>
              <a:t>=</a:t>
            </a:r>
            <a:r>
              <a:rPr sz="1951" b="0" i="0" u="none">
                <a:solidFill>
                  <a:srgbClr val="0F172A"/>
                </a:solidFill>
                <a:latin typeface="Courier New"/>
              </a:rPr>
              <a:t> </a:t>
            </a:r>
            <a:r>
              <a:rPr sz="1951" b="0" i="0" u="none">
                <a:solidFill>
                  <a:srgbClr val="0F172A"/>
                </a:solidFill>
                <a:latin typeface="Courier New"/>
              </a:rPr>
              <a:t>s</a:t>
            </a:r>
            <a:r>
              <a:rPr sz="1951" b="0" i="0" u="none">
                <a:solidFill>
                  <a:srgbClr val="0F172A"/>
                </a:solidFill>
                <a:latin typeface="Courier New"/>
              </a:rPr>
              <a:t>.</a:t>
            </a:r>
            <a:r>
              <a:rPr sz="1951" b="0" i="0" u="none">
                <a:solidFill>
                  <a:srgbClr val="0F172A"/>
                </a:solidFill>
                <a:latin typeface="Courier New"/>
              </a:rPr>
              <a:t>supplier_id</a:t>
            </a:r>
            <a:r>
              <a:rPr sz="1951" b="0" i="0" u="none">
                <a:solidFill>
                  <a:srgbClr val="0F172A"/>
                </a:solidFill>
                <a:latin typeface="Courier New"/>
              </a:rPr>
              <a:t>)</a:t>
            </a:r>
            <a:r>
              <a:rPr sz="1951" b="0" i="0" u="none">
                <a:solidFill>
                  <a:srgbClr val="0F172A"/>
                </a:solidFill>
                <a:latin typeface="Courier New"/>
              </a:rPr>
              <a:t>;</a:t>
            </a:r>
          </a:p>
          <a:p>
            <a:pPr>
              <a:lnSpc>
                <a:spcPct val="110000"/>
              </a:lnSpc>
            </a:pPr>
            <a:r>
              <a:rPr sz="1951" b="0" i="0" u="none">
                <a:solidFill>
                  <a:srgbClr val="0F172A"/>
                </a:solidFill>
                <a:latin typeface="Courier New"/>
              </a:rPr>
              <a:t> </a:t>
            </a:r>
          </a:p>
          <a:p>
            <a:pPr>
              <a:lnSpc>
                <a:spcPct val="110000"/>
              </a:lnSpc>
            </a:pPr>
            <a:r>
              <a:rPr sz="1951" b="0" i="1" u="none">
                <a:solidFill>
                  <a:srgbClr val="64748B"/>
                </a:solidFill>
                <a:latin typeface="Courier New"/>
              </a:rPr>
              <a:t>-- employees with no dependents</a:t>
            </a:r>
          </a:p>
          <a:p>
            <a:pPr>
              <a:lnSpc>
                <a:spcPct val="110000"/>
              </a:lnSpc>
            </a:pPr>
            <a:r>
              <a:rPr sz="1951" b="1" i="0" u="none">
                <a:solidFill>
                  <a:srgbClr val="0E8A8A"/>
                </a:solidFill>
                <a:latin typeface="Courier New"/>
              </a:rPr>
              <a:t>SELECT</a:t>
            </a:r>
            <a:r>
              <a:rPr sz="1951" b="0" i="0" u="none">
                <a:solidFill>
                  <a:srgbClr val="0F172A"/>
                </a:solidFill>
                <a:latin typeface="Courier New"/>
              </a:rPr>
              <a:t> </a:t>
            </a:r>
            <a:r>
              <a:rPr sz="1951" b="0" i="0" u="none">
                <a:solidFill>
                  <a:srgbClr val="0F172A"/>
                </a:solidFill>
                <a:latin typeface="Courier New"/>
              </a:rPr>
              <a:t>fname</a:t>
            </a:r>
          </a:p>
          <a:p>
            <a:pPr>
              <a:lnSpc>
                <a:spcPct val="110000"/>
              </a:lnSpc>
            </a:pPr>
            <a:r>
              <a:rPr sz="1951" b="1" i="0" u="none">
                <a:solidFill>
                  <a:srgbClr val="0E8A8A"/>
                </a:solidFill>
                <a:latin typeface="Courier New"/>
              </a:rPr>
              <a:t>FROM</a:t>
            </a:r>
            <a:r>
              <a:rPr sz="1951" b="0" i="0" u="none">
                <a:solidFill>
                  <a:srgbClr val="0F172A"/>
                </a:solidFill>
                <a:latin typeface="Courier New"/>
              </a:rPr>
              <a:t>   </a:t>
            </a:r>
            <a:r>
              <a:rPr sz="1951" b="0" i="0" u="none">
                <a:solidFill>
                  <a:srgbClr val="0F172A"/>
                </a:solidFill>
                <a:latin typeface="Courier New"/>
              </a:rPr>
              <a:t>employee</a:t>
            </a:r>
            <a:r>
              <a:rPr sz="1951" b="0" i="0" u="none">
                <a:solidFill>
                  <a:srgbClr val="0F172A"/>
                </a:solidFill>
                <a:latin typeface="Courier New"/>
              </a:rPr>
              <a:t> </a:t>
            </a:r>
            <a:r>
              <a:rPr sz="1951" b="0" i="0" u="none">
                <a:solidFill>
                  <a:srgbClr val="0F172A"/>
                </a:solidFill>
                <a:latin typeface="Courier New"/>
              </a:rPr>
              <a:t>e</a:t>
            </a:r>
          </a:p>
          <a:p>
            <a:pPr>
              <a:lnSpc>
                <a:spcPct val="110000"/>
              </a:lnSpc>
            </a:pPr>
            <a:r>
              <a:rPr sz="1951" b="1" i="0" u="none">
                <a:solidFill>
                  <a:srgbClr val="0E8A8A"/>
                </a:solidFill>
                <a:latin typeface="Courier New"/>
              </a:rPr>
              <a:t>WHERE</a:t>
            </a:r>
            <a:r>
              <a:rPr sz="1951" b="0" i="0" u="none">
                <a:solidFill>
                  <a:srgbClr val="0F172A"/>
                </a:solidFill>
                <a:latin typeface="Courier New"/>
              </a:rPr>
              <a:t>  </a:t>
            </a:r>
            <a:r>
              <a:rPr sz="1951" b="1" i="0" u="none">
                <a:solidFill>
                  <a:srgbClr val="0E8A8A"/>
                </a:solidFill>
                <a:latin typeface="Courier New"/>
              </a:rPr>
              <a:t>NOT</a:t>
            </a:r>
            <a:r>
              <a:rPr sz="1951" b="0" i="0" u="none">
                <a:solidFill>
                  <a:srgbClr val="0F172A"/>
                </a:solidFill>
                <a:latin typeface="Courier New"/>
              </a:rPr>
              <a:t> </a:t>
            </a:r>
            <a:r>
              <a:rPr sz="1951" b="1" i="0" u="none">
                <a:solidFill>
                  <a:srgbClr val="0E8A8A"/>
                </a:solidFill>
                <a:latin typeface="Courier New"/>
              </a:rPr>
              <a:t>EXISTS</a:t>
            </a:r>
            <a:r>
              <a:rPr sz="1951" b="0" i="0" u="none">
                <a:solidFill>
                  <a:srgbClr val="0F172A"/>
                </a:solidFill>
                <a:latin typeface="Courier New"/>
              </a:rPr>
              <a:t> </a:t>
            </a:r>
            <a:r>
              <a:rPr sz="1951" b="0" i="0" u="none">
                <a:solidFill>
                  <a:srgbClr val="0F172A"/>
                </a:solidFill>
                <a:latin typeface="Courier New"/>
              </a:rPr>
              <a:t>(</a:t>
            </a:r>
            <a:r>
              <a:rPr sz="1951" b="1" i="0" u="none">
                <a:solidFill>
                  <a:srgbClr val="0E8A8A"/>
                </a:solidFill>
                <a:latin typeface="Courier New"/>
              </a:rPr>
              <a:t>SELECT</a:t>
            </a:r>
            <a:r>
              <a:rPr sz="1951" b="0" i="0" u="none">
                <a:solidFill>
                  <a:srgbClr val="0F172A"/>
                </a:solidFill>
                <a:latin typeface="Courier New"/>
              </a:rPr>
              <a:t> </a:t>
            </a:r>
            <a:r>
              <a:rPr sz="1951" b="0" i="0" u="none">
                <a:solidFill>
                  <a:srgbClr val="B45309"/>
                </a:solidFill>
                <a:latin typeface="Courier New"/>
              </a:rPr>
              <a:t>1</a:t>
            </a:r>
          </a:p>
          <a:p>
            <a:pPr>
              <a:lnSpc>
                <a:spcPct val="110000"/>
              </a:lnSpc>
            </a:pPr>
            <a:r>
              <a:rPr sz="1951" b="0" i="0" u="none">
                <a:solidFill>
                  <a:srgbClr val="0F172A"/>
                </a:solidFill>
                <a:latin typeface="Courier New"/>
              </a:rPr>
              <a:t>                   </a:t>
            </a:r>
            <a:r>
              <a:rPr sz="1951" b="1" i="0" u="none">
                <a:solidFill>
                  <a:srgbClr val="0E8A8A"/>
                </a:solidFill>
                <a:latin typeface="Courier New"/>
              </a:rPr>
              <a:t>FROM</a:t>
            </a:r>
            <a:r>
              <a:rPr sz="1951" b="0" i="0" u="none">
                <a:solidFill>
                  <a:srgbClr val="0F172A"/>
                </a:solidFill>
                <a:latin typeface="Courier New"/>
              </a:rPr>
              <a:t>   </a:t>
            </a:r>
            <a:r>
              <a:rPr sz="1951" b="0" i="0" u="none">
                <a:solidFill>
                  <a:srgbClr val="0F172A"/>
                </a:solidFill>
                <a:latin typeface="Courier New"/>
              </a:rPr>
              <a:t>dependent</a:t>
            </a:r>
            <a:r>
              <a:rPr sz="1951" b="0" i="0" u="none">
                <a:solidFill>
                  <a:srgbClr val="0F172A"/>
                </a:solidFill>
                <a:latin typeface="Courier New"/>
              </a:rPr>
              <a:t> </a:t>
            </a:r>
            <a:r>
              <a:rPr sz="1951" b="0" i="0" u="none">
                <a:solidFill>
                  <a:srgbClr val="0F172A"/>
                </a:solidFill>
                <a:latin typeface="Courier New"/>
              </a:rPr>
              <a:t>d</a:t>
            </a:r>
          </a:p>
          <a:p>
            <a:pPr>
              <a:lnSpc>
                <a:spcPct val="110000"/>
              </a:lnSpc>
            </a:pPr>
            <a:r>
              <a:rPr sz="1951" b="0" i="0" u="none">
                <a:solidFill>
                  <a:srgbClr val="0F172A"/>
                </a:solidFill>
                <a:latin typeface="Courier New"/>
              </a:rPr>
              <a:t>                   </a:t>
            </a:r>
            <a:r>
              <a:rPr sz="1951" b="1" i="0" u="none">
                <a:solidFill>
                  <a:srgbClr val="0E8A8A"/>
                </a:solidFill>
                <a:latin typeface="Courier New"/>
              </a:rPr>
              <a:t>WHERE</a:t>
            </a:r>
            <a:r>
              <a:rPr sz="1951" b="0" i="0" u="none">
                <a:solidFill>
                  <a:srgbClr val="0F172A"/>
                </a:solidFill>
                <a:latin typeface="Courier New"/>
              </a:rPr>
              <a:t>  </a:t>
            </a:r>
            <a:r>
              <a:rPr sz="1951" b="0" i="0" u="none">
                <a:solidFill>
                  <a:srgbClr val="0F172A"/>
                </a:solidFill>
                <a:latin typeface="Courier New"/>
              </a:rPr>
              <a:t>d</a:t>
            </a:r>
            <a:r>
              <a:rPr sz="1951" b="0" i="0" u="none">
                <a:solidFill>
                  <a:srgbClr val="0F172A"/>
                </a:solidFill>
                <a:latin typeface="Courier New"/>
              </a:rPr>
              <a:t>.</a:t>
            </a:r>
            <a:r>
              <a:rPr sz="1951" b="0" i="0" u="none">
                <a:solidFill>
                  <a:srgbClr val="0F172A"/>
                </a:solidFill>
                <a:latin typeface="Courier New"/>
              </a:rPr>
              <a:t>essn</a:t>
            </a:r>
            <a:r>
              <a:rPr sz="1951" b="0" i="0" u="none">
                <a:solidFill>
                  <a:srgbClr val="0F172A"/>
                </a:solidFill>
                <a:latin typeface="Courier New"/>
              </a:rPr>
              <a:t> </a:t>
            </a:r>
            <a:r>
              <a:rPr sz="1951" b="0" i="0" u="none">
                <a:solidFill>
                  <a:srgbClr val="0F172A"/>
                </a:solidFill>
                <a:latin typeface="Courier New"/>
              </a:rPr>
              <a:t>=</a:t>
            </a:r>
            <a:r>
              <a:rPr sz="1951" b="0" i="0" u="none">
                <a:solidFill>
                  <a:srgbClr val="0F172A"/>
                </a:solidFill>
                <a:latin typeface="Courier New"/>
              </a:rPr>
              <a:t> </a:t>
            </a:r>
            <a:r>
              <a:rPr sz="1951" b="0" i="0" u="none">
                <a:solidFill>
                  <a:srgbClr val="0F172A"/>
                </a:solidFill>
                <a:latin typeface="Courier New"/>
              </a:rPr>
              <a:t>e</a:t>
            </a:r>
            <a:r>
              <a:rPr sz="1951" b="0" i="0" u="none">
                <a:solidFill>
                  <a:srgbClr val="0F172A"/>
                </a:solidFill>
                <a:latin typeface="Courier New"/>
              </a:rPr>
              <a:t>.</a:t>
            </a:r>
            <a:r>
              <a:rPr sz="1951" b="0" i="0" u="none">
                <a:solidFill>
                  <a:srgbClr val="0F172A"/>
                </a:solidFill>
                <a:latin typeface="Courier New"/>
              </a:rPr>
              <a:t>ssn</a:t>
            </a:r>
            <a:r>
              <a:rPr sz="1951" b="0" i="0" u="none">
                <a:solidFill>
                  <a:srgbClr val="0F172A"/>
                </a:solidFill>
                <a:latin typeface="Courier New"/>
              </a:rPr>
              <a:t>)</a:t>
            </a:r>
            <a:r>
              <a:rPr sz="1951" b="0" i="0" u="none">
                <a:solidFill>
                  <a:srgbClr val="0F172A"/>
                </a:solidFill>
                <a:latin typeface="Courier New"/>
              </a:rPr>
              <a:t>;</a:t>
            </a:r>
          </a:p>
        </p:txBody>
      </p:sp>
      <p:sp>
        <p:nvSpPr>
          <p:cNvPr id="8" name="Rectangle 7"/>
          <p:cNvSpPr/>
          <p:nvPr/>
        </p:nvSpPr>
        <p:spPr>
          <a:xfrm>
            <a:off x="9913620" y="2482024"/>
            <a:ext cx="7459980" cy="2815071"/>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13670" y="2882074"/>
            <a:ext cx="665988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Correlated</a:t>
            </a:r>
          </a:p>
        </p:txBody>
      </p:sp>
      <p:sp>
        <p:nvSpPr>
          <p:cNvPr id="10" name="TextBox 9"/>
          <p:cNvSpPr txBox="1"/>
          <p:nvPr/>
        </p:nvSpPr>
        <p:spPr>
          <a:xfrm>
            <a:off x="10313670" y="3605204"/>
            <a:ext cx="665988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The inner query refers to the </a:t>
            </a:r>
            <a:r>
              <a:rPr sz="2511" b="1" i="0" u="none">
                <a:solidFill>
                  <a:srgbClr val="334155"/>
                </a:solidFill>
                <a:latin typeface="Calibri"/>
              </a:rPr>
              <a:t>outer</a:t>
            </a:r>
            <a:r>
              <a:rPr sz="2511" b="0" i="0" u="none">
                <a:solidFill>
                  <a:srgbClr val="334155"/>
                </a:solidFill>
                <a:latin typeface="Calibri"/>
              </a:rPr>
              <a:t> row (s.supplier_id), so it is evaluated </a:t>
            </a:r>
            <a:r>
              <a:rPr sz="2511" b="1" i="0" u="none">
                <a:solidFill>
                  <a:srgbClr val="334155"/>
                </a:solidFill>
                <a:latin typeface="Calibri"/>
              </a:rPr>
              <a:t>once per outer row</a:t>
            </a:r>
            <a:r>
              <a:rPr sz="2511" b="0" i="0" u="none">
                <a:solidFill>
                  <a:srgbClr val="334155"/>
                </a:solidFill>
                <a:latin typeface="Calibri"/>
              </a:rPr>
              <a:t>.</a:t>
            </a:r>
          </a:p>
        </p:txBody>
      </p:sp>
      <p:sp>
        <p:nvSpPr>
          <p:cNvPr id="11" name="Rectangle 10"/>
          <p:cNvSpPr/>
          <p:nvPr/>
        </p:nvSpPr>
        <p:spPr>
          <a:xfrm>
            <a:off x="9913620" y="5510456"/>
            <a:ext cx="7459980" cy="2815071"/>
          </a:xfrm>
          <a:prstGeom prst="rect">
            <a:avLst/>
          </a:prstGeom>
          <a:solidFill>
            <a:srgbClr val="FFFFFF"/>
          </a:solidFill>
          <a:ln w="14287">
            <a:solidFill>
              <a:srgbClr val="E2E8F0"/>
            </a:solidFill>
          </a:ln>
        </p:spPr>
        <p:txBody>
          <a:bodyPr rtlCol="0" anchor="ctr" lIns="0" rIns="0" tIns="0" bIns="0"/>
          <a:lstStyle/>
          <a:p>
            <a:pPr algn="ctr"/>
          </a:p>
        </p:txBody>
      </p:sp>
      <p:sp>
        <p:nvSpPr>
          <p:cNvPr id="12" name="TextBox 11"/>
          <p:cNvSpPr txBox="1"/>
          <p:nvPr/>
        </p:nvSpPr>
        <p:spPr>
          <a:xfrm>
            <a:off x="10313670" y="5910506"/>
            <a:ext cx="665988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EXISTS</a:t>
            </a:r>
          </a:p>
        </p:txBody>
      </p:sp>
      <p:sp>
        <p:nvSpPr>
          <p:cNvPr id="13" name="TextBox 12"/>
          <p:cNvSpPr txBox="1"/>
          <p:nvPr/>
        </p:nvSpPr>
        <p:spPr>
          <a:xfrm>
            <a:off x="10313670" y="6633636"/>
            <a:ext cx="6659880" cy="1291841"/>
          </a:xfrm>
          <a:prstGeom prst="rect">
            <a:avLst/>
          </a:prstGeom>
          <a:noFill/>
        </p:spPr>
        <p:txBody>
          <a:bodyPr wrap="square" lIns="0" rIns="0" tIns="0" bIns="0" anchor="t"/>
          <a:lstStyle/>
          <a:p>
            <a:pPr algn="l">
              <a:lnSpc>
                <a:spcPct val="111800"/>
              </a:lnSpc>
            </a:pPr>
            <a:r>
              <a:rPr sz="2511" b="0" i="0" u="none">
                <a:solidFill>
                  <a:srgbClr val="334155"/>
                </a:solidFill>
                <a:latin typeface="Calibri"/>
              </a:rPr>
              <a:t>TRUE as soon as the subquery returns </a:t>
            </a:r>
            <a:r>
              <a:rPr sz="2511" b="1" i="0" u="none">
                <a:solidFill>
                  <a:srgbClr val="334155"/>
                </a:solidFill>
                <a:latin typeface="Calibri"/>
              </a:rPr>
              <a:t>at least one row</a:t>
            </a:r>
            <a:r>
              <a:rPr sz="2511" b="0" i="0" u="none">
                <a:solidFill>
                  <a:srgbClr val="334155"/>
                </a:solidFill>
                <a:latin typeface="Calibri"/>
              </a:rPr>
              <a:t>; the selected columns don't matter.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76593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SUBQUERIES</a:t>
            </a:r>
          </a:p>
        </p:txBody>
      </p:sp>
      <p:cxnSp>
        <p:nvCxnSpPr>
          <p:cNvPr id="3" name="Connector 2"/>
          <p:cNvCxnSpPr/>
          <p:nvPr/>
        </p:nvCxnSpPr>
        <p:spPr>
          <a:xfrm>
            <a:off x="2756535" y="981075"/>
            <a:ext cx="1376934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47/71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EXISTS in DELETE and UPDATE</a:t>
            </a:r>
          </a:p>
        </p:txBody>
      </p:sp>
      <p:sp>
        <p:nvSpPr>
          <p:cNvPr id="6" name="Rectangle 5"/>
          <p:cNvSpPr/>
          <p:nvPr/>
        </p:nvSpPr>
        <p:spPr>
          <a:xfrm>
            <a:off x="914400" y="2482024"/>
            <a:ext cx="9144000" cy="3938245"/>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610600" cy="3404845"/>
          </a:xfrm>
          <a:prstGeom prst="rect">
            <a:avLst/>
          </a:prstGeom>
          <a:noFill/>
        </p:spPr>
        <p:txBody>
          <a:bodyPr wrap="none" lIns="0" rIns="0" tIns="0" bIns="0"/>
          <a:lstStyle/>
          <a:p>
            <a:pPr>
              <a:lnSpc>
                <a:spcPct val="110000"/>
              </a:lnSpc>
            </a:pPr>
            <a:r>
              <a:rPr sz="1846" b="0" i="1" u="none">
                <a:solidFill>
                  <a:srgbClr val="64748B"/>
                </a:solidFill>
                <a:latin typeface="Courier New"/>
              </a:rPr>
              <a:t>-- remove suppliers that never had an order</a:t>
            </a:r>
          </a:p>
          <a:p>
            <a:pPr>
              <a:lnSpc>
                <a:spcPct val="110000"/>
              </a:lnSpc>
            </a:pPr>
            <a:r>
              <a:rPr sz="1846" b="1" i="0" u="none">
                <a:solidFill>
                  <a:srgbClr val="0E8A8A"/>
                </a:solidFill>
                <a:latin typeface="Courier New"/>
              </a:rPr>
              <a:t>DELETE</a:t>
            </a:r>
            <a:r>
              <a:rPr sz="1846" b="0" i="0" u="none">
                <a:solidFill>
                  <a:srgbClr val="0F172A"/>
                </a:solidFill>
                <a:latin typeface="Courier New"/>
              </a:rPr>
              <a:t> </a:t>
            </a:r>
            <a:r>
              <a:rPr sz="1846" b="1" i="0" u="none">
                <a:solidFill>
                  <a:srgbClr val="0E8A8A"/>
                </a:solidFill>
                <a:latin typeface="Courier New"/>
              </a:rPr>
              <a:t>FROM</a:t>
            </a:r>
            <a:r>
              <a:rPr sz="1846" b="0" i="0" u="none">
                <a:solidFill>
                  <a:srgbClr val="0F172A"/>
                </a:solidFill>
                <a:latin typeface="Courier New"/>
              </a:rPr>
              <a:t> </a:t>
            </a:r>
            <a:r>
              <a:rPr sz="1846" b="0" i="0" u="none">
                <a:solidFill>
                  <a:srgbClr val="0F172A"/>
                </a:solidFill>
                <a:latin typeface="Courier New"/>
              </a:rPr>
              <a:t>suppliers</a:t>
            </a:r>
            <a:r>
              <a:rPr sz="1846" b="0" i="0" u="none">
                <a:solidFill>
                  <a:srgbClr val="0F172A"/>
                </a:solidFill>
                <a:latin typeface="Courier New"/>
              </a:rPr>
              <a:t> </a:t>
            </a:r>
            <a:r>
              <a:rPr sz="1846" b="0" i="0" u="none">
                <a:solidFill>
                  <a:srgbClr val="0F172A"/>
                </a:solidFill>
                <a:latin typeface="Courier New"/>
              </a:rPr>
              <a:t>s</a:t>
            </a:r>
          </a:p>
          <a:p>
            <a:pPr>
              <a:lnSpc>
                <a:spcPct val="110000"/>
              </a:lnSpc>
            </a:pPr>
            <a:r>
              <a:rPr sz="1846" b="1" i="0" u="none">
                <a:solidFill>
                  <a:srgbClr val="0E8A8A"/>
                </a:solidFill>
                <a:latin typeface="Courier New"/>
              </a:rPr>
              <a:t>WHERE</a:t>
            </a:r>
            <a:r>
              <a:rPr sz="1846" b="0" i="0" u="none">
                <a:solidFill>
                  <a:srgbClr val="0F172A"/>
                </a:solidFill>
                <a:latin typeface="Courier New"/>
              </a:rPr>
              <a:t>  </a:t>
            </a:r>
            <a:r>
              <a:rPr sz="1846" b="1" i="0" u="none">
                <a:solidFill>
                  <a:srgbClr val="0E8A8A"/>
                </a:solidFill>
                <a:latin typeface="Courier New"/>
              </a:rPr>
              <a:t>NOT</a:t>
            </a:r>
            <a:r>
              <a:rPr sz="1846" b="0" i="0" u="none">
                <a:solidFill>
                  <a:srgbClr val="0F172A"/>
                </a:solidFill>
                <a:latin typeface="Courier New"/>
              </a:rPr>
              <a:t> </a:t>
            </a:r>
            <a:r>
              <a:rPr sz="1846" b="1" i="0" u="none">
                <a:solidFill>
                  <a:srgbClr val="0E8A8A"/>
                </a:solidFill>
                <a:latin typeface="Courier New"/>
              </a:rPr>
              <a:t>EXISTS</a:t>
            </a:r>
            <a:r>
              <a:rPr sz="1846" b="0" i="0" u="none">
                <a:solidFill>
                  <a:srgbClr val="0F172A"/>
                </a:solidFill>
                <a:latin typeface="Courier New"/>
              </a:rPr>
              <a:t> </a:t>
            </a:r>
            <a:r>
              <a:rPr sz="1846" b="0" i="0" u="none">
                <a:solidFill>
                  <a:srgbClr val="0F172A"/>
                </a:solidFill>
                <a:latin typeface="Courier New"/>
              </a:rPr>
              <a:t>(</a:t>
            </a:r>
            <a:r>
              <a:rPr sz="1846" b="1" i="0" u="none">
                <a:solidFill>
                  <a:srgbClr val="0E8A8A"/>
                </a:solidFill>
                <a:latin typeface="Courier New"/>
              </a:rPr>
              <a:t>SELECT</a:t>
            </a:r>
            <a:r>
              <a:rPr sz="1846" b="0" i="0" u="none">
                <a:solidFill>
                  <a:srgbClr val="0F172A"/>
                </a:solidFill>
                <a:latin typeface="Courier New"/>
              </a:rPr>
              <a:t> </a:t>
            </a:r>
            <a:r>
              <a:rPr sz="1846" b="0" i="0" u="none">
                <a:solidFill>
                  <a:srgbClr val="B45309"/>
                </a:solidFill>
                <a:latin typeface="Courier New"/>
              </a:rPr>
              <a:t>1</a:t>
            </a:r>
            <a:r>
              <a:rPr sz="1846" b="0" i="0" u="none">
                <a:solidFill>
                  <a:srgbClr val="0F172A"/>
                </a:solidFill>
                <a:latin typeface="Courier New"/>
              </a:rPr>
              <a:t> </a:t>
            </a:r>
            <a:r>
              <a:rPr sz="1846" b="1" i="0" u="none">
                <a:solidFill>
                  <a:srgbClr val="0E8A8A"/>
                </a:solidFill>
                <a:latin typeface="Courier New"/>
              </a:rPr>
              <a:t>FROM</a:t>
            </a:r>
            <a:r>
              <a:rPr sz="1846" b="0" i="0" u="none">
                <a:solidFill>
                  <a:srgbClr val="0F172A"/>
                </a:solidFill>
                <a:latin typeface="Courier New"/>
              </a:rPr>
              <a:t> </a:t>
            </a:r>
            <a:r>
              <a:rPr sz="1846" b="0" i="0" u="none">
                <a:solidFill>
                  <a:srgbClr val="0F172A"/>
                </a:solidFill>
                <a:latin typeface="Courier New"/>
              </a:rPr>
              <a:t>orders</a:t>
            </a:r>
            <a:r>
              <a:rPr sz="1846" b="0" i="0" u="none">
                <a:solidFill>
                  <a:srgbClr val="0F172A"/>
                </a:solidFill>
                <a:latin typeface="Courier New"/>
              </a:rPr>
              <a:t> </a:t>
            </a:r>
            <a:r>
              <a:rPr sz="1846" b="0" i="0" u="none">
                <a:solidFill>
                  <a:srgbClr val="0F172A"/>
                </a:solidFill>
                <a:latin typeface="Courier New"/>
              </a:rPr>
              <a:t>o</a:t>
            </a:r>
          </a:p>
          <a:p>
            <a:pPr>
              <a:lnSpc>
                <a:spcPct val="110000"/>
              </a:lnSpc>
            </a:pPr>
            <a:r>
              <a:rPr sz="1846" b="0" i="0" u="none">
                <a:solidFill>
                  <a:srgbClr val="0F172A"/>
                </a:solidFill>
                <a:latin typeface="Courier New"/>
              </a:rPr>
              <a:t>                   </a:t>
            </a:r>
            <a:r>
              <a:rPr sz="1846" b="1" i="0" u="none">
                <a:solidFill>
                  <a:srgbClr val="0E8A8A"/>
                </a:solidFill>
                <a:latin typeface="Courier New"/>
              </a:rPr>
              <a:t>WHERE</a:t>
            </a:r>
            <a:r>
              <a:rPr sz="1846" b="0" i="0" u="none">
                <a:solidFill>
                  <a:srgbClr val="0F172A"/>
                </a:solidFill>
                <a:latin typeface="Courier New"/>
              </a:rPr>
              <a:t> </a:t>
            </a:r>
            <a:r>
              <a:rPr sz="1846" b="0" i="0" u="none">
                <a:solidFill>
                  <a:srgbClr val="0F172A"/>
                </a:solidFill>
                <a:latin typeface="Courier New"/>
              </a:rPr>
              <a:t>o</a:t>
            </a:r>
            <a:r>
              <a:rPr sz="1846" b="0" i="0" u="none">
                <a:solidFill>
                  <a:srgbClr val="0F172A"/>
                </a:solidFill>
                <a:latin typeface="Courier New"/>
              </a:rPr>
              <a:t>.</a:t>
            </a:r>
            <a:r>
              <a:rPr sz="1846" b="0" i="0" u="none">
                <a:solidFill>
                  <a:srgbClr val="0F172A"/>
                </a:solidFill>
                <a:latin typeface="Courier New"/>
              </a:rPr>
              <a:t>supplier_id</a:t>
            </a:r>
            <a:r>
              <a:rPr sz="1846" b="0" i="0" u="none">
                <a:solidFill>
                  <a:srgbClr val="0F172A"/>
                </a:solidFill>
                <a:latin typeface="Courier New"/>
              </a:rPr>
              <a:t> </a:t>
            </a:r>
            <a:r>
              <a:rPr sz="1846" b="0" i="0" u="none">
                <a:solidFill>
                  <a:srgbClr val="0F172A"/>
                </a:solidFill>
                <a:latin typeface="Courier New"/>
              </a:rPr>
              <a:t>=</a:t>
            </a:r>
            <a:r>
              <a:rPr sz="1846" b="0" i="0" u="none">
                <a:solidFill>
                  <a:srgbClr val="0F172A"/>
                </a:solidFill>
                <a:latin typeface="Courier New"/>
              </a:rPr>
              <a:t> </a:t>
            </a:r>
            <a:r>
              <a:rPr sz="1846" b="0" i="0" u="none">
                <a:solidFill>
                  <a:srgbClr val="0F172A"/>
                </a:solidFill>
                <a:latin typeface="Courier New"/>
              </a:rPr>
              <a:t>s</a:t>
            </a:r>
            <a:r>
              <a:rPr sz="1846" b="0" i="0" u="none">
                <a:solidFill>
                  <a:srgbClr val="0F172A"/>
                </a:solidFill>
                <a:latin typeface="Courier New"/>
              </a:rPr>
              <a:t>.</a:t>
            </a:r>
            <a:r>
              <a:rPr sz="1846" b="0" i="0" u="none">
                <a:solidFill>
                  <a:srgbClr val="0F172A"/>
                </a:solidFill>
                <a:latin typeface="Courier New"/>
              </a:rPr>
              <a:t>supplier_id</a:t>
            </a:r>
            <a:r>
              <a:rPr sz="1846" b="0" i="0" u="none">
                <a:solidFill>
                  <a:srgbClr val="0F172A"/>
                </a:solidFill>
                <a:latin typeface="Courier New"/>
              </a:rPr>
              <a:t>)</a:t>
            </a:r>
            <a:r>
              <a:rPr sz="1846" b="0" i="0" u="none">
                <a:solidFill>
                  <a:srgbClr val="0F172A"/>
                </a:solidFill>
                <a:latin typeface="Courier New"/>
              </a:rPr>
              <a:t>;</a:t>
            </a:r>
          </a:p>
          <a:p>
            <a:pPr>
              <a:lnSpc>
                <a:spcPct val="110000"/>
              </a:lnSpc>
            </a:pPr>
            <a:r>
              <a:rPr sz="1846" b="0" i="0" u="none">
                <a:solidFill>
                  <a:srgbClr val="0F172A"/>
                </a:solidFill>
                <a:latin typeface="Courier New"/>
              </a:rPr>
              <a:t> </a:t>
            </a:r>
          </a:p>
          <a:p>
            <a:pPr>
              <a:lnSpc>
                <a:spcPct val="110000"/>
              </a:lnSpc>
            </a:pPr>
            <a:r>
              <a:rPr sz="1846" b="0" i="1" u="none">
                <a:solidFill>
                  <a:srgbClr val="64748B"/>
                </a:solidFill>
                <a:latin typeface="Courier New"/>
              </a:rPr>
              <a:t>-- copy names from customers where ids match</a:t>
            </a:r>
          </a:p>
          <a:p>
            <a:pPr>
              <a:lnSpc>
                <a:spcPct val="110000"/>
              </a:lnSpc>
            </a:pPr>
            <a:r>
              <a:rPr sz="1846" b="1" i="0" u="none">
                <a:solidFill>
                  <a:srgbClr val="0E8A8A"/>
                </a:solidFill>
                <a:latin typeface="Courier New"/>
              </a:rPr>
              <a:t>UPDATE</a:t>
            </a:r>
            <a:r>
              <a:rPr sz="1846" b="0" i="0" u="none">
                <a:solidFill>
                  <a:srgbClr val="0F172A"/>
                </a:solidFill>
                <a:latin typeface="Courier New"/>
              </a:rPr>
              <a:t> </a:t>
            </a:r>
            <a:r>
              <a:rPr sz="1846" b="0" i="0" u="none">
                <a:solidFill>
                  <a:srgbClr val="0F172A"/>
                </a:solidFill>
                <a:latin typeface="Courier New"/>
              </a:rPr>
              <a:t>suppliers</a:t>
            </a:r>
            <a:r>
              <a:rPr sz="1846" b="0" i="0" u="none">
                <a:solidFill>
                  <a:srgbClr val="0F172A"/>
                </a:solidFill>
                <a:latin typeface="Courier New"/>
              </a:rPr>
              <a:t> </a:t>
            </a:r>
            <a:r>
              <a:rPr sz="1846" b="0" i="0" u="none">
                <a:solidFill>
                  <a:srgbClr val="0F172A"/>
                </a:solidFill>
                <a:latin typeface="Courier New"/>
              </a:rPr>
              <a:t>s</a:t>
            </a:r>
          </a:p>
          <a:p>
            <a:pPr>
              <a:lnSpc>
                <a:spcPct val="110000"/>
              </a:lnSpc>
            </a:pPr>
            <a:r>
              <a:rPr sz="1846" b="1" i="0" u="none">
                <a:solidFill>
                  <a:srgbClr val="0E8A8A"/>
                </a:solidFill>
                <a:latin typeface="Courier New"/>
              </a:rPr>
              <a:t>SET</a:t>
            </a:r>
            <a:r>
              <a:rPr sz="1846" b="0" i="0" u="none">
                <a:solidFill>
                  <a:srgbClr val="0F172A"/>
                </a:solidFill>
                <a:latin typeface="Courier New"/>
              </a:rPr>
              <a:t>    </a:t>
            </a:r>
            <a:r>
              <a:rPr sz="1846" b="0" i="0" u="none">
                <a:solidFill>
                  <a:srgbClr val="0F172A"/>
                </a:solidFill>
                <a:latin typeface="Courier New"/>
              </a:rPr>
              <a:t>supplier_name</a:t>
            </a:r>
            <a:r>
              <a:rPr sz="1846" b="0" i="0" u="none">
                <a:solidFill>
                  <a:srgbClr val="0F172A"/>
                </a:solidFill>
                <a:latin typeface="Courier New"/>
              </a:rPr>
              <a:t> </a:t>
            </a:r>
            <a:r>
              <a:rPr sz="1846" b="0" i="0" u="none">
                <a:solidFill>
                  <a:srgbClr val="0F172A"/>
                </a:solidFill>
                <a:latin typeface="Courier New"/>
              </a:rPr>
              <a:t>=</a:t>
            </a:r>
            <a:r>
              <a:rPr sz="1846" b="0" i="0" u="none">
                <a:solidFill>
                  <a:srgbClr val="0F172A"/>
                </a:solidFill>
                <a:latin typeface="Courier New"/>
              </a:rPr>
              <a:t> </a:t>
            </a:r>
            <a:r>
              <a:rPr sz="1846" b="0" i="0" u="none">
                <a:solidFill>
                  <a:srgbClr val="0F172A"/>
                </a:solidFill>
                <a:latin typeface="Courier New"/>
              </a:rPr>
              <a:t>(</a:t>
            </a:r>
            <a:r>
              <a:rPr sz="1846" b="1" i="0" u="none">
                <a:solidFill>
                  <a:srgbClr val="0E8A8A"/>
                </a:solidFill>
                <a:latin typeface="Courier New"/>
              </a:rPr>
              <a:t>SELECT</a:t>
            </a:r>
            <a:r>
              <a:rPr sz="1846" b="0" i="0" u="none">
                <a:solidFill>
                  <a:srgbClr val="0F172A"/>
                </a:solidFill>
                <a:latin typeface="Courier New"/>
              </a:rPr>
              <a:t> </a:t>
            </a:r>
            <a:r>
              <a:rPr sz="1846" b="0" i="0" u="none">
                <a:solidFill>
                  <a:srgbClr val="0F172A"/>
                </a:solidFill>
                <a:latin typeface="Courier New"/>
              </a:rPr>
              <a:t>c</a:t>
            </a:r>
            <a:r>
              <a:rPr sz="1846" b="0" i="0" u="none">
                <a:solidFill>
                  <a:srgbClr val="0F172A"/>
                </a:solidFill>
                <a:latin typeface="Courier New"/>
              </a:rPr>
              <a:t>.</a:t>
            </a:r>
            <a:r>
              <a:rPr sz="1846" b="0" i="0" u="none">
                <a:solidFill>
                  <a:srgbClr val="0F172A"/>
                </a:solidFill>
                <a:latin typeface="Courier New"/>
              </a:rPr>
              <a:t>name</a:t>
            </a:r>
            <a:r>
              <a:rPr sz="1846" b="0" i="0" u="none">
                <a:solidFill>
                  <a:srgbClr val="0F172A"/>
                </a:solidFill>
                <a:latin typeface="Courier New"/>
              </a:rPr>
              <a:t> </a:t>
            </a:r>
            <a:r>
              <a:rPr sz="1846" b="1" i="0" u="none">
                <a:solidFill>
                  <a:srgbClr val="0E8A8A"/>
                </a:solidFill>
                <a:latin typeface="Courier New"/>
              </a:rPr>
              <a:t>FROM</a:t>
            </a:r>
            <a:r>
              <a:rPr sz="1846" b="0" i="0" u="none">
                <a:solidFill>
                  <a:srgbClr val="0F172A"/>
                </a:solidFill>
                <a:latin typeface="Courier New"/>
              </a:rPr>
              <a:t> </a:t>
            </a:r>
            <a:r>
              <a:rPr sz="1846" b="0" i="0" u="none">
                <a:solidFill>
                  <a:srgbClr val="0F172A"/>
                </a:solidFill>
                <a:latin typeface="Courier New"/>
              </a:rPr>
              <a:t>customers</a:t>
            </a:r>
            <a:r>
              <a:rPr sz="1846" b="0" i="0" u="none">
                <a:solidFill>
                  <a:srgbClr val="0F172A"/>
                </a:solidFill>
                <a:latin typeface="Courier New"/>
              </a:rPr>
              <a:t> </a:t>
            </a:r>
            <a:r>
              <a:rPr sz="1846" b="0" i="0" u="none">
                <a:solidFill>
                  <a:srgbClr val="0F172A"/>
                </a:solidFill>
                <a:latin typeface="Courier New"/>
              </a:rPr>
              <a:t>c</a:t>
            </a:r>
          </a:p>
          <a:p>
            <a:pPr>
              <a:lnSpc>
                <a:spcPct val="110000"/>
              </a:lnSpc>
            </a:pPr>
            <a:r>
              <a:rPr sz="1846" b="0" i="0" u="none">
                <a:solidFill>
                  <a:srgbClr val="0F172A"/>
                </a:solidFill>
                <a:latin typeface="Courier New"/>
              </a:rPr>
              <a:t>                        </a:t>
            </a:r>
            <a:r>
              <a:rPr sz="1846" b="1" i="0" u="none">
                <a:solidFill>
                  <a:srgbClr val="0E8A8A"/>
                </a:solidFill>
                <a:latin typeface="Courier New"/>
              </a:rPr>
              <a:t>WHERE</a:t>
            </a:r>
            <a:r>
              <a:rPr sz="1846" b="0" i="0" u="none">
                <a:solidFill>
                  <a:srgbClr val="0F172A"/>
                </a:solidFill>
                <a:latin typeface="Courier New"/>
              </a:rPr>
              <a:t> </a:t>
            </a:r>
            <a:r>
              <a:rPr sz="1846" b="0" i="0" u="none">
                <a:solidFill>
                  <a:srgbClr val="0F172A"/>
                </a:solidFill>
                <a:latin typeface="Courier New"/>
              </a:rPr>
              <a:t>c</a:t>
            </a:r>
            <a:r>
              <a:rPr sz="1846" b="0" i="0" u="none">
                <a:solidFill>
                  <a:srgbClr val="0F172A"/>
                </a:solidFill>
                <a:latin typeface="Courier New"/>
              </a:rPr>
              <a:t>.</a:t>
            </a:r>
            <a:r>
              <a:rPr sz="1846" b="0" i="0" u="none">
                <a:solidFill>
                  <a:srgbClr val="0F172A"/>
                </a:solidFill>
                <a:latin typeface="Courier New"/>
              </a:rPr>
              <a:t>customer_id</a:t>
            </a:r>
            <a:r>
              <a:rPr sz="1846" b="0" i="0" u="none">
                <a:solidFill>
                  <a:srgbClr val="0F172A"/>
                </a:solidFill>
                <a:latin typeface="Courier New"/>
              </a:rPr>
              <a:t> </a:t>
            </a:r>
            <a:r>
              <a:rPr sz="1846" b="0" i="0" u="none">
                <a:solidFill>
                  <a:srgbClr val="0F172A"/>
                </a:solidFill>
                <a:latin typeface="Courier New"/>
              </a:rPr>
              <a:t>=</a:t>
            </a:r>
            <a:r>
              <a:rPr sz="1846" b="0" i="0" u="none">
                <a:solidFill>
                  <a:srgbClr val="0F172A"/>
                </a:solidFill>
                <a:latin typeface="Courier New"/>
              </a:rPr>
              <a:t> </a:t>
            </a:r>
            <a:r>
              <a:rPr sz="1846" b="0" i="0" u="none">
                <a:solidFill>
                  <a:srgbClr val="0F172A"/>
                </a:solidFill>
                <a:latin typeface="Courier New"/>
              </a:rPr>
              <a:t>s</a:t>
            </a:r>
            <a:r>
              <a:rPr sz="1846" b="0" i="0" u="none">
                <a:solidFill>
                  <a:srgbClr val="0F172A"/>
                </a:solidFill>
                <a:latin typeface="Courier New"/>
              </a:rPr>
              <a:t>.</a:t>
            </a:r>
            <a:r>
              <a:rPr sz="1846" b="0" i="0" u="none">
                <a:solidFill>
                  <a:srgbClr val="0F172A"/>
                </a:solidFill>
                <a:latin typeface="Courier New"/>
              </a:rPr>
              <a:t>supplier_id</a:t>
            </a:r>
            <a:r>
              <a:rPr sz="1846" b="0" i="0" u="none">
                <a:solidFill>
                  <a:srgbClr val="0F172A"/>
                </a:solidFill>
                <a:latin typeface="Courier New"/>
              </a:rPr>
              <a:t>)</a:t>
            </a:r>
          </a:p>
          <a:p>
            <a:pPr>
              <a:lnSpc>
                <a:spcPct val="110000"/>
              </a:lnSpc>
            </a:pPr>
            <a:r>
              <a:rPr sz="1846" b="1" i="0" u="none">
                <a:solidFill>
                  <a:srgbClr val="0E8A8A"/>
                </a:solidFill>
                <a:latin typeface="Courier New"/>
              </a:rPr>
              <a:t>WHERE</a:t>
            </a:r>
            <a:r>
              <a:rPr sz="1846" b="0" i="0" u="none">
                <a:solidFill>
                  <a:srgbClr val="0F172A"/>
                </a:solidFill>
                <a:latin typeface="Courier New"/>
              </a:rPr>
              <a:t>  </a:t>
            </a:r>
            <a:r>
              <a:rPr sz="1846" b="1" i="0" u="none">
                <a:solidFill>
                  <a:srgbClr val="0E8A8A"/>
                </a:solidFill>
                <a:latin typeface="Courier New"/>
              </a:rPr>
              <a:t>EXISTS</a:t>
            </a:r>
            <a:r>
              <a:rPr sz="1846" b="0" i="0" u="none">
                <a:solidFill>
                  <a:srgbClr val="0F172A"/>
                </a:solidFill>
                <a:latin typeface="Courier New"/>
              </a:rPr>
              <a:t> </a:t>
            </a:r>
            <a:r>
              <a:rPr sz="1846" b="0" i="0" u="none">
                <a:solidFill>
                  <a:srgbClr val="0F172A"/>
                </a:solidFill>
                <a:latin typeface="Courier New"/>
              </a:rPr>
              <a:t>(</a:t>
            </a:r>
            <a:r>
              <a:rPr sz="1846" b="1" i="0" u="none">
                <a:solidFill>
                  <a:srgbClr val="0E8A8A"/>
                </a:solidFill>
                <a:latin typeface="Courier New"/>
              </a:rPr>
              <a:t>SELECT</a:t>
            </a:r>
            <a:r>
              <a:rPr sz="1846" b="0" i="0" u="none">
                <a:solidFill>
                  <a:srgbClr val="0F172A"/>
                </a:solidFill>
                <a:latin typeface="Courier New"/>
              </a:rPr>
              <a:t> </a:t>
            </a:r>
            <a:r>
              <a:rPr sz="1846" b="0" i="0" u="none">
                <a:solidFill>
                  <a:srgbClr val="B45309"/>
                </a:solidFill>
                <a:latin typeface="Courier New"/>
              </a:rPr>
              <a:t>1</a:t>
            </a:r>
            <a:r>
              <a:rPr sz="1846" b="0" i="0" u="none">
                <a:solidFill>
                  <a:srgbClr val="0F172A"/>
                </a:solidFill>
                <a:latin typeface="Courier New"/>
              </a:rPr>
              <a:t> </a:t>
            </a:r>
            <a:r>
              <a:rPr sz="1846" b="1" i="0" u="none">
                <a:solidFill>
                  <a:srgbClr val="0E8A8A"/>
                </a:solidFill>
                <a:latin typeface="Courier New"/>
              </a:rPr>
              <a:t>FROM</a:t>
            </a:r>
            <a:r>
              <a:rPr sz="1846" b="0" i="0" u="none">
                <a:solidFill>
                  <a:srgbClr val="0F172A"/>
                </a:solidFill>
                <a:latin typeface="Courier New"/>
              </a:rPr>
              <a:t> </a:t>
            </a:r>
            <a:r>
              <a:rPr sz="1846" b="0" i="0" u="none">
                <a:solidFill>
                  <a:srgbClr val="0F172A"/>
                </a:solidFill>
                <a:latin typeface="Courier New"/>
              </a:rPr>
              <a:t>customers</a:t>
            </a:r>
            <a:r>
              <a:rPr sz="1846" b="0" i="0" u="none">
                <a:solidFill>
                  <a:srgbClr val="0F172A"/>
                </a:solidFill>
                <a:latin typeface="Courier New"/>
              </a:rPr>
              <a:t> </a:t>
            </a:r>
            <a:r>
              <a:rPr sz="1846" b="0" i="0" u="none">
                <a:solidFill>
                  <a:srgbClr val="0F172A"/>
                </a:solidFill>
                <a:latin typeface="Courier New"/>
              </a:rPr>
              <a:t>c</a:t>
            </a:r>
          </a:p>
          <a:p>
            <a:pPr>
              <a:lnSpc>
                <a:spcPct val="110000"/>
              </a:lnSpc>
            </a:pPr>
            <a:r>
              <a:rPr sz="1846" b="0" i="0" u="none">
                <a:solidFill>
                  <a:srgbClr val="0F172A"/>
                </a:solidFill>
                <a:latin typeface="Courier New"/>
              </a:rPr>
              <a:t>               </a:t>
            </a:r>
            <a:r>
              <a:rPr sz="1846" b="1" i="0" u="none">
                <a:solidFill>
                  <a:srgbClr val="0E8A8A"/>
                </a:solidFill>
                <a:latin typeface="Courier New"/>
              </a:rPr>
              <a:t>WHERE</a:t>
            </a:r>
            <a:r>
              <a:rPr sz="1846" b="0" i="0" u="none">
                <a:solidFill>
                  <a:srgbClr val="0F172A"/>
                </a:solidFill>
                <a:latin typeface="Courier New"/>
              </a:rPr>
              <a:t> </a:t>
            </a:r>
            <a:r>
              <a:rPr sz="1846" b="0" i="0" u="none">
                <a:solidFill>
                  <a:srgbClr val="0F172A"/>
                </a:solidFill>
                <a:latin typeface="Courier New"/>
              </a:rPr>
              <a:t>c</a:t>
            </a:r>
            <a:r>
              <a:rPr sz="1846" b="0" i="0" u="none">
                <a:solidFill>
                  <a:srgbClr val="0F172A"/>
                </a:solidFill>
                <a:latin typeface="Courier New"/>
              </a:rPr>
              <a:t>.</a:t>
            </a:r>
            <a:r>
              <a:rPr sz="1846" b="0" i="0" u="none">
                <a:solidFill>
                  <a:srgbClr val="0F172A"/>
                </a:solidFill>
                <a:latin typeface="Courier New"/>
              </a:rPr>
              <a:t>customer_id</a:t>
            </a:r>
            <a:r>
              <a:rPr sz="1846" b="0" i="0" u="none">
                <a:solidFill>
                  <a:srgbClr val="0F172A"/>
                </a:solidFill>
                <a:latin typeface="Courier New"/>
              </a:rPr>
              <a:t> </a:t>
            </a:r>
            <a:r>
              <a:rPr sz="1846" b="0" i="0" u="none">
                <a:solidFill>
                  <a:srgbClr val="0F172A"/>
                </a:solidFill>
                <a:latin typeface="Courier New"/>
              </a:rPr>
              <a:t>=</a:t>
            </a:r>
            <a:r>
              <a:rPr sz="1846" b="0" i="0" u="none">
                <a:solidFill>
                  <a:srgbClr val="0F172A"/>
                </a:solidFill>
                <a:latin typeface="Courier New"/>
              </a:rPr>
              <a:t> </a:t>
            </a:r>
            <a:r>
              <a:rPr sz="1846" b="0" i="0" u="none">
                <a:solidFill>
                  <a:srgbClr val="0F172A"/>
                </a:solidFill>
                <a:latin typeface="Courier New"/>
              </a:rPr>
              <a:t>s</a:t>
            </a:r>
            <a:r>
              <a:rPr sz="1846" b="0" i="0" u="none">
                <a:solidFill>
                  <a:srgbClr val="0F172A"/>
                </a:solidFill>
                <a:latin typeface="Courier New"/>
              </a:rPr>
              <a:t>.</a:t>
            </a:r>
            <a:r>
              <a:rPr sz="1846" b="0" i="0" u="none">
                <a:solidFill>
                  <a:srgbClr val="0F172A"/>
                </a:solidFill>
                <a:latin typeface="Courier New"/>
              </a:rPr>
              <a:t>supplier_id</a:t>
            </a:r>
            <a:r>
              <a:rPr sz="1846" b="0" i="0" u="none">
                <a:solidFill>
                  <a:srgbClr val="0F172A"/>
                </a:solidFill>
                <a:latin typeface="Courier New"/>
              </a:rPr>
              <a:t>)</a:t>
            </a:r>
            <a:r>
              <a:rPr sz="1846" b="0" i="0" u="none">
                <a:solidFill>
                  <a:srgbClr val="0F172A"/>
                </a:solidFill>
                <a:latin typeface="Courier New"/>
              </a:rPr>
              <a:t>;</a:t>
            </a:r>
          </a:p>
        </p:txBody>
      </p:sp>
      <p:sp>
        <p:nvSpPr>
          <p:cNvPr id="8" name="Rectangle 7"/>
          <p:cNvSpPr/>
          <p:nvPr/>
        </p:nvSpPr>
        <p:spPr>
          <a:xfrm>
            <a:off x="10485120" y="2482024"/>
            <a:ext cx="6888480" cy="1825241"/>
          </a:xfrm>
          <a:prstGeom prst="rect">
            <a:avLst/>
          </a:prstGeom>
          <a:solidFill>
            <a:srgbClr val="E6F4F4"/>
          </a:solidFill>
          <a:ln>
            <a:noFill/>
          </a:ln>
        </p:spPr>
        <p:txBody>
          <a:bodyPr rtlCol="0" anchor="ctr" lIns="0" rIns="0" tIns="0" bIns="0"/>
          <a:lstStyle/>
          <a:p>
            <a:pPr algn="ctr"/>
          </a:p>
        </p:txBody>
      </p:sp>
      <p:sp>
        <p:nvSpPr>
          <p:cNvPr id="9" name="Rectangle 8"/>
          <p:cNvSpPr/>
          <p:nvPr/>
        </p:nvSpPr>
        <p:spPr>
          <a:xfrm>
            <a:off x="10485120" y="2482024"/>
            <a:ext cx="47625" cy="1825241"/>
          </a:xfrm>
          <a:prstGeom prst="rect">
            <a:avLst/>
          </a:prstGeom>
          <a:solidFill>
            <a:srgbClr val="0E8A8A"/>
          </a:solidFill>
          <a:ln>
            <a:noFill/>
          </a:ln>
        </p:spPr>
        <p:txBody>
          <a:bodyPr rtlCol="0" anchor="ctr" lIns="0" rIns="0" tIns="0" bIns="0"/>
          <a:lstStyle/>
          <a:p>
            <a:pPr algn="ctr"/>
          </a:p>
        </p:txBody>
      </p:sp>
      <p:sp>
        <p:nvSpPr>
          <p:cNvPr id="10" name="TextBox 9"/>
          <p:cNvSpPr txBox="1"/>
          <p:nvPr/>
        </p:nvSpPr>
        <p:spPr>
          <a:xfrm>
            <a:off x="10911840" y="2748724"/>
            <a:ext cx="6035040" cy="1291841"/>
          </a:xfrm>
          <a:prstGeom prst="rect">
            <a:avLst/>
          </a:prstGeom>
          <a:noFill/>
        </p:spPr>
        <p:txBody>
          <a:bodyPr wrap="square" lIns="0" rIns="0" tIns="0" bIns="0"/>
          <a:lstStyle/>
          <a:p>
            <a:pPr>
              <a:lnSpc>
                <a:spcPct val="112000"/>
              </a:lnSpc>
            </a:pPr>
            <a:r>
              <a:rPr sz="2511" b="0" i="0" u="none">
                <a:solidFill>
                  <a:srgbClr val="0F172A"/>
                </a:solidFill>
                <a:latin typeface="Calibri"/>
              </a:rPr>
              <a:t>The WHERE EXISTS in the UPDATE prevents setting the name to </a:t>
            </a:r>
            <a:r>
              <a:rPr sz="2511" b="1" i="0" u="none">
                <a:solidFill>
                  <a:srgbClr val="0F172A"/>
                </a:solidFill>
                <a:latin typeface="Calibri"/>
              </a:rPr>
              <a:t>NULL</a:t>
            </a:r>
            <a:r>
              <a:rPr sz="2511" b="0" i="0" u="none">
                <a:solidFill>
                  <a:srgbClr val="0F172A"/>
                </a:solidFill>
                <a:latin typeface="Calibri"/>
              </a:rPr>
              <a:t> for suppliers with no matching customer.</a:t>
            </a:r>
          </a:p>
        </p:txBody>
      </p:sp>
      <p:sp>
        <p:nvSpPr>
          <p:cNvPr id="11" name="Rectangle 10"/>
          <p:cNvSpPr/>
          <p:nvPr/>
        </p:nvSpPr>
        <p:spPr>
          <a:xfrm>
            <a:off x="10485120" y="4520625"/>
            <a:ext cx="6888480" cy="1825241"/>
          </a:xfrm>
          <a:prstGeom prst="rect">
            <a:avLst/>
          </a:prstGeom>
          <a:solidFill>
            <a:srgbClr val="FEF3C7"/>
          </a:solidFill>
          <a:ln>
            <a:noFill/>
          </a:ln>
        </p:spPr>
        <p:txBody>
          <a:bodyPr rtlCol="0" anchor="ctr" lIns="0" rIns="0" tIns="0" bIns="0"/>
          <a:lstStyle/>
          <a:p>
            <a:pPr algn="ctr"/>
          </a:p>
        </p:txBody>
      </p:sp>
      <p:sp>
        <p:nvSpPr>
          <p:cNvPr id="12" name="Rectangle 11"/>
          <p:cNvSpPr/>
          <p:nvPr/>
        </p:nvSpPr>
        <p:spPr>
          <a:xfrm>
            <a:off x="10485120" y="4520625"/>
            <a:ext cx="47625" cy="1825241"/>
          </a:xfrm>
          <a:prstGeom prst="rect">
            <a:avLst/>
          </a:prstGeom>
          <a:solidFill>
            <a:srgbClr val="B45309"/>
          </a:solidFill>
          <a:ln>
            <a:noFill/>
          </a:ln>
        </p:spPr>
        <p:txBody>
          <a:bodyPr rtlCol="0" anchor="ctr" lIns="0" rIns="0" tIns="0" bIns="0"/>
          <a:lstStyle/>
          <a:p>
            <a:pPr algn="ctr"/>
          </a:p>
        </p:txBody>
      </p:sp>
      <p:sp>
        <p:nvSpPr>
          <p:cNvPr id="13" name="TextBox 12"/>
          <p:cNvSpPr txBox="1"/>
          <p:nvPr/>
        </p:nvSpPr>
        <p:spPr>
          <a:xfrm>
            <a:off x="10911840" y="4787325"/>
            <a:ext cx="6035040" cy="1291841"/>
          </a:xfrm>
          <a:prstGeom prst="rect">
            <a:avLst/>
          </a:prstGeom>
          <a:noFill/>
        </p:spPr>
        <p:txBody>
          <a:bodyPr wrap="square" lIns="0" rIns="0" tIns="0" bIns="0"/>
          <a:lstStyle/>
          <a:p>
            <a:pPr>
              <a:lnSpc>
                <a:spcPct val="112000"/>
              </a:lnSpc>
            </a:pPr>
            <a:r>
              <a:rPr sz="2511" b="0" i="0" u="none">
                <a:solidFill>
                  <a:srgbClr val="0F172A"/>
                </a:solidFill>
                <a:latin typeface="Calibri"/>
              </a:rPr>
              <a:t>Prefer </a:t>
            </a:r>
            <a:r>
              <a:rPr sz="2511" b="1" i="0" u="none">
                <a:solidFill>
                  <a:srgbClr val="0F172A"/>
                </a:solidFill>
                <a:latin typeface="Calibri"/>
              </a:rPr>
              <a:t>NOT EXISTS</a:t>
            </a:r>
            <a:r>
              <a:rPr sz="2511" b="0" i="0" u="none">
                <a:solidFill>
                  <a:srgbClr val="0F172A"/>
                </a:solidFill>
                <a:latin typeface="Calibri"/>
              </a:rPr>
              <a:t> over NOT IN: NOT IN returns nothing if the subquery contains a NULL.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124265"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SET OPERATORS</a:t>
            </a:r>
          </a:p>
        </p:txBody>
      </p:sp>
      <p:cxnSp>
        <p:nvCxnSpPr>
          <p:cNvPr id="3" name="Connector 2"/>
          <p:cNvCxnSpPr/>
          <p:nvPr/>
        </p:nvCxnSpPr>
        <p:spPr>
          <a:xfrm>
            <a:off x="3114865" y="981075"/>
            <a:ext cx="1341101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48/71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UNION, INTERSECT, EXCEPT</a:t>
            </a:r>
          </a:p>
        </p:txBody>
      </p:sp>
      <p:graphicFrame>
        <p:nvGraphicFramePr>
          <p:cNvPr id="6" name="Table 5"/>
          <p:cNvGraphicFramePr>
            <a:graphicFrameLocks noGrp="1"/>
          </p:cNvGraphicFramePr>
          <p:nvPr/>
        </p:nvGraphicFramePr>
        <p:xfrm>
          <a:off x="914400" y="2482024"/>
          <a:ext cx="8211756" cy="3618626"/>
        </p:xfrm>
        <a:graphic>
          <a:graphicData uri="http://schemas.openxmlformats.org/drawingml/2006/table">
            <a:tbl>
              <a:tblPr firstRow="0" bandRow="0">
                <a:tableStyleId>{5940675A-B579-460E-94D1-54222C63F5DA}</a:tableStyleId>
              </a:tblPr>
              <a:tblGrid>
                <a:gridCol w="2791997"/>
                <a:gridCol w="3448938"/>
                <a:gridCol w="1970821"/>
              </a:tblGrid>
              <a:tr h="580040">
                <a:tc>
                  <a:txBody>
                    <a:bodyPr/>
                    <a:lstStyle/>
                    <a:p>
                      <a:r>
                        <a:rPr sz="2318" b="1" i="0" u="none">
                          <a:solidFill>
                            <a:srgbClr val="FFFFFF"/>
                          </a:solidFill>
                          <a:latin typeface="Arial"/>
                        </a:rPr>
                        <a:t>Operator</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Returns</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Duplicates</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UNION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Rows in either query</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Removed</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939253">
                <a:tc>
                  <a:txBody>
                    <a:bodyPr/>
                    <a:lstStyle/>
                    <a:p>
                      <a:r>
                        <a:rPr sz="2318" b="0" i="0" u="none">
                          <a:solidFill>
                            <a:srgbClr val="334155"/>
                          </a:solidFill>
                          <a:latin typeface="Calibri"/>
                        </a:rPr>
                        <a:t>UNION ALL</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Rows in either query</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Kept (faster)</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INTERSECT</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Rows in both queries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Removed</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939253">
                <a:tc>
                  <a:txBody>
                    <a:bodyPr/>
                    <a:lstStyle/>
                    <a:p>
                      <a:r>
                        <a:rPr sz="2318" b="0" i="0" u="none">
                          <a:solidFill>
                            <a:srgbClr val="334155"/>
                          </a:solidFill>
                          <a:latin typeface="Calibri"/>
                        </a:rPr>
                        <a:t>EXCEPT (or MINUS in Oracle)</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Rows in the first but not the second</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Removed</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7" name="Rectangle 6"/>
          <p:cNvSpPr/>
          <p:nvPr/>
        </p:nvSpPr>
        <p:spPr>
          <a:xfrm>
            <a:off x="9552878" y="2482024"/>
            <a:ext cx="7820721" cy="2419530"/>
          </a:xfrm>
          <a:prstGeom prst="rect">
            <a:avLst/>
          </a:prstGeom>
          <a:solidFill>
            <a:srgbClr val="F8FAFC"/>
          </a:solidFill>
          <a:ln w="14287">
            <a:solidFill>
              <a:srgbClr val="E2E8F0"/>
            </a:solidFill>
          </a:ln>
        </p:spPr>
        <p:txBody>
          <a:bodyPr rtlCol="0" anchor="ctr" lIns="0" rIns="0" tIns="0" bIns="0"/>
          <a:lstStyle/>
          <a:p>
            <a:pPr algn="ctr"/>
          </a:p>
        </p:txBody>
      </p:sp>
      <p:sp>
        <p:nvSpPr>
          <p:cNvPr id="8" name="TextBox 7"/>
          <p:cNvSpPr txBox="1"/>
          <p:nvPr/>
        </p:nvSpPr>
        <p:spPr>
          <a:xfrm>
            <a:off x="9819578" y="2748724"/>
            <a:ext cx="7287321" cy="1886130"/>
          </a:xfrm>
          <a:prstGeom prst="rect">
            <a:avLst/>
          </a:prstGeom>
          <a:noFill/>
        </p:spPr>
        <p:txBody>
          <a:bodyPr wrap="none" lIns="0" rIns="0" tIns="0" bIns="0"/>
          <a:lstStyle/>
          <a:p>
            <a:pPr>
              <a:lnSpc>
                <a:spcPct val="110000"/>
              </a:lnSpc>
            </a:pPr>
            <a:r>
              <a:rPr sz="1875" b="0" i="1" u="none">
                <a:solidFill>
                  <a:srgbClr val="64748B"/>
                </a:solidFill>
                <a:latin typeface="Courier New"/>
              </a:rPr>
              <a:t>-- departments in Stafford or managed by 333445555</a:t>
            </a:r>
          </a:p>
          <a:p>
            <a:pPr>
              <a:lnSpc>
                <a:spcPct val="110000"/>
              </a:lnSpc>
            </a:pPr>
            <a:r>
              <a:rPr sz="1875" b="1" i="0" u="none">
                <a:solidFill>
                  <a:srgbClr val="0E8A8A"/>
                </a:solidFill>
                <a:latin typeface="Courier New"/>
              </a:rPr>
              <a:t>SELECT</a:t>
            </a:r>
            <a:r>
              <a:rPr sz="1875" b="0" i="0" u="none">
                <a:solidFill>
                  <a:srgbClr val="0F172A"/>
                </a:solidFill>
                <a:latin typeface="Courier New"/>
              </a:rPr>
              <a:t> </a:t>
            </a:r>
            <a:r>
              <a:rPr sz="1875" b="0" i="0" u="none">
                <a:solidFill>
                  <a:srgbClr val="0F172A"/>
                </a:solidFill>
                <a:latin typeface="Courier New"/>
              </a:rPr>
              <a:t>dnumber</a:t>
            </a:r>
            <a:r>
              <a:rPr sz="1875" b="0" i="0" u="none">
                <a:solidFill>
                  <a:srgbClr val="0F172A"/>
                </a:solidFill>
                <a:latin typeface="Courier New"/>
              </a:rPr>
              <a:t> </a:t>
            </a:r>
            <a:r>
              <a:rPr sz="1875" b="1" i="0" u="none">
                <a:solidFill>
                  <a:srgbClr val="0E8A8A"/>
                </a:solidFill>
                <a:latin typeface="Courier New"/>
              </a:rPr>
              <a:t>FROM</a:t>
            </a:r>
            <a:r>
              <a:rPr sz="1875" b="0" i="0" u="none">
                <a:solidFill>
                  <a:srgbClr val="0F172A"/>
                </a:solidFill>
                <a:latin typeface="Courier New"/>
              </a:rPr>
              <a:t> </a:t>
            </a:r>
            <a:r>
              <a:rPr sz="1875" b="0" i="0" u="none">
                <a:solidFill>
                  <a:srgbClr val="0F172A"/>
                </a:solidFill>
                <a:latin typeface="Courier New"/>
              </a:rPr>
              <a:t>department</a:t>
            </a:r>
          </a:p>
          <a:p>
            <a:pPr>
              <a:lnSpc>
                <a:spcPct val="110000"/>
              </a:lnSpc>
            </a:pPr>
            <a:r>
              <a:rPr sz="1875" b="1" i="0" u="none">
                <a:solidFill>
                  <a:srgbClr val="0E8A8A"/>
                </a:solidFill>
                <a:latin typeface="Courier New"/>
              </a:rPr>
              <a:t>WHERE</a:t>
            </a:r>
            <a:r>
              <a:rPr sz="1875" b="0" i="0" u="none">
                <a:solidFill>
                  <a:srgbClr val="0F172A"/>
                </a:solidFill>
                <a:latin typeface="Courier New"/>
              </a:rPr>
              <a:t>  </a:t>
            </a:r>
            <a:r>
              <a:rPr sz="1875" b="0" i="0" u="none">
                <a:solidFill>
                  <a:srgbClr val="0F172A"/>
                </a:solidFill>
                <a:latin typeface="Courier New"/>
              </a:rPr>
              <a:t>mgr_ssn</a:t>
            </a:r>
            <a:r>
              <a:rPr sz="1875" b="0" i="0" u="none">
                <a:solidFill>
                  <a:srgbClr val="0F172A"/>
                </a:solidFill>
                <a:latin typeface="Courier New"/>
              </a:rPr>
              <a:t> </a:t>
            </a:r>
            <a:r>
              <a:rPr sz="1875" b="0" i="0" u="none">
                <a:solidFill>
                  <a:srgbClr val="0F172A"/>
                </a:solidFill>
                <a:latin typeface="Courier New"/>
              </a:rPr>
              <a:t>=</a:t>
            </a:r>
            <a:r>
              <a:rPr sz="1875" b="0" i="0" u="none">
                <a:solidFill>
                  <a:srgbClr val="0F172A"/>
                </a:solidFill>
                <a:latin typeface="Courier New"/>
              </a:rPr>
              <a:t> </a:t>
            </a:r>
            <a:r>
              <a:rPr sz="1875" b="0" i="0" u="none">
                <a:solidFill>
                  <a:srgbClr val="B45309"/>
                </a:solidFill>
                <a:latin typeface="Courier New"/>
              </a:rPr>
              <a:t>'333445555'</a:t>
            </a:r>
          </a:p>
          <a:p>
            <a:pPr>
              <a:lnSpc>
                <a:spcPct val="110000"/>
              </a:lnSpc>
            </a:pPr>
            <a:r>
              <a:rPr sz="1875" b="1" i="0" u="none">
                <a:solidFill>
                  <a:srgbClr val="0E8A8A"/>
                </a:solidFill>
                <a:latin typeface="Courier New"/>
              </a:rPr>
              <a:t>UNION</a:t>
            </a:r>
          </a:p>
          <a:p>
            <a:pPr>
              <a:lnSpc>
                <a:spcPct val="110000"/>
              </a:lnSpc>
            </a:pPr>
            <a:r>
              <a:rPr sz="1875" b="1" i="0" u="none">
                <a:solidFill>
                  <a:srgbClr val="0E8A8A"/>
                </a:solidFill>
                <a:latin typeface="Courier New"/>
              </a:rPr>
              <a:t>SELECT</a:t>
            </a:r>
            <a:r>
              <a:rPr sz="1875" b="0" i="0" u="none">
                <a:solidFill>
                  <a:srgbClr val="0F172A"/>
                </a:solidFill>
                <a:latin typeface="Courier New"/>
              </a:rPr>
              <a:t> </a:t>
            </a:r>
            <a:r>
              <a:rPr sz="1875" b="0" i="0" u="none">
                <a:solidFill>
                  <a:srgbClr val="0F172A"/>
                </a:solidFill>
                <a:latin typeface="Courier New"/>
              </a:rPr>
              <a:t>dnumber</a:t>
            </a:r>
            <a:r>
              <a:rPr sz="1875" b="0" i="0" u="none">
                <a:solidFill>
                  <a:srgbClr val="0F172A"/>
                </a:solidFill>
                <a:latin typeface="Courier New"/>
              </a:rPr>
              <a:t> </a:t>
            </a:r>
            <a:r>
              <a:rPr sz="1875" b="1" i="0" u="none">
                <a:solidFill>
                  <a:srgbClr val="0E8A8A"/>
                </a:solidFill>
                <a:latin typeface="Courier New"/>
              </a:rPr>
              <a:t>FROM</a:t>
            </a:r>
            <a:r>
              <a:rPr sz="1875" b="0" i="0" u="none">
                <a:solidFill>
                  <a:srgbClr val="0F172A"/>
                </a:solidFill>
                <a:latin typeface="Courier New"/>
              </a:rPr>
              <a:t> </a:t>
            </a:r>
            <a:r>
              <a:rPr sz="1875" b="0" i="0" u="none">
                <a:solidFill>
                  <a:srgbClr val="0F172A"/>
                </a:solidFill>
                <a:latin typeface="Courier New"/>
              </a:rPr>
              <a:t>dept_locations</a:t>
            </a:r>
          </a:p>
          <a:p>
            <a:pPr>
              <a:lnSpc>
                <a:spcPct val="110000"/>
              </a:lnSpc>
            </a:pPr>
            <a:r>
              <a:rPr sz="1875" b="1" i="0" u="none">
                <a:solidFill>
                  <a:srgbClr val="0E8A8A"/>
                </a:solidFill>
                <a:latin typeface="Courier New"/>
              </a:rPr>
              <a:t>WHERE</a:t>
            </a:r>
            <a:r>
              <a:rPr sz="1875" b="0" i="0" u="none">
                <a:solidFill>
                  <a:srgbClr val="0F172A"/>
                </a:solidFill>
                <a:latin typeface="Courier New"/>
              </a:rPr>
              <a:t>  </a:t>
            </a:r>
            <a:r>
              <a:rPr sz="1875" b="0" i="0" u="none">
                <a:solidFill>
                  <a:srgbClr val="0F172A"/>
                </a:solidFill>
                <a:latin typeface="Courier New"/>
              </a:rPr>
              <a:t>dlocation</a:t>
            </a:r>
            <a:r>
              <a:rPr sz="1875" b="0" i="0" u="none">
                <a:solidFill>
                  <a:srgbClr val="0F172A"/>
                </a:solidFill>
                <a:latin typeface="Courier New"/>
              </a:rPr>
              <a:t> </a:t>
            </a:r>
            <a:r>
              <a:rPr sz="1875" b="0" i="0" u="none">
                <a:solidFill>
                  <a:srgbClr val="0F172A"/>
                </a:solidFill>
                <a:latin typeface="Courier New"/>
              </a:rPr>
              <a:t>=</a:t>
            </a:r>
            <a:r>
              <a:rPr sz="1875" b="0" i="0" u="none">
                <a:solidFill>
                  <a:srgbClr val="0F172A"/>
                </a:solidFill>
                <a:latin typeface="Courier New"/>
              </a:rPr>
              <a:t> </a:t>
            </a:r>
            <a:r>
              <a:rPr sz="1875" b="0" i="0" u="none">
                <a:solidFill>
                  <a:srgbClr val="B45309"/>
                </a:solidFill>
                <a:latin typeface="Courier New"/>
              </a:rPr>
              <a:t>'Stafford'</a:t>
            </a:r>
            <a:r>
              <a:rPr sz="1875" b="0" i="0" u="none">
                <a:solidFill>
                  <a:srgbClr val="0F172A"/>
                </a:solidFill>
                <a:latin typeface="Courier New"/>
              </a:rPr>
              <a:t>;</a:t>
            </a:r>
          </a:p>
        </p:txBody>
      </p:sp>
      <p:sp>
        <p:nvSpPr>
          <p:cNvPr id="9" name="Rectangle 8"/>
          <p:cNvSpPr/>
          <p:nvPr/>
        </p:nvSpPr>
        <p:spPr>
          <a:xfrm>
            <a:off x="914400" y="6554042"/>
            <a:ext cx="16459200" cy="1410576"/>
          </a:xfrm>
          <a:prstGeom prst="rect">
            <a:avLst/>
          </a:prstGeom>
          <a:solidFill>
            <a:srgbClr val="E6F4F4"/>
          </a:solidFill>
          <a:ln>
            <a:noFill/>
          </a:ln>
        </p:spPr>
        <p:txBody>
          <a:bodyPr rtlCol="0" anchor="ctr" lIns="0" rIns="0" tIns="0" bIns="0"/>
          <a:lstStyle/>
          <a:p>
            <a:pPr algn="ctr"/>
          </a:p>
        </p:txBody>
      </p:sp>
      <p:sp>
        <p:nvSpPr>
          <p:cNvPr id="10" name="Rectangle 9"/>
          <p:cNvSpPr/>
          <p:nvPr/>
        </p:nvSpPr>
        <p:spPr>
          <a:xfrm>
            <a:off x="914400" y="6554042"/>
            <a:ext cx="47625" cy="1410576"/>
          </a:xfrm>
          <a:prstGeom prst="rect">
            <a:avLst/>
          </a:prstGeom>
          <a:solidFill>
            <a:srgbClr val="0E8A8A"/>
          </a:solidFill>
          <a:ln>
            <a:noFill/>
          </a:ln>
        </p:spPr>
        <p:txBody>
          <a:bodyPr rtlCol="0" anchor="ctr" lIns="0" rIns="0" tIns="0" bIns="0"/>
          <a:lstStyle/>
          <a:p>
            <a:pPr algn="ctr"/>
          </a:p>
        </p:txBody>
      </p:sp>
      <p:sp>
        <p:nvSpPr>
          <p:cNvPr id="11" name="TextBox 10"/>
          <p:cNvSpPr txBox="1"/>
          <p:nvPr/>
        </p:nvSpPr>
        <p:spPr>
          <a:xfrm>
            <a:off x="1341120" y="6820742"/>
            <a:ext cx="15605760" cy="877176"/>
          </a:xfrm>
          <a:prstGeom prst="rect">
            <a:avLst/>
          </a:prstGeom>
          <a:noFill/>
        </p:spPr>
        <p:txBody>
          <a:bodyPr wrap="square" lIns="0" rIns="0" tIns="0" bIns="0"/>
          <a:lstStyle/>
          <a:p>
            <a:pPr>
              <a:lnSpc>
                <a:spcPct val="112000"/>
              </a:lnSpc>
            </a:pPr>
            <a:r>
              <a:rPr sz="2511" b="0" i="0" u="none">
                <a:solidFill>
                  <a:srgbClr val="0F172A"/>
                </a:solidFill>
                <a:latin typeface="Calibri"/>
              </a:rPr>
              <a:t>Both queries need the </a:t>
            </a:r>
            <a:r>
              <a:rPr sz="2511" b="1" i="0" u="none">
                <a:solidFill>
                  <a:srgbClr val="0F172A"/>
                </a:solidFill>
                <a:latin typeface="Calibri"/>
              </a:rPr>
              <a:t>same number of columns</a:t>
            </a:r>
            <a:r>
              <a:rPr sz="2511" b="0" i="0" u="none">
                <a:solidFill>
                  <a:srgbClr val="0F172A"/>
                </a:solidFill>
                <a:latin typeface="Calibri"/>
              </a:rPr>
              <a:t> with </a:t>
            </a:r>
            <a:r>
              <a:rPr sz="2511" b="1" i="0" u="none">
                <a:solidFill>
                  <a:srgbClr val="0F172A"/>
                </a:solidFill>
                <a:latin typeface="Calibri"/>
              </a:rPr>
              <a:t>compatible types</a:t>
            </a:r>
            <a:r>
              <a:rPr sz="2511" b="0" i="0" u="none">
                <a:solidFill>
                  <a:srgbClr val="0F172A"/>
                </a:solidFill>
                <a:latin typeface="Calibri"/>
              </a:rPr>
              <a:t>; the result uses the column names of the </a:t>
            </a:r>
            <a:r>
              <a:rPr sz="2511" b="1" i="0" u="none">
                <a:solidFill>
                  <a:srgbClr val="0F172A"/>
                </a:solidFill>
                <a:latin typeface="Calibri"/>
              </a:rPr>
              <a:t>first</a:t>
            </a:r>
            <a:r>
              <a:rPr sz="2511" b="0" i="0" u="none">
                <a:solidFill>
                  <a:srgbClr val="0F172A"/>
                </a:solidFill>
                <a:latin typeface="Calibri"/>
              </a:rPr>
              <a:t> query.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76593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SUBQUERIES</a:t>
            </a:r>
          </a:p>
        </p:txBody>
      </p:sp>
      <p:cxnSp>
        <p:nvCxnSpPr>
          <p:cNvPr id="3" name="Connector 2"/>
          <p:cNvCxnSpPr/>
          <p:nvPr/>
        </p:nvCxnSpPr>
        <p:spPr>
          <a:xfrm>
            <a:off x="2756535" y="981075"/>
            <a:ext cx="1376934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49/71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Common table expressions (CTEs)</a:t>
            </a:r>
          </a:p>
        </p:txBody>
      </p:sp>
      <p:sp>
        <p:nvSpPr>
          <p:cNvPr id="6" name="Rectangle 5"/>
          <p:cNvSpPr/>
          <p:nvPr/>
        </p:nvSpPr>
        <p:spPr>
          <a:xfrm>
            <a:off x="914400" y="2482024"/>
            <a:ext cx="8572500" cy="4322801"/>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3789401"/>
          </a:xfrm>
          <a:prstGeom prst="rect">
            <a:avLst/>
          </a:prstGeom>
          <a:noFill/>
        </p:spPr>
        <p:txBody>
          <a:bodyPr wrap="none" lIns="0" rIns="0" tIns="0" bIns="0"/>
          <a:lstStyle/>
          <a:p>
            <a:pPr>
              <a:lnSpc>
                <a:spcPct val="110000"/>
              </a:lnSpc>
            </a:pPr>
            <a:r>
              <a:rPr sz="2511" b="1" i="0" u="none">
                <a:solidFill>
                  <a:srgbClr val="0E8A8A"/>
                </a:solidFill>
                <a:latin typeface="Courier New"/>
              </a:rPr>
              <a:t>WITH</a:t>
            </a:r>
            <a:r>
              <a:rPr sz="2511" b="0" i="0" u="none">
                <a:solidFill>
                  <a:srgbClr val="0F172A"/>
                </a:solidFill>
                <a:latin typeface="Courier New"/>
              </a:rPr>
              <a:t> </a:t>
            </a:r>
            <a:r>
              <a:rPr sz="2511" b="0" i="0" u="none">
                <a:solidFill>
                  <a:srgbClr val="0F172A"/>
                </a:solidFill>
                <a:latin typeface="Courier New"/>
              </a:rPr>
              <a:t>dept_avg</a:t>
            </a:r>
            <a:r>
              <a:rPr sz="2511" b="0" i="0" u="none">
                <a:solidFill>
                  <a:srgbClr val="0F172A"/>
                </a:solidFill>
                <a:latin typeface="Courier New"/>
              </a:rPr>
              <a:t> </a:t>
            </a:r>
            <a:r>
              <a:rPr sz="2511" b="1" i="0" u="none">
                <a:solidFill>
                  <a:srgbClr val="0E8A8A"/>
                </a:solidFill>
                <a:latin typeface="Courier New"/>
              </a:rPr>
              <a:t>AS</a:t>
            </a:r>
            <a:r>
              <a:rPr sz="2511" b="0" i="0" u="none">
                <a:solidFill>
                  <a:srgbClr val="0F172A"/>
                </a:solidFill>
                <a:latin typeface="Courier New"/>
              </a:rPr>
              <a:t> </a:t>
            </a:r>
            <a:r>
              <a:rPr sz="2511" b="0" i="0" u="none">
                <a:solidFill>
                  <a:srgbClr val="0F172A"/>
                </a:solidFill>
                <a:latin typeface="Courier New"/>
              </a:rPr>
              <a:t>(</a:t>
            </a:r>
          </a:p>
          <a:p>
            <a:pPr>
              <a:lnSpc>
                <a:spcPct val="110000"/>
              </a:lnSpc>
            </a:pPr>
            <a:r>
              <a:rPr sz="2511" b="0" i="0" u="none">
                <a:solidFill>
                  <a:srgbClr val="0F172A"/>
                </a:solidFill>
                <a:latin typeface="Courier New"/>
              </a:rPr>
              <a:t>  </a:t>
            </a: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dno</a:t>
            </a:r>
            <a:r>
              <a:rPr sz="2511" b="0" i="0" u="none">
                <a:solidFill>
                  <a:srgbClr val="0F172A"/>
                </a:solidFill>
                <a:latin typeface="Courier New"/>
              </a:rPr>
              <a:t>,</a:t>
            </a:r>
            <a:r>
              <a:rPr sz="2511" b="0" i="0" u="none">
                <a:solidFill>
                  <a:srgbClr val="0F172A"/>
                </a:solidFill>
                <a:latin typeface="Courier New"/>
              </a:rPr>
              <a:t> </a:t>
            </a:r>
            <a:r>
              <a:rPr sz="2511" b="1" i="0" u="none">
                <a:solidFill>
                  <a:srgbClr val="0E8A8A"/>
                </a:solidFill>
                <a:latin typeface="Courier New"/>
              </a:rPr>
              <a:t>AVG</a:t>
            </a:r>
            <a:r>
              <a:rPr sz="2511" b="0" i="0" u="none">
                <a:solidFill>
                  <a:srgbClr val="0F172A"/>
                </a:solidFill>
                <a:latin typeface="Courier New"/>
              </a:rPr>
              <a:t>(</a:t>
            </a:r>
            <a:r>
              <a:rPr sz="2511" b="0" i="0" u="none">
                <a:solidFill>
                  <a:srgbClr val="0F172A"/>
                </a:solidFill>
                <a:latin typeface="Courier New"/>
              </a:rPr>
              <a:t>salary</a:t>
            </a:r>
            <a:r>
              <a:rPr sz="2511" b="0" i="0" u="none">
                <a:solidFill>
                  <a:srgbClr val="0F172A"/>
                </a:solidFill>
                <a:latin typeface="Courier New"/>
              </a:rPr>
              <a:t>)</a:t>
            </a:r>
            <a:r>
              <a:rPr sz="2511" b="0" i="0" u="none">
                <a:solidFill>
                  <a:srgbClr val="0F172A"/>
                </a:solidFill>
                <a:latin typeface="Courier New"/>
              </a:rPr>
              <a:t> </a:t>
            </a:r>
            <a:r>
              <a:rPr sz="2511" b="1" i="0" u="none">
                <a:solidFill>
                  <a:srgbClr val="0E8A8A"/>
                </a:solidFill>
                <a:latin typeface="Courier New"/>
              </a:rPr>
              <a:t>AS</a:t>
            </a:r>
            <a:r>
              <a:rPr sz="2511" b="0" i="0" u="none">
                <a:solidFill>
                  <a:srgbClr val="0F172A"/>
                </a:solidFill>
                <a:latin typeface="Courier New"/>
              </a:rPr>
              <a:t> </a:t>
            </a:r>
            <a:r>
              <a:rPr sz="2511" b="0" i="0" u="none">
                <a:solidFill>
                  <a:srgbClr val="0F172A"/>
                </a:solidFill>
                <a:latin typeface="Courier New"/>
              </a:rPr>
              <a:t>avg_sal</a:t>
            </a:r>
          </a:p>
          <a:p>
            <a:pPr>
              <a:lnSpc>
                <a:spcPct val="110000"/>
              </a:lnSpc>
            </a:pPr>
            <a:r>
              <a:rPr sz="2511" b="0" i="0" u="none">
                <a:solidFill>
                  <a:srgbClr val="0F172A"/>
                </a:solidFill>
                <a:latin typeface="Courier New"/>
              </a:rPr>
              <a:t>  </a:t>
            </a: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a:t>
            </a:r>
          </a:p>
          <a:p>
            <a:pPr>
              <a:lnSpc>
                <a:spcPct val="110000"/>
              </a:lnSpc>
            </a:pPr>
            <a:r>
              <a:rPr sz="2511" b="0" i="0" u="none">
                <a:solidFill>
                  <a:srgbClr val="0F172A"/>
                </a:solidFill>
                <a:latin typeface="Courier New"/>
              </a:rPr>
              <a:t>  </a:t>
            </a:r>
            <a:r>
              <a:rPr sz="2511" b="1" i="0" u="none">
                <a:solidFill>
                  <a:srgbClr val="0E8A8A"/>
                </a:solidFill>
                <a:latin typeface="Courier New"/>
              </a:rPr>
              <a:t>GROUP</a:t>
            </a:r>
            <a:r>
              <a:rPr sz="2511" b="0" i="0" u="none">
                <a:solidFill>
                  <a:srgbClr val="0F172A"/>
                </a:solidFill>
                <a:latin typeface="Courier New"/>
              </a:rPr>
              <a:t>  </a:t>
            </a:r>
            <a:r>
              <a:rPr sz="2511" b="1" i="0" u="none">
                <a:solidFill>
                  <a:srgbClr val="0E8A8A"/>
                </a:solidFill>
                <a:latin typeface="Courier New"/>
              </a:rPr>
              <a:t>BY</a:t>
            </a:r>
            <a:r>
              <a:rPr sz="2511" b="0" i="0" u="none">
                <a:solidFill>
                  <a:srgbClr val="0F172A"/>
                </a:solidFill>
                <a:latin typeface="Courier New"/>
              </a:rPr>
              <a:t> </a:t>
            </a:r>
            <a:r>
              <a:rPr sz="2511" b="0" i="0" u="none">
                <a:solidFill>
                  <a:srgbClr val="0F172A"/>
                </a:solidFill>
                <a:latin typeface="Courier New"/>
              </a:rPr>
              <a:t>dno</a:t>
            </a:r>
          </a:p>
          <a:p>
            <a:pPr>
              <a:lnSpc>
                <a:spcPct val="110000"/>
              </a:lnSpc>
            </a:pPr>
            <a:r>
              <a:rPr sz="2511" b="0" i="0" u="none">
                <a:solidFill>
                  <a:srgbClr val="0F172A"/>
                </a:solidFill>
                <a:latin typeface="Courier New"/>
              </a:rPr>
              <a:t>)</a:t>
            </a:r>
          </a:p>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e</a:t>
            </a:r>
            <a:r>
              <a:rPr sz="2511" b="0" i="0" u="none">
                <a:solidFill>
                  <a:srgbClr val="0F172A"/>
                </a:solidFill>
                <a:latin typeface="Courier New"/>
              </a:rPr>
              <a:t>.</a:t>
            </a:r>
            <a:r>
              <a:rPr sz="2511" b="0" i="0" u="none">
                <a:solidFill>
                  <a:srgbClr val="0F172A"/>
                </a:solidFill>
                <a:latin typeface="Courier New"/>
              </a:rPr>
              <a:t>fname</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e</a:t>
            </a:r>
            <a:r>
              <a:rPr sz="2511" b="0" i="0" u="none">
                <a:solidFill>
                  <a:srgbClr val="0F172A"/>
                </a:solidFill>
                <a:latin typeface="Courier New"/>
              </a:rPr>
              <a:t>.</a:t>
            </a:r>
            <a:r>
              <a:rPr sz="2511" b="0" i="0" u="none">
                <a:solidFill>
                  <a:srgbClr val="0F172A"/>
                </a:solidFill>
                <a:latin typeface="Courier New"/>
              </a:rPr>
              <a:t>salary</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d</a:t>
            </a:r>
            <a:r>
              <a:rPr sz="2511" b="0" i="0" u="none">
                <a:solidFill>
                  <a:srgbClr val="0F172A"/>
                </a:solidFill>
                <a:latin typeface="Courier New"/>
              </a:rPr>
              <a:t>.</a:t>
            </a:r>
            <a:r>
              <a:rPr sz="2511" b="0" i="0" u="none">
                <a:solidFill>
                  <a:srgbClr val="0F172A"/>
                </a:solidFill>
                <a:latin typeface="Courier New"/>
              </a:rPr>
              <a:t>avg_sal</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a:t>
            </a:r>
            <a:r>
              <a:rPr sz="2511" b="0" i="0" u="none">
                <a:solidFill>
                  <a:srgbClr val="0F172A"/>
                </a:solidFill>
                <a:latin typeface="Courier New"/>
              </a:rPr>
              <a:t> </a:t>
            </a:r>
            <a:r>
              <a:rPr sz="2511" b="0" i="0" u="none">
                <a:solidFill>
                  <a:srgbClr val="0F172A"/>
                </a:solidFill>
                <a:latin typeface="Courier New"/>
              </a:rPr>
              <a:t>e</a:t>
            </a:r>
          </a:p>
          <a:p>
            <a:pPr>
              <a:lnSpc>
                <a:spcPct val="110000"/>
              </a:lnSpc>
            </a:pPr>
            <a:r>
              <a:rPr sz="2511" b="1" i="0" u="none">
                <a:solidFill>
                  <a:srgbClr val="0E8A8A"/>
                </a:solidFill>
                <a:latin typeface="Courier New"/>
              </a:rPr>
              <a:t>JOIN</a:t>
            </a:r>
            <a:r>
              <a:rPr sz="2511" b="0" i="0" u="none">
                <a:solidFill>
                  <a:srgbClr val="0F172A"/>
                </a:solidFill>
                <a:latin typeface="Courier New"/>
              </a:rPr>
              <a:t>   </a:t>
            </a:r>
            <a:r>
              <a:rPr sz="2511" b="0" i="0" u="none">
                <a:solidFill>
                  <a:srgbClr val="0F172A"/>
                </a:solidFill>
                <a:latin typeface="Courier New"/>
              </a:rPr>
              <a:t>dept_avg</a:t>
            </a:r>
            <a:r>
              <a:rPr sz="2511" b="0" i="0" u="none">
                <a:solidFill>
                  <a:srgbClr val="0F172A"/>
                </a:solidFill>
                <a:latin typeface="Courier New"/>
              </a:rPr>
              <a:t> </a:t>
            </a:r>
            <a:r>
              <a:rPr sz="2511" b="0" i="0" u="none">
                <a:solidFill>
                  <a:srgbClr val="0F172A"/>
                </a:solidFill>
                <a:latin typeface="Courier New"/>
              </a:rPr>
              <a:t>d</a:t>
            </a:r>
            <a:r>
              <a:rPr sz="2511" b="0" i="0" u="none">
                <a:solidFill>
                  <a:srgbClr val="0F172A"/>
                </a:solidFill>
                <a:latin typeface="Courier New"/>
              </a:rPr>
              <a:t> </a:t>
            </a:r>
            <a:r>
              <a:rPr sz="2511" b="1" i="0" u="none">
                <a:solidFill>
                  <a:srgbClr val="0E8A8A"/>
                </a:solidFill>
                <a:latin typeface="Courier New"/>
              </a:rPr>
              <a:t>ON</a:t>
            </a:r>
            <a:r>
              <a:rPr sz="2511" b="0" i="0" u="none">
                <a:solidFill>
                  <a:srgbClr val="0F172A"/>
                </a:solidFill>
                <a:latin typeface="Courier New"/>
              </a:rPr>
              <a:t> </a:t>
            </a:r>
            <a:r>
              <a:rPr sz="2511" b="0" i="0" u="none">
                <a:solidFill>
                  <a:srgbClr val="0F172A"/>
                </a:solidFill>
                <a:latin typeface="Courier New"/>
              </a:rPr>
              <a:t>d</a:t>
            </a:r>
            <a:r>
              <a:rPr sz="2511" b="0" i="0" u="none">
                <a:solidFill>
                  <a:srgbClr val="0F172A"/>
                </a:solidFill>
                <a:latin typeface="Courier New"/>
              </a:rPr>
              <a:t>.</a:t>
            </a:r>
            <a:r>
              <a:rPr sz="2511" b="0" i="0" u="none">
                <a:solidFill>
                  <a:srgbClr val="0F172A"/>
                </a:solidFill>
                <a:latin typeface="Courier New"/>
              </a:rPr>
              <a:t>dno</a:t>
            </a:r>
            <a:r>
              <a:rPr sz="2511" b="0" i="0" u="none">
                <a:solidFill>
                  <a:srgbClr val="0F172A"/>
                </a:solidFill>
                <a:latin typeface="Courier New"/>
              </a:rPr>
              <a:t> </a:t>
            </a:r>
            <a:r>
              <a:rPr sz="2511" b="0" i="0" u="none">
                <a:solidFill>
                  <a:srgbClr val="0F172A"/>
                </a:solidFill>
                <a:latin typeface="Courier New"/>
              </a:rPr>
              <a:t>=</a:t>
            </a:r>
            <a:r>
              <a:rPr sz="2511" b="0" i="0" u="none">
                <a:solidFill>
                  <a:srgbClr val="0F172A"/>
                </a:solidFill>
                <a:latin typeface="Courier New"/>
              </a:rPr>
              <a:t> </a:t>
            </a:r>
            <a:r>
              <a:rPr sz="2511" b="0" i="0" u="none">
                <a:solidFill>
                  <a:srgbClr val="0F172A"/>
                </a:solidFill>
                <a:latin typeface="Courier New"/>
              </a:rPr>
              <a:t>e</a:t>
            </a:r>
            <a:r>
              <a:rPr sz="2511" b="0" i="0" u="none">
                <a:solidFill>
                  <a:srgbClr val="0F172A"/>
                </a:solidFill>
                <a:latin typeface="Courier New"/>
              </a:rPr>
              <a:t>.</a:t>
            </a:r>
            <a:r>
              <a:rPr sz="2511" b="0" i="0" u="none">
                <a:solidFill>
                  <a:srgbClr val="0F172A"/>
                </a:solidFill>
                <a:latin typeface="Courier New"/>
              </a:rPr>
              <a:t>dno</a:t>
            </a:r>
          </a:p>
          <a:p>
            <a:pPr>
              <a:lnSpc>
                <a:spcPct val="110000"/>
              </a:lnSpc>
            </a:pPr>
            <a:r>
              <a:rPr sz="2511" b="1" i="0" u="none">
                <a:solidFill>
                  <a:srgbClr val="0E8A8A"/>
                </a:solidFill>
                <a:latin typeface="Courier New"/>
              </a:rPr>
              <a:t>WHERE</a:t>
            </a:r>
            <a:r>
              <a:rPr sz="2511" b="0" i="0" u="none">
                <a:solidFill>
                  <a:srgbClr val="0F172A"/>
                </a:solidFill>
                <a:latin typeface="Courier New"/>
              </a:rPr>
              <a:t>  </a:t>
            </a:r>
            <a:r>
              <a:rPr sz="2511" b="0" i="0" u="none">
                <a:solidFill>
                  <a:srgbClr val="0F172A"/>
                </a:solidFill>
                <a:latin typeface="Courier New"/>
              </a:rPr>
              <a:t>e</a:t>
            </a:r>
            <a:r>
              <a:rPr sz="2511" b="0" i="0" u="none">
                <a:solidFill>
                  <a:srgbClr val="0F172A"/>
                </a:solidFill>
                <a:latin typeface="Courier New"/>
              </a:rPr>
              <a:t>.</a:t>
            </a:r>
            <a:r>
              <a:rPr sz="2511" b="0" i="0" u="none">
                <a:solidFill>
                  <a:srgbClr val="0F172A"/>
                </a:solidFill>
                <a:latin typeface="Courier New"/>
              </a:rPr>
              <a:t>salary</a:t>
            </a:r>
            <a:r>
              <a:rPr sz="2511" b="0" i="0" u="none">
                <a:solidFill>
                  <a:srgbClr val="0F172A"/>
                </a:solidFill>
                <a:latin typeface="Courier New"/>
              </a:rPr>
              <a:t> </a:t>
            </a:r>
            <a:r>
              <a:rPr sz="2511" b="0" i="0" u="none">
                <a:solidFill>
                  <a:srgbClr val="0F172A"/>
                </a:solidFill>
                <a:latin typeface="Courier New"/>
              </a:rPr>
              <a:t>&gt;</a:t>
            </a:r>
            <a:r>
              <a:rPr sz="2511" b="0" i="0" u="none">
                <a:solidFill>
                  <a:srgbClr val="0F172A"/>
                </a:solidFill>
                <a:latin typeface="Courier New"/>
              </a:rPr>
              <a:t> </a:t>
            </a:r>
            <a:r>
              <a:rPr sz="2511" b="0" i="0" u="none">
                <a:solidFill>
                  <a:srgbClr val="0F172A"/>
                </a:solidFill>
                <a:latin typeface="Courier New"/>
              </a:rPr>
              <a:t>d</a:t>
            </a:r>
            <a:r>
              <a:rPr sz="2511" b="0" i="0" u="none">
                <a:solidFill>
                  <a:srgbClr val="0F172A"/>
                </a:solidFill>
                <a:latin typeface="Courier New"/>
              </a:rPr>
              <a:t>.</a:t>
            </a:r>
            <a:r>
              <a:rPr sz="2511" b="0" i="0" u="none">
                <a:solidFill>
                  <a:srgbClr val="0F172A"/>
                </a:solidFill>
                <a:latin typeface="Courier New"/>
              </a:rPr>
              <a:t>avg_sal</a:t>
            </a:r>
            <a:r>
              <a:rPr sz="2511" b="0" i="0" u="none">
                <a:solidFill>
                  <a:srgbClr val="0F172A"/>
                </a:solidFill>
                <a:latin typeface="Courier New"/>
              </a:rPr>
              <a:t>;</a:t>
            </a:r>
          </a:p>
        </p:txBody>
      </p:sp>
      <p:sp>
        <p:nvSpPr>
          <p:cNvPr id="8" name="Rectangle 7"/>
          <p:cNvSpPr/>
          <p:nvPr/>
        </p:nvSpPr>
        <p:spPr>
          <a:xfrm>
            <a:off x="9913620" y="2482024"/>
            <a:ext cx="7459980" cy="1744751"/>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13670" y="2882074"/>
            <a:ext cx="6659880" cy="944651"/>
          </a:xfrm>
          <a:prstGeom prst="rect">
            <a:avLst/>
          </a:prstGeom>
          <a:noFill/>
        </p:spPr>
        <p:txBody>
          <a:bodyPr wrap="square" lIns="0" rIns="0" tIns="0" bIns="0" anchor="t"/>
          <a:lstStyle/>
          <a:p>
            <a:pPr algn="l">
              <a:lnSpc>
                <a:spcPct val="111800"/>
              </a:lnSpc>
            </a:pPr>
            <a:r>
              <a:rPr sz="2704" b="0" i="0" u="none">
                <a:solidFill>
                  <a:srgbClr val="334155"/>
                </a:solidFill>
                <a:latin typeface="Calibri"/>
              </a:rPr>
              <a:t>A </a:t>
            </a:r>
            <a:r>
              <a:rPr sz="2704" b="1" i="0" u="none">
                <a:solidFill>
                  <a:srgbClr val="334155"/>
                </a:solidFill>
                <a:latin typeface="Calibri"/>
              </a:rPr>
              <a:t>CTE</a:t>
            </a:r>
            <a:r>
              <a:rPr sz="2704" b="0" i="0" u="none">
                <a:solidFill>
                  <a:srgbClr val="334155"/>
                </a:solidFill>
                <a:latin typeface="Calibri"/>
              </a:rPr>
              <a:t> names a subquery so you can read the query top to bottom, and reuse it.</a:t>
            </a:r>
          </a:p>
        </p:txBody>
      </p:sp>
      <p:sp>
        <p:nvSpPr>
          <p:cNvPr id="10" name="Rectangle 9"/>
          <p:cNvSpPr/>
          <p:nvPr/>
        </p:nvSpPr>
        <p:spPr>
          <a:xfrm>
            <a:off x="9913620" y="4440135"/>
            <a:ext cx="7459980" cy="1825241"/>
          </a:xfrm>
          <a:prstGeom prst="rect">
            <a:avLst/>
          </a:prstGeom>
          <a:solidFill>
            <a:srgbClr val="E6F4F4"/>
          </a:solidFill>
          <a:ln>
            <a:noFill/>
          </a:ln>
        </p:spPr>
        <p:txBody>
          <a:bodyPr rtlCol="0" anchor="ctr" lIns="0" rIns="0" tIns="0" bIns="0"/>
          <a:lstStyle/>
          <a:p>
            <a:pPr algn="ctr"/>
          </a:p>
        </p:txBody>
      </p:sp>
      <p:sp>
        <p:nvSpPr>
          <p:cNvPr id="11" name="Rectangle 10"/>
          <p:cNvSpPr/>
          <p:nvPr/>
        </p:nvSpPr>
        <p:spPr>
          <a:xfrm>
            <a:off x="9913620" y="4440135"/>
            <a:ext cx="47625" cy="1825241"/>
          </a:xfrm>
          <a:prstGeom prst="rect">
            <a:avLst/>
          </a:prstGeom>
          <a:solidFill>
            <a:srgbClr val="0E8A8A"/>
          </a:solidFill>
          <a:ln>
            <a:noFill/>
          </a:ln>
        </p:spPr>
        <p:txBody>
          <a:bodyPr rtlCol="0" anchor="ctr" lIns="0" rIns="0" tIns="0" bIns="0"/>
          <a:lstStyle/>
          <a:p>
            <a:pPr algn="ctr"/>
          </a:p>
        </p:txBody>
      </p:sp>
      <p:sp>
        <p:nvSpPr>
          <p:cNvPr id="12" name="TextBox 11"/>
          <p:cNvSpPr txBox="1"/>
          <p:nvPr/>
        </p:nvSpPr>
        <p:spPr>
          <a:xfrm>
            <a:off x="10340340" y="4706835"/>
            <a:ext cx="6606540" cy="1291841"/>
          </a:xfrm>
          <a:prstGeom prst="rect">
            <a:avLst/>
          </a:prstGeom>
          <a:noFill/>
        </p:spPr>
        <p:txBody>
          <a:bodyPr wrap="square" lIns="0" rIns="0" tIns="0" bIns="0"/>
          <a:lstStyle/>
          <a:p>
            <a:pPr>
              <a:lnSpc>
                <a:spcPct val="112000"/>
              </a:lnSpc>
            </a:pPr>
            <a:r>
              <a:rPr sz="2511" b="0" i="0" u="none">
                <a:solidFill>
                  <a:srgbClr val="0F172A"/>
                </a:solidFill>
                <a:latin typeface="Calibri"/>
              </a:rPr>
              <a:t>Supported by Oracle, SQL Server, PostgreSQL and MySQL 8+. </a:t>
            </a:r>
            <a:r>
              <a:rPr sz="2511" b="0" i="0" u="none">
                <a:solidFill>
                  <a:srgbClr val="0F172A"/>
                </a:solidFill>
                <a:latin typeface="Courier New"/>
              </a:rPr>
              <a:t>WITH RECURSIVE</a:t>
            </a:r>
            <a:r>
              <a:rPr sz="2511" b="0" i="0" u="none">
                <a:solidFill>
                  <a:srgbClr val="0F172A"/>
                </a:solidFill>
                <a:latin typeface="Calibri"/>
              </a:rPr>
              <a:t> can walk hierarchies like the supervisor chain.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07</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50/71</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07</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Summarizing data</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Aggregate functions, GROUP BY, HAVING and window functions.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AGGREGATION</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51/71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Aggregate (group) functions</a:t>
            </a:r>
          </a:p>
        </p:txBody>
      </p:sp>
      <p:sp>
        <p:nvSpPr>
          <p:cNvPr id="6" name="Rectangle 5"/>
          <p:cNvSpPr/>
          <p:nvPr/>
        </p:nvSpPr>
        <p:spPr>
          <a:xfrm>
            <a:off x="914400" y="2482024"/>
            <a:ext cx="8572500" cy="5585935"/>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5052535"/>
          </a:xfrm>
          <a:prstGeom prst="rect">
            <a:avLst/>
          </a:prstGeom>
          <a:noFill/>
        </p:spPr>
        <p:txBody>
          <a:bodyPr wrap="none" lIns="0" rIns="0" tIns="0" bIns="0"/>
          <a:lstStyle/>
          <a:p>
            <a:pPr>
              <a:lnSpc>
                <a:spcPct val="110000"/>
              </a:lnSpc>
            </a:pPr>
            <a:r>
              <a:rPr sz="2318" b="1" i="0" u="none">
                <a:solidFill>
                  <a:srgbClr val="0E8A8A"/>
                </a:solidFill>
                <a:latin typeface="Courier New"/>
              </a:rPr>
              <a:t>SELECT</a:t>
            </a:r>
            <a:r>
              <a:rPr sz="2318" b="0" i="0" u="none">
                <a:solidFill>
                  <a:srgbClr val="0F172A"/>
                </a:solidFill>
                <a:latin typeface="Courier New"/>
              </a:rPr>
              <a:t> </a:t>
            </a:r>
            <a:r>
              <a:rPr sz="2318" b="1" i="0" u="none">
                <a:solidFill>
                  <a:srgbClr val="0E8A8A"/>
                </a:solidFill>
                <a:latin typeface="Courier New"/>
              </a:rPr>
              <a:t>SUM</a:t>
            </a:r>
            <a:r>
              <a:rPr sz="2318" b="0" i="0" u="none">
                <a:solidFill>
                  <a:srgbClr val="0F172A"/>
                </a:solidFill>
                <a:latin typeface="Courier New"/>
              </a:rPr>
              <a:t>(</a:t>
            </a:r>
            <a:r>
              <a:rPr sz="2318" b="0" i="0" u="none">
                <a:solidFill>
                  <a:srgbClr val="0F172A"/>
                </a:solidFill>
                <a:latin typeface="Courier New"/>
              </a:rPr>
              <a:t>salary</a:t>
            </a:r>
            <a:r>
              <a:rPr sz="2318" b="0" i="0" u="none">
                <a:solidFill>
                  <a:srgbClr val="0F172A"/>
                </a:solidFill>
                <a:latin typeface="Courier New"/>
              </a:rPr>
              <a:t>)</a:t>
            </a:r>
            <a:r>
              <a:rPr sz="2318" b="0" i="0" u="none">
                <a:solidFill>
                  <a:srgbClr val="0F172A"/>
                </a:solidFill>
                <a:latin typeface="Courier New"/>
              </a:rPr>
              <a:t>,</a:t>
            </a:r>
            <a:r>
              <a:rPr sz="2318" b="0" i="0" u="none">
                <a:solidFill>
                  <a:srgbClr val="0F172A"/>
                </a:solidFill>
                <a:latin typeface="Courier New"/>
              </a:rPr>
              <a:t> </a:t>
            </a:r>
            <a:r>
              <a:rPr sz="2318" b="1" i="0" u="none">
                <a:solidFill>
                  <a:srgbClr val="0E8A8A"/>
                </a:solidFill>
                <a:latin typeface="Courier New"/>
              </a:rPr>
              <a:t>MAX</a:t>
            </a:r>
            <a:r>
              <a:rPr sz="2318" b="0" i="0" u="none">
                <a:solidFill>
                  <a:srgbClr val="0F172A"/>
                </a:solidFill>
                <a:latin typeface="Courier New"/>
              </a:rPr>
              <a:t>(</a:t>
            </a:r>
            <a:r>
              <a:rPr sz="2318" b="0" i="0" u="none">
                <a:solidFill>
                  <a:srgbClr val="0F172A"/>
                </a:solidFill>
                <a:latin typeface="Courier New"/>
              </a:rPr>
              <a:t>salary</a:t>
            </a:r>
            <a:r>
              <a:rPr sz="2318" b="0" i="0" u="none">
                <a:solidFill>
                  <a:srgbClr val="0F172A"/>
                </a:solidFill>
                <a:latin typeface="Courier New"/>
              </a:rPr>
              <a:t>)</a:t>
            </a:r>
            <a:r>
              <a:rPr sz="2318" b="0" i="0" u="none">
                <a:solidFill>
                  <a:srgbClr val="0F172A"/>
                </a:solidFill>
                <a:latin typeface="Courier New"/>
              </a:rPr>
              <a:t>,</a:t>
            </a:r>
          </a:p>
          <a:p>
            <a:pPr>
              <a:lnSpc>
                <a:spcPct val="110000"/>
              </a:lnSpc>
            </a:pPr>
            <a:r>
              <a:rPr sz="2318" b="0" i="0" u="none">
                <a:solidFill>
                  <a:srgbClr val="0F172A"/>
                </a:solidFill>
                <a:latin typeface="Courier New"/>
              </a:rPr>
              <a:t>       </a:t>
            </a:r>
            <a:r>
              <a:rPr sz="2318" b="1" i="0" u="none">
                <a:solidFill>
                  <a:srgbClr val="0E8A8A"/>
                </a:solidFill>
                <a:latin typeface="Courier New"/>
              </a:rPr>
              <a:t>MIN</a:t>
            </a:r>
            <a:r>
              <a:rPr sz="2318" b="0" i="0" u="none">
                <a:solidFill>
                  <a:srgbClr val="0F172A"/>
                </a:solidFill>
                <a:latin typeface="Courier New"/>
              </a:rPr>
              <a:t>(</a:t>
            </a:r>
            <a:r>
              <a:rPr sz="2318" b="0" i="0" u="none">
                <a:solidFill>
                  <a:srgbClr val="0F172A"/>
                </a:solidFill>
                <a:latin typeface="Courier New"/>
              </a:rPr>
              <a:t>salary</a:t>
            </a:r>
            <a:r>
              <a:rPr sz="2318" b="0" i="0" u="none">
                <a:solidFill>
                  <a:srgbClr val="0F172A"/>
                </a:solidFill>
                <a:latin typeface="Courier New"/>
              </a:rPr>
              <a:t>)</a:t>
            </a:r>
            <a:r>
              <a:rPr sz="2318" b="0" i="0" u="none">
                <a:solidFill>
                  <a:srgbClr val="0F172A"/>
                </a:solidFill>
                <a:latin typeface="Courier New"/>
              </a:rPr>
              <a:t>,</a:t>
            </a:r>
            <a:r>
              <a:rPr sz="2318" b="0" i="0" u="none">
                <a:solidFill>
                  <a:srgbClr val="0F172A"/>
                </a:solidFill>
                <a:latin typeface="Courier New"/>
              </a:rPr>
              <a:t> </a:t>
            </a:r>
            <a:r>
              <a:rPr sz="2318" b="1" i="0" u="none">
                <a:solidFill>
                  <a:srgbClr val="0E8A8A"/>
                </a:solidFill>
                <a:latin typeface="Courier New"/>
              </a:rPr>
              <a:t>AVG</a:t>
            </a:r>
            <a:r>
              <a:rPr sz="2318" b="0" i="0" u="none">
                <a:solidFill>
                  <a:srgbClr val="0F172A"/>
                </a:solidFill>
                <a:latin typeface="Courier New"/>
              </a:rPr>
              <a:t>(</a:t>
            </a:r>
            <a:r>
              <a:rPr sz="2318" b="0" i="0" u="none">
                <a:solidFill>
                  <a:srgbClr val="0F172A"/>
                </a:solidFill>
                <a:latin typeface="Courier New"/>
              </a:rPr>
              <a:t>salary</a:t>
            </a:r>
            <a:r>
              <a:rPr sz="2318" b="0" i="0" u="none">
                <a:solidFill>
                  <a:srgbClr val="0F172A"/>
                </a:solidFill>
                <a:latin typeface="Courier New"/>
              </a:rPr>
              <a:t>)</a:t>
            </a:r>
          </a:p>
          <a:p>
            <a:pPr>
              <a:lnSpc>
                <a:spcPct val="110000"/>
              </a:lnSpc>
            </a:pPr>
            <a:r>
              <a:rPr sz="2318" b="1" i="0" u="none">
                <a:solidFill>
                  <a:srgbClr val="0E8A8A"/>
                </a:solidFill>
                <a:latin typeface="Courier New"/>
              </a:rPr>
              <a:t>FROM</a:t>
            </a:r>
            <a:r>
              <a:rPr sz="2318" b="0" i="0" u="none">
                <a:solidFill>
                  <a:srgbClr val="0F172A"/>
                </a:solidFill>
                <a:latin typeface="Courier New"/>
              </a:rPr>
              <a:t>   </a:t>
            </a:r>
            <a:r>
              <a:rPr sz="2318" b="0" i="0" u="none">
                <a:solidFill>
                  <a:srgbClr val="0F172A"/>
                </a:solidFill>
                <a:latin typeface="Courier New"/>
              </a:rPr>
              <a:t>employee</a:t>
            </a:r>
            <a:r>
              <a:rPr sz="2318" b="0" i="0" u="none">
                <a:solidFill>
                  <a:srgbClr val="0F172A"/>
                </a:solidFill>
                <a:latin typeface="Courier New"/>
              </a:rPr>
              <a:t>;</a:t>
            </a:r>
          </a:p>
          <a:p>
            <a:pPr>
              <a:lnSpc>
                <a:spcPct val="110000"/>
              </a:lnSpc>
            </a:pPr>
            <a:r>
              <a:rPr sz="2318" b="0" i="0" u="none">
                <a:solidFill>
                  <a:srgbClr val="0F172A"/>
                </a:solidFill>
                <a:latin typeface="Courier New"/>
              </a:rPr>
              <a:t> </a:t>
            </a:r>
          </a:p>
          <a:p>
            <a:pPr>
              <a:lnSpc>
                <a:spcPct val="110000"/>
              </a:lnSpc>
            </a:pPr>
            <a:r>
              <a:rPr sz="2318" b="1" i="0" u="none">
                <a:solidFill>
                  <a:srgbClr val="0E8A8A"/>
                </a:solidFill>
                <a:latin typeface="Courier New"/>
              </a:rPr>
              <a:t>SELECT</a:t>
            </a:r>
            <a:r>
              <a:rPr sz="2318" b="0" i="0" u="none">
                <a:solidFill>
                  <a:srgbClr val="0F172A"/>
                </a:solidFill>
                <a:latin typeface="Courier New"/>
              </a:rPr>
              <a:t> </a:t>
            </a:r>
            <a:r>
              <a:rPr sz="2318" b="1" i="0" u="none">
                <a:solidFill>
                  <a:srgbClr val="0E8A8A"/>
                </a:solidFill>
                <a:latin typeface="Courier New"/>
              </a:rPr>
              <a:t>COUNT</a:t>
            </a:r>
            <a:r>
              <a:rPr sz="2318" b="0" i="0" u="none">
                <a:solidFill>
                  <a:srgbClr val="0F172A"/>
                </a:solidFill>
                <a:latin typeface="Courier New"/>
              </a:rPr>
              <a:t>(</a:t>
            </a:r>
            <a:r>
              <a:rPr sz="2318" b="0" i="0" u="none">
                <a:solidFill>
                  <a:srgbClr val="0F172A"/>
                </a:solidFill>
                <a:latin typeface="Courier New"/>
              </a:rPr>
              <a:t>*</a:t>
            </a:r>
            <a:r>
              <a:rPr sz="2318" b="0" i="0" u="none">
                <a:solidFill>
                  <a:srgbClr val="0F172A"/>
                </a:solidFill>
                <a:latin typeface="Courier New"/>
              </a:rPr>
              <a:t>)</a:t>
            </a:r>
            <a:r>
              <a:rPr sz="2318" b="0" i="0" u="none">
                <a:solidFill>
                  <a:srgbClr val="0F172A"/>
                </a:solidFill>
                <a:latin typeface="Courier New"/>
              </a:rPr>
              <a:t>           </a:t>
            </a:r>
            <a:r>
              <a:rPr sz="2318" b="1" i="0" u="none">
                <a:solidFill>
                  <a:srgbClr val="0E8A8A"/>
                </a:solidFill>
                <a:latin typeface="Courier New"/>
              </a:rPr>
              <a:t>AS</a:t>
            </a:r>
            <a:r>
              <a:rPr sz="2318" b="0" i="0" u="none">
                <a:solidFill>
                  <a:srgbClr val="0F172A"/>
                </a:solidFill>
                <a:latin typeface="Courier New"/>
              </a:rPr>
              <a:t> </a:t>
            </a:r>
            <a:r>
              <a:rPr sz="2318" b="0" i="0" u="none">
                <a:solidFill>
                  <a:srgbClr val="0F172A"/>
                </a:solidFill>
                <a:latin typeface="Courier New"/>
              </a:rPr>
              <a:t>employees</a:t>
            </a:r>
            <a:r>
              <a:rPr sz="2318" b="0" i="0" u="none">
                <a:solidFill>
                  <a:srgbClr val="0F172A"/>
                </a:solidFill>
                <a:latin typeface="Courier New"/>
              </a:rPr>
              <a:t>,</a:t>
            </a:r>
          </a:p>
          <a:p>
            <a:pPr>
              <a:lnSpc>
                <a:spcPct val="110000"/>
              </a:lnSpc>
            </a:pPr>
            <a:r>
              <a:rPr sz="2318" b="0" i="0" u="none">
                <a:solidFill>
                  <a:srgbClr val="0F172A"/>
                </a:solidFill>
                <a:latin typeface="Courier New"/>
              </a:rPr>
              <a:t>       </a:t>
            </a:r>
            <a:r>
              <a:rPr sz="2318" b="1" i="0" u="none">
                <a:solidFill>
                  <a:srgbClr val="0E8A8A"/>
                </a:solidFill>
                <a:latin typeface="Courier New"/>
              </a:rPr>
              <a:t>COUNT</a:t>
            </a:r>
            <a:r>
              <a:rPr sz="2318" b="0" i="0" u="none">
                <a:solidFill>
                  <a:srgbClr val="0F172A"/>
                </a:solidFill>
                <a:latin typeface="Courier New"/>
              </a:rPr>
              <a:t>(</a:t>
            </a:r>
            <a:r>
              <a:rPr sz="2318" b="0" i="0" u="none">
                <a:solidFill>
                  <a:srgbClr val="0F172A"/>
                </a:solidFill>
                <a:latin typeface="Courier New"/>
              </a:rPr>
              <a:t>super_ssn</a:t>
            </a:r>
            <a:r>
              <a:rPr sz="2318" b="0" i="0" u="none">
                <a:solidFill>
                  <a:srgbClr val="0F172A"/>
                </a:solidFill>
                <a:latin typeface="Courier New"/>
              </a:rPr>
              <a:t>)</a:t>
            </a:r>
            <a:r>
              <a:rPr sz="2318" b="0" i="0" u="none">
                <a:solidFill>
                  <a:srgbClr val="0F172A"/>
                </a:solidFill>
                <a:latin typeface="Courier New"/>
              </a:rPr>
              <a:t>   </a:t>
            </a:r>
            <a:r>
              <a:rPr sz="2318" b="1" i="0" u="none">
                <a:solidFill>
                  <a:srgbClr val="0E8A8A"/>
                </a:solidFill>
                <a:latin typeface="Courier New"/>
              </a:rPr>
              <a:t>AS</a:t>
            </a:r>
            <a:r>
              <a:rPr sz="2318" b="0" i="0" u="none">
                <a:solidFill>
                  <a:srgbClr val="0F172A"/>
                </a:solidFill>
                <a:latin typeface="Courier New"/>
              </a:rPr>
              <a:t> </a:t>
            </a:r>
            <a:r>
              <a:rPr sz="2318" b="0" i="0" u="none">
                <a:solidFill>
                  <a:srgbClr val="0F172A"/>
                </a:solidFill>
                <a:latin typeface="Courier New"/>
              </a:rPr>
              <a:t>with_supervisor</a:t>
            </a:r>
            <a:r>
              <a:rPr sz="2318" b="0" i="0" u="none">
                <a:solidFill>
                  <a:srgbClr val="0F172A"/>
                </a:solidFill>
                <a:latin typeface="Courier New"/>
              </a:rPr>
              <a:t>,</a:t>
            </a:r>
          </a:p>
          <a:p>
            <a:pPr>
              <a:lnSpc>
                <a:spcPct val="110000"/>
              </a:lnSpc>
            </a:pPr>
            <a:r>
              <a:rPr sz="2318" b="0" i="0" u="none">
                <a:solidFill>
                  <a:srgbClr val="0F172A"/>
                </a:solidFill>
                <a:latin typeface="Courier New"/>
              </a:rPr>
              <a:t>       </a:t>
            </a:r>
            <a:r>
              <a:rPr sz="2318" b="1" i="0" u="none">
                <a:solidFill>
                  <a:srgbClr val="0E8A8A"/>
                </a:solidFill>
                <a:latin typeface="Courier New"/>
              </a:rPr>
              <a:t>COUNT</a:t>
            </a:r>
            <a:r>
              <a:rPr sz="2318" b="0" i="0" u="none">
                <a:solidFill>
                  <a:srgbClr val="0F172A"/>
                </a:solidFill>
                <a:latin typeface="Courier New"/>
              </a:rPr>
              <a:t>(</a:t>
            </a:r>
            <a:r>
              <a:rPr sz="2318" b="1" i="0" u="none">
                <a:solidFill>
                  <a:srgbClr val="0E8A8A"/>
                </a:solidFill>
                <a:latin typeface="Courier New"/>
              </a:rPr>
              <a:t>DISTINCT</a:t>
            </a:r>
            <a:r>
              <a:rPr sz="2318" b="0" i="0" u="none">
                <a:solidFill>
                  <a:srgbClr val="0F172A"/>
                </a:solidFill>
                <a:latin typeface="Courier New"/>
              </a:rPr>
              <a:t> </a:t>
            </a:r>
            <a:r>
              <a:rPr sz="2318" b="0" i="0" u="none">
                <a:solidFill>
                  <a:srgbClr val="0F172A"/>
                </a:solidFill>
                <a:latin typeface="Courier New"/>
              </a:rPr>
              <a:t>dno</a:t>
            </a:r>
            <a:r>
              <a:rPr sz="2318" b="0" i="0" u="none">
                <a:solidFill>
                  <a:srgbClr val="0F172A"/>
                </a:solidFill>
                <a:latin typeface="Courier New"/>
              </a:rPr>
              <a:t>)</a:t>
            </a:r>
            <a:r>
              <a:rPr sz="2318" b="0" i="0" u="none">
                <a:solidFill>
                  <a:srgbClr val="0F172A"/>
                </a:solidFill>
                <a:latin typeface="Courier New"/>
              </a:rPr>
              <a:t> </a:t>
            </a:r>
            <a:r>
              <a:rPr sz="2318" b="1" i="0" u="none">
                <a:solidFill>
                  <a:srgbClr val="0E8A8A"/>
                </a:solidFill>
                <a:latin typeface="Courier New"/>
              </a:rPr>
              <a:t>AS</a:t>
            </a:r>
            <a:r>
              <a:rPr sz="2318" b="0" i="0" u="none">
                <a:solidFill>
                  <a:srgbClr val="0F172A"/>
                </a:solidFill>
                <a:latin typeface="Courier New"/>
              </a:rPr>
              <a:t> </a:t>
            </a:r>
            <a:r>
              <a:rPr sz="2318" b="0" i="0" u="none">
                <a:solidFill>
                  <a:srgbClr val="0F172A"/>
                </a:solidFill>
                <a:latin typeface="Courier New"/>
              </a:rPr>
              <a:t>departments</a:t>
            </a:r>
          </a:p>
          <a:p>
            <a:pPr>
              <a:lnSpc>
                <a:spcPct val="110000"/>
              </a:lnSpc>
            </a:pPr>
            <a:r>
              <a:rPr sz="2318" b="1" i="0" u="none">
                <a:solidFill>
                  <a:srgbClr val="0E8A8A"/>
                </a:solidFill>
                <a:latin typeface="Courier New"/>
              </a:rPr>
              <a:t>FROM</a:t>
            </a:r>
            <a:r>
              <a:rPr sz="2318" b="0" i="0" u="none">
                <a:solidFill>
                  <a:srgbClr val="0F172A"/>
                </a:solidFill>
                <a:latin typeface="Courier New"/>
              </a:rPr>
              <a:t>   </a:t>
            </a:r>
            <a:r>
              <a:rPr sz="2318" b="0" i="0" u="none">
                <a:solidFill>
                  <a:srgbClr val="0F172A"/>
                </a:solidFill>
                <a:latin typeface="Courier New"/>
              </a:rPr>
              <a:t>employee</a:t>
            </a:r>
            <a:r>
              <a:rPr sz="2318" b="0" i="0" u="none">
                <a:solidFill>
                  <a:srgbClr val="0F172A"/>
                </a:solidFill>
                <a:latin typeface="Courier New"/>
              </a:rPr>
              <a:t>;</a:t>
            </a:r>
          </a:p>
          <a:p>
            <a:pPr>
              <a:lnSpc>
                <a:spcPct val="110000"/>
              </a:lnSpc>
            </a:pPr>
            <a:r>
              <a:rPr sz="2318" b="0" i="0" u="none">
                <a:solidFill>
                  <a:srgbClr val="0F172A"/>
                </a:solidFill>
                <a:latin typeface="Courier New"/>
              </a:rPr>
              <a:t> </a:t>
            </a:r>
          </a:p>
          <a:p>
            <a:pPr>
              <a:lnSpc>
                <a:spcPct val="110000"/>
              </a:lnSpc>
            </a:pPr>
            <a:r>
              <a:rPr sz="2318" b="1" i="0" u="none">
                <a:solidFill>
                  <a:srgbClr val="0E8A8A"/>
                </a:solidFill>
                <a:latin typeface="Courier New"/>
              </a:rPr>
              <a:t>SELECT</a:t>
            </a:r>
            <a:r>
              <a:rPr sz="2318" b="0" i="0" u="none">
                <a:solidFill>
                  <a:srgbClr val="0F172A"/>
                </a:solidFill>
                <a:latin typeface="Courier New"/>
              </a:rPr>
              <a:t> </a:t>
            </a:r>
            <a:r>
              <a:rPr sz="2318" b="1" i="0" u="none">
                <a:solidFill>
                  <a:srgbClr val="0E8A8A"/>
                </a:solidFill>
                <a:latin typeface="Courier New"/>
              </a:rPr>
              <a:t>COUNT</a:t>
            </a:r>
            <a:r>
              <a:rPr sz="2318" b="0" i="0" u="none">
                <a:solidFill>
                  <a:srgbClr val="0F172A"/>
                </a:solidFill>
                <a:latin typeface="Courier New"/>
              </a:rPr>
              <a:t>(</a:t>
            </a:r>
            <a:r>
              <a:rPr sz="2318" b="0" i="0" u="none">
                <a:solidFill>
                  <a:srgbClr val="0F172A"/>
                </a:solidFill>
                <a:latin typeface="Courier New"/>
              </a:rPr>
              <a:t>*</a:t>
            </a:r>
            <a:r>
              <a:rPr sz="2318" b="0" i="0" u="none">
                <a:solidFill>
                  <a:srgbClr val="0F172A"/>
                </a:solidFill>
                <a:latin typeface="Courier New"/>
              </a:rPr>
              <a:t>)</a:t>
            </a:r>
          </a:p>
          <a:p>
            <a:pPr>
              <a:lnSpc>
                <a:spcPct val="110000"/>
              </a:lnSpc>
            </a:pPr>
            <a:r>
              <a:rPr sz="2318" b="1" i="0" u="none">
                <a:solidFill>
                  <a:srgbClr val="0E8A8A"/>
                </a:solidFill>
                <a:latin typeface="Courier New"/>
              </a:rPr>
              <a:t>FROM</a:t>
            </a:r>
            <a:r>
              <a:rPr sz="2318" b="0" i="0" u="none">
                <a:solidFill>
                  <a:srgbClr val="0F172A"/>
                </a:solidFill>
                <a:latin typeface="Courier New"/>
              </a:rPr>
              <a:t>   </a:t>
            </a:r>
            <a:r>
              <a:rPr sz="2318" b="0" i="0" u="none">
                <a:solidFill>
                  <a:srgbClr val="0F172A"/>
                </a:solidFill>
                <a:latin typeface="Courier New"/>
              </a:rPr>
              <a:t>employee</a:t>
            </a:r>
            <a:r>
              <a:rPr sz="2318" b="0" i="0" u="none">
                <a:solidFill>
                  <a:srgbClr val="0F172A"/>
                </a:solidFill>
                <a:latin typeface="Courier New"/>
              </a:rPr>
              <a:t> </a:t>
            </a:r>
            <a:r>
              <a:rPr sz="2318" b="0" i="0" u="none">
                <a:solidFill>
                  <a:srgbClr val="0F172A"/>
                </a:solidFill>
                <a:latin typeface="Courier New"/>
              </a:rPr>
              <a:t>e</a:t>
            </a:r>
          </a:p>
          <a:p>
            <a:pPr>
              <a:lnSpc>
                <a:spcPct val="110000"/>
              </a:lnSpc>
            </a:pPr>
            <a:r>
              <a:rPr sz="2318" b="1" i="0" u="none">
                <a:solidFill>
                  <a:srgbClr val="0E8A8A"/>
                </a:solidFill>
                <a:latin typeface="Courier New"/>
              </a:rPr>
              <a:t>JOIN</a:t>
            </a:r>
            <a:r>
              <a:rPr sz="2318" b="0" i="0" u="none">
                <a:solidFill>
                  <a:srgbClr val="0F172A"/>
                </a:solidFill>
                <a:latin typeface="Courier New"/>
              </a:rPr>
              <a:t>   </a:t>
            </a:r>
            <a:r>
              <a:rPr sz="2318" b="0" i="0" u="none">
                <a:solidFill>
                  <a:srgbClr val="0F172A"/>
                </a:solidFill>
                <a:latin typeface="Courier New"/>
              </a:rPr>
              <a:t>department</a:t>
            </a:r>
            <a:r>
              <a:rPr sz="2318" b="0" i="0" u="none">
                <a:solidFill>
                  <a:srgbClr val="0F172A"/>
                </a:solidFill>
                <a:latin typeface="Courier New"/>
              </a:rPr>
              <a:t> </a:t>
            </a:r>
            <a:r>
              <a:rPr sz="2318" b="0" i="0" u="none">
                <a:solidFill>
                  <a:srgbClr val="0F172A"/>
                </a:solidFill>
                <a:latin typeface="Courier New"/>
              </a:rPr>
              <a:t>d</a:t>
            </a:r>
            <a:r>
              <a:rPr sz="2318" b="0" i="0" u="none">
                <a:solidFill>
                  <a:srgbClr val="0F172A"/>
                </a:solidFill>
                <a:latin typeface="Courier New"/>
              </a:rPr>
              <a:t> </a:t>
            </a:r>
            <a:r>
              <a:rPr sz="2318" b="1" i="0" u="none">
                <a:solidFill>
                  <a:srgbClr val="0E8A8A"/>
                </a:solidFill>
                <a:latin typeface="Courier New"/>
              </a:rPr>
              <a:t>ON</a:t>
            </a:r>
            <a:r>
              <a:rPr sz="2318" b="0" i="0" u="none">
                <a:solidFill>
                  <a:srgbClr val="0F172A"/>
                </a:solidFill>
                <a:latin typeface="Courier New"/>
              </a:rPr>
              <a:t> </a:t>
            </a:r>
            <a:r>
              <a:rPr sz="2318" b="0" i="0" u="none">
                <a:solidFill>
                  <a:srgbClr val="0F172A"/>
                </a:solidFill>
                <a:latin typeface="Courier New"/>
              </a:rPr>
              <a:t>d</a:t>
            </a:r>
            <a:r>
              <a:rPr sz="2318" b="0" i="0" u="none">
                <a:solidFill>
                  <a:srgbClr val="0F172A"/>
                </a:solidFill>
                <a:latin typeface="Courier New"/>
              </a:rPr>
              <a:t>.</a:t>
            </a:r>
            <a:r>
              <a:rPr sz="2318" b="0" i="0" u="none">
                <a:solidFill>
                  <a:srgbClr val="0F172A"/>
                </a:solidFill>
                <a:latin typeface="Courier New"/>
              </a:rPr>
              <a:t>dnumber</a:t>
            </a:r>
            <a:r>
              <a:rPr sz="2318" b="0" i="0" u="none">
                <a:solidFill>
                  <a:srgbClr val="0F172A"/>
                </a:solidFill>
                <a:latin typeface="Courier New"/>
              </a:rPr>
              <a:t> </a:t>
            </a:r>
            <a:r>
              <a:rPr sz="2318" b="0" i="0" u="none">
                <a:solidFill>
                  <a:srgbClr val="0F172A"/>
                </a:solidFill>
                <a:latin typeface="Courier New"/>
              </a:rPr>
              <a:t>=</a:t>
            </a:r>
            <a:r>
              <a:rPr sz="2318" b="0" i="0" u="none">
                <a:solidFill>
                  <a:srgbClr val="0F172A"/>
                </a:solidFill>
                <a:latin typeface="Courier New"/>
              </a:rPr>
              <a:t> </a:t>
            </a:r>
            <a:r>
              <a:rPr sz="2318" b="0" i="0" u="none">
                <a:solidFill>
                  <a:srgbClr val="0F172A"/>
                </a:solidFill>
                <a:latin typeface="Courier New"/>
              </a:rPr>
              <a:t>e</a:t>
            </a:r>
            <a:r>
              <a:rPr sz="2318" b="0" i="0" u="none">
                <a:solidFill>
                  <a:srgbClr val="0F172A"/>
                </a:solidFill>
                <a:latin typeface="Courier New"/>
              </a:rPr>
              <a:t>.</a:t>
            </a:r>
            <a:r>
              <a:rPr sz="2318" b="0" i="0" u="none">
                <a:solidFill>
                  <a:srgbClr val="0F172A"/>
                </a:solidFill>
                <a:latin typeface="Courier New"/>
              </a:rPr>
              <a:t>dno</a:t>
            </a:r>
          </a:p>
          <a:p>
            <a:pPr>
              <a:lnSpc>
                <a:spcPct val="110000"/>
              </a:lnSpc>
            </a:pPr>
            <a:r>
              <a:rPr sz="2318" b="1" i="0" u="none">
                <a:solidFill>
                  <a:srgbClr val="0E8A8A"/>
                </a:solidFill>
                <a:latin typeface="Courier New"/>
              </a:rPr>
              <a:t>WHERE</a:t>
            </a:r>
            <a:r>
              <a:rPr sz="2318" b="0" i="0" u="none">
                <a:solidFill>
                  <a:srgbClr val="0F172A"/>
                </a:solidFill>
                <a:latin typeface="Courier New"/>
              </a:rPr>
              <a:t>  </a:t>
            </a:r>
            <a:r>
              <a:rPr sz="2318" b="0" i="0" u="none">
                <a:solidFill>
                  <a:srgbClr val="0F172A"/>
                </a:solidFill>
                <a:latin typeface="Courier New"/>
              </a:rPr>
              <a:t>d</a:t>
            </a:r>
            <a:r>
              <a:rPr sz="2318" b="0" i="0" u="none">
                <a:solidFill>
                  <a:srgbClr val="0F172A"/>
                </a:solidFill>
                <a:latin typeface="Courier New"/>
              </a:rPr>
              <a:t>.</a:t>
            </a:r>
            <a:r>
              <a:rPr sz="2318" b="0" i="0" u="none">
                <a:solidFill>
                  <a:srgbClr val="0F172A"/>
                </a:solidFill>
                <a:latin typeface="Courier New"/>
              </a:rPr>
              <a:t>dname</a:t>
            </a:r>
            <a:r>
              <a:rPr sz="2318" b="0" i="0" u="none">
                <a:solidFill>
                  <a:srgbClr val="0F172A"/>
                </a:solidFill>
                <a:latin typeface="Courier New"/>
              </a:rPr>
              <a:t> </a:t>
            </a:r>
            <a:r>
              <a:rPr sz="2318" b="0" i="0" u="none">
                <a:solidFill>
                  <a:srgbClr val="0F172A"/>
                </a:solidFill>
                <a:latin typeface="Courier New"/>
              </a:rPr>
              <a:t>=</a:t>
            </a:r>
            <a:r>
              <a:rPr sz="2318" b="0" i="0" u="none">
                <a:solidFill>
                  <a:srgbClr val="0F172A"/>
                </a:solidFill>
                <a:latin typeface="Courier New"/>
              </a:rPr>
              <a:t> </a:t>
            </a:r>
            <a:r>
              <a:rPr sz="2318" b="0" i="0" u="none">
                <a:solidFill>
                  <a:srgbClr val="B45309"/>
                </a:solidFill>
                <a:latin typeface="Courier New"/>
              </a:rPr>
              <a:t>'Research'</a:t>
            </a:r>
            <a:r>
              <a:rPr sz="2318" b="0" i="0" u="none">
                <a:solidFill>
                  <a:srgbClr val="0F172A"/>
                </a:solidFill>
                <a:latin typeface="Courier New"/>
              </a:rPr>
              <a:t>;</a:t>
            </a:r>
          </a:p>
        </p:txBody>
      </p:sp>
      <p:sp>
        <p:nvSpPr>
          <p:cNvPr id="8" name="Rectangle 7"/>
          <p:cNvSpPr/>
          <p:nvPr/>
        </p:nvSpPr>
        <p:spPr>
          <a:xfrm>
            <a:off x="9913620" y="2482024"/>
            <a:ext cx="7459980" cy="1677276"/>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13670" y="2882074"/>
            <a:ext cx="6659880" cy="877176"/>
          </a:xfrm>
          <a:prstGeom prst="rect">
            <a:avLst/>
          </a:prstGeom>
          <a:noFill/>
        </p:spPr>
        <p:txBody>
          <a:bodyPr wrap="square" lIns="0" rIns="0" tIns="0" bIns="0" anchor="t"/>
          <a:lstStyle/>
          <a:p>
            <a:pPr algn="l">
              <a:lnSpc>
                <a:spcPct val="111800"/>
              </a:lnSpc>
            </a:pPr>
            <a:r>
              <a:rPr sz="2511" b="0" i="0" u="none">
                <a:solidFill>
                  <a:srgbClr val="334155"/>
                </a:solidFill>
                <a:latin typeface="Calibri"/>
              </a:rPr>
              <a:t>Aggregates take </a:t>
            </a:r>
            <a:r>
              <a:rPr sz="2511" b="1" i="0" u="none">
                <a:solidFill>
                  <a:srgbClr val="334155"/>
                </a:solidFill>
                <a:latin typeface="Calibri"/>
              </a:rPr>
              <a:t>many rows</a:t>
            </a:r>
            <a:r>
              <a:rPr sz="2511" b="0" i="0" u="none">
                <a:solidFill>
                  <a:srgbClr val="334155"/>
                </a:solidFill>
                <a:latin typeface="Calibri"/>
              </a:rPr>
              <a:t> and return </a:t>
            </a:r>
            <a:r>
              <a:rPr sz="2511" b="1" i="0" u="none">
                <a:solidFill>
                  <a:srgbClr val="334155"/>
                </a:solidFill>
                <a:latin typeface="Calibri"/>
              </a:rPr>
              <a:t>one value</a:t>
            </a:r>
            <a:r>
              <a:rPr sz="2511" b="0" i="0" u="none">
                <a:solidFill>
                  <a:srgbClr val="334155"/>
                </a:solidFill>
                <a:latin typeface="Calibri"/>
              </a:rPr>
              <a:t> per group: COUNT, SUM, AVG, MIN, MAX.</a:t>
            </a:r>
          </a:p>
        </p:txBody>
      </p:sp>
      <p:sp>
        <p:nvSpPr>
          <p:cNvPr id="10" name="Rectangle 9"/>
          <p:cNvSpPr/>
          <p:nvPr/>
        </p:nvSpPr>
        <p:spPr>
          <a:xfrm>
            <a:off x="9913620" y="4372660"/>
            <a:ext cx="7459980" cy="2239906"/>
          </a:xfrm>
          <a:prstGeom prst="rect">
            <a:avLst/>
          </a:prstGeom>
          <a:solidFill>
            <a:srgbClr val="FEF3C7"/>
          </a:solidFill>
          <a:ln>
            <a:noFill/>
          </a:ln>
        </p:spPr>
        <p:txBody>
          <a:bodyPr rtlCol="0" anchor="ctr" lIns="0" rIns="0" tIns="0" bIns="0"/>
          <a:lstStyle/>
          <a:p>
            <a:pPr algn="ctr"/>
          </a:p>
        </p:txBody>
      </p:sp>
      <p:sp>
        <p:nvSpPr>
          <p:cNvPr id="11" name="Rectangle 10"/>
          <p:cNvSpPr/>
          <p:nvPr/>
        </p:nvSpPr>
        <p:spPr>
          <a:xfrm>
            <a:off x="9913620" y="4372660"/>
            <a:ext cx="47625" cy="2239906"/>
          </a:xfrm>
          <a:prstGeom prst="rect">
            <a:avLst/>
          </a:prstGeom>
          <a:solidFill>
            <a:srgbClr val="B45309"/>
          </a:solidFill>
          <a:ln>
            <a:noFill/>
          </a:ln>
        </p:spPr>
        <p:txBody>
          <a:bodyPr rtlCol="0" anchor="ctr" lIns="0" rIns="0" tIns="0" bIns="0"/>
          <a:lstStyle/>
          <a:p>
            <a:pPr algn="ctr"/>
          </a:p>
        </p:txBody>
      </p:sp>
      <p:sp>
        <p:nvSpPr>
          <p:cNvPr id="12" name="TextBox 11"/>
          <p:cNvSpPr txBox="1"/>
          <p:nvPr/>
        </p:nvSpPr>
        <p:spPr>
          <a:xfrm>
            <a:off x="10340340" y="4639360"/>
            <a:ext cx="6606540" cy="1706506"/>
          </a:xfrm>
          <a:prstGeom prst="rect">
            <a:avLst/>
          </a:prstGeom>
          <a:noFill/>
        </p:spPr>
        <p:txBody>
          <a:bodyPr wrap="square" lIns="0" rIns="0" tIns="0" bIns="0"/>
          <a:lstStyle/>
          <a:p>
            <a:pPr>
              <a:lnSpc>
                <a:spcPct val="112000"/>
              </a:lnSpc>
            </a:pPr>
            <a:r>
              <a:rPr sz="2511" b="0" i="0" u="none">
                <a:solidFill>
                  <a:srgbClr val="0F172A"/>
                </a:solidFill>
                <a:latin typeface="Calibri"/>
              </a:rPr>
              <a:t>All except COUNT(*) </a:t>
            </a:r>
            <a:r>
              <a:rPr sz="2511" b="1" i="0" u="none">
                <a:solidFill>
                  <a:srgbClr val="0F172A"/>
                </a:solidFill>
                <a:latin typeface="Calibri"/>
              </a:rPr>
              <a:t>ignore NULLs</a:t>
            </a:r>
            <a:r>
              <a:rPr sz="2511" b="0" i="0" u="none">
                <a:solidFill>
                  <a:srgbClr val="0F172A"/>
                </a:solidFill>
                <a:latin typeface="Calibri"/>
              </a:rPr>
              <a:t>: COUNT(*) counts rows, COUNT(col) counts only non-null values (8 employees, but COUNT(super_ssn) = 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AGGREGATION</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52/71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GROUP BY</a:t>
            </a:r>
          </a:p>
        </p:txBody>
      </p:sp>
      <p:sp>
        <p:nvSpPr>
          <p:cNvPr id="6" name="TextBox 5"/>
          <p:cNvSpPr txBox="1"/>
          <p:nvPr/>
        </p:nvSpPr>
        <p:spPr>
          <a:xfrm>
            <a:off x="914400" y="2482024"/>
            <a:ext cx="16459200" cy="498088"/>
          </a:xfrm>
          <a:prstGeom prst="rect">
            <a:avLst/>
          </a:prstGeom>
          <a:noFill/>
        </p:spPr>
        <p:txBody>
          <a:bodyPr wrap="square" lIns="0" rIns="0" tIns="0" bIns="0" anchor="t"/>
          <a:lstStyle/>
          <a:p>
            <a:pPr algn="l">
              <a:lnSpc>
                <a:spcPct val="111800"/>
              </a:lnSpc>
            </a:pPr>
            <a:r>
              <a:rPr sz="2704" b="0" i="0" u="none">
                <a:solidFill>
                  <a:srgbClr val="334155"/>
                </a:solidFill>
                <a:latin typeface="Calibri"/>
              </a:rPr>
              <a:t>For each department: its number, how many employees, and their average salary.</a:t>
            </a:r>
          </a:p>
        </p:txBody>
      </p:sp>
      <p:sp>
        <p:nvSpPr>
          <p:cNvPr id="7" name="Rectangle 6"/>
          <p:cNvSpPr/>
          <p:nvPr/>
        </p:nvSpPr>
        <p:spPr>
          <a:xfrm>
            <a:off x="914400" y="3342825"/>
            <a:ext cx="9398350" cy="2638623"/>
          </a:xfrm>
          <a:prstGeom prst="rect">
            <a:avLst/>
          </a:prstGeom>
          <a:solidFill>
            <a:srgbClr val="F8FAFC"/>
          </a:solidFill>
          <a:ln w="14287">
            <a:solidFill>
              <a:srgbClr val="E2E8F0"/>
            </a:solidFill>
          </a:ln>
        </p:spPr>
        <p:txBody>
          <a:bodyPr rtlCol="0" anchor="ctr" lIns="0" rIns="0" tIns="0" bIns="0"/>
          <a:lstStyle/>
          <a:p>
            <a:pPr algn="ctr"/>
          </a:p>
        </p:txBody>
      </p:sp>
      <p:sp>
        <p:nvSpPr>
          <p:cNvPr id="8" name="TextBox 7"/>
          <p:cNvSpPr txBox="1"/>
          <p:nvPr/>
        </p:nvSpPr>
        <p:spPr>
          <a:xfrm>
            <a:off x="1181100" y="3609525"/>
            <a:ext cx="8864950" cy="2105223"/>
          </a:xfrm>
          <a:prstGeom prst="rect">
            <a:avLst/>
          </a:prstGeom>
          <a:noFill/>
        </p:spPr>
        <p:txBody>
          <a:bodyPr wrap="none" lIns="0" rIns="0" tIns="0" bIns="0"/>
          <a:lstStyle/>
          <a:p>
            <a:pPr>
              <a:lnSpc>
                <a:spcPct val="110000"/>
              </a:lnSpc>
            </a:pPr>
            <a:r>
              <a:rPr sz="2511" b="1" i="0" u="none">
                <a:solidFill>
                  <a:srgbClr val="0E8A8A"/>
                </a:solidFill>
                <a:latin typeface="Courier New"/>
              </a:rPr>
              <a:t>SELECT</a:t>
            </a:r>
            <a:r>
              <a:rPr sz="2511" b="0" i="0" u="none">
                <a:solidFill>
                  <a:srgbClr val="0F172A"/>
                </a:solidFill>
                <a:latin typeface="Courier New"/>
              </a:rPr>
              <a:t>   </a:t>
            </a:r>
            <a:r>
              <a:rPr sz="2511" b="0" i="0" u="none">
                <a:solidFill>
                  <a:srgbClr val="0F172A"/>
                </a:solidFill>
                <a:latin typeface="Courier New"/>
              </a:rPr>
              <a:t>dno</a:t>
            </a:r>
            <a:r>
              <a:rPr sz="2511" b="0" i="0" u="none">
                <a:solidFill>
                  <a:srgbClr val="0F172A"/>
                </a:solidFill>
                <a:latin typeface="Courier New"/>
              </a:rPr>
              <a:t>,</a:t>
            </a:r>
          </a:p>
          <a:p>
            <a:pPr>
              <a:lnSpc>
                <a:spcPct val="110000"/>
              </a:lnSpc>
            </a:pPr>
            <a:r>
              <a:rPr sz="2511" b="0" i="0" u="none">
                <a:solidFill>
                  <a:srgbClr val="0F172A"/>
                </a:solidFill>
                <a:latin typeface="Courier New"/>
              </a:rPr>
              <a:t>         </a:t>
            </a:r>
            <a:r>
              <a:rPr sz="2511" b="1" i="0" u="none">
                <a:solidFill>
                  <a:srgbClr val="0E8A8A"/>
                </a:solidFill>
                <a:latin typeface="Courier New"/>
              </a:rPr>
              <a:t>COUNT</a:t>
            </a:r>
            <a:r>
              <a:rPr sz="2511" b="0" i="0" u="none">
                <a:solidFill>
                  <a:srgbClr val="0F172A"/>
                </a:solidFill>
                <a:latin typeface="Courier New"/>
              </a:rPr>
              <a:t>(</a:t>
            </a:r>
            <a:r>
              <a:rPr sz="2511" b="0" i="0" u="none">
                <a:solidFill>
                  <a:srgbClr val="0F172A"/>
                </a:solidFill>
                <a:latin typeface="Courier New"/>
              </a:rPr>
              <a:t>*</a:t>
            </a:r>
            <a:r>
              <a:rPr sz="2511" b="0" i="0" u="none">
                <a:solidFill>
                  <a:srgbClr val="0F172A"/>
                </a:solidFill>
                <a:latin typeface="Courier New"/>
              </a:rPr>
              <a:t>)</a:t>
            </a:r>
            <a:r>
              <a:rPr sz="2511" b="0" i="0" u="none">
                <a:solidFill>
                  <a:srgbClr val="0F172A"/>
                </a:solidFill>
                <a:latin typeface="Courier New"/>
              </a:rPr>
              <a:t>    </a:t>
            </a:r>
            <a:r>
              <a:rPr sz="2511" b="1" i="0" u="none">
                <a:solidFill>
                  <a:srgbClr val="0E8A8A"/>
                </a:solidFill>
                <a:latin typeface="Courier New"/>
              </a:rPr>
              <a:t>AS</a:t>
            </a:r>
            <a:r>
              <a:rPr sz="2511" b="0" i="0" u="none">
                <a:solidFill>
                  <a:srgbClr val="0F172A"/>
                </a:solidFill>
                <a:latin typeface="Courier New"/>
              </a:rPr>
              <a:t> </a:t>
            </a:r>
            <a:r>
              <a:rPr sz="2511" b="0" i="0" u="none">
                <a:solidFill>
                  <a:srgbClr val="0F172A"/>
                </a:solidFill>
                <a:latin typeface="Courier New"/>
              </a:rPr>
              <a:t>employees</a:t>
            </a:r>
            <a:r>
              <a:rPr sz="2511" b="0" i="0" u="none">
                <a:solidFill>
                  <a:srgbClr val="0F172A"/>
                </a:solidFill>
                <a:latin typeface="Courier New"/>
              </a:rPr>
              <a:t>,</a:t>
            </a:r>
          </a:p>
          <a:p>
            <a:pPr>
              <a:lnSpc>
                <a:spcPct val="110000"/>
              </a:lnSpc>
            </a:pPr>
            <a:r>
              <a:rPr sz="2511" b="0" i="0" u="none">
                <a:solidFill>
                  <a:srgbClr val="0F172A"/>
                </a:solidFill>
                <a:latin typeface="Courier New"/>
              </a:rPr>
              <a:t>         </a:t>
            </a:r>
            <a:r>
              <a:rPr sz="2511" b="1" i="0" u="none">
                <a:solidFill>
                  <a:srgbClr val="0E8A8A"/>
                </a:solidFill>
                <a:latin typeface="Courier New"/>
              </a:rPr>
              <a:t>AVG</a:t>
            </a:r>
            <a:r>
              <a:rPr sz="2511" b="0" i="0" u="none">
                <a:solidFill>
                  <a:srgbClr val="0F172A"/>
                </a:solidFill>
                <a:latin typeface="Courier New"/>
              </a:rPr>
              <a:t>(</a:t>
            </a:r>
            <a:r>
              <a:rPr sz="2511" b="0" i="0" u="none">
                <a:solidFill>
                  <a:srgbClr val="0F172A"/>
                </a:solidFill>
                <a:latin typeface="Courier New"/>
              </a:rPr>
              <a:t>salary</a:t>
            </a:r>
            <a:r>
              <a:rPr sz="2511" b="0" i="0" u="none">
                <a:solidFill>
                  <a:srgbClr val="0F172A"/>
                </a:solidFill>
                <a:latin typeface="Courier New"/>
              </a:rPr>
              <a:t>)</a:t>
            </a:r>
            <a:r>
              <a:rPr sz="2511" b="0" i="0" u="none">
                <a:solidFill>
                  <a:srgbClr val="0F172A"/>
                </a:solidFill>
                <a:latin typeface="Courier New"/>
              </a:rPr>
              <a:t> </a:t>
            </a:r>
            <a:r>
              <a:rPr sz="2511" b="1" i="0" u="none">
                <a:solidFill>
                  <a:srgbClr val="0E8A8A"/>
                </a:solidFill>
                <a:latin typeface="Courier New"/>
              </a:rPr>
              <a:t>AS</a:t>
            </a:r>
            <a:r>
              <a:rPr sz="2511" b="0" i="0" u="none">
                <a:solidFill>
                  <a:srgbClr val="0F172A"/>
                </a:solidFill>
                <a:latin typeface="Courier New"/>
              </a:rPr>
              <a:t> </a:t>
            </a:r>
            <a:r>
              <a:rPr sz="2511" b="0" i="0" u="none">
                <a:solidFill>
                  <a:srgbClr val="0F172A"/>
                </a:solidFill>
                <a:latin typeface="Courier New"/>
              </a:rPr>
              <a:t>avg_salary</a:t>
            </a:r>
          </a:p>
          <a:p>
            <a:pPr>
              <a:lnSpc>
                <a:spcPct val="110000"/>
              </a:lnSpc>
            </a:pPr>
            <a:r>
              <a:rPr sz="2511" b="1" i="0" u="none">
                <a:solidFill>
                  <a:srgbClr val="0E8A8A"/>
                </a:solidFill>
                <a:latin typeface="Courier New"/>
              </a:rPr>
              <a:t>FROM</a:t>
            </a:r>
            <a:r>
              <a:rPr sz="2511" b="0" i="0" u="none">
                <a:solidFill>
                  <a:srgbClr val="0F172A"/>
                </a:solidFill>
                <a:latin typeface="Courier New"/>
              </a:rPr>
              <a:t>     </a:t>
            </a:r>
            <a:r>
              <a:rPr sz="2511" b="0" i="0" u="none">
                <a:solidFill>
                  <a:srgbClr val="0F172A"/>
                </a:solidFill>
                <a:latin typeface="Courier New"/>
              </a:rPr>
              <a:t>employee</a:t>
            </a:r>
          </a:p>
          <a:p>
            <a:pPr>
              <a:lnSpc>
                <a:spcPct val="110000"/>
              </a:lnSpc>
            </a:pPr>
            <a:r>
              <a:rPr sz="2511" b="1" i="0" u="none">
                <a:solidFill>
                  <a:srgbClr val="0E8A8A"/>
                </a:solidFill>
                <a:latin typeface="Courier New"/>
              </a:rPr>
              <a:t>GROUP</a:t>
            </a:r>
            <a:r>
              <a:rPr sz="2511" b="0" i="0" u="none">
                <a:solidFill>
                  <a:srgbClr val="0F172A"/>
                </a:solidFill>
                <a:latin typeface="Courier New"/>
              </a:rPr>
              <a:t> </a:t>
            </a:r>
            <a:r>
              <a:rPr sz="2511" b="1" i="0" u="none">
                <a:solidFill>
                  <a:srgbClr val="0E8A8A"/>
                </a:solidFill>
                <a:latin typeface="Courier New"/>
              </a:rPr>
              <a:t>BY</a:t>
            </a:r>
            <a:r>
              <a:rPr sz="2511" b="0" i="0" u="none">
                <a:solidFill>
                  <a:srgbClr val="0F172A"/>
                </a:solidFill>
                <a:latin typeface="Courier New"/>
              </a:rPr>
              <a:t> </a:t>
            </a:r>
            <a:r>
              <a:rPr sz="2511" b="0" i="0" u="none">
                <a:solidFill>
                  <a:srgbClr val="0F172A"/>
                </a:solidFill>
                <a:latin typeface="Courier New"/>
              </a:rPr>
              <a:t>dno</a:t>
            </a:r>
            <a:r>
              <a:rPr sz="2511" b="0" i="0" u="none">
                <a:solidFill>
                  <a:srgbClr val="0F172A"/>
                </a:solidFill>
                <a:latin typeface="Courier New"/>
              </a:rPr>
              <a:t>;</a:t>
            </a:r>
          </a:p>
        </p:txBody>
      </p:sp>
      <p:sp>
        <p:nvSpPr>
          <p:cNvPr id="9" name="TextBox 8"/>
          <p:cNvSpPr txBox="1"/>
          <p:nvPr/>
        </p:nvSpPr>
        <p:spPr>
          <a:xfrm>
            <a:off x="10739470" y="3342825"/>
            <a:ext cx="6634129"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RESULT</a:t>
            </a:r>
          </a:p>
        </p:txBody>
      </p:sp>
      <p:graphicFrame>
        <p:nvGraphicFramePr>
          <p:cNvPr id="10" name="Table 9"/>
          <p:cNvGraphicFramePr>
            <a:graphicFrameLocks noGrp="1"/>
          </p:cNvGraphicFramePr>
          <p:nvPr/>
        </p:nvGraphicFramePr>
        <p:xfrm>
          <a:off x="10739470" y="3929778"/>
          <a:ext cx="6634128" cy="2320160"/>
        </p:xfrm>
        <a:graphic>
          <a:graphicData uri="http://schemas.openxmlformats.org/drawingml/2006/table">
            <a:tbl>
              <a:tblPr firstRow="0" bandRow="0">
                <a:tableStyleId>{5940675A-B579-460E-94D1-54222C63F5DA}</a:tableStyleId>
              </a:tblPr>
              <a:tblGrid>
                <a:gridCol w="2211376"/>
                <a:gridCol w="2211376"/>
                <a:gridCol w="2211376"/>
              </a:tblGrid>
              <a:tr h="580040">
                <a:tc>
                  <a:txBody>
                    <a:bodyPr/>
                    <a:lstStyle/>
                    <a:p>
                      <a:r>
                        <a:rPr sz="2318" b="1" i="0" u="none">
                          <a:solidFill>
                            <a:srgbClr val="FFFFFF"/>
                          </a:solidFill>
                          <a:latin typeface="Arial"/>
                        </a:rPr>
                        <a:t>dno</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employees</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avg_salary</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5</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4</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33250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4</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3</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31000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1</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55000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AGGREGATION</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53/71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HAVING filters groups</a:t>
            </a:r>
          </a:p>
        </p:txBody>
      </p:sp>
      <p:sp>
        <p:nvSpPr>
          <p:cNvPr id="6" name="Rectangle 5"/>
          <p:cNvSpPr/>
          <p:nvPr/>
        </p:nvSpPr>
        <p:spPr>
          <a:xfrm>
            <a:off x="914400" y="2482024"/>
            <a:ext cx="8572500" cy="3171979"/>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2638579"/>
          </a:xfrm>
          <a:prstGeom prst="rect">
            <a:avLst/>
          </a:prstGeom>
          <a:noFill/>
        </p:spPr>
        <p:txBody>
          <a:bodyPr wrap="none" lIns="0" rIns="0" tIns="0" bIns="0"/>
          <a:lstStyle/>
          <a:p>
            <a:pPr>
              <a:lnSpc>
                <a:spcPct val="110000"/>
              </a:lnSpc>
            </a:pPr>
            <a:r>
              <a:rPr sz="2248" b="0" i="1" u="none">
                <a:solidFill>
                  <a:srgbClr val="64748B"/>
                </a:solidFill>
                <a:latin typeface="Courier New"/>
              </a:rPr>
              <a:t>-- projects with more than two employees</a:t>
            </a:r>
          </a:p>
          <a:p>
            <a:pPr>
              <a:lnSpc>
                <a:spcPct val="110000"/>
              </a:lnSpc>
            </a:pPr>
            <a:r>
              <a:rPr sz="2248" b="1" i="0" u="none">
                <a:solidFill>
                  <a:srgbClr val="0E8A8A"/>
                </a:solidFill>
                <a:latin typeface="Courier New"/>
              </a:rPr>
              <a:t>SELECT</a:t>
            </a:r>
            <a:r>
              <a:rPr sz="2248" b="0" i="0" u="none">
                <a:solidFill>
                  <a:srgbClr val="0F172A"/>
                </a:solidFill>
                <a:latin typeface="Courier New"/>
              </a:rPr>
              <a:t>   </a:t>
            </a:r>
            <a:r>
              <a:rPr sz="2248" b="0" i="0" u="none">
                <a:solidFill>
                  <a:srgbClr val="0F172A"/>
                </a:solidFill>
                <a:latin typeface="Courier New"/>
              </a:rPr>
              <a:t>p</a:t>
            </a:r>
            <a:r>
              <a:rPr sz="2248" b="0" i="0" u="none">
                <a:solidFill>
                  <a:srgbClr val="0F172A"/>
                </a:solidFill>
                <a:latin typeface="Courier New"/>
              </a:rPr>
              <a:t>.</a:t>
            </a:r>
            <a:r>
              <a:rPr sz="2248" b="0" i="0" u="none">
                <a:solidFill>
                  <a:srgbClr val="0F172A"/>
                </a:solidFill>
                <a:latin typeface="Courier New"/>
              </a:rPr>
              <a:t>pnumber</a:t>
            </a:r>
            <a:r>
              <a:rPr sz="2248" b="0" i="0" u="none">
                <a:solidFill>
                  <a:srgbClr val="0F172A"/>
                </a:solidFill>
                <a:latin typeface="Courier New"/>
              </a:rPr>
              <a:t>,</a:t>
            </a:r>
            <a:r>
              <a:rPr sz="2248" b="0" i="0" u="none">
                <a:solidFill>
                  <a:srgbClr val="0F172A"/>
                </a:solidFill>
                <a:latin typeface="Courier New"/>
              </a:rPr>
              <a:t> </a:t>
            </a:r>
            <a:r>
              <a:rPr sz="2248" b="0" i="0" u="none">
                <a:solidFill>
                  <a:srgbClr val="0F172A"/>
                </a:solidFill>
                <a:latin typeface="Courier New"/>
              </a:rPr>
              <a:t>p</a:t>
            </a:r>
            <a:r>
              <a:rPr sz="2248" b="0" i="0" u="none">
                <a:solidFill>
                  <a:srgbClr val="0F172A"/>
                </a:solidFill>
                <a:latin typeface="Courier New"/>
              </a:rPr>
              <a:t>.</a:t>
            </a:r>
            <a:r>
              <a:rPr sz="2248" b="0" i="0" u="none">
                <a:solidFill>
                  <a:srgbClr val="0F172A"/>
                </a:solidFill>
                <a:latin typeface="Courier New"/>
              </a:rPr>
              <a:t>pname</a:t>
            </a:r>
            <a:r>
              <a:rPr sz="2248" b="0" i="0" u="none">
                <a:solidFill>
                  <a:srgbClr val="0F172A"/>
                </a:solidFill>
                <a:latin typeface="Courier New"/>
              </a:rPr>
              <a:t>,</a:t>
            </a:r>
            <a:r>
              <a:rPr sz="2248" b="0" i="0" u="none">
                <a:solidFill>
                  <a:srgbClr val="0F172A"/>
                </a:solidFill>
                <a:latin typeface="Courier New"/>
              </a:rPr>
              <a:t> </a:t>
            </a:r>
            <a:r>
              <a:rPr sz="2248" b="1" i="0" u="none">
                <a:solidFill>
                  <a:srgbClr val="0E8A8A"/>
                </a:solidFill>
                <a:latin typeface="Courier New"/>
              </a:rPr>
              <a:t>COUNT</a:t>
            </a:r>
            <a:r>
              <a:rPr sz="2248" b="0" i="0" u="none">
                <a:solidFill>
                  <a:srgbClr val="0F172A"/>
                </a:solidFill>
                <a:latin typeface="Courier New"/>
              </a:rPr>
              <a:t>(</a:t>
            </a:r>
            <a:r>
              <a:rPr sz="2248" b="0" i="0" u="none">
                <a:solidFill>
                  <a:srgbClr val="0F172A"/>
                </a:solidFill>
                <a:latin typeface="Courier New"/>
              </a:rPr>
              <a:t>*</a:t>
            </a:r>
            <a:r>
              <a:rPr sz="2248" b="0" i="0" u="none">
                <a:solidFill>
                  <a:srgbClr val="0F172A"/>
                </a:solidFill>
                <a:latin typeface="Courier New"/>
              </a:rPr>
              <a:t>)</a:t>
            </a:r>
            <a:r>
              <a:rPr sz="2248" b="0" i="0" u="none">
                <a:solidFill>
                  <a:srgbClr val="0F172A"/>
                </a:solidFill>
                <a:latin typeface="Courier New"/>
              </a:rPr>
              <a:t> </a:t>
            </a:r>
            <a:r>
              <a:rPr sz="2248" b="1" i="0" u="none">
                <a:solidFill>
                  <a:srgbClr val="0E8A8A"/>
                </a:solidFill>
                <a:latin typeface="Courier New"/>
              </a:rPr>
              <a:t>AS</a:t>
            </a:r>
            <a:r>
              <a:rPr sz="2248" b="0" i="0" u="none">
                <a:solidFill>
                  <a:srgbClr val="0F172A"/>
                </a:solidFill>
                <a:latin typeface="Courier New"/>
              </a:rPr>
              <a:t> </a:t>
            </a:r>
            <a:r>
              <a:rPr sz="2248" b="0" i="0" u="none">
                <a:solidFill>
                  <a:srgbClr val="0F172A"/>
                </a:solidFill>
                <a:latin typeface="Courier New"/>
              </a:rPr>
              <a:t>staff</a:t>
            </a:r>
          </a:p>
          <a:p>
            <a:pPr>
              <a:lnSpc>
                <a:spcPct val="110000"/>
              </a:lnSpc>
            </a:pPr>
            <a:r>
              <a:rPr sz="2248" b="1" i="0" u="none">
                <a:solidFill>
                  <a:srgbClr val="0E8A8A"/>
                </a:solidFill>
                <a:latin typeface="Courier New"/>
              </a:rPr>
              <a:t>FROM</a:t>
            </a:r>
            <a:r>
              <a:rPr sz="2248" b="0" i="0" u="none">
                <a:solidFill>
                  <a:srgbClr val="0F172A"/>
                </a:solidFill>
                <a:latin typeface="Courier New"/>
              </a:rPr>
              <a:t>     </a:t>
            </a:r>
            <a:r>
              <a:rPr sz="2248" b="0" i="0" u="none">
                <a:solidFill>
                  <a:srgbClr val="0F172A"/>
                </a:solidFill>
                <a:latin typeface="Courier New"/>
              </a:rPr>
              <a:t>project</a:t>
            </a:r>
            <a:r>
              <a:rPr sz="2248" b="0" i="0" u="none">
                <a:solidFill>
                  <a:srgbClr val="0F172A"/>
                </a:solidFill>
                <a:latin typeface="Courier New"/>
              </a:rPr>
              <a:t>  </a:t>
            </a:r>
            <a:r>
              <a:rPr sz="2248" b="0" i="0" u="none">
                <a:solidFill>
                  <a:srgbClr val="0F172A"/>
                </a:solidFill>
                <a:latin typeface="Courier New"/>
              </a:rPr>
              <a:t>p</a:t>
            </a:r>
          </a:p>
          <a:p>
            <a:pPr>
              <a:lnSpc>
                <a:spcPct val="110000"/>
              </a:lnSpc>
            </a:pPr>
            <a:r>
              <a:rPr sz="2248" b="1" i="0" u="none">
                <a:solidFill>
                  <a:srgbClr val="0E8A8A"/>
                </a:solidFill>
                <a:latin typeface="Courier New"/>
              </a:rPr>
              <a:t>JOIN</a:t>
            </a:r>
            <a:r>
              <a:rPr sz="2248" b="0" i="0" u="none">
                <a:solidFill>
                  <a:srgbClr val="0F172A"/>
                </a:solidFill>
                <a:latin typeface="Courier New"/>
              </a:rPr>
              <a:t>     </a:t>
            </a:r>
            <a:r>
              <a:rPr sz="2248" b="0" i="0" u="none">
                <a:solidFill>
                  <a:srgbClr val="0F172A"/>
                </a:solidFill>
                <a:latin typeface="Courier New"/>
              </a:rPr>
              <a:t>works_on</a:t>
            </a:r>
            <a:r>
              <a:rPr sz="2248" b="0" i="0" u="none">
                <a:solidFill>
                  <a:srgbClr val="0F172A"/>
                </a:solidFill>
                <a:latin typeface="Courier New"/>
              </a:rPr>
              <a:t> </a:t>
            </a:r>
            <a:r>
              <a:rPr sz="2248" b="0" i="0" u="none">
                <a:solidFill>
                  <a:srgbClr val="0F172A"/>
                </a:solidFill>
                <a:latin typeface="Courier New"/>
              </a:rPr>
              <a:t>w</a:t>
            </a:r>
            <a:r>
              <a:rPr sz="2248" b="0" i="0" u="none">
                <a:solidFill>
                  <a:srgbClr val="0F172A"/>
                </a:solidFill>
                <a:latin typeface="Courier New"/>
              </a:rPr>
              <a:t> </a:t>
            </a:r>
            <a:r>
              <a:rPr sz="2248" b="1" i="0" u="none">
                <a:solidFill>
                  <a:srgbClr val="0E8A8A"/>
                </a:solidFill>
                <a:latin typeface="Courier New"/>
              </a:rPr>
              <a:t>ON</a:t>
            </a:r>
            <a:r>
              <a:rPr sz="2248" b="0" i="0" u="none">
                <a:solidFill>
                  <a:srgbClr val="0F172A"/>
                </a:solidFill>
                <a:latin typeface="Courier New"/>
              </a:rPr>
              <a:t> </a:t>
            </a:r>
            <a:r>
              <a:rPr sz="2248" b="0" i="0" u="none">
                <a:solidFill>
                  <a:srgbClr val="0F172A"/>
                </a:solidFill>
                <a:latin typeface="Courier New"/>
              </a:rPr>
              <a:t>w</a:t>
            </a:r>
            <a:r>
              <a:rPr sz="2248" b="0" i="0" u="none">
                <a:solidFill>
                  <a:srgbClr val="0F172A"/>
                </a:solidFill>
                <a:latin typeface="Courier New"/>
              </a:rPr>
              <a:t>.</a:t>
            </a:r>
            <a:r>
              <a:rPr sz="2248" b="0" i="0" u="none">
                <a:solidFill>
                  <a:srgbClr val="0F172A"/>
                </a:solidFill>
                <a:latin typeface="Courier New"/>
              </a:rPr>
              <a:t>pno</a:t>
            </a:r>
            <a:r>
              <a:rPr sz="2248" b="0" i="0" u="none">
                <a:solidFill>
                  <a:srgbClr val="0F172A"/>
                </a:solidFill>
                <a:latin typeface="Courier New"/>
              </a:rPr>
              <a:t> </a:t>
            </a:r>
            <a:r>
              <a:rPr sz="2248" b="0" i="0" u="none">
                <a:solidFill>
                  <a:srgbClr val="0F172A"/>
                </a:solidFill>
                <a:latin typeface="Courier New"/>
              </a:rPr>
              <a:t>=</a:t>
            </a:r>
            <a:r>
              <a:rPr sz="2248" b="0" i="0" u="none">
                <a:solidFill>
                  <a:srgbClr val="0F172A"/>
                </a:solidFill>
                <a:latin typeface="Courier New"/>
              </a:rPr>
              <a:t> </a:t>
            </a:r>
            <a:r>
              <a:rPr sz="2248" b="0" i="0" u="none">
                <a:solidFill>
                  <a:srgbClr val="0F172A"/>
                </a:solidFill>
                <a:latin typeface="Courier New"/>
              </a:rPr>
              <a:t>p</a:t>
            </a:r>
            <a:r>
              <a:rPr sz="2248" b="0" i="0" u="none">
                <a:solidFill>
                  <a:srgbClr val="0F172A"/>
                </a:solidFill>
                <a:latin typeface="Courier New"/>
              </a:rPr>
              <a:t>.</a:t>
            </a:r>
            <a:r>
              <a:rPr sz="2248" b="0" i="0" u="none">
                <a:solidFill>
                  <a:srgbClr val="0F172A"/>
                </a:solidFill>
                <a:latin typeface="Courier New"/>
              </a:rPr>
              <a:t>pnumber</a:t>
            </a:r>
          </a:p>
          <a:p>
            <a:pPr>
              <a:lnSpc>
                <a:spcPct val="110000"/>
              </a:lnSpc>
            </a:pPr>
            <a:r>
              <a:rPr sz="2248" b="1" i="0" u="none">
                <a:solidFill>
                  <a:srgbClr val="0E8A8A"/>
                </a:solidFill>
                <a:latin typeface="Courier New"/>
              </a:rPr>
              <a:t>GROUP</a:t>
            </a:r>
            <a:r>
              <a:rPr sz="2248" b="0" i="0" u="none">
                <a:solidFill>
                  <a:srgbClr val="0F172A"/>
                </a:solidFill>
                <a:latin typeface="Courier New"/>
              </a:rPr>
              <a:t> </a:t>
            </a:r>
            <a:r>
              <a:rPr sz="2248" b="1" i="0" u="none">
                <a:solidFill>
                  <a:srgbClr val="0E8A8A"/>
                </a:solidFill>
                <a:latin typeface="Courier New"/>
              </a:rPr>
              <a:t>BY</a:t>
            </a:r>
            <a:r>
              <a:rPr sz="2248" b="0" i="0" u="none">
                <a:solidFill>
                  <a:srgbClr val="0F172A"/>
                </a:solidFill>
                <a:latin typeface="Courier New"/>
              </a:rPr>
              <a:t> </a:t>
            </a:r>
            <a:r>
              <a:rPr sz="2248" b="0" i="0" u="none">
                <a:solidFill>
                  <a:srgbClr val="0F172A"/>
                </a:solidFill>
                <a:latin typeface="Courier New"/>
              </a:rPr>
              <a:t>p</a:t>
            </a:r>
            <a:r>
              <a:rPr sz="2248" b="0" i="0" u="none">
                <a:solidFill>
                  <a:srgbClr val="0F172A"/>
                </a:solidFill>
                <a:latin typeface="Courier New"/>
              </a:rPr>
              <a:t>.</a:t>
            </a:r>
            <a:r>
              <a:rPr sz="2248" b="0" i="0" u="none">
                <a:solidFill>
                  <a:srgbClr val="0F172A"/>
                </a:solidFill>
                <a:latin typeface="Courier New"/>
              </a:rPr>
              <a:t>pnumber</a:t>
            </a:r>
            <a:r>
              <a:rPr sz="2248" b="0" i="0" u="none">
                <a:solidFill>
                  <a:srgbClr val="0F172A"/>
                </a:solidFill>
                <a:latin typeface="Courier New"/>
              </a:rPr>
              <a:t>,</a:t>
            </a:r>
            <a:r>
              <a:rPr sz="2248" b="0" i="0" u="none">
                <a:solidFill>
                  <a:srgbClr val="0F172A"/>
                </a:solidFill>
                <a:latin typeface="Courier New"/>
              </a:rPr>
              <a:t> </a:t>
            </a:r>
            <a:r>
              <a:rPr sz="2248" b="0" i="0" u="none">
                <a:solidFill>
                  <a:srgbClr val="0F172A"/>
                </a:solidFill>
                <a:latin typeface="Courier New"/>
              </a:rPr>
              <a:t>p</a:t>
            </a:r>
            <a:r>
              <a:rPr sz="2248" b="0" i="0" u="none">
                <a:solidFill>
                  <a:srgbClr val="0F172A"/>
                </a:solidFill>
                <a:latin typeface="Courier New"/>
              </a:rPr>
              <a:t>.</a:t>
            </a:r>
            <a:r>
              <a:rPr sz="2248" b="0" i="0" u="none">
                <a:solidFill>
                  <a:srgbClr val="0F172A"/>
                </a:solidFill>
                <a:latin typeface="Courier New"/>
              </a:rPr>
              <a:t>pname</a:t>
            </a:r>
          </a:p>
          <a:p>
            <a:pPr>
              <a:lnSpc>
                <a:spcPct val="110000"/>
              </a:lnSpc>
            </a:pPr>
            <a:r>
              <a:rPr sz="2248" b="1" i="0" u="none">
                <a:solidFill>
                  <a:srgbClr val="0E8A8A"/>
                </a:solidFill>
                <a:latin typeface="Courier New"/>
              </a:rPr>
              <a:t>HAVING</a:t>
            </a:r>
            <a:r>
              <a:rPr sz="2248" b="0" i="0" u="none">
                <a:solidFill>
                  <a:srgbClr val="0F172A"/>
                </a:solidFill>
                <a:latin typeface="Courier New"/>
              </a:rPr>
              <a:t>   </a:t>
            </a:r>
            <a:r>
              <a:rPr sz="2248" b="1" i="0" u="none">
                <a:solidFill>
                  <a:srgbClr val="0E8A8A"/>
                </a:solidFill>
                <a:latin typeface="Courier New"/>
              </a:rPr>
              <a:t>COUNT</a:t>
            </a:r>
            <a:r>
              <a:rPr sz="2248" b="0" i="0" u="none">
                <a:solidFill>
                  <a:srgbClr val="0F172A"/>
                </a:solidFill>
                <a:latin typeface="Courier New"/>
              </a:rPr>
              <a:t>(</a:t>
            </a:r>
            <a:r>
              <a:rPr sz="2248" b="0" i="0" u="none">
                <a:solidFill>
                  <a:srgbClr val="0F172A"/>
                </a:solidFill>
                <a:latin typeface="Courier New"/>
              </a:rPr>
              <a:t>*</a:t>
            </a:r>
            <a:r>
              <a:rPr sz="2248" b="0" i="0" u="none">
                <a:solidFill>
                  <a:srgbClr val="0F172A"/>
                </a:solidFill>
                <a:latin typeface="Courier New"/>
              </a:rPr>
              <a:t>)</a:t>
            </a:r>
            <a:r>
              <a:rPr sz="2248" b="0" i="0" u="none">
                <a:solidFill>
                  <a:srgbClr val="0F172A"/>
                </a:solidFill>
                <a:latin typeface="Courier New"/>
              </a:rPr>
              <a:t> </a:t>
            </a:r>
            <a:r>
              <a:rPr sz="2248" b="0" i="0" u="none">
                <a:solidFill>
                  <a:srgbClr val="0F172A"/>
                </a:solidFill>
                <a:latin typeface="Courier New"/>
              </a:rPr>
              <a:t>&gt;</a:t>
            </a:r>
            <a:r>
              <a:rPr sz="2248" b="0" i="0" u="none">
                <a:solidFill>
                  <a:srgbClr val="0F172A"/>
                </a:solidFill>
                <a:latin typeface="Courier New"/>
              </a:rPr>
              <a:t> </a:t>
            </a:r>
            <a:r>
              <a:rPr sz="2248" b="0" i="0" u="none">
                <a:solidFill>
                  <a:srgbClr val="B45309"/>
                </a:solidFill>
                <a:latin typeface="Courier New"/>
              </a:rPr>
              <a:t>2</a:t>
            </a:r>
          </a:p>
          <a:p>
            <a:pPr>
              <a:lnSpc>
                <a:spcPct val="110000"/>
              </a:lnSpc>
            </a:pPr>
            <a:r>
              <a:rPr sz="2248" b="1" i="0" u="none">
                <a:solidFill>
                  <a:srgbClr val="0E8A8A"/>
                </a:solidFill>
                <a:latin typeface="Courier New"/>
              </a:rPr>
              <a:t>ORDER</a:t>
            </a:r>
            <a:r>
              <a:rPr sz="2248" b="0" i="0" u="none">
                <a:solidFill>
                  <a:srgbClr val="0F172A"/>
                </a:solidFill>
                <a:latin typeface="Courier New"/>
              </a:rPr>
              <a:t> </a:t>
            </a:r>
            <a:r>
              <a:rPr sz="2248" b="1" i="0" u="none">
                <a:solidFill>
                  <a:srgbClr val="0E8A8A"/>
                </a:solidFill>
                <a:latin typeface="Courier New"/>
              </a:rPr>
              <a:t>BY</a:t>
            </a:r>
            <a:r>
              <a:rPr sz="2248" b="0" i="0" u="none">
                <a:solidFill>
                  <a:srgbClr val="0F172A"/>
                </a:solidFill>
                <a:latin typeface="Courier New"/>
              </a:rPr>
              <a:t> </a:t>
            </a:r>
            <a:r>
              <a:rPr sz="2248" b="0" i="0" u="none">
                <a:solidFill>
                  <a:srgbClr val="0F172A"/>
                </a:solidFill>
                <a:latin typeface="Courier New"/>
              </a:rPr>
              <a:t>p</a:t>
            </a:r>
            <a:r>
              <a:rPr sz="2248" b="0" i="0" u="none">
                <a:solidFill>
                  <a:srgbClr val="0F172A"/>
                </a:solidFill>
                <a:latin typeface="Courier New"/>
              </a:rPr>
              <a:t>.</a:t>
            </a:r>
            <a:r>
              <a:rPr sz="2248" b="0" i="0" u="none">
                <a:solidFill>
                  <a:srgbClr val="0F172A"/>
                </a:solidFill>
                <a:latin typeface="Courier New"/>
              </a:rPr>
              <a:t>pnumber</a:t>
            </a:r>
            <a:r>
              <a:rPr sz="2248" b="0" i="0" u="none">
                <a:solidFill>
                  <a:srgbClr val="0F172A"/>
                </a:solidFill>
                <a:latin typeface="Courier New"/>
              </a:rPr>
              <a:t>;</a:t>
            </a:r>
          </a:p>
        </p:txBody>
      </p:sp>
      <p:graphicFrame>
        <p:nvGraphicFramePr>
          <p:cNvPr id="8" name="Table 7"/>
          <p:cNvGraphicFramePr>
            <a:graphicFrameLocks noGrp="1"/>
          </p:cNvGraphicFramePr>
          <p:nvPr/>
        </p:nvGraphicFramePr>
        <p:xfrm>
          <a:off x="9913620" y="2482024"/>
          <a:ext cx="7459980" cy="2513508"/>
        </p:xfrm>
        <a:graphic>
          <a:graphicData uri="http://schemas.openxmlformats.org/drawingml/2006/table">
            <a:tbl>
              <a:tblPr firstRow="0" bandRow="0">
                <a:tableStyleId>{5940675A-B579-460E-94D1-54222C63F5DA}</a:tableStyleId>
              </a:tblPr>
              <a:tblGrid>
                <a:gridCol w="3729990"/>
                <a:gridCol w="3729990"/>
              </a:tblGrid>
              <a:tr h="628377">
                <a:tc>
                  <a:txBody>
                    <a:bodyPr/>
                    <a:lstStyle/>
                    <a:p>
                      <a:r>
                        <a:rPr sz="2511" b="1" i="0" u="none">
                          <a:solidFill>
                            <a:srgbClr val="FFFFFF"/>
                          </a:solidFill>
                          <a:latin typeface="Arial"/>
                        </a:rPr>
                        <a:t>WHERE</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1" i="0" u="none">
                          <a:solidFill>
                            <a:srgbClr val="FFFFFF"/>
                          </a:solidFill>
                          <a:latin typeface="Arial"/>
                        </a:rPr>
                        <a:t>HAVING</a:t>
                      </a:r>
                    </a:p>
                  </a:txBody>
                  <a:tcPr marL="159486" marR="159486" marT="95691" marB="9569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Filters </a:t>
                      </a:r>
                      <a:r>
                        <a:rPr sz="2511" b="1" i="0" u="none">
                          <a:solidFill>
                            <a:srgbClr val="334155"/>
                          </a:solidFill>
                          <a:latin typeface="Calibri"/>
                        </a:rPr>
                        <a:t>rows</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Filters </a:t>
                      </a:r>
                      <a:r>
                        <a:rPr sz="2511" b="1" i="0" u="none">
                          <a:solidFill>
                            <a:srgbClr val="334155"/>
                          </a:solidFill>
                          <a:latin typeface="Calibri"/>
                        </a:rPr>
                        <a:t>groups</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Before grouping</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After grouping</a:t>
                      </a:r>
                    </a:p>
                  </a:txBody>
                  <a:tcPr marL="159486" marR="159486" marT="95691" marB="9569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628377">
                <a:tc>
                  <a:txBody>
                    <a:bodyPr/>
                    <a:lstStyle/>
                    <a:p>
                      <a:r>
                        <a:rPr sz="2511" b="0" i="0" u="none">
                          <a:solidFill>
                            <a:srgbClr val="334155"/>
                          </a:solidFill>
                          <a:latin typeface="Calibri"/>
                        </a:rPr>
                        <a:t>No aggregates</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511" b="0" i="0" u="none">
                          <a:solidFill>
                            <a:srgbClr val="334155"/>
                          </a:solidFill>
                          <a:latin typeface="Calibri"/>
                        </a:rPr>
                        <a:t>Uses aggregates</a:t>
                      </a:r>
                    </a:p>
                  </a:txBody>
                  <a:tcPr marL="159486" marR="159486" marT="95691" marB="9569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9" name="Rectangle 8"/>
          <p:cNvSpPr/>
          <p:nvPr/>
        </p:nvSpPr>
        <p:spPr>
          <a:xfrm>
            <a:off x="9913620" y="5208893"/>
            <a:ext cx="7459980" cy="1343101"/>
          </a:xfrm>
          <a:prstGeom prst="rect">
            <a:avLst/>
          </a:prstGeom>
          <a:solidFill>
            <a:srgbClr val="E6F4F4"/>
          </a:solidFill>
          <a:ln>
            <a:noFill/>
          </a:ln>
        </p:spPr>
        <p:txBody>
          <a:bodyPr rtlCol="0" anchor="ctr" lIns="0" rIns="0" tIns="0" bIns="0"/>
          <a:lstStyle/>
          <a:p>
            <a:pPr algn="ctr"/>
          </a:p>
        </p:txBody>
      </p:sp>
      <p:sp>
        <p:nvSpPr>
          <p:cNvPr id="10" name="Rectangle 9"/>
          <p:cNvSpPr/>
          <p:nvPr/>
        </p:nvSpPr>
        <p:spPr>
          <a:xfrm>
            <a:off x="9913620" y="5208893"/>
            <a:ext cx="47625" cy="1343101"/>
          </a:xfrm>
          <a:prstGeom prst="rect">
            <a:avLst/>
          </a:prstGeom>
          <a:solidFill>
            <a:srgbClr val="0E8A8A"/>
          </a:solidFill>
          <a:ln>
            <a:noFill/>
          </a:ln>
        </p:spPr>
        <p:txBody>
          <a:bodyPr rtlCol="0" anchor="ctr" lIns="0" rIns="0" tIns="0" bIns="0"/>
          <a:lstStyle/>
          <a:p>
            <a:pPr algn="ctr"/>
          </a:p>
        </p:txBody>
      </p:sp>
      <p:sp>
        <p:nvSpPr>
          <p:cNvPr id="11" name="TextBox 10"/>
          <p:cNvSpPr txBox="1"/>
          <p:nvPr/>
        </p:nvSpPr>
        <p:spPr>
          <a:xfrm>
            <a:off x="10340340" y="5475593"/>
            <a:ext cx="6606540" cy="809701"/>
          </a:xfrm>
          <a:prstGeom prst="rect">
            <a:avLst/>
          </a:prstGeom>
          <a:noFill/>
        </p:spPr>
        <p:txBody>
          <a:bodyPr wrap="square" lIns="0" rIns="0" tIns="0" bIns="0"/>
          <a:lstStyle/>
          <a:p>
            <a:pPr>
              <a:lnSpc>
                <a:spcPct val="112000"/>
              </a:lnSpc>
            </a:pPr>
            <a:r>
              <a:rPr sz="2318" b="0" i="0" u="none">
                <a:solidFill>
                  <a:srgbClr val="0F172A"/>
                </a:solidFill>
                <a:latin typeface="Calibri"/>
              </a:rPr>
              <a:t>Put conditions that don't need an aggregate in </a:t>
            </a:r>
            <a:r>
              <a:rPr sz="2318" b="1" i="0" u="none">
                <a:solidFill>
                  <a:srgbClr val="0F172A"/>
                </a:solidFill>
                <a:latin typeface="Calibri"/>
              </a:rPr>
              <a:t>WHERE</a:t>
            </a:r>
            <a:r>
              <a:rPr sz="2318" b="0" i="0" u="none">
                <a:solidFill>
                  <a:srgbClr val="0F172A"/>
                </a:solidFill>
                <a:latin typeface="Calibri"/>
              </a:rPr>
              <a:t>: fewer rows to group.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885378"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AGGREGATION</a:t>
            </a:r>
          </a:p>
        </p:txBody>
      </p:sp>
      <p:cxnSp>
        <p:nvCxnSpPr>
          <p:cNvPr id="3" name="Connector 2"/>
          <p:cNvCxnSpPr/>
          <p:nvPr/>
        </p:nvCxnSpPr>
        <p:spPr>
          <a:xfrm>
            <a:off x="2875978" y="981075"/>
            <a:ext cx="13649897"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54/71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Window functions: aggregates without collapsing rows</a:t>
            </a:r>
          </a:p>
        </p:txBody>
      </p:sp>
      <p:sp>
        <p:nvSpPr>
          <p:cNvPr id="6" name="TextBox 5"/>
          <p:cNvSpPr txBox="1"/>
          <p:nvPr/>
        </p:nvSpPr>
        <p:spPr>
          <a:xfrm>
            <a:off x="914400" y="2482024"/>
            <a:ext cx="16459200" cy="462511"/>
          </a:xfrm>
          <a:prstGeom prst="rect">
            <a:avLst/>
          </a:prstGeom>
          <a:noFill/>
        </p:spPr>
        <p:txBody>
          <a:bodyPr wrap="square" lIns="0" rIns="0" tIns="0" bIns="0" anchor="t"/>
          <a:lstStyle/>
          <a:p>
            <a:pPr algn="l">
              <a:lnSpc>
                <a:spcPct val="111800"/>
              </a:lnSpc>
            </a:pPr>
            <a:r>
              <a:rPr sz="2511" b="0" i="0" u="none">
                <a:solidFill>
                  <a:srgbClr val="334155"/>
                </a:solidFill>
                <a:latin typeface="Calibri"/>
              </a:rPr>
              <a:t>Keep every employee row </a:t>
            </a:r>
            <a:r>
              <a:rPr sz="2511" b="1" i="0" u="none">
                <a:solidFill>
                  <a:srgbClr val="334155"/>
                </a:solidFill>
                <a:latin typeface="Calibri"/>
              </a:rPr>
              <a:t>and</a:t>
            </a:r>
            <a:r>
              <a:rPr sz="2511" b="0" i="0" u="none">
                <a:solidFill>
                  <a:srgbClr val="334155"/>
                </a:solidFill>
                <a:latin typeface="Calibri"/>
              </a:rPr>
              <a:t> show their rank and the department average.</a:t>
            </a:r>
          </a:p>
        </p:txBody>
      </p:sp>
      <p:sp>
        <p:nvSpPr>
          <p:cNvPr id="7" name="Rectangle 6"/>
          <p:cNvSpPr/>
          <p:nvPr/>
        </p:nvSpPr>
        <p:spPr>
          <a:xfrm>
            <a:off x="914400" y="3281339"/>
            <a:ext cx="16459200" cy="2488250"/>
          </a:xfrm>
          <a:prstGeom prst="rect">
            <a:avLst/>
          </a:prstGeom>
          <a:solidFill>
            <a:srgbClr val="F8FAFC"/>
          </a:solidFill>
          <a:ln w="14287">
            <a:solidFill>
              <a:srgbClr val="E2E8F0"/>
            </a:solidFill>
          </a:ln>
        </p:spPr>
        <p:txBody>
          <a:bodyPr rtlCol="0" anchor="ctr" lIns="0" rIns="0" tIns="0" bIns="0"/>
          <a:lstStyle/>
          <a:p>
            <a:pPr algn="ctr"/>
          </a:p>
        </p:txBody>
      </p:sp>
      <p:sp>
        <p:nvSpPr>
          <p:cNvPr id="8" name="TextBox 7"/>
          <p:cNvSpPr txBox="1"/>
          <p:nvPr/>
        </p:nvSpPr>
        <p:spPr>
          <a:xfrm>
            <a:off x="1181100" y="3548039"/>
            <a:ext cx="15925800" cy="1954850"/>
          </a:xfrm>
          <a:prstGeom prst="rect">
            <a:avLst/>
          </a:prstGeom>
          <a:noFill/>
        </p:spPr>
        <p:txBody>
          <a:bodyPr wrap="none" lIns="0" rIns="0" tIns="0" bIns="0"/>
          <a:lstStyle/>
          <a:p>
            <a:pPr>
              <a:lnSpc>
                <a:spcPct val="110000"/>
              </a:lnSpc>
            </a:pPr>
            <a:r>
              <a:rPr sz="2332" b="1" i="0" u="none">
                <a:solidFill>
                  <a:srgbClr val="0E8A8A"/>
                </a:solidFill>
                <a:latin typeface="Courier New"/>
              </a:rPr>
              <a:t>SELECT</a:t>
            </a:r>
            <a:r>
              <a:rPr sz="2332" b="0" i="0" u="none">
                <a:solidFill>
                  <a:srgbClr val="0F172A"/>
                </a:solidFill>
                <a:latin typeface="Courier New"/>
              </a:rPr>
              <a:t> </a:t>
            </a:r>
            <a:r>
              <a:rPr sz="2332" b="0" i="0" u="none">
                <a:solidFill>
                  <a:srgbClr val="0F172A"/>
                </a:solidFill>
                <a:latin typeface="Courier New"/>
              </a:rPr>
              <a:t>dno</a:t>
            </a:r>
            <a:r>
              <a:rPr sz="2332" b="0" i="0" u="none">
                <a:solidFill>
                  <a:srgbClr val="0F172A"/>
                </a:solidFill>
                <a:latin typeface="Courier New"/>
              </a:rPr>
              <a:t>,</a:t>
            </a:r>
            <a:r>
              <a:rPr sz="2332" b="0" i="0" u="none">
                <a:solidFill>
                  <a:srgbClr val="0F172A"/>
                </a:solidFill>
                <a:latin typeface="Courier New"/>
              </a:rPr>
              <a:t> </a:t>
            </a:r>
            <a:r>
              <a:rPr sz="2332" b="0" i="0" u="none">
                <a:solidFill>
                  <a:srgbClr val="0F172A"/>
                </a:solidFill>
                <a:latin typeface="Courier New"/>
              </a:rPr>
              <a:t>fname</a:t>
            </a:r>
            <a:r>
              <a:rPr sz="2332" b="0" i="0" u="none">
                <a:solidFill>
                  <a:srgbClr val="0F172A"/>
                </a:solidFill>
                <a:latin typeface="Courier New"/>
              </a:rPr>
              <a:t>,</a:t>
            </a:r>
            <a:r>
              <a:rPr sz="2332" b="0" i="0" u="none">
                <a:solidFill>
                  <a:srgbClr val="0F172A"/>
                </a:solidFill>
                <a:latin typeface="Courier New"/>
              </a:rPr>
              <a:t> </a:t>
            </a:r>
            <a:r>
              <a:rPr sz="2332" b="0" i="0" u="none">
                <a:solidFill>
                  <a:srgbClr val="0F172A"/>
                </a:solidFill>
                <a:latin typeface="Courier New"/>
              </a:rPr>
              <a:t>salary</a:t>
            </a:r>
            <a:r>
              <a:rPr sz="2332" b="0" i="0" u="none">
                <a:solidFill>
                  <a:srgbClr val="0F172A"/>
                </a:solidFill>
                <a:latin typeface="Courier New"/>
              </a:rPr>
              <a:t>,</a:t>
            </a:r>
          </a:p>
          <a:p>
            <a:pPr>
              <a:lnSpc>
                <a:spcPct val="110000"/>
              </a:lnSpc>
            </a:pPr>
            <a:r>
              <a:rPr sz="2332" b="0" i="0" u="none">
                <a:solidFill>
                  <a:srgbClr val="0F172A"/>
                </a:solidFill>
                <a:latin typeface="Courier New"/>
              </a:rPr>
              <a:t>       </a:t>
            </a:r>
            <a:r>
              <a:rPr sz="2332" b="1" i="0" u="none">
                <a:solidFill>
                  <a:srgbClr val="0E8A8A"/>
                </a:solidFill>
                <a:latin typeface="Courier New"/>
              </a:rPr>
              <a:t>RANK</a:t>
            </a:r>
            <a:r>
              <a:rPr sz="2332" b="0" i="0" u="none">
                <a:solidFill>
                  <a:srgbClr val="0F172A"/>
                </a:solidFill>
                <a:latin typeface="Courier New"/>
              </a:rPr>
              <a:t>(</a:t>
            </a:r>
            <a:r>
              <a:rPr sz="2332" b="0" i="0" u="none">
                <a:solidFill>
                  <a:srgbClr val="0F172A"/>
                </a:solidFill>
                <a:latin typeface="Courier New"/>
              </a:rPr>
              <a:t>)</a:t>
            </a:r>
            <a:r>
              <a:rPr sz="2332" b="0" i="0" u="none">
                <a:solidFill>
                  <a:srgbClr val="0F172A"/>
                </a:solidFill>
                <a:latin typeface="Courier New"/>
              </a:rPr>
              <a:t> </a:t>
            </a:r>
            <a:r>
              <a:rPr sz="2332" b="1" i="0" u="none">
                <a:solidFill>
                  <a:srgbClr val="0E8A8A"/>
                </a:solidFill>
                <a:latin typeface="Courier New"/>
              </a:rPr>
              <a:t>OVER</a:t>
            </a:r>
            <a:r>
              <a:rPr sz="2332" b="0" i="0" u="none">
                <a:solidFill>
                  <a:srgbClr val="0F172A"/>
                </a:solidFill>
                <a:latin typeface="Courier New"/>
              </a:rPr>
              <a:t> </a:t>
            </a:r>
            <a:r>
              <a:rPr sz="2332" b="0" i="0" u="none">
                <a:solidFill>
                  <a:srgbClr val="0F172A"/>
                </a:solidFill>
                <a:latin typeface="Courier New"/>
              </a:rPr>
              <a:t>(</a:t>
            </a:r>
            <a:r>
              <a:rPr sz="2332" b="1" i="0" u="none">
                <a:solidFill>
                  <a:srgbClr val="0E8A8A"/>
                </a:solidFill>
                <a:latin typeface="Courier New"/>
              </a:rPr>
              <a:t>PARTITION</a:t>
            </a:r>
            <a:r>
              <a:rPr sz="2332" b="0" i="0" u="none">
                <a:solidFill>
                  <a:srgbClr val="0F172A"/>
                </a:solidFill>
                <a:latin typeface="Courier New"/>
              </a:rPr>
              <a:t> </a:t>
            </a:r>
            <a:r>
              <a:rPr sz="2332" b="1" i="0" u="none">
                <a:solidFill>
                  <a:srgbClr val="0E8A8A"/>
                </a:solidFill>
                <a:latin typeface="Courier New"/>
              </a:rPr>
              <a:t>BY</a:t>
            </a:r>
            <a:r>
              <a:rPr sz="2332" b="0" i="0" u="none">
                <a:solidFill>
                  <a:srgbClr val="0F172A"/>
                </a:solidFill>
                <a:latin typeface="Courier New"/>
              </a:rPr>
              <a:t> </a:t>
            </a:r>
            <a:r>
              <a:rPr sz="2332" b="0" i="0" u="none">
                <a:solidFill>
                  <a:srgbClr val="0F172A"/>
                </a:solidFill>
                <a:latin typeface="Courier New"/>
              </a:rPr>
              <a:t>dno</a:t>
            </a:r>
          </a:p>
          <a:p>
            <a:pPr>
              <a:lnSpc>
                <a:spcPct val="110000"/>
              </a:lnSpc>
            </a:pPr>
            <a:r>
              <a:rPr sz="2332" b="0" i="0" u="none">
                <a:solidFill>
                  <a:srgbClr val="0F172A"/>
                </a:solidFill>
                <a:latin typeface="Courier New"/>
              </a:rPr>
              <a:t>                    </a:t>
            </a:r>
            <a:r>
              <a:rPr sz="2332" b="1" i="0" u="none">
                <a:solidFill>
                  <a:srgbClr val="0E8A8A"/>
                </a:solidFill>
                <a:latin typeface="Courier New"/>
              </a:rPr>
              <a:t>ORDER</a:t>
            </a:r>
            <a:r>
              <a:rPr sz="2332" b="0" i="0" u="none">
                <a:solidFill>
                  <a:srgbClr val="0F172A"/>
                </a:solidFill>
                <a:latin typeface="Courier New"/>
              </a:rPr>
              <a:t> </a:t>
            </a:r>
            <a:r>
              <a:rPr sz="2332" b="1" i="0" u="none">
                <a:solidFill>
                  <a:srgbClr val="0E8A8A"/>
                </a:solidFill>
                <a:latin typeface="Courier New"/>
              </a:rPr>
              <a:t>BY</a:t>
            </a:r>
            <a:r>
              <a:rPr sz="2332" b="0" i="0" u="none">
                <a:solidFill>
                  <a:srgbClr val="0F172A"/>
                </a:solidFill>
                <a:latin typeface="Courier New"/>
              </a:rPr>
              <a:t> </a:t>
            </a:r>
            <a:r>
              <a:rPr sz="2332" b="0" i="0" u="none">
                <a:solidFill>
                  <a:srgbClr val="0F172A"/>
                </a:solidFill>
                <a:latin typeface="Courier New"/>
              </a:rPr>
              <a:t>salary</a:t>
            </a:r>
            <a:r>
              <a:rPr sz="2332" b="0" i="0" u="none">
                <a:solidFill>
                  <a:srgbClr val="0F172A"/>
                </a:solidFill>
                <a:latin typeface="Courier New"/>
              </a:rPr>
              <a:t> </a:t>
            </a:r>
            <a:r>
              <a:rPr sz="2332" b="1" i="0" u="none">
                <a:solidFill>
                  <a:srgbClr val="0E8A8A"/>
                </a:solidFill>
                <a:latin typeface="Courier New"/>
              </a:rPr>
              <a:t>DESC</a:t>
            </a:r>
            <a:r>
              <a:rPr sz="2332" b="0" i="0" u="none">
                <a:solidFill>
                  <a:srgbClr val="0F172A"/>
                </a:solidFill>
                <a:latin typeface="Courier New"/>
              </a:rPr>
              <a:t>)</a:t>
            </a:r>
            <a:r>
              <a:rPr sz="2332" b="0" i="0" u="none">
                <a:solidFill>
                  <a:srgbClr val="0F172A"/>
                </a:solidFill>
                <a:latin typeface="Courier New"/>
              </a:rPr>
              <a:t> </a:t>
            </a:r>
            <a:r>
              <a:rPr sz="2332" b="1" i="0" u="none">
                <a:solidFill>
                  <a:srgbClr val="0E8A8A"/>
                </a:solidFill>
                <a:latin typeface="Courier New"/>
              </a:rPr>
              <a:t>AS</a:t>
            </a:r>
            <a:r>
              <a:rPr sz="2332" b="0" i="0" u="none">
                <a:solidFill>
                  <a:srgbClr val="0F172A"/>
                </a:solidFill>
                <a:latin typeface="Courier New"/>
              </a:rPr>
              <a:t> </a:t>
            </a:r>
            <a:r>
              <a:rPr sz="2332" b="0" i="0" u="none">
                <a:solidFill>
                  <a:srgbClr val="0F172A"/>
                </a:solidFill>
                <a:latin typeface="Courier New"/>
              </a:rPr>
              <a:t>rank_in_dept</a:t>
            </a:r>
            <a:r>
              <a:rPr sz="2332" b="0" i="0" u="none">
                <a:solidFill>
                  <a:srgbClr val="0F172A"/>
                </a:solidFill>
                <a:latin typeface="Courier New"/>
              </a:rPr>
              <a:t>,</a:t>
            </a:r>
          </a:p>
          <a:p>
            <a:pPr>
              <a:lnSpc>
                <a:spcPct val="110000"/>
              </a:lnSpc>
            </a:pPr>
            <a:r>
              <a:rPr sz="2332" b="0" i="0" u="none">
                <a:solidFill>
                  <a:srgbClr val="0F172A"/>
                </a:solidFill>
                <a:latin typeface="Courier New"/>
              </a:rPr>
              <a:t>       </a:t>
            </a:r>
            <a:r>
              <a:rPr sz="2332" b="1" i="0" u="none">
                <a:solidFill>
                  <a:srgbClr val="0E8A8A"/>
                </a:solidFill>
                <a:latin typeface="Courier New"/>
              </a:rPr>
              <a:t>AVG</a:t>
            </a:r>
            <a:r>
              <a:rPr sz="2332" b="0" i="0" u="none">
                <a:solidFill>
                  <a:srgbClr val="0F172A"/>
                </a:solidFill>
                <a:latin typeface="Courier New"/>
              </a:rPr>
              <a:t>(</a:t>
            </a:r>
            <a:r>
              <a:rPr sz="2332" b="0" i="0" u="none">
                <a:solidFill>
                  <a:srgbClr val="0F172A"/>
                </a:solidFill>
                <a:latin typeface="Courier New"/>
              </a:rPr>
              <a:t>salary</a:t>
            </a:r>
            <a:r>
              <a:rPr sz="2332" b="0" i="0" u="none">
                <a:solidFill>
                  <a:srgbClr val="0F172A"/>
                </a:solidFill>
                <a:latin typeface="Courier New"/>
              </a:rPr>
              <a:t>)</a:t>
            </a:r>
            <a:r>
              <a:rPr sz="2332" b="0" i="0" u="none">
                <a:solidFill>
                  <a:srgbClr val="0F172A"/>
                </a:solidFill>
                <a:latin typeface="Courier New"/>
              </a:rPr>
              <a:t> </a:t>
            </a:r>
            <a:r>
              <a:rPr sz="2332" b="1" i="0" u="none">
                <a:solidFill>
                  <a:srgbClr val="0E8A8A"/>
                </a:solidFill>
                <a:latin typeface="Courier New"/>
              </a:rPr>
              <a:t>OVER</a:t>
            </a:r>
            <a:r>
              <a:rPr sz="2332" b="0" i="0" u="none">
                <a:solidFill>
                  <a:srgbClr val="0F172A"/>
                </a:solidFill>
                <a:latin typeface="Courier New"/>
              </a:rPr>
              <a:t> </a:t>
            </a:r>
            <a:r>
              <a:rPr sz="2332" b="0" i="0" u="none">
                <a:solidFill>
                  <a:srgbClr val="0F172A"/>
                </a:solidFill>
                <a:latin typeface="Courier New"/>
              </a:rPr>
              <a:t>(</a:t>
            </a:r>
            <a:r>
              <a:rPr sz="2332" b="1" i="0" u="none">
                <a:solidFill>
                  <a:srgbClr val="0E8A8A"/>
                </a:solidFill>
                <a:latin typeface="Courier New"/>
              </a:rPr>
              <a:t>PARTITION</a:t>
            </a:r>
            <a:r>
              <a:rPr sz="2332" b="0" i="0" u="none">
                <a:solidFill>
                  <a:srgbClr val="0F172A"/>
                </a:solidFill>
                <a:latin typeface="Courier New"/>
              </a:rPr>
              <a:t> </a:t>
            </a:r>
            <a:r>
              <a:rPr sz="2332" b="1" i="0" u="none">
                <a:solidFill>
                  <a:srgbClr val="0E8A8A"/>
                </a:solidFill>
                <a:latin typeface="Courier New"/>
              </a:rPr>
              <a:t>BY</a:t>
            </a:r>
            <a:r>
              <a:rPr sz="2332" b="0" i="0" u="none">
                <a:solidFill>
                  <a:srgbClr val="0F172A"/>
                </a:solidFill>
                <a:latin typeface="Courier New"/>
              </a:rPr>
              <a:t> </a:t>
            </a:r>
            <a:r>
              <a:rPr sz="2332" b="0" i="0" u="none">
                <a:solidFill>
                  <a:srgbClr val="0F172A"/>
                </a:solidFill>
                <a:latin typeface="Courier New"/>
              </a:rPr>
              <a:t>dno</a:t>
            </a:r>
            <a:r>
              <a:rPr sz="2332" b="0" i="0" u="none">
                <a:solidFill>
                  <a:srgbClr val="0F172A"/>
                </a:solidFill>
                <a:latin typeface="Courier New"/>
              </a:rPr>
              <a:t>)</a:t>
            </a:r>
            <a:r>
              <a:rPr sz="2332" b="0" i="0" u="none">
                <a:solidFill>
                  <a:srgbClr val="0F172A"/>
                </a:solidFill>
                <a:latin typeface="Courier New"/>
              </a:rPr>
              <a:t> </a:t>
            </a:r>
            <a:r>
              <a:rPr sz="2332" b="1" i="0" u="none">
                <a:solidFill>
                  <a:srgbClr val="0E8A8A"/>
                </a:solidFill>
                <a:latin typeface="Courier New"/>
              </a:rPr>
              <a:t>AS</a:t>
            </a:r>
            <a:r>
              <a:rPr sz="2332" b="0" i="0" u="none">
                <a:solidFill>
                  <a:srgbClr val="0F172A"/>
                </a:solidFill>
                <a:latin typeface="Courier New"/>
              </a:rPr>
              <a:t> </a:t>
            </a:r>
            <a:r>
              <a:rPr sz="2332" b="0" i="0" u="none">
                <a:solidFill>
                  <a:srgbClr val="0F172A"/>
                </a:solidFill>
                <a:latin typeface="Courier New"/>
              </a:rPr>
              <a:t>dept_avg</a:t>
            </a:r>
          </a:p>
          <a:p>
            <a:pPr>
              <a:lnSpc>
                <a:spcPct val="110000"/>
              </a:lnSpc>
            </a:pPr>
            <a:r>
              <a:rPr sz="2332" b="1" i="0" u="none">
                <a:solidFill>
                  <a:srgbClr val="0E8A8A"/>
                </a:solidFill>
                <a:latin typeface="Courier New"/>
              </a:rPr>
              <a:t>FROM</a:t>
            </a:r>
            <a:r>
              <a:rPr sz="2332" b="0" i="0" u="none">
                <a:solidFill>
                  <a:srgbClr val="0F172A"/>
                </a:solidFill>
                <a:latin typeface="Courier New"/>
              </a:rPr>
              <a:t>   </a:t>
            </a:r>
            <a:r>
              <a:rPr sz="2332" b="0" i="0" u="none">
                <a:solidFill>
                  <a:srgbClr val="0F172A"/>
                </a:solidFill>
                <a:latin typeface="Courier New"/>
              </a:rPr>
              <a:t>employee</a:t>
            </a:r>
            <a:r>
              <a:rPr sz="2332" b="0" i="0" u="none">
                <a:solidFill>
                  <a:srgbClr val="0F172A"/>
                </a:solidFill>
                <a:latin typeface="Courier New"/>
              </a:rPr>
              <a:t>;</a:t>
            </a:r>
          </a:p>
        </p:txBody>
      </p:sp>
      <p:sp>
        <p:nvSpPr>
          <p:cNvPr id="9" name="TextBox 8"/>
          <p:cNvSpPr txBox="1"/>
          <p:nvPr/>
        </p:nvSpPr>
        <p:spPr>
          <a:xfrm>
            <a:off x="914400" y="6106393"/>
            <a:ext cx="16459200" cy="396438"/>
          </a:xfrm>
          <a:prstGeom prst="rect">
            <a:avLst/>
          </a:prstGeom>
          <a:noFill/>
        </p:spPr>
        <p:txBody>
          <a:bodyPr wrap="square" lIns="0" rIns="0" tIns="0" bIns="0" anchor="t"/>
          <a:lstStyle/>
          <a:p>
            <a:pPr algn="l">
              <a:lnSpc>
                <a:spcPct val="111800"/>
              </a:lnSpc>
            </a:pPr>
            <a:r>
              <a:rPr sz="2152" b="1" i="0" u="none">
                <a:solidFill>
                  <a:srgbClr val="64748B"/>
                </a:solidFill>
                <a:latin typeface="Arial"/>
              </a:rPr>
              <a:t>RESULT</a:t>
            </a:r>
          </a:p>
        </p:txBody>
      </p:sp>
      <p:graphicFrame>
        <p:nvGraphicFramePr>
          <p:cNvPr id="10" name="Table 9"/>
          <p:cNvGraphicFramePr>
            <a:graphicFrameLocks noGrp="1"/>
          </p:cNvGraphicFramePr>
          <p:nvPr/>
        </p:nvGraphicFramePr>
        <p:xfrm>
          <a:off x="914400" y="6651421"/>
          <a:ext cx="16459200" cy="2693045"/>
        </p:xfrm>
        <a:graphic>
          <a:graphicData uri="http://schemas.openxmlformats.org/drawingml/2006/table">
            <a:tbl>
              <a:tblPr firstRow="0" bandRow="0">
                <a:tableStyleId>{5940675A-B579-460E-94D1-54222C63F5DA}</a:tableStyleId>
              </a:tblPr>
              <a:tblGrid>
                <a:gridCol w="3291840"/>
                <a:gridCol w="3291840"/>
                <a:gridCol w="3291840"/>
                <a:gridCol w="3291840"/>
                <a:gridCol w="3291840"/>
              </a:tblGrid>
              <a:tr h="538609">
                <a:tc>
                  <a:txBody>
                    <a:bodyPr/>
                    <a:lstStyle/>
                    <a:p>
                      <a:r>
                        <a:rPr sz="2152" b="1" i="0" u="none">
                          <a:solidFill>
                            <a:srgbClr val="FFFFFF"/>
                          </a:solidFill>
                          <a:latin typeface="Arial"/>
                        </a:rPr>
                        <a:t>dno</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1" i="0" u="none">
                          <a:solidFill>
                            <a:srgbClr val="FFFFFF"/>
                          </a:solidFill>
                          <a:latin typeface="Arial"/>
                        </a:rPr>
                        <a:t>fname</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1" i="0" u="none">
                          <a:solidFill>
                            <a:srgbClr val="FFFFFF"/>
                          </a:solidFill>
                          <a:latin typeface="Arial"/>
                        </a:rPr>
                        <a:t>salary</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1" i="0" u="none">
                          <a:solidFill>
                            <a:srgbClr val="FFFFFF"/>
                          </a:solidFill>
                          <a:latin typeface="Arial"/>
                        </a:rPr>
                        <a:t>rank</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1" i="0" u="none">
                          <a:solidFill>
                            <a:srgbClr val="FFFFFF"/>
                          </a:solidFill>
                          <a:latin typeface="Arial"/>
                        </a:rPr>
                        <a:t>dept_avg</a:t>
                      </a:r>
                    </a:p>
                  </a:txBody>
                  <a:tcPr marL="136702" marR="136702" marT="82021" marB="8202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5</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Franklin</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40000</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1</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33250</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5</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Ramesh</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38000</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2</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33250</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5</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John</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30000</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3</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33250</a:t>
                      </a:r>
                    </a:p>
                  </a:txBody>
                  <a:tcPr marL="136702" marR="136702" marT="82021" marB="8202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38609">
                <a:tc>
                  <a:txBody>
                    <a:bodyPr/>
                    <a:lstStyle/>
                    <a:p>
                      <a:r>
                        <a:rPr sz="2152" b="0" i="0" u="none">
                          <a:solidFill>
                            <a:srgbClr val="334155"/>
                          </a:solidFill>
                          <a:latin typeface="Calibri"/>
                        </a:rPr>
                        <a:t>4</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Jennifer</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43000</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1</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152" b="0" i="0" u="none">
                          <a:solidFill>
                            <a:srgbClr val="334155"/>
                          </a:solidFill>
                          <a:latin typeface="Calibri"/>
                        </a:rPr>
                        <a:t>31000</a:t>
                      </a:r>
                    </a:p>
                  </a:txBody>
                  <a:tcPr marL="136702" marR="136702" marT="82021" marB="8202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5715000" cy="331470"/>
          </a:xfrm>
          <a:prstGeom prst="rect">
            <a:avLst/>
          </a:prstGeom>
          <a:noFill/>
        </p:spPr>
        <p:txBody>
          <a:bodyPr wrap="square" lIns="0" rIns="0" tIns="0" bIns="0" anchor="t"/>
          <a:lstStyle/>
          <a:p>
            <a:pPr algn="l">
              <a:lnSpc>
                <a:spcPct val="111800"/>
              </a:lnSpc>
            </a:pPr>
            <a:r>
              <a:rPr sz="1800" b="1" i="0" u="none">
                <a:solidFill>
                  <a:srgbClr val="C8102E"/>
                </a:solidFill>
                <a:latin typeface="Arial"/>
              </a:rPr>
              <a:t>SECTION 08</a:t>
            </a:r>
          </a:p>
        </p:txBody>
      </p:sp>
      <p:cxnSp>
        <p:nvCxnSpPr>
          <p:cNvPr id="3" name="Connector 2"/>
          <p:cNvCxnSpPr/>
          <p:nvPr/>
        </p:nvCxnSpPr>
        <p:spPr>
          <a:xfrm>
            <a:off x="3390900" y="981075"/>
            <a:ext cx="1313497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55/71</a:t>
            </a:r>
          </a:p>
        </p:txBody>
      </p:sp>
      <p:sp>
        <p:nvSpPr>
          <p:cNvPr id="5" name="TextBox 4"/>
          <p:cNvSpPr txBox="1"/>
          <p:nvPr/>
        </p:nvSpPr>
        <p:spPr>
          <a:xfrm>
            <a:off x="914400" y="2857500"/>
            <a:ext cx="5715000" cy="2286000"/>
          </a:xfrm>
          <a:prstGeom prst="rect">
            <a:avLst/>
          </a:prstGeom>
          <a:noFill/>
        </p:spPr>
        <p:txBody>
          <a:bodyPr wrap="square" lIns="0" rIns="0" tIns="0" bIns="0" anchor="t"/>
          <a:lstStyle/>
          <a:p>
            <a:pPr algn="l">
              <a:lnSpc>
                <a:spcPct val="86000"/>
              </a:lnSpc>
            </a:pPr>
            <a:r>
              <a:rPr sz="15000" b="1" i="0" u="none">
                <a:solidFill>
                  <a:srgbClr val="C8102E"/>
                </a:solidFill>
                <a:latin typeface="Arial"/>
              </a:rPr>
              <a:t>08</a:t>
            </a:r>
          </a:p>
        </p:txBody>
      </p:sp>
      <p:sp>
        <p:nvSpPr>
          <p:cNvPr id="6" name="TextBox 5"/>
          <p:cNvSpPr txBox="1"/>
          <p:nvPr/>
        </p:nvSpPr>
        <p:spPr>
          <a:xfrm>
            <a:off x="914400" y="5334000"/>
            <a:ext cx="15240000" cy="1905000"/>
          </a:xfrm>
          <a:prstGeom prst="rect">
            <a:avLst/>
          </a:prstGeom>
          <a:noFill/>
        </p:spPr>
        <p:txBody>
          <a:bodyPr wrap="square" lIns="0" rIns="0" tIns="0" bIns="0" anchor="t"/>
          <a:lstStyle/>
          <a:p>
            <a:pPr algn="l">
              <a:lnSpc>
                <a:spcPct val="90300"/>
              </a:lnSpc>
            </a:pPr>
            <a:r>
              <a:rPr sz="6300" b="1" i="0" u="none">
                <a:solidFill>
                  <a:srgbClr val="0F172A"/>
                </a:solidFill>
                <a:latin typeface="Arial"/>
              </a:rPr>
              <a:t>Security, views &amp; indexes</a:t>
            </a:r>
          </a:p>
        </p:txBody>
      </p:sp>
      <p:sp>
        <p:nvSpPr>
          <p:cNvPr id="7" name="TextBox 6"/>
          <p:cNvSpPr txBox="1"/>
          <p:nvPr/>
        </p:nvSpPr>
        <p:spPr>
          <a:xfrm>
            <a:off x="914400" y="7239000"/>
            <a:ext cx="13335000" cy="1143000"/>
          </a:xfrm>
          <a:prstGeom prst="rect">
            <a:avLst/>
          </a:prstGeom>
          <a:noFill/>
        </p:spPr>
        <p:txBody>
          <a:bodyPr wrap="square" lIns="0" rIns="0" tIns="0" bIns="0" anchor="t"/>
          <a:lstStyle/>
          <a:p>
            <a:pPr algn="l">
              <a:lnSpc>
                <a:spcPct val="111800"/>
              </a:lnSpc>
            </a:pPr>
            <a:r>
              <a:rPr sz="2400" b="0" i="0" u="none">
                <a:solidFill>
                  <a:srgbClr val="334155"/>
                </a:solidFill>
                <a:latin typeface="Calibri"/>
              </a:rPr>
              <a:t>Control access, simplify queries and speed up searches.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929830"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DCL</a:t>
            </a:r>
          </a:p>
        </p:txBody>
      </p:sp>
      <p:cxnSp>
        <p:nvCxnSpPr>
          <p:cNvPr id="3" name="Connector 2"/>
          <p:cNvCxnSpPr/>
          <p:nvPr/>
        </p:nvCxnSpPr>
        <p:spPr>
          <a:xfrm>
            <a:off x="1920430" y="981075"/>
            <a:ext cx="14605445"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56/71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GRANT and REVOKE</a:t>
            </a:r>
          </a:p>
        </p:txBody>
      </p:sp>
      <p:sp>
        <p:nvSpPr>
          <p:cNvPr id="6" name="Rectangle 5"/>
          <p:cNvSpPr/>
          <p:nvPr/>
        </p:nvSpPr>
        <p:spPr>
          <a:xfrm>
            <a:off x="914400" y="2482024"/>
            <a:ext cx="8572500" cy="4201315"/>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039100" cy="3667915"/>
          </a:xfrm>
          <a:prstGeom prst="rect">
            <a:avLst/>
          </a:prstGeom>
          <a:noFill/>
        </p:spPr>
        <p:txBody>
          <a:bodyPr wrap="none" lIns="0" rIns="0" tIns="0" bIns="0"/>
          <a:lstStyle/>
          <a:p>
            <a:pPr>
              <a:lnSpc>
                <a:spcPct val="110000"/>
              </a:lnSpc>
            </a:pPr>
            <a:r>
              <a:rPr sz="1989" b="1" i="0" u="none">
                <a:solidFill>
                  <a:srgbClr val="0E8A8A"/>
                </a:solidFill>
                <a:latin typeface="Courier New"/>
              </a:rPr>
              <a:t>GRANT</a:t>
            </a:r>
            <a:r>
              <a:rPr sz="1989" b="0" i="0" u="none">
                <a:solidFill>
                  <a:srgbClr val="0F172A"/>
                </a:solidFill>
                <a:latin typeface="Courier New"/>
              </a:rPr>
              <a:t> </a:t>
            </a:r>
            <a:r>
              <a:rPr sz="1989" b="1" i="0" u="none">
                <a:solidFill>
                  <a:srgbClr val="0E8A8A"/>
                </a:solidFill>
                <a:latin typeface="Courier New"/>
              </a:rPr>
              <a:t>SELECT</a:t>
            </a:r>
            <a:r>
              <a:rPr sz="1989" b="0" i="0" u="none">
                <a:solidFill>
                  <a:srgbClr val="0F172A"/>
                </a:solidFill>
                <a:latin typeface="Courier New"/>
              </a:rPr>
              <a:t> </a:t>
            </a:r>
            <a:r>
              <a:rPr sz="1989" b="1" i="0" u="none">
                <a:solidFill>
                  <a:srgbClr val="0E8A8A"/>
                </a:solidFill>
                <a:latin typeface="Courier New"/>
              </a:rPr>
              <a:t>ON</a:t>
            </a:r>
            <a:r>
              <a:rPr sz="1989" b="0" i="0" u="none">
                <a:solidFill>
                  <a:srgbClr val="0F172A"/>
                </a:solidFill>
                <a:latin typeface="Courier New"/>
              </a:rPr>
              <a:t> </a:t>
            </a:r>
            <a:r>
              <a:rPr sz="1989" b="0" i="0" u="none">
                <a:solidFill>
                  <a:srgbClr val="0F172A"/>
                </a:solidFill>
                <a:latin typeface="Courier New"/>
              </a:rPr>
              <a:t>employee</a:t>
            </a:r>
            <a:r>
              <a:rPr sz="1989" b="0" i="0" u="none">
                <a:solidFill>
                  <a:srgbClr val="0F172A"/>
                </a:solidFill>
                <a:latin typeface="Courier New"/>
              </a:rPr>
              <a:t> </a:t>
            </a:r>
            <a:r>
              <a:rPr sz="1989" b="1" i="0" u="none">
                <a:solidFill>
                  <a:srgbClr val="0E8A8A"/>
                </a:solidFill>
                <a:latin typeface="Courier New"/>
              </a:rPr>
              <a:t>TO</a:t>
            </a:r>
            <a:r>
              <a:rPr sz="1989" b="0" i="0" u="none">
                <a:solidFill>
                  <a:srgbClr val="0F172A"/>
                </a:solidFill>
                <a:latin typeface="Courier New"/>
              </a:rPr>
              <a:t> </a:t>
            </a:r>
            <a:r>
              <a:rPr sz="1989" b="0" i="0" u="none">
                <a:solidFill>
                  <a:srgbClr val="0F172A"/>
                </a:solidFill>
                <a:latin typeface="Courier New"/>
              </a:rPr>
              <a:t>ahmed</a:t>
            </a:r>
            <a:r>
              <a:rPr sz="1989" b="0" i="0" u="none">
                <a:solidFill>
                  <a:srgbClr val="0F172A"/>
                </a:solidFill>
                <a:latin typeface="Courier New"/>
              </a:rPr>
              <a:t>;</a:t>
            </a:r>
          </a:p>
          <a:p>
            <a:pPr>
              <a:lnSpc>
                <a:spcPct val="110000"/>
              </a:lnSpc>
            </a:pPr>
            <a:r>
              <a:rPr sz="1989" b="1" i="0" u="none">
                <a:solidFill>
                  <a:srgbClr val="0E8A8A"/>
                </a:solidFill>
                <a:latin typeface="Courier New"/>
              </a:rPr>
              <a:t>GRANT</a:t>
            </a:r>
            <a:r>
              <a:rPr sz="1989" b="0" i="0" u="none">
                <a:solidFill>
                  <a:srgbClr val="0F172A"/>
                </a:solidFill>
                <a:latin typeface="Courier New"/>
              </a:rPr>
              <a:t> </a:t>
            </a:r>
            <a:r>
              <a:rPr sz="1989" b="1" i="0" u="none">
                <a:solidFill>
                  <a:srgbClr val="0E8A8A"/>
                </a:solidFill>
                <a:latin typeface="Courier New"/>
              </a:rPr>
              <a:t>ALL</a:t>
            </a:r>
            <a:r>
              <a:rPr sz="1989" b="0" i="0" u="none">
                <a:solidFill>
                  <a:srgbClr val="0F172A"/>
                </a:solidFill>
                <a:latin typeface="Courier New"/>
              </a:rPr>
              <a:t>    </a:t>
            </a:r>
            <a:r>
              <a:rPr sz="1989" b="1" i="0" u="none">
                <a:solidFill>
                  <a:srgbClr val="0E8A8A"/>
                </a:solidFill>
                <a:latin typeface="Courier New"/>
              </a:rPr>
              <a:t>ON</a:t>
            </a:r>
            <a:r>
              <a:rPr sz="1989" b="0" i="0" u="none">
                <a:solidFill>
                  <a:srgbClr val="0F172A"/>
                </a:solidFill>
                <a:latin typeface="Courier New"/>
              </a:rPr>
              <a:t> </a:t>
            </a:r>
            <a:r>
              <a:rPr sz="1989" b="0" i="0" u="none">
                <a:solidFill>
                  <a:srgbClr val="0F172A"/>
                </a:solidFill>
                <a:latin typeface="Courier New"/>
              </a:rPr>
              <a:t>department</a:t>
            </a:r>
            <a:r>
              <a:rPr sz="1989" b="0" i="0" u="none">
                <a:solidFill>
                  <a:srgbClr val="0F172A"/>
                </a:solidFill>
                <a:latin typeface="Courier New"/>
              </a:rPr>
              <a:t> </a:t>
            </a:r>
            <a:r>
              <a:rPr sz="1989" b="1" i="0" u="none">
                <a:solidFill>
                  <a:srgbClr val="0E8A8A"/>
                </a:solidFill>
                <a:latin typeface="Courier New"/>
              </a:rPr>
              <a:t>TO</a:t>
            </a:r>
            <a:r>
              <a:rPr sz="1989" b="0" i="0" u="none">
                <a:solidFill>
                  <a:srgbClr val="0F172A"/>
                </a:solidFill>
                <a:latin typeface="Courier New"/>
              </a:rPr>
              <a:t> </a:t>
            </a:r>
            <a:r>
              <a:rPr sz="1989" b="0" i="0" u="none">
                <a:solidFill>
                  <a:srgbClr val="0F172A"/>
                </a:solidFill>
                <a:latin typeface="Courier New"/>
              </a:rPr>
              <a:t>mary</a:t>
            </a:r>
            <a:r>
              <a:rPr sz="1989" b="0" i="0" u="none">
                <a:solidFill>
                  <a:srgbClr val="0F172A"/>
                </a:solidFill>
                <a:latin typeface="Courier New"/>
              </a:rPr>
              <a:t>,</a:t>
            </a:r>
            <a:r>
              <a:rPr sz="1989" b="0" i="0" u="none">
                <a:solidFill>
                  <a:srgbClr val="0F172A"/>
                </a:solidFill>
                <a:latin typeface="Courier New"/>
              </a:rPr>
              <a:t> </a:t>
            </a:r>
            <a:r>
              <a:rPr sz="1989" b="0" i="0" u="none">
                <a:solidFill>
                  <a:srgbClr val="0F172A"/>
                </a:solidFill>
                <a:latin typeface="Courier New"/>
              </a:rPr>
              <a:t>ahmed</a:t>
            </a:r>
            <a:r>
              <a:rPr sz="1989" b="0" i="0" u="none">
                <a:solidFill>
                  <a:srgbClr val="0F172A"/>
                </a:solidFill>
                <a:latin typeface="Courier New"/>
              </a:rPr>
              <a:t>;</a:t>
            </a:r>
          </a:p>
          <a:p>
            <a:pPr>
              <a:lnSpc>
                <a:spcPct val="110000"/>
              </a:lnSpc>
            </a:pPr>
            <a:r>
              <a:rPr sz="1989" b="1" i="0" u="none">
                <a:solidFill>
                  <a:srgbClr val="0E8A8A"/>
                </a:solidFill>
                <a:latin typeface="Courier New"/>
              </a:rPr>
              <a:t>GRANT</a:t>
            </a:r>
            <a:r>
              <a:rPr sz="1989" b="0" i="0" u="none">
                <a:solidFill>
                  <a:srgbClr val="0F172A"/>
                </a:solidFill>
                <a:latin typeface="Courier New"/>
              </a:rPr>
              <a:t> </a:t>
            </a:r>
            <a:r>
              <a:rPr sz="1989" b="1" i="0" u="none">
                <a:solidFill>
                  <a:srgbClr val="0E8A8A"/>
                </a:solidFill>
                <a:latin typeface="Courier New"/>
              </a:rPr>
              <a:t>SELECT</a:t>
            </a:r>
            <a:r>
              <a:rPr sz="1989" b="0" i="0" u="none">
                <a:solidFill>
                  <a:srgbClr val="0F172A"/>
                </a:solidFill>
                <a:latin typeface="Courier New"/>
              </a:rPr>
              <a:t> </a:t>
            </a:r>
            <a:r>
              <a:rPr sz="1989" b="1" i="0" u="none">
                <a:solidFill>
                  <a:srgbClr val="0E8A8A"/>
                </a:solidFill>
                <a:latin typeface="Courier New"/>
              </a:rPr>
              <a:t>ON</a:t>
            </a:r>
            <a:r>
              <a:rPr sz="1989" b="0" i="0" u="none">
                <a:solidFill>
                  <a:srgbClr val="0F172A"/>
                </a:solidFill>
                <a:latin typeface="Courier New"/>
              </a:rPr>
              <a:t> </a:t>
            </a:r>
            <a:r>
              <a:rPr sz="1989" b="0" i="0" u="none">
                <a:solidFill>
                  <a:srgbClr val="0F172A"/>
                </a:solidFill>
                <a:latin typeface="Courier New"/>
              </a:rPr>
              <a:t>employee</a:t>
            </a:r>
            <a:r>
              <a:rPr sz="1989" b="0" i="0" u="none">
                <a:solidFill>
                  <a:srgbClr val="0F172A"/>
                </a:solidFill>
                <a:latin typeface="Courier New"/>
              </a:rPr>
              <a:t> </a:t>
            </a:r>
            <a:r>
              <a:rPr sz="1989" b="1" i="0" u="none">
                <a:solidFill>
                  <a:srgbClr val="0E8A8A"/>
                </a:solidFill>
                <a:latin typeface="Courier New"/>
              </a:rPr>
              <a:t>TO</a:t>
            </a:r>
            <a:r>
              <a:rPr sz="1989" b="0" i="0" u="none">
                <a:solidFill>
                  <a:srgbClr val="0F172A"/>
                </a:solidFill>
                <a:latin typeface="Courier New"/>
              </a:rPr>
              <a:t> </a:t>
            </a:r>
            <a:r>
              <a:rPr sz="1989" b="0" i="0" u="none">
                <a:solidFill>
                  <a:srgbClr val="0F172A"/>
                </a:solidFill>
                <a:latin typeface="Courier New"/>
              </a:rPr>
              <a:t>ahmed</a:t>
            </a:r>
            <a:r>
              <a:rPr sz="1989" b="0" i="0" u="none">
                <a:solidFill>
                  <a:srgbClr val="0F172A"/>
                </a:solidFill>
                <a:latin typeface="Courier New"/>
              </a:rPr>
              <a:t> </a:t>
            </a:r>
            <a:r>
              <a:rPr sz="1989" b="1" i="0" u="none">
                <a:solidFill>
                  <a:srgbClr val="0E8A8A"/>
                </a:solidFill>
                <a:latin typeface="Courier New"/>
              </a:rPr>
              <a:t>WITH</a:t>
            </a:r>
            <a:r>
              <a:rPr sz="1989" b="0" i="0" u="none">
                <a:solidFill>
                  <a:srgbClr val="0F172A"/>
                </a:solidFill>
                <a:latin typeface="Courier New"/>
              </a:rPr>
              <a:t> </a:t>
            </a:r>
            <a:r>
              <a:rPr sz="1989" b="1" i="0" u="none">
                <a:solidFill>
                  <a:srgbClr val="0E8A8A"/>
                </a:solidFill>
                <a:latin typeface="Courier New"/>
              </a:rPr>
              <a:t>GRANT</a:t>
            </a:r>
            <a:r>
              <a:rPr sz="1989" b="0" i="0" u="none">
                <a:solidFill>
                  <a:srgbClr val="0F172A"/>
                </a:solidFill>
                <a:latin typeface="Courier New"/>
              </a:rPr>
              <a:t> </a:t>
            </a:r>
            <a:r>
              <a:rPr sz="1989" b="1" i="0" u="none">
                <a:solidFill>
                  <a:srgbClr val="0E8A8A"/>
                </a:solidFill>
                <a:latin typeface="Courier New"/>
              </a:rPr>
              <a:t>OPTION</a:t>
            </a:r>
            <a:r>
              <a:rPr sz="1989" b="0" i="0" u="none">
                <a:solidFill>
                  <a:srgbClr val="0F172A"/>
                </a:solidFill>
                <a:latin typeface="Courier New"/>
              </a:rPr>
              <a:t>;</a:t>
            </a:r>
          </a:p>
          <a:p>
            <a:pPr>
              <a:lnSpc>
                <a:spcPct val="110000"/>
              </a:lnSpc>
            </a:pPr>
            <a:r>
              <a:rPr sz="1989" b="0" i="0" u="none">
                <a:solidFill>
                  <a:srgbClr val="0F172A"/>
                </a:solidFill>
                <a:latin typeface="Courier New"/>
              </a:rPr>
              <a:t> </a:t>
            </a:r>
          </a:p>
          <a:p>
            <a:pPr>
              <a:lnSpc>
                <a:spcPct val="110000"/>
              </a:lnSpc>
            </a:pPr>
            <a:r>
              <a:rPr sz="1989" b="1" i="0" u="none">
                <a:solidFill>
                  <a:srgbClr val="0E8A8A"/>
                </a:solidFill>
                <a:latin typeface="Courier New"/>
              </a:rPr>
              <a:t>REVOKE</a:t>
            </a:r>
            <a:r>
              <a:rPr sz="1989" b="0" i="0" u="none">
                <a:solidFill>
                  <a:srgbClr val="0F172A"/>
                </a:solidFill>
                <a:latin typeface="Courier New"/>
              </a:rPr>
              <a:t> </a:t>
            </a:r>
            <a:r>
              <a:rPr sz="1989" b="1" i="0" u="none">
                <a:solidFill>
                  <a:srgbClr val="0E8A8A"/>
                </a:solidFill>
                <a:latin typeface="Courier New"/>
              </a:rPr>
              <a:t>UPDATE</a:t>
            </a:r>
            <a:r>
              <a:rPr sz="1989" b="0" i="0" u="none">
                <a:solidFill>
                  <a:srgbClr val="0F172A"/>
                </a:solidFill>
                <a:latin typeface="Courier New"/>
              </a:rPr>
              <a:t> </a:t>
            </a:r>
            <a:r>
              <a:rPr sz="1989" b="1" i="0" u="none">
                <a:solidFill>
                  <a:srgbClr val="0E8A8A"/>
                </a:solidFill>
                <a:latin typeface="Courier New"/>
              </a:rPr>
              <a:t>ON</a:t>
            </a:r>
            <a:r>
              <a:rPr sz="1989" b="0" i="0" u="none">
                <a:solidFill>
                  <a:srgbClr val="0F172A"/>
                </a:solidFill>
                <a:latin typeface="Courier New"/>
              </a:rPr>
              <a:t> </a:t>
            </a:r>
            <a:r>
              <a:rPr sz="1989" b="0" i="0" u="none">
                <a:solidFill>
                  <a:srgbClr val="0F172A"/>
                </a:solidFill>
                <a:latin typeface="Courier New"/>
              </a:rPr>
              <a:t>department</a:t>
            </a:r>
            <a:r>
              <a:rPr sz="1989" b="0" i="0" u="none">
                <a:solidFill>
                  <a:srgbClr val="0F172A"/>
                </a:solidFill>
                <a:latin typeface="Courier New"/>
              </a:rPr>
              <a:t> </a:t>
            </a:r>
            <a:r>
              <a:rPr sz="1989" b="1" i="0" u="none">
                <a:solidFill>
                  <a:srgbClr val="0E8A8A"/>
                </a:solidFill>
                <a:latin typeface="Courier New"/>
              </a:rPr>
              <a:t>FROM</a:t>
            </a:r>
            <a:r>
              <a:rPr sz="1989" b="0" i="0" u="none">
                <a:solidFill>
                  <a:srgbClr val="0F172A"/>
                </a:solidFill>
                <a:latin typeface="Courier New"/>
              </a:rPr>
              <a:t> </a:t>
            </a:r>
            <a:r>
              <a:rPr sz="1989" b="0" i="0" u="none">
                <a:solidFill>
                  <a:srgbClr val="0F172A"/>
                </a:solidFill>
                <a:latin typeface="Courier New"/>
              </a:rPr>
              <a:t>mary</a:t>
            </a:r>
            <a:r>
              <a:rPr sz="1989" b="0" i="0" u="none">
                <a:solidFill>
                  <a:srgbClr val="0F172A"/>
                </a:solidFill>
                <a:latin typeface="Courier New"/>
              </a:rPr>
              <a:t>;</a:t>
            </a:r>
          </a:p>
          <a:p>
            <a:pPr>
              <a:lnSpc>
                <a:spcPct val="110000"/>
              </a:lnSpc>
            </a:pPr>
            <a:r>
              <a:rPr sz="1989" b="1" i="0" u="none">
                <a:solidFill>
                  <a:srgbClr val="0E8A8A"/>
                </a:solidFill>
                <a:latin typeface="Courier New"/>
              </a:rPr>
              <a:t>REVOKE</a:t>
            </a:r>
            <a:r>
              <a:rPr sz="1989" b="0" i="0" u="none">
                <a:solidFill>
                  <a:srgbClr val="0F172A"/>
                </a:solidFill>
                <a:latin typeface="Courier New"/>
              </a:rPr>
              <a:t> </a:t>
            </a:r>
            <a:r>
              <a:rPr sz="1989" b="1" i="0" u="none">
                <a:solidFill>
                  <a:srgbClr val="0E8A8A"/>
                </a:solidFill>
                <a:latin typeface="Courier New"/>
              </a:rPr>
              <a:t>ALL</a:t>
            </a:r>
            <a:r>
              <a:rPr sz="1989" b="0" i="0" u="none">
                <a:solidFill>
                  <a:srgbClr val="0F172A"/>
                </a:solidFill>
                <a:latin typeface="Courier New"/>
              </a:rPr>
              <a:t>    </a:t>
            </a:r>
            <a:r>
              <a:rPr sz="1989" b="1" i="0" u="none">
                <a:solidFill>
                  <a:srgbClr val="0E8A8A"/>
                </a:solidFill>
                <a:latin typeface="Courier New"/>
              </a:rPr>
              <a:t>ON</a:t>
            </a:r>
            <a:r>
              <a:rPr sz="1989" b="0" i="0" u="none">
                <a:solidFill>
                  <a:srgbClr val="0F172A"/>
                </a:solidFill>
                <a:latin typeface="Courier New"/>
              </a:rPr>
              <a:t> </a:t>
            </a:r>
            <a:r>
              <a:rPr sz="1989" b="0" i="0" u="none">
                <a:solidFill>
                  <a:srgbClr val="0F172A"/>
                </a:solidFill>
                <a:latin typeface="Courier New"/>
              </a:rPr>
              <a:t>department</a:t>
            </a:r>
            <a:r>
              <a:rPr sz="1989" b="0" i="0" u="none">
                <a:solidFill>
                  <a:srgbClr val="0F172A"/>
                </a:solidFill>
                <a:latin typeface="Courier New"/>
              </a:rPr>
              <a:t> </a:t>
            </a:r>
            <a:r>
              <a:rPr sz="1989" b="1" i="0" u="none">
                <a:solidFill>
                  <a:srgbClr val="0E8A8A"/>
                </a:solidFill>
                <a:latin typeface="Courier New"/>
              </a:rPr>
              <a:t>FROM</a:t>
            </a:r>
            <a:r>
              <a:rPr sz="1989" b="0" i="0" u="none">
                <a:solidFill>
                  <a:srgbClr val="0F172A"/>
                </a:solidFill>
                <a:latin typeface="Courier New"/>
              </a:rPr>
              <a:t> </a:t>
            </a:r>
            <a:r>
              <a:rPr sz="1989" b="0" i="0" u="none">
                <a:solidFill>
                  <a:srgbClr val="0F172A"/>
                </a:solidFill>
                <a:latin typeface="Courier New"/>
              </a:rPr>
              <a:t>mary</a:t>
            </a:r>
            <a:r>
              <a:rPr sz="1989" b="0" i="0" u="none">
                <a:solidFill>
                  <a:srgbClr val="0F172A"/>
                </a:solidFill>
                <a:latin typeface="Courier New"/>
              </a:rPr>
              <a:t>,</a:t>
            </a:r>
            <a:r>
              <a:rPr sz="1989" b="0" i="0" u="none">
                <a:solidFill>
                  <a:srgbClr val="0F172A"/>
                </a:solidFill>
                <a:latin typeface="Courier New"/>
              </a:rPr>
              <a:t> </a:t>
            </a:r>
            <a:r>
              <a:rPr sz="1989" b="0" i="0" u="none">
                <a:solidFill>
                  <a:srgbClr val="0F172A"/>
                </a:solidFill>
                <a:latin typeface="Courier New"/>
              </a:rPr>
              <a:t>ahmed</a:t>
            </a:r>
            <a:r>
              <a:rPr sz="1989" b="0" i="0" u="none">
                <a:solidFill>
                  <a:srgbClr val="0F172A"/>
                </a:solidFill>
                <a:latin typeface="Courier New"/>
              </a:rPr>
              <a:t>;</a:t>
            </a:r>
          </a:p>
          <a:p>
            <a:pPr>
              <a:lnSpc>
                <a:spcPct val="110000"/>
              </a:lnSpc>
            </a:pPr>
            <a:r>
              <a:rPr sz="1989" b="0" i="0" u="none">
                <a:solidFill>
                  <a:srgbClr val="0F172A"/>
                </a:solidFill>
                <a:latin typeface="Courier New"/>
              </a:rPr>
              <a:t> </a:t>
            </a:r>
          </a:p>
          <a:p>
            <a:pPr>
              <a:lnSpc>
                <a:spcPct val="110000"/>
              </a:lnSpc>
            </a:pPr>
            <a:r>
              <a:rPr sz="1989" b="0" i="1" u="none">
                <a:solidFill>
                  <a:srgbClr val="64748B"/>
                </a:solidFill>
                <a:latin typeface="Courier New"/>
              </a:rPr>
              <a:t>-- roles group privileges</a:t>
            </a:r>
          </a:p>
          <a:p>
            <a:pPr>
              <a:lnSpc>
                <a:spcPct val="110000"/>
              </a:lnSpc>
            </a:pPr>
            <a:r>
              <a:rPr sz="1989" b="1" i="0" u="none">
                <a:solidFill>
                  <a:srgbClr val="0E8A8A"/>
                </a:solidFill>
                <a:latin typeface="Courier New"/>
              </a:rPr>
              <a:t>CREATE</a:t>
            </a:r>
            <a:r>
              <a:rPr sz="1989" b="0" i="0" u="none">
                <a:solidFill>
                  <a:srgbClr val="0F172A"/>
                </a:solidFill>
                <a:latin typeface="Courier New"/>
              </a:rPr>
              <a:t> </a:t>
            </a:r>
            <a:r>
              <a:rPr sz="1989" b="1" i="0" u="none">
                <a:solidFill>
                  <a:srgbClr val="0E8A8A"/>
                </a:solidFill>
                <a:latin typeface="Courier New"/>
              </a:rPr>
              <a:t>ROLE</a:t>
            </a:r>
            <a:r>
              <a:rPr sz="1989" b="0" i="0" u="none">
                <a:solidFill>
                  <a:srgbClr val="0F172A"/>
                </a:solidFill>
                <a:latin typeface="Courier New"/>
              </a:rPr>
              <a:t> </a:t>
            </a:r>
            <a:r>
              <a:rPr sz="1989" b="0" i="0" u="none">
                <a:solidFill>
                  <a:srgbClr val="0F172A"/>
                </a:solidFill>
                <a:latin typeface="Courier New"/>
              </a:rPr>
              <a:t>hr_reader</a:t>
            </a:r>
            <a:r>
              <a:rPr sz="1989" b="0" i="0" u="none">
                <a:solidFill>
                  <a:srgbClr val="0F172A"/>
                </a:solidFill>
                <a:latin typeface="Courier New"/>
              </a:rPr>
              <a:t>;</a:t>
            </a:r>
          </a:p>
          <a:p>
            <a:pPr>
              <a:lnSpc>
                <a:spcPct val="110000"/>
              </a:lnSpc>
            </a:pPr>
            <a:r>
              <a:rPr sz="1989" b="1" i="0" u="none">
                <a:solidFill>
                  <a:srgbClr val="0E8A8A"/>
                </a:solidFill>
                <a:latin typeface="Courier New"/>
              </a:rPr>
              <a:t>GRANT</a:t>
            </a:r>
            <a:r>
              <a:rPr sz="1989" b="0" i="0" u="none">
                <a:solidFill>
                  <a:srgbClr val="0F172A"/>
                </a:solidFill>
                <a:latin typeface="Courier New"/>
              </a:rPr>
              <a:t> </a:t>
            </a:r>
            <a:r>
              <a:rPr sz="1989" b="1" i="0" u="none">
                <a:solidFill>
                  <a:srgbClr val="0E8A8A"/>
                </a:solidFill>
                <a:latin typeface="Courier New"/>
              </a:rPr>
              <a:t>SELECT</a:t>
            </a:r>
            <a:r>
              <a:rPr sz="1989" b="0" i="0" u="none">
                <a:solidFill>
                  <a:srgbClr val="0F172A"/>
                </a:solidFill>
                <a:latin typeface="Courier New"/>
              </a:rPr>
              <a:t> </a:t>
            </a:r>
            <a:r>
              <a:rPr sz="1989" b="1" i="0" u="none">
                <a:solidFill>
                  <a:srgbClr val="0E8A8A"/>
                </a:solidFill>
                <a:latin typeface="Courier New"/>
              </a:rPr>
              <a:t>ON</a:t>
            </a:r>
            <a:r>
              <a:rPr sz="1989" b="0" i="0" u="none">
                <a:solidFill>
                  <a:srgbClr val="0F172A"/>
                </a:solidFill>
                <a:latin typeface="Courier New"/>
              </a:rPr>
              <a:t> </a:t>
            </a:r>
            <a:r>
              <a:rPr sz="1989" b="0" i="0" u="none">
                <a:solidFill>
                  <a:srgbClr val="0F172A"/>
                </a:solidFill>
                <a:latin typeface="Courier New"/>
              </a:rPr>
              <a:t>employee</a:t>
            </a:r>
            <a:r>
              <a:rPr sz="1989" b="0" i="0" u="none">
                <a:solidFill>
                  <a:srgbClr val="0F172A"/>
                </a:solidFill>
                <a:latin typeface="Courier New"/>
              </a:rPr>
              <a:t> </a:t>
            </a:r>
            <a:r>
              <a:rPr sz="1989" b="1" i="0" u="none">
                <a:solidFill>
                  <a:srgbClr val="0E8A8A"/>
                </a:solidFill>
                <a:latin typeface="Courier New"/>
              </a:rPr>
              <a:t>TO</a:t>
            </a:r>
            <a:r>
              <a:rPr sz="1989" b="0" i="0" u="none">
                <a:solidFill>
                  <a:srgbClr val="0F172A"/>
                </a:solidFill>
                <a:latin typeface="Courier New"/>
              </a:rPr>
              <a:t> </a:t>
            </a:r>
            <a:r>
              <a:rPr sz="1989" b="0" i="0" u="none">
                <a:solidFill>
                  <a:srgbClr val="0F172A"/>
                </a:solidFill>
                <a:latin typeface="Courier New"/>
              </a:rPr>
              <a:t>hr_reader</a:t>
            </a:r>
            <a:r>
              <a:rPr sz="1989" b="0" i="0" u="none">
                <a:solidFill>
                  <a:srgbClr val="0F172A"/>
                </a:solidFill>
                <a:latin typeface="Courier New"/>
              </a:rPr>
              <a:t>;</a:t>
            </a:r>
          </a:p>
          <a:p>
            <a:pPr>
              <a:lnSpc>
                <a:spcPct val="110000"/>
              </a:lnSpc>
            </a:pPr>
            <a:r>
              <a:rPr sz="1989" b="1" i="0" u="none">
                <a:solidFill>
                  <a:srgbClr val="0E8A8A"/>
                </a:solidFill>
                <a:latin typeface="Courier New"/>
              </a:rPr>
              <a:t>GRANT</a:t>
            </a:r>
            <a:r>
              <a:rPr sz="1989" b="0" i="0" u="none">
                <a:solidFill>
                  <a:srgbClr val="0F172A"/>
                </a:solidFill>
                <a:latin typeface="Courier New"/>
              </a:rPr>
              <a:t> </a:t>
            </a:r>
            <a:r>
              <a:rPr sz="1989" b="0" i="0" u="none">
                <a:solidFill>
                  <a:srgbClr val="0F172A"/>
                </a:solidFill>
                <a:latin typeface="Courier New"/>
              </a:rPr>
              <a:t>hr_reader</a:t>
            </a:r>
            <a:r>
              <a:rPr sz="1989" b="0" i="0" u="none">
                <a:solidFill>
                  <a:srgbClr val="0F172A"/>
                </a:solidFill>
                <a:latin typeface="Courier New"/>
              </a:rPr>
              <a:t> </a:t>
            </a:r>
            <a:r>
              <a:rPr sz="1989" b="1" i="0" u="none">
                <a:solidFill>
                  <a:srgbClr val="0E8A8A"/>
                </a:solidFill>
                <a:latin typeface="Courier New"/>
              </a:rPr>
              <a:t>TO</a:t>
            </a:r>
            <a:r>
              <a:rPr sz="1989" b="0" i="0" u="none">
                <a:solidFill>
                  <a:srgbClr val="0F172A"/>
                </a:solidFill>
                <a:latin typeface="Courier New"/>
              </a:rPr>
              <a:t> </a:t>
            </a:r>
            <a:r>
              <a:rPr sz="1989" b="0" i="0" u="none">
                <a:solidFill>
                  <a:srgbClr val="0F172A"/>
                </a:solidFill>
                <a:latin typeface="Courier New"/>
              </a:rPr>
              <a:t>ahmed</a:t>
            </a:r>
            <a:r>
              <a:rPr sz="1989" b="0" i="0" u="none">
                <a:solidFill>
                  <a:srgbClr val="0F172A"/>
                </a:solidFill>
                <a:latin typeface="Courier New"/>
              </a:rPr>
              <a:t>;</a:t>
            </a:r>
          </a:p>
        </p:txBody>
      </p:sp>
      <p:sp>
        <p:nvSpPr>
          <p:cNvPr id="8" name="Rectangle 7"/>
          <p:cNvSpPr/>
          <p:nvPr/>
        </p:nvSpPr>
        <p:spPr>
          <a:xfrm>
            <a:off x="9913620" y="2482024"/>
            <a:ext cx="7459980" cy="1677276"/>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313670" y="2882074"/>
            <a:ext cx="6659880" cy="877176"/>
          </a:xfrm>
          <a:prstGeom prst="rect">
            <a:avLst/>
          </a:prstGeom>
          <a:noFill/>
        </p:spPr>
        <p:txBody>
          <a:bodyPr wrap="square" lIns="0" rIns="0" tIns="0" bIns="0" anchor="t"/>
          <a:lstStyle/>
          <a:p>
            <a:pPr algn="l">
              <a:lnSpc>
                <a:spcPct val="111800"/>
              </a:lnSpc>
            </a:pPr>
            <a:r>
              <a:rPr sz="2511" b="1" i="0" u="none">
                <a:solidFill>
                  <a:srgbClr val="334155"/>
                </a:solidFill>
                <a:latin typeface="Calibri"/>
              </a:rPr>
              <a:t>Privileges</a:t>
            </a:r>
            <a:r>
              <a:rPr sz="2511" b="0" i="0" u="none">
                <a:solidFill>
                  <a:srgbClr val="334155"/>
                </a:solidFill>
                <a:latin typeface="Calibri"/>
              </a:rPr>
              <a:t>: SELECT, INSERT, UPDATE, DELETE, REFERENCES, ALL.</a:t>
            </a:r>
          </a:p>
        </p:txBody>
      </p:sp>
      <p:sp>
        <p:nvSpPr>
          <p:cNvPr id="10" name="Rectangle 9"/>
          <p:cNvSpPr/>
          <p:nvPr/>
        </p:nvSpPr>
        <p:spPr>
          <a:xfrm>
            <a:off x="9913620" y="4372660"/>
            <a:ext cx="7459980" cy="1410576"/>
          </a:xfrm>
          <a:prstGeom prst="rect">
            <a:avLst/>
          </a:prstGeom>
          <a:solidFill>
            <a:srgbClr val="E6F4F4"/>
          </a:solidFill>
          <a:ln>
            <a:noFill/>
          </a:ln>
        </p:spPr>
        <p:txBody>
          <a:bodyPr rtlCol="0" anchor="ctr" lIns="0" rIns="0" tIns="0" bIns="0"/>
          <a:lstStyle/>
          <a:p>
            <a:pPr algn="ctr"/>
          </a:p>
        </p:txBody>
      </p:sp>
      <p:sp>
        <p:nvSpPr>
          <p:cNvPr id="11" name="Rectangle 10"/>
          <p:cNvSpPr/>
          <p:nvPr/>
        </p:nvSpPr>
        <p:spPr>
          <a:xfrm>
            <a:off x="9913620" y="4372660"/>
            <a:ext cx="47625" cy="1410576"/>
          </a:xfrm>
          <a:prstGeom prst="rect">
            <a:avLst/>
          </a:prstGeom>
          <a:solidFill>
            <a:srgbClr val="0E8A8A"/>
          </a:solidFill>
          <a:ln>
            <a:noFill/>
          </a:ln>
        </p:spPr>
        <p:txBody>
          <a:bodyPr rtlCol="0" anchor="ctr" lIns="0" rIns="0" tIns="0" bIns="0"/>
          <a:lstStyle/>
          <a:p>
            <a:pPr algn="ctr"/>
          </a:p>
        </p:txBody>
      </p:sp>
      <p:sp>
        <p:nvSpPr>
          <p:cNvPr id="12" name="TextBox 11"/>
          <p:cNvSpPr txBox="1"/>
          <p:nvPr/>
        </p:nvSpPr>
        <p:spPr>
          <a:xfrm>
            <a:off x="10340340" y="4639360"/>
            <a:ext cx="6606540" cy="877176"/>
          </a:xfrm>
          <a:prstGeom prst="rect">
            <a:avLst/>
          </a:prstGeom>
          <a:noFill/>
        </p:spPr>
        <p:txBody>
          <a:bodyPr wrap="square" lIns="0" rIns="0" tIns="0" bIns="0"/>
          <a:lstStyle/>
          <a:p>
            <a:pPr>
              <a:lnSpc>
                <a:spcPct val="112000"/>
              </a:lnSpc>
            </a:pPr>
            <a:r>
              <a:rPr sz="2511" b="1" i="0" u="none">
                <a:solidFill>
                  <a:srgbClr val="0F172A"/>
                </a:solidFill>
                <a:latin typeface="Calibri"/>
              </a:rPr>
              <a:t>WITH GRANT OPTION</a:t>
            </a:r>
            <a:r>
              <a:rPr sz="2511" b="0" i="0" u="none">
                <a:solidFill>
                  <a:srgbClr val="0F172A"/>
                </a:solidFill>
                <a:latin typeface="Calibri"/>
              </a:rPr>
              <a:t> lets the receiver grant the privilege to others.</a:t>
            </a:r>
          </a:p>
        </p:txBody>
      </p:sp>
      <p:sp>
        <p:nvSpPr>
          <p:cNvPr id="13" name="Rectangle 12"/>
          <p:cNvSpPr/>
          <p:nvPr/>
        </p:nvSpPr>
        <p:spPr>
          <a:xfrm>
            <a:off x="9913620" y="5996597"/>
            <a:ext cx="7459980" cy="1410576"/>
          </a:xfrm>
          <a:prstGeom prst="rect">
            <a:avLst/>
          </a:prstGeom>
          <a:solidFill>
            <a:srgbClr val="FEF3C7"/>
          </a:solidFill>
          <a:ln>
            <a:noFill/>
          </a:ln>
        </p:spPr>
        <p:txBody>
          <a:bodyPr rtlCol="0" anchor="ctr" lIns="0" rIns="0" tIns="0" bIns="0"/>
          <a:lstStyle/>
          <a:p>
            <a:pPr algn="ctr"/>
          </a:p>
        </p:txBody>
      </p:sp>
      <p:sp>
        <p:nvSpPr>
          <p:cNvPr id="14" name="Rectangle 13"/>
          <p:cNvSpPr/>
          <p:nvPr/>
        </p:nvSpPr>
        <p:spPr>
          <a:xfrm>
            <a:off x="9913620" y="5996597"/>
            <a:ext cx="47625" cy="1410576"/>
          </a:xfrm>
          <a:prstGeom prst="rect">
            <a:avLst/>
          </a:prstGeom>
          <a:solidFill>
            <a:srgbClr val="B45309"/>
          </a:solidFill>
          <a:ln>
            <a:noFill/>
          </a:ln>
        </p:spPr>
        <p:txBody>
          <a:bodyPr rtlCol="0" anchor="ctr" lIns="0" rIns="0" tIns="0" bIns="0"/>
          <a:lstStyle/>
          <a:p>
            <a:pPr algn="ctr"/>
          </a:p>
        </p:txBody>
      </p:sp>
      <p:sp>
        <p:nvSpPr>
          <p:cNvPr id="15" name="TextBox 14"/>
          <p:cNvSpPr txBox="1"/>
          <p:nvPr/>
        </p:nvSpPr>
        <p:spPr>
          <a:xfrm>
            <a:off x="10340340" y="6263297"/>
            <a:ext cx="6606540" cy="877176"/>
          </a:xfrm>
          <a:prstGeom prst="rect">
            <a:avLst/>
          </a:prstGeom>
          <a:noFill/>
        </p:spPr>
        <p:txBody>
          <a:bodyPr wrap="square" lIns="0" rIns="0" tIns="0" bIns="0"/>
          <a:lstStyle/>
          <a:p>
            <a:pPr>
              <a:lnSpc>
                <a:spcPct val="112000"/>
              </a:lnSpc>
            </a:pPr>
            <a:r>
              <a:rPr sz="2511" b="0" i="0" u="none">
                <a:solidFill>
                  <a:srgbClr val="0F172A"/>
                </a:solidFill>
                <a:latin typeface="Calibri"/>
              </a:rPr>
              <a:t>Grant to </a:t>
            </a:r>
            <a:r>
              <a:rPr sz="2511" b="1" i="0" u="none">
                <a:solidFill>
                  <a:srgbClr val="0F172A"/>
                </a:solidFill>
                <a:latin typeface="Calibri"/>
              </a:rPr>
              <a:t>roles</a:t>
            </a:r>
            <a:r>
              <a:rPr sz="2511" b="0" i="0" u="none">
                <a:solidFill>
                  <a:srgbClr val="0F172A"/>
                </a:solidFill>
                <a:latin typeface="Calibri"/>
              </a:rPr>
              <a:t>, not individual users: easier to manage.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VIEWS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57/71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Views: virtual tables</a:t>
            </a:r>
          </a:p>
        </p:txBody>
      </p:sp>
      <p:sp>
        <p:nvSpPr>
          <p:cNvPr id="6" name="Rectangle 5"/>
          <p:cNvSpPr/>
          <p:nvPr/>
        </p:nvSpPr>
        <p:spPr>
          <a:xfrm>
            <a:off x="914400" y="2482024"/>
            <a:ext cx="8069580" cy="4958326"/>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7269480"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What a view is</a:t>
            </a:r>
          </a:p>
        </p:txBody>
      </p:sp>
      <p:sp>
        <p:nvSpPr>
          <p:cNvPr id="8" name="TextBox 7"/>
          <p:cNvSpPr txBox="1"/>
          <p:nvPr/>
        </p:nvSpPr>
        <p:spPr>
          <a:xfrm>
            <a:off x="1314450" y="3605204"/>
            <a:ext cx="7269480" cy="2095408"/>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A </a:t>
            </a:r>
            <a:r>
              <a:rPr sz="2704" b="1" i="0" u="none">
                <a:solidFill>
                  <a:srgbClr val="334155"/>
                </a:solidFill>
                <a:latin typeface="Calibri"/>
              </a:rPr>
              <a:t>stored SELECT</a:t>
            </a:r>
            <a:r>
              <a:rPr sz="2704" b="0" i="0" u="none">
                <a:solidFill>
                  <a:srgbClr val="334155"/>
                </a:solidFill>
                <a:latin typeface="Calibri"/>
              </a:rPr>
              <a:t> with a name</a:t>
            </a:r>
          </a:p>
          <a:p>
            <a:pPr algn="l" marL="377860" indent="-377860">
              <a:lnSpc>
                <a:spcPct val="111800"/>
              </a:lnSpc>
              <a:spcBef>
                <a:spcPts val="676"/>
              </a:spcBef>
              <a:buChar char="•"/>
            </a:pPr>
            <a:r>
              <a:rPr sz="2704" b="0" i="0" u="none">
                <a:solidFill>
                  <a:srgbClr val="334155"/>
                </a:solidFill>
                <a:latin typeface="Calibri"/>
              </a:rPr>
              <a:t>Contains </a:t>
            </a:r>
            <a:r>
              <a:rPr sz="2704" b="1" i="0" u="none">
                <a:solidFill>
                  <a:srgbClr val="334155"/>
                </a:solidFill>
                <a:latin typeface="Calibri"/>
              </a:rPr>
              <a:t>no data</a:t>
            </a:r>
            <a:r>
              <a:rPr sz="2704" b="0" i="0" u="none">
                <a:solidFill>
                  <a:srgbClr val="334155"/>
                </a:solidFill>
                <a:latin typeface="Calibri"/>
              </a:rPr>
              <a:t> of its own</a:t>
            </a:r>
          </a:p>
          <a:p>
            <a:pPr algn="l" marL="377860" indent="-377860">
              <a:lnSpc>
                <a:spcPct val="111800"/>
              </a:lnSpc>
              <a:spcBef>
                <a:spcPts val="676"/>
              </a:spcBef>
              <a:buChar char="•"/>
            </a:pPr>
            <a:r>
              <a:rPr sz="2704" b="0" i="0" u="none">
                <a:solidFill>
                  <a:srgbClr val="334155"/>
                </a:solidFill>
                <a:latin typeface="Calibri"/>
              </a:rPr>
              <a:t>Based on </a:t>
            </a:r>
            <a:r>
              <a:rPr sz="2704" b="1" i="0" u="none">
                <a:solidFill>
                  <a:srgbClr val="334155"/>
                </a:solidFill>
                <a:latin typeface="Calibri"/>
              </a:rPr>
              <a:t>base tables</a:t>
            </a:r>
            <a:r>
              <a:rPr sz="2704" b="0" i="0" u="none">
                <a:solidFill>
                  <a:srgbClr val="334155"/>
                </a:solidFill>
                <a:latin typeface="Calibri"/>
              </a:rPr>
              <a:t> (or other views)</a:t>
            </a:r>
          </a:p>
          <a:p>
            <a:pPr algn="l" marL="377860" indent="-377860">
              <a:lnSpc>
                <a:spcPct val="111800"/>
              </a:lnSpc>
              <a:spcBef>
                <a:spcPts val="676"/>
              </a:spcBef>
              <a:buChar char="•"/>
            </a:pPr>
            <a:r>
              <a:rPr sz="2704" b="0" i="0" u="none">
                <a:solidFill>
                  <a:srgbClr val="334155"/>
                </a:solidFill>
                <a:latin typeface="Calibri"/>
              </a:rPr>
              <a:t>Queried like a table</a:t>
            </a:r>
          </a:p>
        </p:txBody>
      </p:sp>
      <p:sp>
        <p:nvSpPr>
          <p:cNvPr id="9" name="Rectangle 8"/>
          <p:cNvSpPr/>
          <p:nvPr/>
        </p:nvSpPr>
        <p:spPr>
          <a:xfrm>
            <a:off x="9304020" y="2482024"/>
            <a:ext cx="8069580" cy="4958326"/>
          </a:xfrm>
          <a:prstGeom prst="rect">
            <a:avLst/>
          </a:prstGeom>
          <a:solidFill>
            <a:srgbClr val="E6F4F4"/>
          </a:solidFill>
          <a:ln w="14287">
            <a:solidFill>
              <a:srgbClr val="B7DCDC"/>
            </a:solidFill>
          </a:ln>
        </p:spPr>
        <p:txBody>
          <a:bodyPr rtlCol="0" anchor="ctr" lIns="0" rIns="0" tIns="0" bIns="0"/>
          <a:lstStyle/>
          <a:p>
            <a:pPr algn="ctr"/>
          </a:p>
        </p:txBody>
      </p:sp>
      <p:sp>
        <p:nvSpPr>
          <p:cNvPr id="10" name="TextBox 9"/>
          <p:cNvSpPr txBox="1"/>
          <p:nvPr/>
        </p:nvSpPr>
        <p:spPr>
          <a:xfrm>
            <a:off x="9704070" y="2882074"/>
            <a:ext cx="7269480" cy="563110"/>
          </a:xfrm>
          <a:prstGeom prst="rect">
            <a:avLst/>
          </a:prstGeom>
          <a:noFill/>
        </p:spPr>
        <p:txBody>
          <a:bodyPr wrap="square" lIns="0" rIns="0" tIns="0" bIns="0" anchor="t"/>
          <a:lstStyle/>
          <a:p>
            <a:pPr algn="l">
              <a:lnSpc>
                <a:spcPct val="103200"/>
              </a:lnSpc>
            </a:pPr>
            <a:r>
              <a:rPr sz="3284" b="1" i="0" u="none">
                <a:solidFill>
                  <a:srgbClr val="0E8A8A"/>
                </a:solidFill>
                <a:latin typeface="Arial"/>
              </a:rPr>
              <a:t>Why use views</a:t>
            </a:r>
          </a:p>
        </p:txBody>
      </p:sp>
      <p:sp>
        <p:nvSpPr>
          <p:cNvPr id="11" name="TextBox 10"/>
          <p:cNvSpPr txBox="1"/>
          <p:nvPr/>
        </p:nvSpPr>
        <p:spPr>
          <a:xfrm>
            <a:off x="9704070" y="3605204"/>
            <a:ext cx="7269480" cy="3435096"/>
          </a:xfrm>
          <a:prstGeom prst="rect">
            <a:avLst/>
          </a:prstGeom>
          <a:noFill/>
        </p:spPr>
        <p:txBody>
          <a:bodyPr wrap="square" lIns="0" rIns="0" tIns="0" bIns="0" anchor="t"/>
          <a:lstStyle/>
          <a:p>
            <a:pPr algn="l" marL="377860" indent="-377860">
              <a:lnSpc>
                <a:spcPct val="111800"/>
              </a:lnSpc>
              <a:buChar char="•"/>
            </a:pPr>
            <a:r>
              <a:rPr sz="2704" b="1" i="0" u="none">
                <a:solidFill>
                  <a:srgbClr val="334155"/>
                </a:solidFill>
                <a:latin typeface="Calibri"/>
              </a:rPr>
              <a:t>Restrict access</a:t>
            </a:r>
            <a:r>
              <a:rPr sz="2704" b="0" i="0" u="none">
                <a:solidFill>
                  <a:srgbClr val="334155"/>
                </a:solidFill>
                <a:latin typeface="Calibri"/>
              </a:rPr>
              <a:t>: show only some columns or rows</a:t>
            </a:r>
          </a:p>
          <a:p>
            <a:pPr algn="l" marL="377860" indent="-377860">
              <a:lnSpc>
                <a:spcPct val="111800"/>
              </a:lnSpc>
              <a:spcBef>
                <a:spcPts val="676"/>
              </a:spcBef>
              <a:buChar char="•"/>
            </a:pPr>
            <a:r>
              <a:rPr sz="2704" b="1" i="0" u="none">
                <a:solidFill>
                  <a:srgbClr val="334155"/>
                </a:solidFill>
                <a:latin typeface="Calibri"/>
              </a:rPr>
              <a:t>Simplify</a:t>
            </a:r>
            <a:r>
              <a:rPr sz="2704" b="0" i="0" u="none">
                <a:solidFill>
                  <a:srgbClr val="334155"/>
                </a:solidFill>
                <a:latin typeface="Calibri"/>
              </a:rPr>
              <a:t> complex joins for users</a:t>
            </a:r>
          </a:p>
          <a:p>
            <a:pPr algn="l" marL="377860" indent="-377860">
              <a:lnSpc>
                <a:spcPct val="111800"/>
              </a:lnSpc>
              <a:spcBef>
                <a:spcPts val="676"/>
              </a:spcBef>
              <a:buChar char="•"/>
            </a:pPr>
            <a:r>
              <a:rPr sz="2704" b="1" i="0" u="none">
                <a:solidFill>
                  <a:srgbClr val="334155"/>
                </a:solidFill>
                <a:latin typeface="Calibri"/>
              </a:rPr>
              <a:t>Data independence</a:t>
            </a:r>
            <a:r>
              <a:rPr sz="2704" b="0" i="0" u="none">
                <a:solidFill>
                  <a:srgbClr val="334155"/>
                </a:solidFill>
                <a:latin typeface="Calibri"/>
              </a:rPr>
              <a:t>: apps survive table changes</a:t>
            </a:r>
          </a:p>
          <a:p>
            <a:pPr algn="l" marL="377860" indent="-377860">
              <a:lnSpc>
                <a:spcPct val="111800"/>
              </a:lnSpc>
              <a:spcBef>
                <a:spcPts val="676"/>
              </a:spcBef>
              <a:buChar char="•"/>
            </a:pPr>
            <a:r>
              <a:rPr sz="2704" b="1" i="0" u="none">
                <a:solidFill>
                  <a:srgbClr val="334155"/>
                </a:solidFill>
                <a:latin typeface="Calibri"/>
              </a:rPr>
              <a:t>Different views</a:t>
            </a:r>
            <a:r>
              <a:rPr sz="2704" b="0" i="0" u="none">
                <a:solidFill>
                  <a:srgbClr val="334155"/>
                </a:solidFill>
                <a:latin typeface="Calibri"/>
              </a:rPr>
              <a:t> of the same data per user group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VIEWS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58/71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How a view works</a:t>
            </a:r>
          </a:p>
        </p:txBody>
      </p:sp>
      <p:cxnSp>
        <p:nvCxnSpPr>
          <p:cNvPr id="6" name="Connector 5"/>
          <p:cNvCxnSpPr/>
          <p:nvPr/>
        </p:nvCxnSpPr>
        <p:spPr>
          <a:xfrm>
            <a:off x="4476750" y="3810000"/>
            <a:ext cx="2362200" cy="1524000"/>
          </a:xfrm>
          <a:prstGeom prst="line">
            <a:avLst/>
          </a:prstGeom>
          <a:ln w="23812">
            <a:solidFill>
              <a:srgbClr val="0F172A"/>
            </a:solidFill>
            <a:tailEnd type="triangle"/>
          </a:ln>
        </p:spPr>
      </p:cxnSp>
      <p:cxnSp>
        <p:nvCxnSpPr>
          <p:cNvPr id="7" name="Connector 6"/>
          <p:cNvCxnSpPr/>
          <p:nvPr/>
        </p:nvCxnSpPr>
        <p:spPr>
          <a:xfrm>
            <a:off x="4476750" y="5334000"/>
            <a:ext cx="2362200" cy="0"/>
          </a:xfrm>
          <a:prstGeom prst="line">
            <a:avLst/>
          </a:prstGeom>
          <a:ln w="23812">
            <a:solidFill>
              <a:srgbClr val="0F172A"/>
            </a:solidFill>
            <a:tailEnd type="triangle"/>
          </a:ln>
        </p:spPr>
      </p:cxnSp>
      <p:cxnSp>
        <p:nvCxnSpPr>
          <p:cNvPr id="8" name="Connector 7"/>
          <p:cNvCxnSpPr/>
          <p:nvPr/>
        </p:nvCxnSpPr>
        <p:spPr>
          <a:xfrm flipV="1">
            <a:off x="4476750" y="5334000"/>
            <a:ext cx="2362200" cy="1524000"/>
          </a:xfrm>
          <a:prstGeom prst="line">
            <a:avLst/>
          </a:prstGeom>
          <a:ln w="23812">
            <a:solidFill>
              <a:srgbClr val="0F172A"/>
            </a:solidFill>
            <a:tailEnd type="triangle"/>
          </a:ln>
        </p:spPr>
      </p:cxnSp>
      <p:cxnSp>
        <p:nvCxnSpPr>
          <p:cNvPr id="9" name="Connector 8"/>
          <p:cNvCxnSpPr/>
          <p:nvPr/>
        </p:nvCxnSpPr>
        <p:spPr>
          <a:xfrm flipV="1">
            <a:off x="11449050" y="3810000"/>
            <a:ext cx="2247900" cy="1524000"/>
          </a:xfrm>
          <a:prstGeom prst="line">
            <a:avLst/>
          </a:prstGeom>
          <a:ln w="23812">
            <a:solidFill>
              <a:srgbClr val="0E8A8A"/>
            </a:solidFill>
            <a:tailEnd type="triangle"/>
          </a:ln>
        </p:spPr>
      </p:cxnSp>
      <p:cxnSp>
        <p:nvCxnSpPr>
          <p:cNvPr id="10" name="Connector 9"/>
          <p:cNvCxnSpPr/>
          <p:nvPr/>
        </p:nvCxnSpPr>
        <p:spPr>
          <a:xfrm>
            <a:off x="11449050" y="5334000"/>
            <a:ext cx="2247900" cy="0"/>
          </a:xfrm>
          <a:prstGeom prst="line">
            <a:avLst/>
          </a:prstGeom>
          <a:ln w="23812">
            <a:solidFill>
              <a:srgbClr val="0E8A8A"/>
            </a:solidFill>
            <a:tailEnd type="triangle"/>
          </a:ln>
        </p:spPr>
      </p:cxnSp>
      <p:cxnSp>
        <p:nvCxnSpPr>
          <p:cNvPr id="11" name="Connector 10"/>
          <p:cNvCxnSpPr/>
          <p:nvPr/>
        </p:nvCxnSpPr>
        <p:spPr>
          <a:xfrm>
            <a:off x="11449050" y="5334000"/>
            <a:ext cx="2247900" cy="1524000"/>
          </a:xfrm>
          <a:prstGeom prst="line">
            <a:avLst/>
          </a:prstGeom>
          <a:ln w="23812">
            <a:solidFill>
              <a:srgbClr val="0E8A8A"/>
            </a:solidFill>
            <a:tailEnd type="triangle"/>
          </a:ln>
        </p:spPr>
      </p:cxnSp>
      <p:sp>
        <p:nvSpPr>
          <p:cNvPr id="12" name="Rectangle 11"/>
          <p:cNvSpPr/>
          <p:nvPr/>
        </p:nvSpPr>
        <p:spPr>
          <a:xfrm>
            <a:off x="1809750" y="3429000"/>
            <a:ext cx="2667000" cy="76200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EMPLOYEE</a:t>
            </a:r>
          </a:p>
        </p:txBody>
      </p:sp>
      <p:sp>
        <p:nvSpPr>
          <p:cNvPr id="13" name="Rectangle 12"/>
          <p:cNvSpPr/>
          <p:nvPr/>
        </p:nvSpPr>
        <p:spPr>
          <a:xfrm>
            <a:off x="1809750" y="4953000"/>
            <a:ext cx="2667000" cy="76200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WORKS_ON</a:t>
            </a:r>
          </a:p>
        </p:txBody>
      </p:sp>
      <p:sp>
        <p:nvSpPr>
          <p:cNvPr id="14" name="Rectangle 13"/>
          <p:cNvSpPr/>
          <p:nvPr/>
        </p:nvSpPr>
        <p:spPr>
          <a:xfrm>
            <a:off x="1809750" y="6477000"/>
            <a:ext cx="2667000" cy="762000"/>
          </a:xfrm>
          <a:prstGeom prst="rect">
            <a:avLst/>
          </a:prstGeom>
          <a:solidFill>
            <a:srgbClr val="FFFFFF"/>
          </a:solidFill>
          <a:ln w="23812">
            <a:solidFill>
              <a:srgbClr val="0F172A"/>
            </a:solidFill>
          </a:ln>
        </p:spPr>
        <p:txBody>
          <a:bodyPr rtlCol="0" anchor="ctr" lIns="0" rIns="0" tIns="0" bIns="0" wrap="none"/>
          <a:lstStyle/>
          <a:p>
            <a:pPr algn="ctr"/>
            <a:r>
              <a:rPr sz="1794" b="1" i="0" u="none">
                <a:solidFill>
                  <a:srgbClr val="0F172A"/>
                </a:solidFill>
                <a:latin typeface="Arial"/>
              </a:rPr>
              <a:t>PROJECT</a:t>
            </a:r>
          </a:p>
        </p:txBody>
      </p:sp>
      <p:sp>
        <p:nvSpPr>
          <p:cNvPr id="15" name="Oval 14"/>
          <p:cNvSpPr/>
          <p:nvPr/>
        </p:nvSpPr>
        <p:spPr>
          <a:xfrm>
            <a:off x="13716000" y="3429000"/>
            <a:ext cx="2857500" cy="762000"/>
          </a:xfrm>
          <a:prstGeom prst="ellipse">
            <a:avLst/>
          </a:prstGeom>
          <a:solidFill>
            <a:srgbClr val="E6F4F4"/>
          </a:solidFill>
          <a:ln w="19050">
            <a:solidFill>
              <a:srgbClr val="0E8A8A"/>
            </a:solidFill>
          </a:ln>
        </p:spPr>
        <p:txBody>
          <a:bodyPr rtlCol="0" anchor="ctr" lIns="0" rIns="0" tIns="0" bIns="0" wrap="none"/>
          <a:lstStyle/>
          <a:p>
            <a:pPr algn="ctr"/>
            <a:r>
              <a:rPr sz="1794" b="0" i="0" u="none">
                <a:solidFill>
                  <a:srgbClr val="0F172A"/>
                </a:solidFill>
                <a:latin typeface="Calibri"/>
              </a:rPr>
              <a:t>HR application</a:t>
            </a:r>
          </a:p>
        </p:txBody>
      </p:sp>
      <p:sp>
        <p:nvSpPr>
          <p:cNvPr id="16" name="Oval 15"/>
          <p:cNvSpPr/>
          <p:nvPr/>
        </p:nvSpPr>
        <p:spPr>
          <a:xfrm>
            <a:off x="13716000" y="4953000"/>
            <a:ext cx="2857500" cy="762000"/>
          </a:xfrm>
          <a:prstGeom prst="ellipse">
            <a:avLst/>
          </a:prstGeom>
          <a:solidFill>
            <a:srgbClr val="E6F4F4"/>
          </a:solidFill>
          <a:ln w="19050">
            <a:solidFill>
              <a:srgbClr val="0E8A8A"/>
            </a:solidFill>
          </a:ln>
        </p:spPr>
        <p:txBody>
          <a:bodyPr rtlCol="0" anchor="ctr" lIns="0" rIns="0" tIns="0" bIns="0" wrap="none"/>
          <a:lstStyle/>
          <a:p>
            <a:pPr algn="ctr"/>
            <a:r>
              <a:rPr sz="1794" b="0" i="0" u="none">
                <a:solidFill>
                  <a:srgbClr val="0F172A"/>
                </a:solidFill>
                <a:latin typeface="Calibri"/>
              </a:rPr>
              <a:t>Monthly report</a:t>
            </a:r>
          </a:p>
        </p:txBody>
      </p:sp>
      <p:sp>
        <p:nvSpPr>
          <p:cNvPr id="17" name="Oval 16"/>
          <p:cNvSpPr/>
          <p:nvPr/>
        </p:nvSpPr>
        <p:spPr>
          <a:xfrm>
            <a:off x="13716000" y="6477000"/>
            <a:ext cx="2857500" cy="762000"/>
          </a:xfrm>
          <a:prstGeom prst="ellipse">
            <a:avLst/>
          </a:prstGeom>
          <a:solidFill>
            <a:srgbClr val="E6F4F4"/>
          </a:solidFill>
          <a:ln w="19050">
            <a:solidFill>
              <a:srgbClr val="0E8A8A"/>
            </a:solidFill>
          </a:ln>
        </p:spPr>
        <p:txBody>
          <a:bodyPr rtlCol="0" anchor="ctr" lIns="0" rIns="0" tIns="0" bIns="0" wrap="none"/>
          <a:lstStyle/>
          <a:p>
            <a:pPr algn="ctr"/>
            <a:r>
              <a:rPr sz="1794" b="0" i="0" u="none">
                <a:solidFill>
                  <a:srgbClr val="0F172A"/>
                </a:solidFill>
                <a:latin typeface="Calibri"/>
              </a:rPr>
              <a:t>Ad-hoc query</a:t>
            </a:r>
          </a:p>
        </p:txBody>
      </p:sp>
      <p:sp>
        <p:nvSpPr>
          <p:cNvPr id="18" name="Rounded Rectangle 17"/>
          <p:cNvSpPr/>
          <p:nvPr/>
        </p:nvSpPr>
        <p:spPr>
          <a:xfrm>
            <a:off x="6858000" y="4572000"/>
            <a:ext cx="4572000" cy="1524000"/>
          </a:xfrm>
          <a:prstGeom prst="roundRect">
            <a:avLst>
              <a:gd name="adj" fmla="val 10000"/>
            </a:avLst>
          </a:prstGeom>
          <a:solidFill>
            <a:srgbClr val="FDECEF"/>
          </a:solidFill>
          <a:ln w="28575">
            <a:solidFill>
              <a:srgbClr val="C8102E"/>
            </a:solidFill>
            <a:prstDash val="dash"/>
          </a:ln>
        </p:spPr>
        <p:txBody>
          <a:bodyPr rtlCol="0" anchor="ctr" lIns="0" rIns="0" tIns="0" bIns="0"/>
          <a:lstStyle/>
          <a:p>
            <a:pPr algn="ctr"/>
          </a:p>
        </p:txBody>
      </p:sp>
      <p:sp>
        <p:nvSpPr>
          <p:cNvPr id="19" name="TextBox 18"/>
          <p:cNvSpPr txBox="1"/>
          <p:nvPr/>
        </p:nvSpPr>
        <p:spPr>
          <a:xfrm>
            <a:off x="7048500" y="4810125"/>
            <a:ext cx="4191000" cy="381190"/>
          </a:xfrm>
          <a:prstGeom prst="rect">
            <a:avLst/>
          </a:prstGeom>
          <a:noFill/>
        </p:spPr>
        <p:txBody>
          <a:bodyPr wrap="square" lIns="0" rIns="0" tIns="0" bIns="0" anchor="t"/>
          <a:lstStyle/>
          <a:p>
            <a:pPr algn="ctr">
              <a:lnSpc>
                <a:spcPct val="111800"/>
              </a:lnSpc>
            </a:pPr>
            <a:r>
              <a:rPr sz="2070" b="1" i="0" u="none">
                <a:solidFill>
                  <a:srgbClr val="0F172A"/>
                </a:solidFill>
                <a:latin typeface="Courier New"/>
              </a:rPr>
              <a:t>vw_work_hrs</a:t>
            </a:r>
          </a:p>
        </p:txBody>
      </p:sp>
      <p:sp>
        <p:nvSpPr>
          <p:cNvPr id="20" name="TextBox 19"/>
          <p:cNvSpPr txBox="1"/>
          <p:nvPr/>
        </p:nvSpPr>
        <p:spPr>
          <a:xfrm>
            <a:off x="7048500" y="5334000"/>
            <a:ext cx="4191000" cy="304952"/>
          </a:xfrm>
          <a:prstGeom prst="rect">
            <a:avLst/>
          </a:prstGeom>
          <a:noFill/>
        </p:spPr>
        <p:txBody>
          <a:bodyPr wrap="square" lIns="0" rIns="0" tIns="0" bIns="0" anchor="t"/>
          <a:lstStyle/>
          <a:p>
            <a:pPr algn="ctr">
              <a:lnSpc>
                <a:spcPct val="111800"/>
              </a:lnSpc>
            </a:pPr>
            <a:r>
              <a:rPr sz="1656" b="0" i="0" u="none">
                <a:solidFill>
                  <a:srgbClr val="334155"/>
                </a:solidFill>
                <a:latin typeface="Calibri"/>
              </a:rPr>
              <a:t>stored SELECT, no rows of its own</a:t>
            </a:r>
          </a:p>
        </p:txBody>
      </p:sp>
      <p:sp>
        <p:nvSpPr>
          <p:cNvPr id="21" name="TextBox 20"/>
          <p:cNvSpPr txBox="1"/>
          <p:nvPr/>
        </p:nvSpPr>
        <p:spPr>
          <a:xfrm>
            <a:off x="1809750" y="2857500"/>
            <a:ext cx="2857500" cy="330365"/>
          </a:xfrm>
          <a:prstGeom prst="rect">
            <a:avLst/>
          </a:prstGeom>
          <a:noFill/>
        </p:spPr>
        <p:txBody>
          <a:bodyPr wrap="square" lIns="0" rIns="0" tIns="0" bIns="0" anchor="t"/>
          <a:lstStyle/>
          <a:p>
            <a:pPr algn="ctr">
              <a:lnSpc>
                <a:spcPct val="111800"/>
              </a:lnSpc>
            </a:pPr>
            <a:r>
              <a:rPr sz="1794" b="1" i="0" u="none">
                <a:solidFill>
                  <a:srgbClr val="64748B"/>
                </a:solidFill>
                <a:latin typeface="Calibri"/>
              </a:rPr>
              <a:t>Base tables</a:t>
            </a:r>
          </a:p>
        </p:txBody>
      </p:sp>
      <p:sp>
        <p:nvSpPr>
          <p:cNvPr id="22" name="TextBox 21"/>
          <p:cNvSpPr txBox="1"/>
          <p:nvPr/>
        </p:nvSpPr>
        <p:spPr>
          <a:xfrm>
            <a:off x="13716000" y="2857500"/>
            <a:ext cx="2857500" cy="330365"/>
          </a:xfrm>
          <a:prstGeom prst="rect">
            <a:avLst/>
          </a:prstGeom>
          <a:noFill/>
        </p:spPr>
        <p:txBody>
          <a:bodyPr wrap="square" lIns="0" rIns="0" tIns="0" bIns="0" anchor="t"/>
          <a:lstStyle/>
          <a:p>
            <a:pPr algn="ctr">
              <a:lnSpc>
                <a:spcPct val="111800"/>
              </a:lnSpc>
            </a:pPr>
            <a:r>
              <a:rPr sz="1794" b="1" i="0" u="none">
                <a:solidFill>
                  <a:srgbClr val="64748B"/>
                </a:solidFill>
                <a:latin typeface="Calibri"/>
              </a:rPr>
              <a:t>Users</a:t>
            </a:r>
          </a:p>
        </p:txBody>
      </p:sp>
      <p:sp>
        <p:nvSpPr>
          <p:cNvPr id="23" name="TextBox 22"/>
          <p:cNvSpPr txBox="1"/>
          <p:nvPr/>
        </p:nvSpPr>
        <p:spPr>
          <a:xfrm>
            <a:off x="1219200" y="7905750"/>
            <a:ext cx="15849600" cy="330365"/>
          </a:xfrm>
          <a:prstGeom prst="rect">
            <a:avLst/>
          </a:prstGeom>
          <a:noFill/>
        </p:spPr>
        <p:txBody>
          <a:bodyPr wrap="square" lIns="0" rIns="0" tIns="0" bIns="0" anchor="t"/>
          <a:lstStyle/>
          <a:p>
            <a:pPr algn="l">
              <a:lnSpc>
                <a:spcPct val="111800"/>
              </a:lnSpc>
            </a:pPr>
            <a:r>
              <a:rPr sz="1794" b="0" i="0" u="none">
                <a:solidFill>
                  <a:srgbClr val="334155"/>
                </a:solidFill>
                <a:latin typeface="Calibri"/>
              </a:rPr>
              <a:t>Every time the view is queried, the DBMS runs its SELECT against the </a:t>
            </a:r>
            <a:r>
              <a:rPr sz="1794" b="1" i="0" u="none">
                <a:solidFill>
                  <a:srgbClr val="334155"/>
                </a:solidFill>
                <a:latin typeface="Calibri"/>
              </a:rPr>
              <a:t>base tables</a:t>
            </a:r>
            <a:r>
              <a:rPr sz="1794" b="0" i="0" u="none">
                <a:solidFill>
                  <a:srgbClr val="334155"/>
                </a:solidFill>
                <a:latin typeface="Calibri"/>
              </a:rPr>
              <a:t>: the data is always current.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VIEWS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59/71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Simple vs complex views</a:t>
            </a:r>
          </a:p>
        </p:txBody>
      </p:sp>
      <p:graphicFrame>
        <p:nvGraphicFramePr>
          <p:cNvPr id="6" name="Table 5"/>
          <p:cNvGraphicFramePr>
            <a:graphicFrameLocks noGrp="1"/>
          </p:cNvGraphicFramePr>
          <p:nvPr/>
        </p:nvGraphicFramePr>
        <p:xfrm>
          <a:off x="914400" y="2482024"/>
          <a:ext cx="16459200" cy="3383565"/>
        </p:xfrm>
        <a:graphic>
          <a:graphicData uri="http://schemas.openxmlformats.org/drawingml/2006/table">
            <a:tbl>
              <a:tblPr firstRow="0" bandRow="0">
                <a:tableStyleId>{5940675A-B579-460E-94D1-54222C63F5DA}</a:tableStyleId>
              </a:tblPr>
              <a:tblGrid>
                <a:gridCol w="6583680"/>
                <a:gridCol w="4937760"/>
                <a:gridCol w="4937760"/>
              </a:tblGrid>
              <a:tr h="676713">
                <a:tc>
                  <a:txBody>
                    <a:bodyPr/>
                    <a:lstStyle/>
                    <a:p>
                      <a:r>
                        <a:rPr sz="2704" b="1" i="0" u="none">
                          <a:solidFill>
                            <a:srgbClr val="FFFFFF"/>
                          </a:solidFill>
                          <a:latin typeface="Arial"/>
                        </a:rPr>
                        <a:t>Feature</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Simple view</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1" i="0" u="none">
                          <a:solidFill>
                            <a:srgbClr val="FFFFFF"/>
                          </a:solidFill>
                          <a:latin typeface="Arial"/>
                        </a:rPr>
                        <a:t>Complex view</a:t>
                      </a:r>
                    </a:p>
                  </a:txBody>
                  <a:tcPr marL="171754" marR="171754" marT="103052" marB="103052"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Number of tables</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One</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One or more</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Contains functions</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No</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Yes</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Contains groups of data</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No</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Yes</a:t>
                      </a:r>
                    </a:p>
                  </a:txBody>
                  <a:tcPr marL="171754" marR="171754" marT="103052" marB="103052"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676713">
                <a:tc>
                  <a:txBody>
                    <a:bodyPr/>
                    <a:lstStyle/>
                    <a:p>
                      <a:r>
                        <a:rPr sz="2704" b="0" i="0" u="none">
                          <a:solidFill>
                            <a:srgbClr val="334155"/>
                          </a:solidFill>
                          <a:latin typeface="Calibri"/>
                        </a:rPr>
                        <a:t>DML through the view</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Yes</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704" b="0" i="0" u="none">
                          <a:solidFill>
                            <a:srgbClr val="334155"/>
                          </a:solidFill>
                          <a:latin typeface="Calibri"/>
                        </a:rPr>
                        <a:t>Not always</a:t>
                      </a:r>
                    </a:p>
                  </a:txBody>
                  <a:tcPr marL="171754" marR="171754" marT="103052" marB="103052"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
        <p:nvSpPr>
          <p:cNvPr id="7" name="Rectangle 6"/>
          <p:cNvSpPr/>
          <p:nvPr/>
        </p:nvSpPr>
        <p:spPr>
          <a:xfrm>
            <a:off x="914400" y="6318984"/>
            <a:ext cx="16459200" cy="1478051"/>
          </a:xfrm>
          <a:prstGeom prst="rect">
            <a:avLst/>
          </a:prstGeom>
          <a:solidFill>
            <a:srgbClr val="E6F4F4"/>
          </a:solidFill>
          <a:ln>
            <a:noFill/>
          </a:ln>
        </p:spPr>
        <p:txBody>
          <a:bodyPr rtlCol="0" anchor="ctr" lIns="0" rIns="0" tIns="0" bIns="0"/>
          <a:lstStyle/>
          <a:p>
            <a:pPr algn="ctr"/>
          </a:p>
        </p:txBody>
      </p:sp>
      <p:sp>
        <p:nvSpPr>
          <p:cNvPr id="8" name="Rectangle 7"/>
          <p:cNvSpPr/>
          <p:nvPr/>
        </p:nvSpPr>
        <p:spPr>
          <a:xfrm>
            <a:off x="914400" y="6318984"/>
            <a:ext cx="47625" cy="1478051"/>
          </a:xfrm>
          <a:prstGeom prst="rect">
            <a:avLst/>
          </a:prstGeom>
          <a:solidFill>
            <a:srgbClr val="0E8A8A"/>
          </a:solidFill>
          <a:ln>
            <a:noFill/>
          </a:ln>
        </p:spPr>
        <p:txBody>
          <a:bodyPr rtlCol="0" anchor="ctr" lIns="0" rIns="0" tIns="0" bIns="0"/>
          <a:lstStyle/>
          <a:p>
            <a:pPr algn="ctr"/>
          </a:p>
        </p:txBody>
      </p:sp>
      <p:sp>
        <p:nvSpPr>
          <p:cNvPr id="9" name="TextBox 8"/>
          <p:cNvSpPr txBox="1"/>
          <p:nvPr/>
        </p:nvSpPr>
        <p:spPr>
          <a:xfrm>
            <a:off x="1341120" y="6585684"/>
            <a:ext cx="15605760" cy="944651"/>
          </a:xfrm>
          <a:prstGeom prst="rect">
            <a:avLst/>
          </a:prstGeom>
          <a:noFill/>
        </p:spPr>
        <p:txBody>
          <a:bodyPr wrap="square" lIns="0" rIns="0" tIns="0" bIns="0"/>
          <a:lstStyle/>
          <a:p>
            <a:pPr>
              <a:lnSpc>
                <a:spcPct val="112000"/>
              </a:lnSpc>
            </a:pPr>
            <a:r>
              <a:rPr sz="2704" b="0" i="0" u="none">
                <a:solidFill>
                  <a:srgbClr val="0F172A"/>
                </a:solidFill>
                <a:latin typeface="Calibri"/>
              </a:rPr>
              <a:t>You can INSERT, UPDATE or DELETE through a simple view; complex views (joins, GROUP BY, DISTINCT, aggregates) are usually </a:t>
            </a:r>
            <a:r>
              <a:rPr sz="2704" b="1" i="0" u="none">
                <a:solidFill>
                  <a:srgbClr val="0F172A"/>
                </a:solidFill>
                <a:latin typeface="Calibri"/>
              </a:rPr>
              <a:t>read-only</a:t>
            </a:r>
            <a:r>
              <a:rPr sz="2704" b="0" i="0" u="none">
                <a:solidFill>
                  <a:srgbClr val="0F172A"/>
                </a:solidFill>
                <a:latin typeface="Calibri"/>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VIEWS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60/71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Create, query, change, drop a view</a:t>
            </a:r>
          </a:p>
        </p:txBody>
      </p:sp>
      <p:sp>
        <p:nvSpPr>
          <p:cNvPr id="6" name="Rectangle 5"/>
          <p:cNvSpPr/>
          <p:nvPr/>
        </p:nvSpPr>
        <p:spPr>
          <a:xfrm>
            <a:off x="914400" y="2482024"/>
            <a:ext cx="8867775" cy="4562526"/>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334375" cy="4029126"/>
          </a:xfrm>
          <a:prstGeom prst="rect">
            <a:avLst/>
          </a:prstGeom>
          <a:noFill/>
        </p:spPr>
        <p:txBody>
          <a:bodyPr wrap="none" lIns="0" rIns="0" tIns="0" bIns="0"/>
          <a:lstStyle/>
          <a:p>
            <a:pPr>
              <a:lnSpc>
                <a:spcPct val="110000"/>
              </a:lnSpc>
            </a:pPr>
            <a:r>
              <a:rPr sz="1848" b="1" i="0" u="none">
                <a:solidFill>
                  <a:srgbClr val="0E8A8A"/>
                </a:solidFill>
                <a:latin typeface="Courier New"/>
              </a:rPr>
              <a:t>CREATE</a:t>
            </a:r>
            <a:r>
              <a:rPr sz="1848" b="0" i="0" u="none">
                <a:solidFill>
                  <a:srgbClr val="0F172A"/>
                </a:solidFill>
                <a:latin typeface="Courier New"/>
              </a:rPr>
              <a:t> </a:t>
            </a:r>
            <a:r>
              <a:rPr sz="1848" b="1" i="0" u="none">
                <a:solidFill>
                  <a:srgbClr val="0E8A8A"/>
                </a:solidFill>
                <a:latin typeface="Courier New"/>
              </a:rPr>
              <a:t>VIEW</a:t>
            </a:r>
            <a:r>
              <a:rPr sz="1848" b="0" i="0" u="none">
                <a:solidFill>
                  <a:srgbClr val="0F172A"/>
                </a:solidFill>
                <a:latin typeface="Courier New"/>
              </a:rPr>
              <a:t> </a:t>
            </a:r>
            <a:r>
              <a:rPr sz="1848" b="0" i="0" u="none">
                <a:solidFill>
                  <a:srgbClr val="0F172A"/>
                </a:solidFill>
                <a:latin typeface="Courier New"/>
              </a:rPr>
              <a:t>vw_work_hrs</a:t>
            </a:r>
            <a:r>
              <a:rPr sz="1848" b="0" i="0" u="none">
                <a:solidFill>
                  <a:srgbClr val="0F172A"/>
                </a:solidFill>
                <a:latin typeface="Courier New"/>
              </a:rPr>
              <a:t> </a:t>
            </a:r>
            <a:r>
              <a:rPr sz="1848" b="1" i="0" u="none">
                <a:solidFill>
                  <a:srgbClr val="0E8A8A"/>
                </a:solidFill>
                <a:latin typeface="Courier New"/>
              </a:rPr>
              <a:t>AS</a:t>
            </a:r>
          </a:p>
          <a:p>
            <a:pPr>
              <a:lnSpc>
                <a:spcPct val="110000"/>
              </a:lnSpc>
            </a:pPr>
            <a:r>
              <a:rPr sz="1848" b="1" i="0" u="none">
                <a:solidFill>
                  <a:srgbClr val="0E8A8A"/>
                </a:solidFill>
                <a:latin typeface="Courier New"/>
              </a:rPr>
              <a:t>SELECT</a:t>
            </a:r>
            <a:r>
              <a:rPr sz="1848" b="0" i="0" u="none">
                <a:solidFill>
                  <a:srgbClr val="0F172A"/>
                </a:solidFill>
                <a:latin typeface="Courier New"/>
              </a:rPr>
              <a:t> </a:t>
            </a:r>
            <a:r>
              <a:rPr sz="1848" b="0" i="0" u="none">
                <a:solidFill>
                  <a:srgbClr val="0F172A"/>
                </a:solidFill>
                <a:latin typeface="Courier New"/>
              </a:rPr>
              <a:t>e</a:t>
            </a:r>
            <a:r>
              <a:rPr sz="1848" b="0" i="0" u="none">
                <a:solidFill>
                  <a:srgbClr val="0F172A"/>
                </a:solidFill>
                <a:latin typeface="Courier New"/>
              </a:rPr>
              <a:t>.</a:t>
            </a:r>
            <a:r>
              <a:rPr sz="1848" b="0" i="0" u="none">
                <a:solidFill>
                  <a:srgbClr val="0F172A"/>
                </a:solidFill>
                <a:latin typeface="Courier New"/>
              </a:rPr>
              <a:t>fname</a:t>
            </a:r>
            <a:r>
              <a:rPr sz="1848" b="0" i="0" u="none">
                <a:solidFill>
                  <a:srgbClr val="0F172A"/>
                </a:solidFill>
                <a:latin typeface="Courier New"/>
              </a:rPr>
              <a:t>,</a:t>
            </a:r>
            <a:r>
              <a:rPr sz="1848" b="0" i="0" u="none">
                <a:solidFill>
                  <a:srgbClr val="0F172A"/>
                </a:solidFill>
                <a:latin typeface="Courier New"/>
              </a:rPr>
              <a:t> </a:t>
            </a:r>
            <a:r>
              <a:rPr sz="1848" b="0" i="0" u="none">
                <a:solidFill>
                  <a:srgbClr val="0F172A"/>
                </a:solidFill>
                <a:latin typeface="Courier New"/>
              </a:rPr>
              <a:t>e</a:t>
            </a:r>
            <a:r>
              <a:rPr sz="1848" b="0" i="0" u="none">
                <a:solidFill>
                  <a:srgbClr val="0F172A"/>
                </a:solidFill>
                <a:latin typeface="Courier New"/>
              </a:rPr>
              <a:t>.</a:t>
            </a:r>
            <a:r>
              <a:rPr sz="1848" b="0" i="0" u="none">
                <a:solidFill>
                  <a:srgbClr val="0F172A"/>
                </a:solidFill>
                <a:latin typeface="Courier New"/>
              </a:rPr>
              <a:t>lname</a:t>
            </a:r>
            <a:r>
              <a:rPr sz="1848" b="0" i="0" u="none">
                <a:solidFill>
                  <a:srgbClr val="0F172A"/>
                </a:solidFill>
                <a:latin typeface="Courier New"/>
              </a:rPr>
              <a:t>,</a:t>
            </a:r>
            <a:r>
              <a:rPr sz="1848" b="0" i="0" u="none">
                <a:solidFill>
                  <a:srgbClr val="0F172A"/>
                </a:solidFill>
                <a:latin typeface="Courier New"/>
              </a:rPr>
              <a:t> </a:t>
            </a:r>
            <a:r>
              <a:rPr sz="1848" b="0" i="0" u="none">
                <a:solidFill>
                  <a:srgbClr val="0F172A"/>
                </a:solidFill>
                <a:latin typeface="Courier New"/>
              </a:rPr>
              <a:t>p</a:t>
            </a:r>
            <a:r>
              <a:rPr sz="1848" b="0" i="0" u="none">
                <a:solidFill>
                  <a:srgbClr val="0F172A"/>
                </a:solidFill>
                <a:latin typeface="Courier New"/>
              </a:rPr>
              <a:t>.</a:t>
            </a:r>
            <a:r>
              <a:rPr sz="1848" b="0" i="0" u="none">
                <a:solidFill>
                  <a:srgbClr val="0F172A"/>
                </a:solidFill>
                <a:latin typeface="Courier New"/>
              </a:rPr>
              <a:t>pname</a:t>
            </a:r>
            <a:r>
              <a:rPr sz="1848" b="0" i="0" u="none">
                <a:solidFill>
                  <a:srgbClr val="0F172A"/>
                </a:solidFill>
                <a:latin typeface="Courier New"/>
              </a:rPr>
              <a:t>,</a:t>
            </a:r>
            <a:r>
              <a:rPr sz="1848" b="0" i="0" u="none">
                <a:solidFill>
                  <a:srgbClr val="0F172A"/>
                </a:solidFill>
                <a:latin typeface="Courier New"/>
              </a:rPr>
              <a:t> </a:t>
            </a:r>
            <a:r>
              <a:rPr sz="1848" b="0" i="0" u="none">
                <a:solidFill>
                  <a:srgbClr val="0F172A"/>
                </a:solidFill>
                <a:latin typeface="Courier New"/>
              </a:rPr>
              <a:t>w</a:t>
            </a:r>
            <a:r>
              <a:rPr sz="1848" b="0" i="0" u="none">
                <a:solidFill>
                  <a:srgbClr val="0F172A"/>
                </a:solidFill>
                <a:latin typeface="Courier New"/>
              </a:rPr>
              <a:t>.</a:t>
            </a:r>
            <a:r>
              <a:rPr sz="1848" b="0" i="0" u="none">
                <a:solidFill>
                  <a:srgbClr val="0F172A"/>
                </a:solidFill>
                <a:latin typeface="Courier New"/>
              </a:rPr>
              <a:t>hours</a:t>
            </a:r>
          </a:p>
          <a:p>
            <a:pPr>
              <a:lnSpc>
                <a:spcPct val="110000"/>
              </a:lnSpc>
            </a:pPr>
            <a:r>
              <a:rPr sz="1848" b="1" i="0" u="none">
                <a:solidFill>
                  <a:srgbClr val="0E8A8A"/>
                </a:solidFill>
                <a:latin typeface="Courier New"/>
              </a:rPr>
              <a:t>FROM</a:t>
            </a:r>
            <a:r>
              <a:rPr sz="1848" b="0" i="0" u="none">
                <a:solidFill>
                  <a:srgbClr val="0F172A"/>
                </a:solidFill>
                <a:latin typeface="Courier New"/>
              </a:rPr>
              <a:t>   </a:t>
            </a:r>
            <a:r>
              <a:rPr sz="1848" b="0" i="0" u="none">
                <a:solidFill>
                  <a:srgbClr val="0F172A"/>
                </a:solidFill>
                <a:latin typeface="Courier New"/>
              </a:rPr>
              <a:t>employee</a:t>
            </a:r>
            <a:r>
              <a:rPr sz="1848" b="0" i="0" u="none">
                <a:solidFill>
                  <a:srgbClr val="0F172A"/>
                </a:solidFill>
                <a:latin typeface="Courier New"/>
              </a:rPr>
              <a:t> </a:t>
            </a:r>
            <a:r>
              <a:rPr sz="1848" b="0" i="0" u="none">
                <a:solidFill>
                  <a:srgbClr val="0F172A"/>
                </a:solidFill>
                <a:latin typeface="Courier New"/>
              </a:rPr>
              <a:t>e</a:t>
            </a:r>
          </a:p>
          <a:p>
            <a:pPr>
              <a:lnSpc>
                <a:spcPct val="110000"/>
              </a:lnSpc>
            </a:pPr>
            <a:r>
              <a:rPr sz="1848" b="1" i="0" u="none">
                <a:solidFill>
                  <a:srgbClr val="0E8A8A"/>
                </a:solidFill>
                <a:latin typeface="Courier New"/>
              </a:rPr>
              <a:t>JOIN</a:t>
            </a:r>
            <a:r>
              <a:rPr sz="1848" b="0" i="0" u="none">
                <a:solidFill>
                  <a:srgbClr val="0F172A"/>
                </a:solidFill>
                <a:latin typeface="Courier New"/>
              </a:rPr>
              <a:t>   </a:t>
            </a:r>
            <a:r>
              <a:rPr sz="1848" b="0" i="0" u="none">
                <a:solidFill>
                  <a:srgbClr val="0F172A"/>
                </a:solidFill>
                <a:latin typeface="Courier New"/>
              </a:rPr>
              <a:t>works_on</a:t>
            </a:r>
            <a:r>
              <a:rPr sz="1848" b="0" i="0" u="none">
                <a:solidFill>
                  <a:srgbClr val="0F172A"/>
                </a:solidFill>
                <a:latin typeface="Courier New"/>
              </a:rPr>
              <a:t> </a:t>
            </a:r>
            <a:r>
              <a:rPr sz="1848" b="0" i="0" u="none">
                <a:solidFill>
                  <a:srgbClr val="0F172A"/>
                </a:solidFill>
                <a:latin typeface="Courier New"/>
              </a:rPr>
              <a:t>w</a:t>
            </a:r>
            <a:r>
              <a:rPr sz="1848" b="0" i="0" u="none">
                <a:solidFill>
                  <a:srgbClr val="0F172A"/>
                </a:solidFill>
                <a:latin typeface="Courier New"/>
              </a:rPr>
              <a:t> </a:t>
            </a:r>
            <a:r>
              <a:rPr sz="1848" b="1" i="0" u="none">
                <a:solidFill>
                  <a:srgbClr val="0E8A8A"/>
                </a:solidFill>
                <a:latin typeface="Courier New"/>
              </a:rPr>
              <a:t>ON</a:t>
            </a:r>
            <a:r>
              <a:rPr sz="1848" b="0" i="0" u="none">
                <a:solidFill>
                  <a:srgbClr val="0F172A"/>
                </a:solidFill>
                <a:latin typeface="Courier New"/>
              </a:rPr>
              <a:t> </a:t>
            </a:r>
            <a:r>
              <a:rPr sz="1848" b="0" i="0" u="none">
                <a:solidFill>
                  <a:srgbClr val="0F172A"/>
                </a:solidFill>
                <a:latin typeface="Courier New"/>
              </a:rPr>
              <a:t>w</a:t>
            </a:r>
            <a:r>
              <a:rPr sz="1848" b="0" i="0" u="none">
                <a:solidFill>
                  <a:srgbClr val="0F172A"/>
                </a:solidFill>
                <a:latin typeface="Courier New"/>
              </a:rPr>
              <a:t>.</a:t>
            </a:r>
            <a:r>
              <a:rPr sz="1848" b="0" i="0" u="none">
                <a:solidFill>
                  <a:srgbClr val="0F172A"/>
                </a:solidFill>
                <a:latin typeface="Courier New"/>
              </a:rPr>
              <a:t>essn</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0F172A"/>
                </a:solidFill>
                <a:latin typeface="Courier New"/>
              </a:rPr>
              <a:t>e</a:t>
            </a:r>
            <a:r>
              <a:rPr sz="1848" b="0" i="0" u="none">
                <a:solidFill>
                  <a:srgbClr val="0F172A"/>
                </a:solidFill>
                <a:latin typeface="Courier New"/>
              </a:rPr>
              <a:t>.</a:t>
            </a:r>
            <a:r>
              <a:rPr sz="1848" b="0" i="0" u="none">
                <a:solidFill>
                  <a:srgbClr val="0F172A"/>
                </a:solidFill>
                <a:latin typeface="Courier New"/>
              </a:rPr>
              <a:t>ssn</a:t>
            </a:r>
          </a:p>
          <a:p>
            <a:pPr>
              <a:lnSpc>
                <a:spcPct val="110000"/>
              </a:lnSpc>
            </a:pPr>
            <a:r>
              <a:rPr sz="1848" b="1" i="0" u="none">
                <a:solidFill>
                  <a:srgbClr val="0E8A8A"/>
                </a:solidFill>
                <a:latin typeface="Courier New"/>
              </a:rPr>
              <a:t>JOIN</a:t>
            </a:r>
            <a:r>
              <a:rPr sz="1848" b="0" i="0" u="none">
                <a:solidFill>
                  <a:srgbClr val="0F172A"/>
                </a:solidFill>
                <a:latin typeface="Courier New"/>
              </a:rPr>
              <a:t>   </a:t>
            </a:r>
            <a:r>
              <a:rPr sz="1848" b="0" i="0" u="none">
                <a:solidFill>
                  <a:srgbClr val="0F172A"/>
                </a:solidFill>
                <a:latin typeface="Courier New"/>
              </a:rPr>
              <a:t>project</a:t>
            </a:r>
            <a:r>
              <a:rPr sz="1848" b="0" i="0" u="none">
                <a:solidFill>
                  <a:srgbClr val="0F172A"/>
                </a:solidFill>
                <a:latin typeface="Courier New"/>
              </a:rPr>
              <a:t>  </a:t>
            </a:r>
            <a:r>
              <a:rPr sz="1848" b="0" i="0" u="none">
                <a:solidFill>
                  <a:srgbClr val="0F172A"/>
                </a:solidFill>
                <a:latin typeface="Courier New"/>
              </a:rPr>
              <a:t>p</a:t>
            </a:r>
            <a:r>
              <a:rPr sz="1848" b="0" i="0" u="none">
                <a:solidFill>
                  <a:srgbClr val="0F172A"/>
                </a:solidFill>
                <a:latin typeface="Courier New"/>
              </a:rPr>
              <a:t> </a:t>
            </a:r>
            <a:r>
              <a:rPr sz="1848" b="1" i="0" u="none">
                <a:solidFill>
                  <a:srgbClr val="0E8A8A"/>
                </a:solidFill>
                <a:latin typeface="Courier New"/>
              </a:rPr>
              <a:t>ON</a:t>
            </a:r>
            <a:r>
              <a:rPr sz="1848" b="0" i="0" u="none">
                <a:solidFill>
                  <a:srgbClr val="0F172A"/>
                </a:solidFill>
                <a:latin typeface="Courier New"/>
              </a:rPr>
              <a:t> </a:t>
            </a:r>
            <a:r>
              <a:rPr sz="1848" b="0" i="0" u="none">
                <a:solidFill>
                  <a:srgbClr val="0F172A"/>
                </a:solidFill>
                <a:latin typeface="Courier New"/>
              </a:rPr>
              <a:t>p</a:t>
            </a:r>
            <a:r>
              <a:rPr sz="1848" b="0" i="0" u="none">
                <a:solidFill>
                  <a:srgbClr val="0F172A"/>
                </a:solidFill>
                <a:latin typeface="Courier New"/>
              </a:rPr>
              <a:t>.</a:t>
            </a:r>
            <a:r>
              <a:rPr sz="1848" b="0" i="0" u="none">
                <a:solidFill>
                  <a:srgbClr val="0F172A"/>
                </a:solidFill>
                <a:latin typeface="Courier New"/>
              </a:rPr>
              <a:t>pnumber</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0F172A"/>
                </a:solidFill>
                <a:latin typeface="Courier New"/>
              </a:rPr>
              <a:t>w</a:t>
            </a:r>
            <a:r>
              <a:rPr sz="1848" b="0" i="0" u="none">
                <a:solidFill>
                  <a:srgbClr val="0F172A"/>
                </a:solidFill>
                <a:latin typeface="Courier New"/>
              </a:rPr>
              <a:t>.</a:t>
            </a:r>
            <a:r>
              <a:rPr sz="1848" b="0" i="0" u="none">
                <a:solidFill>
                  <a:srgbClr val="0F172A"/>
                </a:solidFill>
                <a:latin typeface="Courier New"/>
              </a:rPr>
              <a:t>pno</a:t>
            </a:r>
            <a:r>
              <a:rPr sz="1848" b="0" i="0" u="none">
                <a:solidFill>
                  <a:srgbClr val="0F172A"/>
                </a:solidFill>
                <a:latin typeface="Courier New"/>
              </a:rPr>
              <a:t>;</a:t>
            </a:r>
          </a:p>
          <a:p>
            <a:pPr>
              <a:lnSpc>
                <a:spcPct val="110000"/>
              </a:lnSpc>
            </a:pPr>
            <a:r>
              <a:rPr sz="1848" b="0" i="0" u="none">
                <a:solidFill>
                  <a:srgbClr val="0F172A"/>
                </a:solidFill>
                <a:latin typeface="Courier New"/>
              </a:rPr>
              <a:t> </a:t>
            </a:r>
          </a:p>
          <a:p>
            <a:pPr>
              <a:lnSpc>
                <a:spcPct val="110000"/>
              </a:lnSpc>
            </a:pPr>
            <a:r>
              <a:rPr sz="1848" b="1" i="0" u="none">
                <a:solidFill>
                  <a:srgbClr val="0E8A8A"/>
                </a:solidFill>
                <a:latin typeface="Courier New"/>
              </a:rPr>
              <a:t>SELECT</a:t>
            </a:r>
            <a:r>
              <a:rPr sz="1848" b="0" i="0" u="none">
                <a:solidFill>
                  <a:srgbClr val="0F172A"/>
                </a:solidFill>
                <a:latin typeface="Courier New"/>
              </a:rPr>
              <a:t> </a:t>
            </a:r>
            <a:r>
              <a:rPr sz="1848" b="0" i="0" u="none">
                <a:solidFill>
                  <a:srgbClr val="0F172A"/>
                </a:solidFill>
                <a:latin typeface="Courier New"/>
              </a:rPr>
              <a:t>fname</a:t>
            </a:r>
            <a:r>
              <a:rPr sz="1848" b="0" i="0" u="none">
                <a:solidFill>
                  <a:srgbClr val="0F172A"/>
                </a:solidFill>
                <a:latin typeface="Courier New"/>
              </a:rPr>
              <a:t>,</a:t>
            </a:r>
            <a:r>
              <a:rPr sz="1848" b="0" i="0" u="none">
                <a:solidFill>
                  <a:srgbClr val="0F172A"/>
                </a:solidFill>
                <a:latin typeface="Courier New"/>
              </a:rPr>
              <a:t> </a:t>
            </a:r>
            <a:r>
              <a:rPr sz="1848" b="0" i="0" u="none">
                <a:solidFill>
                  <a:srgbClr val="0F172A"/>
                </a:solidFill>
                <a:latin typeface="Courier New"/>
              </a:rPr>
              <a:t>lname</a:t>
            </a:r>
            <a:r>
              <a:rPr sz="1848" b="0" i="0" u="none">
                <a:solidFill>
                  <a:srgbClr val="0F172A"/>
                </a:solidFill>
                <a:latin typeface="Courier New"/>
              </a:rPr>
              <a:t>,</a:t>
            </a:r>
            <a:r>
              <a:rPr sz="1848" b="0" i="0" u="none">
                <a:solidFill>
                  <a:srgbClr val="0F172A"/>
                </a:solidFill>
                <a:latin typeface="Courier New"/>
              </a:rPr>
              <a:t> </a:t>
            </a:r>
            <a:r>
              <a:rPr sz="1848" b="0" i="0" u="none">
                <a:solidFill>
                  <a:srgbClr val="0F172A"/>
                </a:solidFill>
                <a:latin typeface="Courier New"/>
              </a:rPr>
              <a:t>hours</a:t>
            </a:r>
            <a:r>
              <a:rPr sz="1848" b="0" i="0" u="none">
                <a:solidFill>
                  <a:srgbClr val="0F172A"/>
                </a:solidFill>
                <a:latin typeface="Courier New"/>
              </a:rPr>
              <a:t> </a:t>
            </a:r>
            <a:r>
              <a:rPr sz="1848" b="1" i="0" u="none">
                <a:solidFill>
                  <a:srgbClr val="0E8A8A"/>
                </a:solidFill>
                <a:latin typeface="Courier New"/>
              </a:rPr>
              <a:t>FROM</a:t>
            </a:r>
            <a:r>
              <a:rPr sz="1848" b="0" i="0" u="none">
                <a:solidFill>
                  <a:srgbClr val="0F172A"/>
                </a:solidFill>
                <a:latin typeface="Courier New"/>
              </a:rPr>
              <a:t> </a:t>
            </a:r>
            <a:r>
              <a:rPr sz="1848" b="0" i="0" u="none">
                <a:solidFill>
                  <a:srgbClr val="0F172A"/>
                </a:solidFill>
                <a:latin typeface="Courier New"/>
              </a:rPr>
              <a:t>vw_work_hrs</a:t>
            </a:r>
            <a:r>
              <a:rPr sz="1848" b="0" i="0" u="none">
                <a:solidFill>
                  <a:srgbClr val="0F172A"/>
                </a:solidFill>
                <a:latin typeface="Courier New"/>
              </a:rPr>
              <a:t>;</a:t>
            </a:r>
          </a:p>
          <a:p>
            <a:pPr>
              <a:lnSpc>
                <a:spcPct val="110000"/>
              </a:lnSpc>
            </a:pPr>
            <a:r>
              <a:rPr sz="1848" b="0" i="0" u="none">
                <a:solidFill>
                  <a:srgbClr val="0F172A"/>
                </a:solidFill>
                <a:latin typeface="Courier New"/>
              </a:rPr>
              <a:t> </a:t>
            </a:r>
          </a:p>
          <a:p>
            <a:pPr>
              <a:lnSpc>
                <a:spcPct val="110000"/>
              </a:lnSpc>
            </a:pPr>
            <a:r>
              <a:rPr sz="1848" b="1" i="0" u="none">
                <a:solidFill>
                  <a:srgbClr val="0E8A8A"/>
                </a:solidFill>
                <a:latin typeface="Courier New"/>
              </a:rPr>
              <a:t>CREATE</a:t>
            </a:r>
            <a:r>
              <a:rPr sz="1848" b="0" i="0" u="none">
                <a:solidFill>
                  <a:srgbClr val="0F172A"/>
                </a:solidFill>
                <a:latin typeface="Courier New"/>
              </a:rPr>
              <a:t> </a:t>
            </a:r>
            <a:r>
              <a:rPr sz="1848" b="1" i="0" u="none">
                <a:solidFill>
                  <a:srgbClr val="0E8A8A"/>
                </a:solidFill>
                <a:latin typeface="Courier New"/>
              </a:rPr>
              <a:t>OR</a:t>
            </a:r>
            <a:r>
              <a:rPr sz="1848" b="0" i="0" u="none">
                <a:solidFill>
                  <a:srgbClr val="0F172A"/>
                </a:solidFill>
                <a:latin typeface="Courier New"/>
              </a:rPr>
              <a:t> </a:t>
            </a:r>
            <a:r>
              <a:rPr sz="1848" b="1" i="0" u="none">
                <a:solidFill>
                  <a:srgbClr val="0E8A8A"/>
                </a:solidFill>
                <a:latin typeface="Courier New"/>
              </a:rPr>
              <a:t>REPLACE</a:t>
            </a:r>
            <a:r>
              <a:rPr sz="1848" b="0" i="0" u="none">
                <a:solidFill>
                  <a:srgbClr val="0F172A"/>
                </a:solidFill>
                <a:latin typeface="Courier New"/>
              </a:rPr>
              <a:t> </a:t>
            </a:r>
            <a:r>
              <a:rPr sz="1848" b="1" i="0" u="none">
                <a:solidFill>
                  <a:srgbClr val="0E8A8A"/>
                </a:solidFill>
                <a:latin typeface="Courier New"/>
              </a:rPr>
              <a:t>VIEW</a:t>
            </a:r>
            <a:r>
              <a:rPr sz="1848" b="0" i="0" u="none">
                <a:solidFill>
                  <a:srgbClr val="0F172A"/>
                </a:solidFill>
                <a:latin typeface="Courier New"/>
              </a:rPr>
              <a:t> </a:t>
            </a:r>
            <a:r>
              <a:rPr sz="1848" b="0" i="0" u="none">
                <a:solidFill>
                  <a:srgbClr val="0F172A"/>
                </a:solidFill>
                <a:latin typeface="Courier New"/>
              </a:rPr>
              <a:t>vw_work_hrs</a:t>
            </a:r>
            <a:r>
              <a:rPr sz="1848" b="0" i="0" u="none">
                <a:solidFill>
                  <a:srgbClr val="0F172A"/>
                </a:solidFill>
                <a:latin typeface="Courier New"/>
              </a:rPr>
              <a:t> </a:t>
            </a:r>
            <a:r>
              <a:rPr sz="1848" b="1" i="0" u="none">
                <a:solidFill>
                  <a:srgbClr val="0E8A8A"/>
                </a:solidFill>
                <a:latin typeface="Courier New"/>
              </a:rPr>
              <a:t>AS</a:t>
            </a:r>
          </a:p>
          <a:p>
            <a:pPr>
              <a:lnSpc>
                <a:spcPct val="110000"/>
              </a:lnSpc>
            </a:pPr>
            <a:r>
              <a:rPr sz="1848" b="1" i="0" u="none">
                <a:solidFill>
                  <a:srgbClr val="0E8A8A"/>
                </a:solidFill>
                <a:latin typeface="Courier New"/>
              </a:rPr>
              <a:t>SELECT</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a:t>
            </a:r>
            <a:r>
              <a:rPr sz="1848" b="0" i="0" u="none">
                <a:solidFill>
                  <a:srgbClr val="0F172A"/>
                </a:solidFill>
                <a:latin typeface="Courier New"/>
              </a:rPr>
              <a:t>.</a:t>
            </a:r>
            <a:r>
              <a:rPr sz="1848" b="0" i="0" u="none">
                <a:solidFill>
                  <a:srgbClr val="0F172A"/>
                </a:solidFill>
                <a:latin typeface="Courier New"/>
              </a:rPr>
              <a:t> </a:t>
            </a:r>
            <a:r>
              <a:rPr sz="1848" b="1" i="0" u="none">
                <a:solidFill>
                  <a:srgbClr val="0E8A8A"/>
                </a:solidFill>
                <a:latin typeface="Courier New"/>
              </a:rPr>
              <a:t>WHERE</a:t>
            </a:r>
            <a:r>
              <a:rPr sz="1848" b="0" i="0" u="none">
                <a:solidFill>
                  <a:srgbClr val="0F172A"/>
                </a:solidFill>
                <a:latin typeface="Courier New"/>
              </a:rPr>
              <a:t> </a:t>
            </a:r>
            <a:r>
              <a:rPr sz="1848" b="0" i="0" u="none">
                <a:solidFill>
                  <a:srgbClr val="0F172A"/>
                </a:solidFill>
                <a:latin typeface="Courier New"/>
              </a:rPr>
              <a:t>e</a:t>
            </a:r>
            <a:r>
              <a:rPr sz="1848" b="0" i="0" u="none">
                <a:solidFill>
                  <a:srgbClr val="0F172A"/>
                </a:solidFill>
                <a:latin typeface="Courier New"/>
              </a:rPr>
              <a:t>.</a:t>
            </a:r>
            <a:r>
              <a:rPr sz="1848" b="0" i="0" u="none">
                <a:solidFill>
                  <a:srgbClr val="0F172A"/>
                </a:solidFill>
                <a:latin typeface="Courier New"/>
              </a:rPr>
              <a:t>dno</a:t>
            </a:r>
            <a:r>
              <a:rPr sz="1848" b="0" i="0" u="none">
                <a:solidFill>
                  <a:srgbClr val="0F172A"/>
                </a:solidFill>
                <a:latin typeface="Courier New"/>
              </a:rPr>
              <a:t> </a:t>
            </a:r>
            <a:r>
              <a:rPr sz="1848" b="0" i="0" u="none">
                <a:solidFill>
                  <a:srgbClr val="0F172A"/>
                </a:solidFill>
                <a:latin typeface="Courier New"/>
              </a:rPr>
              <a:t>=</a:t>
            </a:r>
            <a:r>
              <a:rPr sz="1848" b="0" i="0" u="none">
                <a:solidFill>
                  <a:srgbClr val="0F172A"/>
                </a:solidFill>
                <a:latin typeface="Courier New"/>
              </a:rPr>
              <a:t> </a:t>
            </a:r>
            <a:r>
              <a:rPr sz="1848" b="0" i="0" u="none">
                <a:solidFill>
                  <a:srgbClr val="B45309"/>
                </a:solidFill>
                <a:latin typeface="Courier New"/>
              </a:rPr>
              <a:t>5</a:t>
            </a:r>
            <a:r>
              <a:rPr sz="1848" b="0" i="0" u="none">
                <a:solidFill>
                  <a:srgbClr val="0F172A"/>
                </a:solidFill>
                <a:latin typeface="Courier New"/>
              </a:rPr>
              <a:t>;</a:t>
            </a:r>
            <a:r>
              <a:rPr sz="1848" b="0" i="0" u="none">
                <a:solidFill>
                  <a:srgbClr val="0F172A"/>
                </a:solidFill>
                <a:latin typeface="Courier New"/>
              </a:rPr>
              <a:t>   </a:t>
            </a:r>
            <a:r>
              <a:rPr sz="1848" b="0" i="1" u="none">
                <a:solidFill>
                  <a:srgbClr val="64748B"/>
                </a:solidFill>
                <a:latin typeface="Courier New"/>
              </a:rPr>
              <a:t>-- Oracle, PostgreSQL, MySQL</a:t>
            </a:r>
          </a:p>
          <a:p>
            <a:pPr>
              <a:lnSpc>
                <a:spcPct val="110000"/>
              </a:lnSpc>
            </a:pPr>
            <a:r>
              <a:rPr sz="1848" b="0" i="1" u="none">
                <a:solidFill>
                  <a:srgbClr val="64748B"/>
                </a:solidFill>
                <a:latin typeface="Courier New"/>
              </a:rPr>
              <a:t>-- SQL Server: CREATE OR ALTER VIEW</a:t>
            </a:r>
          </a:p>
          <a:p>
            <a:pPr>
              <a:lnSpc>
                <a:spcPct val="110000"/>
              </a:lnSpc>
            </a:pPr>
            <a:r>
              <a:rPr sz="1848" b="0" i="0" u="none">
                <a:solidFill>
                  <a:srgbClr val="0F172A"/>
                </a:solidFill>
                <a:latin typeface="Courier New"/>
              </a:rPr>
              <a:t> </a:t>
            </a:r>
          </a:p>
          <a:p>
            <a:pPr>
              <a:lnSpc>
                <a:spcPct val="110000"/>
              </a:lnSpc>
            </a:pPr>
            <a:r>
              <a:rPr sz="1848" b="1" i="0" u="none">
                <a:solidFill>
                  <a:srgbClr val="0E8A8A"/>
                </a:solidFill>
                <a:latin typeface="Courier New"/>
              </a:rPr>
              <a:t>DROP</a:t>
            </a:r>
            <a:r>
              <a:rPr sz="1848" b="0" i="0" u="none">
                <a:solidFill>
                  <a:srgbClr val="0F172A"/>
                </a:solidFill>
                <a:latin typeface="Courier New"/>
              </a:rPr>
              <a:t> </a:t>
            </a:r>
            <a:r>
              <a:rPr sz="1848" b="1" i="0" u="none">
                <a:solidFill>
                  <a:srgbClr val="0E8A8A"/>
                </a:solidFill>
                <a:latin typeface="Courier New"/>
              </a:rPr>
              <a:t>VIEW</a:t>
            </a:r>
            <a:r>
              <a:rPr sz="1848" b="0" i="0" u="none">
                <a:solidFill>
                  <a:srgbClr val="0F172A"/>
                </a:solidFill>
                <a:latin typeface="Courier New"/>
              </a:rPr>
              <a:t> </a:t>
            </a:r>
            <a:r>
              <a:rPr sz="1848" b="0" i="0" u="none">
                <a:solidFill>
                  <a:srgbClr val="0F172A"/>
                </a:solidFill>
                <a:latin typeface="Courier New"/>
              </a:rPr>
              <a:t>vw_work_hrs</a:t>
            </a:r>
            <a:r>
              <a:rPr sz="1848" b="0" i="0" u="none">
                <a:solidFill>
                  <a:srgbClr val="0F172A"/>
                </a:solidFill>
                <a:latin typeface="Courier New"/>
              </a:rPr>
              <a:t>;</a:t>
            </a:r>
          </a:p>
        </p:txBody>
      </p:sp>
      <p:sp>
        <p:nvSpPr>
          <p:cNvPr id="8" name="Rectangle 7"/>
          <p:cNvSpPr/>
          <p:nvPr/>
        </p:nvSpPr>
        <p:spPr>
          <a:xfrm>
            <a:off x="10208895" y="2482024"/>
            <a:ext cx="7164705" cy="2400406"/>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608945" y="2882074"/>
            <a:ext cx="6364605" cy="563110"/>
          </a:xfrm>
          <a:prstGeom prst="rect">
            <a:avLst/>
          </a:prstGeom>
          <a:noFill/>
        </p:spPr>
        <p:txBody>
          <a:bodyPr wrap="square" lIns="0" rIns="0" tIns="0" bIns="0" anchor="t"/>
          <a:lstStyle/>
          <a:p>
            <a:pPr algn="l">
              <a:lnSpc>
                <a:spcPct val="103200"/>
              </a:lnSpc>
            </a:pPr>
            <a:r>
              <a:rPr sz="3284" b="1" i="0" u="none">
                <a:solidFill>
                  <a:srgbClr val="0F172A"/>
                </a:solidFill>
                <a:latin typeface="Arial"/>
              </a:rPr>
              <a:t>Syntax</a:t>
            </a:r>
          </a:p>
        </p:txBody>
      </p:sp>
      <p:sp>
        <p:nvSpPr>
          <p:cNvPr id="10" name="TextBox 9"/>
          <p:cNvSpPr txBox="1"/>
          <p:nvPr/>
        </p:nvSpPr>
        <p:spPr>
          <a:xfrm>
            <a:off x="10608945" y="3605204"/>
            <a:ext cx="6364605" cy="877176"/>
          </a:xfrm>
          <a:prstGeom prst="rect">
            <a:avLst/>
          </a:prstGeom>
          <a:noFill/>
        </p:spPr>
        <p:txBody>
          <a:bodyPr wrap="square" lIns="0" rIns="0" tIns="0" bIns="0" anchor="t"/>
          <a:lstStyle/>
          <a:p>
            <a:pPr algn="l">
              <a:lnSpc>
                <a:spcPct val="111800"/>
              </a:lnSpc>
            </a:pPr>
            <a:r>
              <a:rPr sz="2511" b="0" i="0" u="none">
                <a:solidFill>
                  <a:srgbClr val="334155"/>
                </a:solidFill>
                <a:latin typeface="Calibri"/>
              </a:rPr>
              <a:t>CREATE VIEW name [(columns)] AS subquery [WITH CHECK OPTION];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168717"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VIEWS</a:t>
            </a:r>
          </a:p>
        </p:txBody>
      </p:sp>
      <p:cxnSp>
        <p:nvCxnSpPr>
          <p:cNvPr id="3" name="Connector 2"/>
          <p:cNvCxnSpPr/>
          <p:nvPr/>
        </p:nvCxnSpPr>
        <p:spPr>
          <a:xfrm>
            <a:off x="2159317" y="981075"/>
            <a:ext cx="14366558"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61/71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WITH CHECK OPTION</a:t>
            </a:r>
          </a:p>
        </p:txBody>
      </p:sp>
      <p:sp>
        <p:nvSpPr>
          <p:cNvPr id="6" name="Rectangle 5"/>
          <p:cNvSpPr/>
          <p:nvPr/>
        </p:nvSpPr>
        <p:spPr>
          <a:xfrm>
            <a:off x="914400" y="2482024"/>
            <a:ext cx="8934450" cy="3217831"/>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401050" cy="2684431"/>
          </a:xfrm>
          <a:prstGeom prst="rect">
            <a:avLst/>
          </a:prstGeom>
          <a:noFill/>
        </p:spPr>
        <p:txBody>
          <a:bodyPr wrap="none" lIns="0" rIns="0" tIns="0" bIns="0"/>
          <a:lstStyle/>
          <a:p>
            <a:pPr>
              <a:lnSpc>
                <a:spcPct val="110000"/>
              </a:lnSpc>
            </a:pPr>
            <a:r>
              <a:rPr sz="2001" b="1" i="0" u="none">
                <a:solidFill>
                  <a:srgbClr val="0E8A8A"/>
                </a:solidFill>
                <a:latin typeface="Courier New"/>
              </a:rPr>
              <a:t>CREATE</a:t>
            </a:r>
            <a:r>
              <a:rPr sz="2001" b="0" i="0" u="none">
                <a:solidFill>
                  <a:srgbClr val="0F172A"/>
                </a:solidFill>
                <a:latin typeface="Courier New"/>
              </a:rPr>
              <a:t> </a:t>
            </a:r>
            <a:r>
              <a:rPr sz="2001" b="1" i="0" u="none">
                <a:solidFill>
                  <a:srgbClr val="0E8A8A"/>
                </a:solidFill>
                <a:latin typeface="Courier New"/>
              </a:rPr>
              <a:t>VIEW</a:t>
            </a:r>
            <a:r>
              <a:rPr sz="2001" b="0" i="0" u="none">
                <a:solidFill>
                  <a:srgbClr val="0F172A"/>
                </a:solidFill>
                <a:latin typeface="Courier New"/>
              </a:rPr>
              <a:t> </a:t>
            </a:r>
            <a:r>
              <a:rPr sz="2001" b="0" i="0" u="none">
                <a:solidFill>
                  <a:srgbClr val="0F172A"/>
                </a:solidFill>
                <a:latin typeface="Courier New"/>
              </a:rPr>
              <a:t>v_supplier</a:t>
            </a:r>
            <a:r>
              <a:rPr sz="2001" b="0" i="0" u="none">
                <a:solidFill>
                  <a:srgbClr val="0F172A"/>
                </a:solidFill>
                <a:latin typeface="Courier New"/>
              </a:rPr>
              <a:t> </a:t>
            </a:r>
            <a:r>
              <a:rPr sz="2001" b="1" i="0" u="none">
                <a:solidFill>
                  <a:srgbClr val="0E8A8A"/>
                </a:solidFill>
                <a:latin typeface="Courier New"/>
              </a:rPr>
              <a:t>AS</a:t>
            </a:r>
          </a:p>
          <a:p>
            <a:pPr>
              <a:lnSpc>
                <a:spcPct val="110000"/>
              </a:lnSpc>
            </a:pPr>
            <a:r>
              <a:rPr sz="2001" b="1" i="0" u="none">
                <a:solidFill>
                  <a:srgbClr val="0E8A8A"/>
                </a:solidFill>
                <a:latin typeface="Courier New"/>
              </a:rPr>
              <a:t>SELECT</a:t>
            </a:r>
            <a:r>
              <a:rPr sz="2001" b="0" i="0" u="none">
                <a:solidFill>
                  <a:srgbClr val="0F172A"/>
                </a:solidFill>
                <a:latin typeface="Courier New"/>
              </a:rPr>
              <a:t> </a:t>
            </a:r>
            <a:r>
              <a:rPr sz="2001" b="0" i="0" u="none">
                <a:solidFill>
                  <a:srgbClr val="0F172A"/>
                </a:solidFill>
                <a:latin typeface="Courier New"/>
              </a:rPr>
              <a:t>*</a:t>
            </a:r>
          </a:p>
          <a:p>
            <a:pPr>
              <a:lnSpc>
                <a:spcPct val="110000"/>
              </a:lnSpc>
            </a:pPr>
            <a:r>
              <a:rPr sz="2001" b="1" i="0" u="none">
                <a:solidFill>
                  <a:srgbClr val="0E8A8A"/>
                </a:solidFill>
                <a:latin typeface="Courier New"/>
              </a:rPr>
              <a:t>FROM</a:t>
            </a:r>
            <a:r>
              <a:rPr sz="2001" b="0" i="0" u="none">
                <a:solidFill>
                  <a:srgbClr val="0F172A"/>
                </a:solidFill>
                <a:latin typeface="Courier New"/>
              </a:rPr>
              <a:t>   </a:t>
            </a:r>
            <a:r>
              <a:rPr sz="2001" b="0" i="0" u="none">
                <a:solidFill>
                  <a:srgbClr val="0F172A"/>
                </a:solidFill>
                <a:latin typeface="Courier New"/>
              </a:rPr>
              <a:t>suppliers</a:t>
            </a:r>
          </a:p>
          <a:p>
            <a:pPr>
              <a:lnSpc>
                <a:spcPct val="110000"/>
              </a:lnSpc>
            </a:pPr>
            <a:r>
              <a:rPr sz="2001" b="1" i="0" u="none">
                <a:solidFill>
                  <a:srgbClr val="0E8A8A"/>
                </a:solidFill>
                <a:latin typeface="Courier New"/>
              </a:rPr>
              <a:t>WHERE</a:t>
            </a:r>
            <a:r>
              <a:rPr sz="2001" b="0" i="0" u="none">
                <a:solidFill>
                  <a:srgbClr val="0F172A"/>
                </a:solidFill>
                <a:latin typeface="Courier New"/>
              </a:rPr>
              <a:t>  </a:t>
            </a:r>
            <a:r>
              <a:rPr sz="2001" b="0" i="0" u="none">
                <a:solidFill>
                  <a:srgbClr val="0F172A"/>
                </a:solidFill>
                <a:latin typeface="Courier New"/>
              </a:rPr>
              <a:t>status</a:t>
            </a:r>
            <a:r>
              <a:rPr sz="2001" b="0" i="0" u="none">
                <a:solidFill>
                  <a:srgbClr val="0F172A"/>
                </a:solidFill>
                <a:latin typeface="Courier New"/>
              </a:rPr>
              <a:t> </a:t>
            </a:r>
            <a:r>
              <a:rPr sz="2001" b="0" i="0" u="none">
                <a:solidFill>
                  <a:srgbClr val="0F172A"/>
                </a:solidFill>
                <a:latin typeface="Courier New"/>
              </a:rPr>
              <a:t>&gt;</a:t>
            </a:r>
            <a:r>
              <a:rPr sz="2001" b="0" i="0" u="none">
                <a:solidFill>
                  <a:srgbClr val="0F172A"/>
                </a:solidFill>
                <a:latin typeface="Courier New"/>
              </a:rPr>
              <a:t> </a:t>
            </a:r>
            <a:r>
              <a:rPr sz="2001" b="0" i="0" u="none">
                <a:solidFill>
                  <a:srgbClr val="B45309"/>
                </a:solidFill>
                <a:latin typeface="Courier New"/>
              </a:rPr>
              <a:t>15</a:t>
            </a:r>
          </a:p>
          <a:p>
            <a:pPr>
              <a:lnSpc>
                <a:spcPct val="110000"/>
              </a:lnSpc>
            </a:pPr>
            <a:r>
              <a:rPr sz="2001" b="1" i="0" u="none">
                <a:solidFill>
                  <a:srgbClr val="0E8A8A"/>
                </a:solidFill>
                <a:latin typeface="Courier New"/>
              </a:rPr>
              <a:t>WITH</a:t>
            </a:r>
            <a:r>
              <a:rPr sz="2001" b="0" i="0" u="none">
                <a:solidFill>
                  <a:srgbClr val="0F172A"/>
                </a:solidFill>
                <a:latin typeface="Courier New"/>
              </a:rPr>
              <a:t> </a:t>
            </a:r>
            <a:r>
              <a:rPr sz="2001" b="1" i="0" u="none">
                <a:solidFill>
                  <a:srgbClr val="0E8A8A"/>
                </a:solidFill>
                <a:latin typeface="Courier New"/>
              </a:rPr>
              <a:t>CHECK</a:t>
            </a:r>
            <a:r>
              <a:rPr sz="2001" b="0" i="0" u="none">
                <a:solidFill>
                  <a:srgbClr val="0F172A"/>
                </a:solidFill>
                <a:latin typeface="Courier New"/>
              </a:rPr>
              <a:t> </a:t>
            </a:r>
            <a:r>
              <a:rPr sz="2001" b="1" i="0" u="none">
                <a:solidFill>
                  <a:srgbClr val="0E8A8A"/>
                </a:solidFill>
                <a:latin typeface="Courier New"/>
              </a:rPr>
              <a:t>OPTION</a:t>
            </a:r>
            <a:r>
              <a:rPr sz="2001" b="0" i="0" u="none">
                <a:solidFill>
                  <a:srgbClr val="0F172A"/>
                </a:solidFill>
                <a:latin typeface="Courier New"/>
              </a:rPr>
              <a:t>;</a:t>
            </a:r>
          </a:p>
          <a:p>
            <a:pPr>
              <a:lnSpc>
                <a:spcPct val="110000"/>
              </a:lnSpc>
            </a:pPr>
            <a:r>
              <a:rPr sz="2001" b="0" i="0" u="none">
                <a:solidFill>
                  <a:srgbClr val="0F172A"/>
                </a:solidFill>
                <a:latin typeface="Courier New"/>
              </a:rPr>
              <a:t> </a:t>
            </a:r>
          </a:p>
          <a:p>
            <a:pPr>
              <a:lnSpc>
                <a:spcPct val="110000"/>
              </a:lnSpc>
            </a:pPr>
            <a:r>
              <a:rPr sz="2001" b="0" i="1" u="none">
                <a:solidFill>
                  <a:srgbClr val="64748B"/>
                </a:solidFill>
                <a:latin typeface="Courier New"/>
              </a:rPr>
              <a:t>-- rejected: the new row would disappear from the view</a:t>
            </a:r>
          </a:p>
          <a:p>
            <a:pPr>
              <a:lnSpc>
                <a:spcPct val="110000"/>
              </a:lnSpc>
            </a:pPr>
            <a:r>
              <a:rPr sz="2001" b="1" i="0" u="none">
                <a:solidFill>
                  <a:srgbClr val="0E8A8A"/>
                </a:solidFill>
                <a:latin typeface="Courier New"/>
              </a:rPr>
              <a:t>UPDATE</a:t>
            </a:r>
            <a:r>
              <a:rPr sz="2001" b="0" i="0" u="none">
                <a:solidFill>
                  <a:srgbClr val="0F172A"/>
                </a:solidFill>
                <a:latin typeface="Courier New"/>
              </a:rPr>
              <a:t> </a:t>
            </a:r>
            <a:r>
              <a:rPr sz="2001" b="0" i="0" u="none">
                <a:solidFill>
                  <a:srgbClr val="0F172A"/>
                </a:solidFill>
                <a:latin typeface="Courier New"/>
              </a:rPr>
              <a:t>v_supplier</a:t>
            </a:r>
            <a:r>
              <a:rPr sz="2001" b="0" i="0" u="none">
                <a:solidFill>
                  <a:srgbClr val="0F172A"/>
                </a:solidFill>
                <a:latin typeface="Courier New"/>
              </a:rPr>
              <a:t> </a:t>
            </a:r>
            <a:r>
              <a:rPr sz="2001" b="1" i="0" u="none">
                <a:solidFill>
                  <a:srgbClr val="0E8A8A"/>
                </a:solidFill>
                <a:latin typeface="Courier New"/>
              </a:rPr>
              <a:t>SET</a:t>
            </a:r>
            <a:r>
              <a:rPr sz="2001" b="0" i="0" u="none">
                <a:solidFill>
                  <a:srgbClr val="0F172A"/>
                </a:solidFill>
                <a:latin typeface="Courier New"/>
              </a:rPr>
              <a:t> </a:t>
            </a:r>
            <a:r>
              <a:rPr sz="2001" b="0" i="0" u="none">
                <a:solidFill>
                  <a:srgbClr val="0F172A"/>
                </a:solidFill>
                <a:latin typeface="Courier New"/>
              </a:rPr>
              <a:t>status</a:t>
            </a:r>
            <a:r>
              <a:rPr sz="2001" b="0" i="0" u="none">
                <a:solidFill>
                  <a:srgbClr val="0F172A"/>
                </a:solidFill>
                <a:latin typeface="Courier New"/>
              </a:rPr>
              <a:t> </a:t>
            </a:r>
            <a:r>
              <a:rPr sz="2001" b="0" i="0" u="none">
                <a:solidFill>
                  <a:srgbClr val="0F172A"/>
                </a:solidFill>
                <a:latin typeface="Courier New"/>
              </a:rPr>
              <a:t>=</a:t>
            </a:r>
            <a:r>
              <a:rPr sz="2001" b="0" i="0" u="none">
                <a:solidFill>
                  <a:srgbClr val="0F172A"/>
                </a:solidFill>
                <a:latin typeface="Courier New"/>
              </a:rPr>
              <a:t> </a:t>
            </a:r>
            <a:r>
              <a:rPr sz="2001" b="0" i="0" u="none">
                <a:solidFill>
                  <a:srgbClr val="B45309"/>
                </a:solidFill>
                <a:latin typeface="Courier New"/>
              </a:rPr>
              <a:t>10</a:t>
            </a:r>
            <a:r>
              <a:rPr sz="2001" b="0" i="0" u="none">
                <a:solidFill>
                  <a:srgbClr val="0F172A"/>
                </a:solidFill>
                <a:latin typeface="Courier New"/>
              </a:rPr>
              <a:t> </a:t>
            </a:r>
            <a:r>
              <a:rPr sz="2001" b="1" i="0" u="none">
                <a:solidFill>
                  <a:srgbClr val="0E8A8A"/>
                </a:solidFill>
                <a:latin typeface="Courier New"/>
              </a:rPr>
              <a:t>WHERE</a:t>
            </a:r>
            <a:r>
              <a:rPr sz="2001" b="0" i="0" u="none">
                <a:solidFill>
                  <a:srgbClr val="0F172A"/>
                </a:solidFill>
                <a:latin typeface="Courier New"/>
              </a:rPr>
              <a:t> </a:t>
            </a:r>
            <a:r>
              <a:rPr sz="2001" b="0" i="0" u="none">
                <a:solidFill>
                  <a:srgbClr val="0F172A"/>
                </a:solidFill>
                <a:latin typeface="Courier New"/>
              </a:rPr>
              <a:t>s_id</a:t>
            </a:r>
            <a:r>
              <a:rPr sz="2001" b="0" i="0" u="none">
                <a:solidFill>
                  <a:srgbClr val="0F172A"/>
                </a:solidFill>
                <a:latin typeface="Courier New"/>
              </a:rPr>
              <a:t> </a:t>
            </a:r>
            <a:r>
              <a:rPr sz="2001" b="0" i="0" u="none">
                <a:solidFill>
                  <a:srgbClr val="0F172A"/>
                </a:solidFill>
                <a:latin typeface="Courier New"/>
              </a:rPr>
              <a:t>=</a:t>
            </a:r>
            <a:r>
              <a:rPr sz="2001" b="0" i="0" u="none">
                <a:solidFill>
                  <a:srgbClr val="0F172A"/>
                </a:solidFill>
                <a:latin typeface="Courier New"/>
              </a:rPr>
              <a:t> </a:t>
            </a:r>
            <a:r>
              <a:rPr sz="2001" b="0" i="0" u="none">
                <a:solidFill>
                  <a:srgbClr val="B45309"/>
                </a:solidFill>
                <a:latin typeface="Courier New"/>
              </a:rPr>
              <a:t>'S1'</a:t>
            </a:r>
            <a:r>
              <a:rPr sz="2001" b="0" i="0" u="none">
                <a:solidFill>
                  <a:srgbClr val="0F172A"/>
                </a:solidFill>
                <a:latin typeface="Courier New"/>
              </a:rPr>
              <a:t>;</a:t>
            </a:r>
          </a:p>
        </p:txBody>
      </p:sp>
      <p:sp>
        <p:nvSpPr>
          <p:cNvPr id="8" name="Rectangle 7"/>
          <p:cNvSpPr/>
          <p:nvPr/>
        </p:nvSpPr>
        <p:spPr>
          <a:xfrm>
            <a:off x="10275570" y="2482024"/>
            <a:ext cx="7098030" cy="2191313"/>
          </a:xfrm>
          <a:prstGeom prst="rect">
            <a:avLst/>
          </a:prstGeom>
          <a:solidFill>
            <a:srgbClr val="FFFFFF"/>
          </a:solidFill>
          <a:ln w="14287">
            <a:solidFill>
              <a:srgbClr val="E2E8F0"/>
            </a:solidFill>
          </a:ln>
        </p:spPr>
        <p:txBody>
          <a:bodyPr rtlCol="0" anchor="ctr" lIns="0" rIns="0" tIns="0" bIns="0"/>
          <a:lstStyle/>
          <a:p>
            <a:pPr algn="ctr"/>
          </a:p>
        </p:txBody>
      </p:sp>
      <p:sp>
        <p:nvSpPr>
          <p:cNvPr id="9" name="TextBox 8"/>
          <p:cNvSpPr txBox="1"/>
          <p:nvPr/>
        </p:nvSpPr>
        <p:spPr>
          <a:xfrm>
            <a:off x="10675620" y="2882074"/>
            <a:ext cx="6297930" cy="1391213"/>
          </a:xfrm>
          <a:prstGeom prst="rect">
            <a:avLst/>
          </a:prstGeom>
          <a:noFill/>
        </p:spPr>
        <p:txBody>
          <a:bodyPr wrap="square" lIns="0" rIns="0" tIns="0" bIns="0" anchor="t"/>
          <a:lstStyle/>
          <a:p>
            <a:pPr algn="l">
              <a:lnSpc>
                <a:spcPct val="111800"/>
              </a:lnSpc>
            </a:pPr>
            <a:r>
              <a:rPr sz="2704" b="0" i="0" u="none">
                <a:solidFill>
                  <a:srgbClr val="334155"/>
                </a:solidFill>
                <a:latin typeface="Calibri"/>
              </a:rPr>
              <a:t>INSERTs and UPDATEs through the view must produce rows that </a:t>
            </a:r>
            <a:r>
              <a:rPr sz="2704" b="1" i="0" u="none">
                <a:solidFill>
                  <a:srgbClr val="334155"/>
                </a:solidFill>
                <a:latin typeface="Calibri"/>
              </a:rPr>
              <a:t>still satisfy</a:t>
            </a:r>
            <a:r>
              <a:rPr sz="2704" b="0" i="0" u="none">
                <a:solidFill>
                  <a:srgbClr val="334155"/>
                </a:solidFill>
                <a:latin typeface="Calibri"/>
              </a:rPr>
              <a:t> the view's WHERE (status &gt; 15).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40760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INDEXES</a:t>
            </a:r>
          </a:p>
        </p:txBody>
      </p:sp>
      <p:cxnSp>
        <p:nvCxnSpPr>
          <p:cNvPr id="3" name="Connector 2"/>
          <p:cNvCxnSpPr/>
          <p:nvPr/>
        </p:nvCxnSpPr>
        <p:spPr>
          <a:xfrm>
            <a:off x="2398204" y="981075"/>
            <a:ext cx="14127671"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62/71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Indexes</a:t>
            </a:r>
          </a:p>
        </p:txBody>
      </p:sp>
      <p:sp>
        <p:nvSpPr>
          <p:cNvPr id="6" name="Rectangle 5"/>
          <p:cNvSpPr/>
          <p:nvPr/>
        </p:nvSpPr>
        <p:spPr>
          <a:xfrm>
            <a:off x="914400" y="2482024"/>
            <a:ext cx="7962900" cy="3788633"/>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314450" y="2882074"/>
            <a:ext cx="7162800" cy="2988533"/>
          </a:xfrm>
          <a:prstGeom prst="rect">
            <a:avLst/>
          </a:prstGeom>
          <a:noFill/>
        </p:spPr>
        <p:txBody>
          <a:bodyPr wrap="square" lIns="0" rIns="0" tIns="0" bIns="0" anchor="t"/>
          <a:lstStyle/>
          <a:p>
            <a:pPr algn="l" marL="377860" indent="-377860">
              <a:lnSpc>
                <a:spcPct val="111800"/>
              </a:lnSpc>
              <a:buChar char="•"/>
            </a:pPr>
            <a:r>
              <a:rPr sz="2704" b="0" i="0" u="none">
                <a:solidFill>
                  <a:srgbClr val="334155"/>
                </a:solidFill>
                <a:latin typeface="Calibri"/>
              </a:rPr>
              <a:t>Speed up finding rows that match a </a:t>
            </a:r>
            <a:r>
              <a:rPr sz="2704" b="1" i="0" u="none">
                <a:solidFill>
                  <a:srgbClr val="334155"/>
                </a:solidFill>
                <a:latin typeface="Calibri"/>
              </a:rPr>
              <a:t>search condition</a:t>
            </a:r>
          </a:p>
          <a:p>
            <a:pPr algn="l" marL="377860" indent="-377860">
              <a:lnSpc>
                <a:spcPct val="111800"/>
              </a:lnSpc>
              <a:spcBef>
                <a:spcPts val="676"/>
              </a:spcBef>
              <a:buChar char="•"/>
            </a:pPr>
            <a:r>
              <a:rPr sz="2704" b="0" i="0" u="none">
                <a:solidFill>
                  <a:srgbClr val="334155"/>
                </a:solidFill>
                <a:latin typeface="Calibri"/>
              </a:rPr>
              <a:t>Can cover </a:t>
            </a:r>
            <a:r>
              <a:rPr sz="2704" b="1" i="0" u="none">
                <a:solidFill>
                  <a:srgbClr val="334155"/>
                </a:solidFill>
                <a:latin typeface="Calibri"/>
              </a:rPr>
              <a:t>one or several</a:t>
            </a:r>
            <a:r>
              <a:rPr sz="2704" b="0" i="0" u="none">
                <a:solidFill>
                  <a:srgbClr val="334155"/>
                </a:solidFill>
                <a:latin typeface="Calibri"/>
              </a:rPr>
              <a:t> columns</a:t>
            </a:r>
          </a:p>
          <a:p>
            <a:pPr algn="l" marL="377860" indent="-377860">
              <a:lnSpc>
                <a:spcPct val="111800"/>
              </a:lnSpc>
              <a:spcBef>
                <a:spcPts val="676"/>
              </a:spcBef>
              <a:buChar char="•"/>
            </a:pPr>
            <a:r>
              <a:rPr sz="2704" b="0" i="0" u="none">
                <a:solidFill>
                  <a:srgbClr val="334155"/>
                </a:solidFill>
                <a:latin typeface="Calibri"/>
              </a:rPr>
              <a:t>Created by you (or </a:t>
            </a:r>
            <a:r>
              <a:rPr sz="2704" b="1" i="0" u="none">
                <a:solidFill>
                  <a:srgbClr val="334155"/>
                </a:solidFill>
                <a:latin typeface="Calibri"/>
              </a:rPr>
              <a:t>automatically</a:t>
            </a:r>
            <a:r>
              <a:rPr sz="2704" b="0" i="0" u="none">
                <a:solidFill>
                  <a:srgbClr val="334155"/>
                </a:solidFill>
                <a:latin typeface="Calibri"/>
              </a:rPr>
              <a:t> for PRIMARY KEY and UNIQUE)</a:t>
            </a:r>
          </a:p>
          <a:p>
            <a:pPr algn="l" marL="377860" indent="-377860">
              <a:lnSpc>
                <a:spcPct val="111800"/>
              </a:lnSpc>
              <a:spcBef>
                <a:spcPts val="676"/>
              </a:spcBef>
              <a:buChar char="•"/>
            </a:pPr>
            <a:r>
              <a:rPr sz="2704" b="0" i="0" u="none">
                <a:solidFill>
                  <a:srgbClr val="334155"/>
                </a:solidFill>
                <a:latin typeface="Calibri"/>
              </a:rPr>
              <a:t>Used and maintained by the DBMS</a:t>
            </a:r>
          </a:p>
        </p:txBody>
      </p:sp>
      <p:sp>
        <p:nvSpPr>
          <p:cNvPr id="8" name="TextBox 7"/>
          <p:cNvSpPr txBox="1"/>
          <p:nvPr/>
        </p:nvSpPr>
        <p:spPr>
          <a:xfrm>
            <a:off x="9410700" y="2482024"/>
            <a:ext cx="7962900" cy="426933"/>
          </a:xfrm>
          <a:prstGeom prst="rect">
            <a:avLst/>
          </a:prstGeom>
          <a:noFill/>
        </p:spPr>
        <p:txBody>
          <a:bodyPr wrap="square" lIns="0" rIns="0" tIns="0" bIns="0" anchor="t"/>
          <a:lstStyle/>
          <a:p>
            <a:pPr algn="l">
              <a:lnSpc>
                <a:spcPct val="111800"/>
              </a:lnSpc>
            </a:pPr>
            <a:r>
              <a:rPr sz="2318" b="1" i="0" u="none">
                <a:solidFill>
                  <a:srgbClr val="64748B"/>
                </a:solidFill>
                <a:latin typeface="Arial"/>
              </a:rPr>
              <a:t>Index on City → rows of SUPPLIER</a:t>
            </a:r>
          </a:p>
        </p:txBody>
      </p:sp>
      <p:graphicFrame>
        <p:nvGraphicFramePr>
          <p:cNvPr id="9" name="Table 8"/>
          <p:cNvGraphicFramePr>
            <a:graphicFrameLocks noGrp="1"/>
          </p:cNvGraphicFramePr>
          <p:nvPr/>
        </p:nvGraphicFramePr>
        <p:xfrm>
          <a:off x="9410700" y="3068977"/>
          <a:ext cx="2011278" cy="3839453"/>
        </p:xfrm>
        <a:graphic>
          <a:graphicData uri="http://schemas.openxmlformats.org/drawingml/2006/table">
            <a:tbl>
              <a:tblPr firstRow="0" bandRow="0">
                <a:tableStyleId>{5940675A-B579-460E-94D1-54222C63F5DA}</a:tableStyleId>
              </a:tblPr>
              <a:tblGrid>
                <a:gridCol w="2011278"/>
              </a:tblGrid>
              <a:tr h="939253">
                <a:tc>
                  <a:txBody>
                    <a:bodyPr/>
                    <a:lstStyle/>
                    <a:p>
                      <a:r>
                        <a:rPr sz="2318" b="1" i="0" u="none">
                          <a:solidFill>
                            <a:srgbClr val="FFFFFF"/>
                          </a:solidFill>
                          <a:latin typeface="Arial"/>
                        </a:rPr>
                        <a:t>City (sorted)</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Athens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London</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London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Paris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Paris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graphicFrame>
        <p:nvGraphicFramePr>
          <p:cNvPr id="10" name="Table 9"/>
          <p:cNvGraphicFramePr>
            <a:graphicFrameLocks noGrp="1"/>
          </p:cNvGraphicFramePr>
          <p:nvPr/>
        </p:nvGraphicFramePr>
        <p:xfrm>
          <a:off x="11742018" y="3068977"/>
          <a:ext cx="5631580" cy="3480240"/>
        </p:xfrm>
        <a:graphic>
          <a:graphicData uri="http://schemas.openxmlformats.org/drawingml/2006/table">
            <a:tbl>
              <a:tblPr firstRow="0" bandRow="0">
                <a:tableStyleId>{5940675A-B579-460E-94D1-54222C63F5DA}</a:tableStyleId>
              </a:tblPr>
              <a:tblGrid>
                <a:gridCol w="1407895"/>
                <a:gridCol w="1407895"/>
                <a:gridCol w="1407895"/>
                <a:gridCol w="1407895"/>
              </a:tblGrid>
              <a:tr h="580040">
                <a:tc>
                  <a:txBody>
                    <a:bodyPr/>
                    <a:lstStyle/>
                    <a:p>
                      <a:r>
                        <a:rPr sz="2318" b="1" i="0" u="none">
                          <a:solidFill>
                            <a:srgbClr val="FFFFFF"/>
                          </a:solidFill>
                          <a:latin typeface="Arial"/>
                        </a:rPr>
                        <a:t>S#</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Name</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Status</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1" i="0" u="none">
                          <a:solidFill>
                            <a:srgbClr val="FFFFFF"/>
                          </a:solidFill>
                          <a:latin typeface="Arial"/>
                        </a:rPr>
                        <a:t>City</a:t>
                      </a:r>
                    </a:p>
                  </a:txBody>
                  <a:tcPr marL="147218" marR="147218" marT="88331" marB="88331" anchor="ctr">
                    <a:solidFill>
                      <a:srgbClr val="0F172A"/>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S1</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Smith</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20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London</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S2</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Jones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10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Paris</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S3</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Blake</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30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Paris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S4</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Clark</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20</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London</a:t>
                      </a:r>
                    </a:p>
                  </a:txBody>
                  <a:tcPr marL="147218" marR="147218" marT="88331" marB="88331" anchor="ctr">
                    <a:solidFill>
                      <a:srgbClr val="F8FAFC"/>
                    </a:solidFill>
                    <a:lnL w="9525">
                      <a:solidFill>
                        <a:srgbClr val="E2E8F0"/>
                      </a:solidFill>
                    </a:lnL>
                    <a:lnR w="9525">
                      <a:solidFill>
                        <a:srgbClr val="E2E8F0"/>
                      </a:solidFill>
                    </a:lnR>
                    <a:lnT w="9525">
                      <a:solidFill>
                        <a:srgbClr val="E2E8F0"/>
                      </a:solidFill>
                    </a:lnT>
                    <a:lnB w="9525">
                      <a:solidFill>
                        <a:srgbClr val="E2E8F0"/>
                      </a:solidFill>
                    </a:lnB>
                  </a:tcPr>
                </a:tc>
              </a:tr>
              <a:tr h="580040">
                <a:tc>
                  <a:txBody>
                    <a:bodyPr/>
                    <a:lstStyle/>
                    <a:p>
                      <a:r>
                        <a:rPr sz="2318" b="0" i="0" u="none">
                          <a:solidFill>
                            <a:srgbClr val="334155"/>
                          </a:solidFill>
                          <a:latin typeface="Calibri"/>
                        </a:rPr>
                        <a:t>S5</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Adams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30</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c>
                  <a:txBody>
                    <a:bodyPr/>
                    <a:lstStyle/>
                    <a:p>
                      <a:r>
                        <a:rPr sz="2318" b="0" i="0" u="none">
                          <a:solidFill>
                            <a:srgbClr val="334155"/>
                          </a:solidFill>
                          <a:latin typeface="Calibri"/>
                        </a:rPr>
                        <a:t>Athens</a:t>
                      </a:r>
                    </a:p>
                  </a:txBody>
                  <a:tcPr marL="147218" marR="147218" marT="88331" marB="88331" anchor="ctr">
                    <a:solidFill>
                      <a:srgbClr val="FFFFFF"/>
                    </a:solidFill>
                    <a:lnL w="9525">
                      <a:solidFill>
                        <a:srgbClr val="E2E8F0"/>
                      </a:solidFill>
                    </a:lnL>
                    <a:lnR w="9525">
                      <a:solidFill>
                        <a:srgbClr val="E2E8F0"/>
                      </a:solidFill>
                    </a:lnR>
                    <a:lnT w="9525">
                      <a:solidFill>
                        <a:srgbClr val="E2E8F0"/>
                      </a:solidFill>
                    </a:lnT>
                    <a:lnB w="9525">
                      <a:solidFill>
                        <a:srgbClr val="E2E8F0"/>
                      </a:solidFill>
                    </a:lnB>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40760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INDEXES</a:t>
            </a:r>
          </a:p>
        </p:txBody>
      </p:sp>
      <p:cxnSp>
        <p:nvCxnSpPr>
          <p:cNvPr id="3" name="Connector 2"/>
          <p:cNvCxnSpPr/>
          <p:nvPr/>
        </p:nvCxnSpPr>
        <p:spPr>
          <a:xfrm>
            <a:off x="2398204" y="981075"/>
            <a:ext cx="14127671"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63/71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Types of indexes</a:t>
            </a:r>
          </a:p>
        </p:txBody>
      </p:sp>
      <p:sp>
        <p:nvSpPr>
          <p:cNvPr id="6" name="Rectangle 5"/>
          <p:cNvSpPr/>
          <p:nvPr/>
        </p:nvSpPr>
        <p:spPr>
          <a:xfrm>
            <a:off x="914400" y="2482024"/>
            <a:ext cx="5288279" cy="2999041"/>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285875" y="2853499"/>
            <a:ext cx="4545329" cy="522888"/>
          </a:xfrm>
          <a:prstGeom prst="rect">
            <a:avLst/>
          </a:prstGeom>
          <a:noFill/>
        </p:spPr>
        <p:txBody>
          <a:bodyPr wrap="square" lIns="0" rIns="0" tIns="0" bIns="0" anchor="t"/>
          <a:lstStyle/>
          <a:p>
            <a:pPr algn="l">
              <a:lnSpc>
                <a:spcPct val="103200"/>
              </a:lnSpc>
            </a:pPr>
            <a:r>
              <a:rPr sz="3049" b="1" i="0" u="none">
                <a:solidFill>
                  <a:srgbClr val="0F172A"/>
                </a:solidFill>
                <a:latin typeface="Arial"/>
              </a:rPr>
              <a:t>Clustered</a:t>
            </a:r>
          </a:p>
        </p:txBody>
      </p:sp>
      <p:sp>
        <p:nvSpPr>
          <p:cNvPr id="8" name="TextBox 7"/>
          <p:cNvSpPr txBox="1"/>
          <p:nvPr/>
        </p:nvSpPr>
        <p:spPr>
          <a:xfrm>
            <a:off x="1285875" y="3524977"/>
            <a:ext cx="4545329" cy="1584613"/>
          </a:xfrm>
          <a:prstGeom prst="rect">
            <a:avLst/>
          </a:prstGeom>
          <a:noFill/>
        </p:spPr>
        <p:txBody>
          <a:bodyPr wrap="square" lIns="0" rIns="0" tIns="0" bIns="0" anchor="t"/>
          <a:lstStyle/>
          <a:p>
            <a:pPr algn="l">
              <a:lnSpc>
                <a:spcPct val="111800"/>
              </a:lnSpc>
            </a:pPr>
            <a:r>
              <a:rPr sz="2332" b="0" i="0" u="none">
                <a:solidFill>
                  <a:srgbClr val="334155"/>
                </a:solidFill>
                <a:latin typeface="Calibri"/>
              </a:rPr>
              <a:t>Stores the table's </a:t>
            </a:r>
            <a:r>
              <a:rPr sz="2332" b="1" i="0" u="none">
                <a:solidFill>
                  <a:srgbClr val="334155"/>
                </a:solidFill>
                <a:latin typeface="Calibri"/>
              </a:rPr>
              <a:t>rows themselves</a:t>
            </a:r>
            <a:r>
              <a:rPr sz="2332" b="0" i="0" u="none">
                <a:solidFill>
                  <a:srgbClr val="334155"/>
                </a:solidFill>
                <a:latin typeface="Calibri"/>
              </a:rPr>
              <a:t> in index-key order: the index </a:t>
            </a:r>
            <a:r>
              <a:rPr sz="2332" b="0" i="1" u="none">
                <a:solidFill>
                  <a:srgbClr val="334155"/>
                </a:solidFill>
                <a:latin typeface="Calibri"/>
              </a:rPr>
              <a:t>is</a:t>
            </a:r>
            <a:r>
              <a:rPr sz="2332" b="0" i="0" u="none">
                <a:solidFill>
                  <a:srgbClr val="334155"/>
                </a:solidFill>
                <a:latin typeface="Calibri"/>
              </a:rPr>
              <a:t> the table. Only </a:t>
            </a:r>
            <a:r>
              <a:rPr sz="2332" b="1" i="0" u="none">
                <a:solidFill>
                  <a:srgbClr val="334155"/>
                </a:solidFill>
                <a:latin typeface="Calibri"/>
              </a:rPr>
              <a:t>one</a:t>
            </a:r>
            <a:r>
              <a:rPr sz="2332" b="0" i="0" u="none">
                <a:solidFill>
                  <a:srgbClr val="334155"/>
                </a:solidFill>
                <a:latin typeface="Calibri"/>
              </a:rPr>
              <a:t> per table.</a:t>
            </a:r>
          </a:p>
        </p:txBody>
      </p:sp>
      <p:sp>
        <p:nvSpPr>
          <p:cNvPr id="9" name="Rectangle 8"/>
          <p:cNvSpPr/>
          <p:nvPr/>
        </p:nvSpPr>
        <p:spPr>
          <a:xfrm>
            <a:off x="914400" y="5679186"/>
            <a:ext cx="5288279" cy="1776505"/>
          </a:xfrm>
          <a:prstGeom prst="rect">
            <a:avLst/>
          </a:prstGeom>
          <a:solidFill>
            <a:srgbClr val="F8FAFC"/>
          </a:solidFill>
          <a:ln w="14287">
            <a:solidFill>
              <a:srgbClr val="E2E8F0"/>
            </a:solidFill>
          </a:ln>
        </p:spPr>
        <p:txBody>
          <a:bodyPr rtlCol="0" anchor="ctr" lIns="0" rIns="0" tIns="0" bIns="0"/>
          <a:lstStyle/>
          <a:p>
            <a:pPr algn="ctr"/>
          </a:p>
        </p:txBody>
      </p:sp>
      <p:sp>
        <p:nvSpPr>
          <p:cNvPr id="10" name="TextBox 9"/>
          <p:cNvSpPr txBox="1"/>
          <p:nvPr/>
        </p:nvSpPr>
        <p:spPr>
          <a:xfrm>
            <a:off x="1181100" y="5945886"/>
            <a:ext cx="4754879" cy="1243105"/>
          </a:xfrm>
          <a:prstGeom prst="rect">
            <a:avLst/>
          </a:prstGeom>
          <a:noFill/>
        </p:spPr>
        <p:txBody>
          <a:bodyPr wrap="none" lIns="0" rIns="0" tIns="0" bIns="0"/>
          <a:lstStyle/>
          <a:p>
            <a:pPr>
              <a:lnSpc>
                <a:spcPct val="110000"/>
              </a:lnSpc>
            </a:pPr>
            <a:r>
              <a:rPr sz="1853" b="1" i="0" u="none">
                <a:solidFill>
                  <a:srgbClr val="0E8A8A"/>
                </a:solidFill>
                <a:latin typeface="Courier New"/>
              </a:rPr>
              <a:t>CREATE</a:t>
            </a:r>
            <a:r>
              <a:rPr sz="1853" b="0" i="0" u="none">
                <a:solidFill>
                  <a:srgbClr val="0F172A"/>
                </a:solidFill>
                <a:latin typeface="Courier New"/>
              </a:rPr>
              <a:t> </a:t>
            </a:r>
            <a:r>
              <a:rPr sz="1853" b="0" i="0" u="none">
                <a:solidFill>
                  <a:srgbClr val="0F172A"/>
                </a:solidFill>
                <a:latin typeface="Courier New"/>
              </a:rPr>
              <a:t>CLUSTERED</a:t>
            </a:r>
            <a:r>
              <a:rPr sz="1853" b="0" i="0" u="none">
                <a:solidFill>
                  <a:srgbClr val="0F172A"/>
                </a:solidFill>
                <a:latin typeface="Courier New"/>
              </a:rPr>
              <a:t> </a:t>
            </a:r>
            <a:r>
              <a:rPr sz="1853" b="1" i="0" u="none">
                <a:solidFill>
                  <a:srgbClr val="0E8A8A"/>
                </a:solidFill>
                <a:latin typeface="Courier New"/>
              </a:rPr>
              <a:t>INDEX</a:t>
            </a:r>
            <a:r>
              <a:rPr sz="1853" b="0" i="0" u="none">
                <a:solidFill>
                  <a:srgbClr val="0F172A"/>
                </a:solidFill>
                <a:latin typeface="Courier New"/>
              </a:rPr>
              <a:t> </a:t>
            </a:r>
            <a:r>
              <a:rPr sz="1853" b="0" i="0" u="none">
                <a:solidFill>
                  <a:srgbClr val="0F172A"/>
                </a:solidFill>
                <a:latin typeface="Courier New"/>
              </a:rPr>
              <a:t>ix_emp_ssn</a:t>
            </a:r>
          </a:p>
          <a:p>
            <a:pPr>
              <a:lnSpc>
                <a:spcPct val="110000"/>
              </a:lnSpc>
            </a:pPr>
            <a:r>
              <a:rPr sz="1853" b="0" i="0" u="none">
                <a:solidFill>
                  <a:srgbClr val="0F172A"/>
                </a:solidFill>
                <a:latin typeface="Courier New"/>
              </a:rPr>
              <a:t>  </a:t>
            </a:r>
            <a:r>
              <a:rPr sz="1853" b="1" i="0" u="none">
                <a:solidFill>
                  <a:srgbClr val="0E8A8A"/>
                </a:solidFill>
                <a:latin typeface="Courier New"/>
              </a:rPr>
              <a:t>ON</a:t>
            </a:r>
            <a:r>
              <a:rPr sz="1853" b="0" i="0" u="none">
                <a:solidFill>
                  <a:srgbClr val="0F172A"/>
                </a:solidFill>
                <a:latin typeface="Courier New"/>
              </a:rPr>
              <a:t> </a:t>
            </a:r>
            <a:r>
              <a:rPr sz="1853" b="0" i="0" u="none">
                <a:solidFill>
                  <a:srgbClr val="0F172A"/>
                </a:solidFill>
                <a:latin typeface="Courier New"/>
              </a:rPr>
              <a:t>employee</a:t>
            </a:r>
            <a:r>
              <a:rPr sz="1853" b="0" i="0" u="none">
                <a:solidFill>
                  <a:srgbClr val="0F172A"/>
                </a:solidFill>
                <a:latin typeface="Courier New"/>
              </a:rPr>
              <a:t> </a:t>
            </a:r>
            <a:r>
              <a:rPr sz="1853" b="0" i="0" u="none">
                <a:solidFill>
                  <a:srgbClr val="0F172A"/>
                </a:solidFill>
                <a:latin typeface="Courier New"/>
              </a:rPr>
              <a:t>(</a:t>
            </a:r>
            <a:r>
              <a:rPr sz="1853" b="0" i="0" u="none">
                <a:solidFill>
                  <a:srgbClr val="0F172A"/>
                </a:solidFill>
                <a:latin typeface="Courier New"/>
              </a:rPr>
              <a:t>ssn</a:t>
            </a:r>
            <a:r>
              <a:rPr sz="1853" b="0" i="0" u="none">
                <a:solidFill>
                  <a:srgbClr val="0F172A"/>
                </a:solidFill>
                <a:latin typeface="Courier New"/>
              </a:rPr>
              <a:t>)</a:t>
            </a:r>
            <a:r>
              <a:rPr sz="1853" b="0" i="0" u="none">
                <a:solidFill>
                  <a:srgbClr val="0F172A"/>
                </a:solidFill>
                <a:latin typeface="Courier New"/>
              </a:rPr>
              <a:t>;</a:t>
            </a:r>
          </a:p>
          <a:p>
            <a:pPr>
              <a:lnSpc>
                <a:spcPct val="110000"/>
              </a:lnSpc>
            </a:pPr>
            <a:r>
              <a:rPr sz="1853" b="0" i="1" u="none">
                <a:solidFill>
                  <a:srgbClr val="64748B"/>
                </a:solidFill>
                <a:latin typeface="Courier New"/>
              </a:rPr>
              <a:t>-- a PRIMARY KEY is clustered</a:t>
            </a:r>
          </a:p>
          <a:p>
            <a:pPr>
              <a:lnSpc>
                <a:spcPct val="110000"/>
              </a:lnSpc>
            </a:pPr>
            <a:r>
              <a:rPr sz="1853" b="0" i="1" u="none">
                <a:solidFill>
                  <a:srgbClr val="64748B"/>
                </a:solidFill>
                <a:latin typeface="Courier New"/>
              </a:rPr>
              <a:t>-- by default in SQL Server</a:t>
            </a:r>
          </a:p>
        </p:txBody>
      </p:sp>
      <p:sp>
        <p:nvSpPr>
          <p:cNvPr id="11" name="Rectangle 10"/>
          <p:cNvSpPr/>
          <p:nvPr/>
        </p:nvSpPr>
        <p:spPr>
          <a:xfrm>
            <a:off x="6499860" y="2482024"/>
            <a:ext cx="5288279" cy="2613995"/>
          </a:xfrm>
          <a:prstGeom prst="rect">
            <a:avLst/>
          </a:prstGeom>
          <a:solidFill>
            <a:srgbClr val="FFFFFF"/>
          </a:solidFill>
          <a:ln w="14287">
            <a:solidFill>
              <a:srgbClr val="E2E8F0"/>
            </a:solidFill>
          </a:ln>
        </p:spPr>
        <p:txBody>
          <a:bodyPr rtlCol="0" anchor="ctr" lIns="0" rIns="0" tIns="0" bIns="0"/>
          <a:lstStyle/>
          <a:p>
            <a:pPr algn="ctr"/>
          </a:p>
        </p:txBody>
      </p:sp>
      <p:sp>
        <p:nvSpPr>
          <p:cNvPr id="12" name="TextBox 11"/>
          <p:cNvSpPr txBox="1"/>
          <p:nvPr/>
        </p:nvSpPr>
        <p:spPr>
          <a:xfrm>
            <a:off x="6871335" y="2853499"/>
            <a:ext cx="4545329" cy="522888"/>
          </a:xfrm>
          <a:prstGeom prst="rect">
            <a:avLst/>
          </a:prstGeom>
          <a:noFill/>
        </p:spPr>
        <p:txBody>
          <a:bodyPr wrap="square" lIns="0" rIns="0" tIns="0" bIns="0" anchor="t"/>
          <a:lstStyle/>
          <a:p>
            <a:pPr algn="l">
              <a:lnSpc>
                <a:spcPct val="103200"/>
              </a:lnSpc>
            </a:pPr>
            <a:r>
              <a:rPr sz="3049" b="1" i="0" u="none">
                <a:solidFill>
                  <a:srgbClr val="0F172A"/>
                </a:solidFill>
                <a:latin typeface="Arial"/>
              </a:rPr>
              <a:t>Non-clustered</a:t>
            </a:r>
          </a:p>
        </p:txBody>
      </p:sp>
      <p:sp>
        <p:nvSpPr>
          <p:cNvPr id="13" name="TextBox 12"/>
          <p:cNvSpPr txBox="1"/>
          <p:nvPr/>
        </p:nvSpPr>
        <p:spPr>
          <a:xfrm>
            <a:off x="6871335" y="3524977"/>
            <a:ext cx="4545329" cy="1199567"/>
          </a:xfrm>
          <a:prstGeom prst="rect">
            <a:avLst/>
          </a:prstGeom>
          <a:noFill/>
        </p:spPr>
        <p:txBody>
          <a:bodyPr wrap="square" lIns="0" rIns="0" tIns="0" bIns="0" anchor="t"/>
          <a:lstStyle/>
          <a:p>
            <a:pPr algn="l">
              <a:lnSpc>
                <a:spcPct val="111800"/>
              </a:lnSpc>
            </a:pPr>
            <a:r>
              <a:rPr sz="2332" b="0" i="0" u="none">
                <a:solidFill>
                  <a:srgbClr val="334155"/>
                </a:solidFill>
                <a:latin typeface="Calibri"/>
              </a:rPr>
              <a:t>A </a:t>
            </a:r>
            <a:r>
              <a:rPr sz="2332" b="1" i="0" u="none">
                <a:solidFill>
                  <a:srgbClr val="334155"/>
                </a:solidFill>
                <a:latin typeface="Calibri"/>
              </a:rPr>
              <a:t>separate</a:t>
            </a:r>
            <a:r>
              <a:rPr sz="2332" b="0" i="0" u="none">
                <a:solidFill>
                  <a:srgbClr val="334155"/>
                </a:solidFill>
                <a:latin typeface="Calibri"/>
              </a:rPr>
              <a:t> sorted structure with pointers back to the rows. A table can have </a:t>
            </a:r>
            <a:r>
              <a:rPr sz="2332" b="1" i="0" u="none">
                <a:solidFill>
                  <a:srgbClr val="334155"/>
                </a:solidFill>
                <a:latin typeface="Calibri"/>
              </a:rPr>
              <a:t>many</a:t>
            </a:r>
            <a:r>
              <a:rPr sz="2332" b="0" i="0" u="none">
                <a:solidFill>
                  <a:srgbClr val="334155"/>
                </a:solidFill>
                <a:latin typeface="Calibri"/>
              </a:rPr>
              <a:t>.</a:t>
            </a:r>
          </a:p>
        </p:txBody>
      </p:sp>
      <p:sp>
        <p:nvSpPr>
          <p:cNvPr id="14" name="Rectangle 13"/>
          <p:cNvSpPr/>
          <p:nvPr/>
        </p:nvSpPr>
        <p:spPr>
          <a:xfrm>
            <a:off x="6499860" y="5294139"/>
            <a:ext cx="5288279" cy="1856683"/>
          </a:xfrm>
          <a:prstGeom prst="rect">
            <a:avLst/>
          </a:prstGeom>
          <a:solidFill>
            <a:srgbClr val="F8FAFC"/>
          </a:solidFill>
          <a:ln w="14287">
            <a:solidFill>
              <a:srgbClr val="E2E8F0"/>
            </a:solidFill>
          </a:ln>
        </p:spPr>
        <p:txBody>
          <a:bodyPr rtlCol="0" anchor="ctr" lIns="0" rIns="0" tIns="0" bIns="0"/>
          <a:lstStyle/>
          <a:p>
            <a:pPr algn="ctr"/>
          </a:p>
        </p:txBody>
      </p:sp>
      <p:sp>
        <p:nvSpPr>
          <p:cNvPr id="15" name="TextBox 14"/>
          <p:cNvSpPr txBox="1"/>
          <p:nvPr/>
        </p:nvSpPr>
        <p:spPr>
          <a:xfrm>
            <a:off x="6766560" y="5560839"/>
            <a:ext cx="4754879" cy="1323283"/>
          </a:xfrm>
          <a:prstGeom prst="rect">
            <a:avLst/>
          </a:prstGeom>
          <a:noFill/>
        </p:spPr>
        <p:txBody>
          <a:bodyPr wrap="none" lIns="0" rIns="0" tIns="0" bIns="0"/>
          <a:lstStyle/>
          <a:p>
            <a:pPr>
              <a:lnSpc>
                <a:spcPct val="110000"/>
              </a:lnSpc>
            </a:pPr>
            <a:r>
              <a:rPr sz="1973" b="1" i="0" u="none">
                <a:solidFill>
                  <a:srgbClr val="0E8A8A"/>
                </a:solidFill>
                <a:latin typeface="Courier New"/>
              </a:rPr>
              <a:t>CREATE</a:t>
            </a:r>
            <a:r>
              <a:rPr sz="1973" b="0" i="0" u="none">
                <a:solidFill>
                  <a:srgbClr val="0F172A"/>
                </a:solidFill>
                <a:latin typeface="Courier New"/>
              </a:rPr>
              <a:t> </a:t>
            </a:r>
            <a:r>
              <a:rPr sz="1973" b="0" i="0" u="none">
                <a:solidFill>
                  <a:srgbClr val="0F172A"/>
                </a:solidFill>
                <a:latin typeface="Courier New"/>
              </a:rPr>
              <a:t>NONCLUSTERED</a:t>
            </a:r>
            <a:r>
              <a:rPr sz="1973" b="0" i="0" u="none">
                <a:solidFill>
                  <a:srgbClr val="0F172A"/>
                </a:solidFill>
                <a:latin typeface="Courier New"/>
              </a:rPr>
              <a:t> </a:t>
            </a:r>
            <a:r>
              <a:rPr sz="1973" b="1" i="0" u="none">
                <a:solidFill>
                  <a:srgbClr val="0E8A8A"/>
                </a:solidFill>
                <a:latin typeface="Courier New"/>
              </a:rPr>
              <a:t>INDEX</a:t>
            </a:r>
          </a:p>
          <a:p>
            <a:pPr>
              <a:lnSpc>
                <a:spcPct val="110000"/>
              </a:lnSpc>
            </a:pPr>
            <a:r>
              <a:rPr sz="1973" b="0" i="0" u="none">
                <a:solidFill>
                  <a:srgbClr val="0F172A"/>
                </a:solidFill>
                <a:latin typeface="Courier New"/>
              </a:rPr>
              <a:t>  </a:t>
            </a:r>
            <a:r>
              <a:rPr sz="1973" b="0" i="0" u="none">
                <a:solidFill>
                  <a:srgbClr val="0F172A"/>
                </a:solidFill>
                <a:latin typeface="Courier New"/>
              </a:rPr>
              <a:t>ix_emp_salary</a:t>
            </a:r>
          </a:p>
          <a:p>
            <a:pPr>
              <a:lnSpc>
                <a:spcPct val="110000"/>
              </a:lnSpc>
            </a:pPr>
            <a:r>
              <a:rPr sz="1973" b="0" i="0" u="none">
                <a:solidFill>
                  <a:srgbClr val="0F172A"/>
                </a:solidFill>
                <a:latin typeface="Courier New"/>
              </a:rPr>
              <a:t>  </a:t>
            </a:r>
            <a:r>
              <a:rPr sz="1973" b="1" i="0" u="none">
                <a:solidFill>
                  <a:srgbClr val="0E8A8A"/>
                </a:solidFill>
                <a:latin typeface="Courier New"/>
              </a:rPr>
              <a:t>ON</a:t>
            </a:r>
            <a:r>
              <a:rPr sz="1973" b="0" i="0" u="none">
                <a:solidFill>
                  <a:srgbClr val="0F172A"/>
                </a:solidFill>
                <a:latin typeface="Courier New"/>
              </a:rPr>
              <a:t> </a:t>
            </a:r>
            <a:r>
              <a:rPr sz="1973" b="0" i="0" u="none">
                <a:solidFill>
                  <a:srgbClr val="0F172A"/>
                </a:solidFill>
                <a:latin typeface="Courier New"/>
              </a:rPr>
              <a:t>employee</a:t>
            </a:r>
            <a:r>
              <a:rPr sz="1973" b="0" i="0" u="none">
                <a:solidFill>
                  <a:srgbClr val="0F172A"/>
                </a:solidFill>
                <a:latin typeface="Courier New"/>
              </a:rPr>
              <a:t> </a:t>
            </a:r>
            <a:r>
              <a:rPr sz="1973" b="0" i="0" u="none">
                <a:solidFill>
                  <a:srgbClr val="0F172A"/>
                </a:solidFill>
                <a:latin typeface="Courier New"/>
              </a:rPr>
              <a:t>(</a:t>
            </a:r>
            <a:r>
              <a:rPr sz="1973" b="0" i="0" u="none">
                <a:solidFill>
                  <a:srgbClr val="0F172A"/>
                </a:solidFill>
                <a:latin typeface="Courier New"/>
              </a:rPr>
              <a:t>salary</a:t>
            </a:r>
            <a:r>
              <a:rPr sz="1973" b="0" i="0" u="none">
                <a:solidFill>
                  <a:srgbClr val="0F172A"/>
                </a:solidFill>
                <a:latin typeface="Courier New"/>
              </a:rPr>
              <a:t>)</a:t>
            </a:r>
            <a:r>
              <a:rPr sz="1973" b="0" i="0" u="none">
                <a:solidFill>
                  <a:srgbClr val="0F172A"/>
                </a:solidFill>
                <a:latin typeface="Courier New"/>
              </a:rPr>
              <a:t>;</a:t>
            </a:r>
          </a:p>
          <a:p>
            <a:pPr>
              <a:lnSpc>
                <a:spcPct val="110000"/>
              </a:lnSpc>
            </a:pPr>
            <a:r>
              <a:rPr sz="1973" b="0" i="1" u="none">
                <a:solidFill>
                  <a:srgbClr val="64748B"/>
                </a:solidFill>
                <a:latin typeface="Courier New"/>
              </a:rPr>
              <a:t>-- other DBMSs: CREATE INDEX</a:t>
            </a:r>
          </a:p>
        </p:txBody>
      </p:sp>
      <p:sp>
        <p:nvSpPr>
          <p:cNvPr id="16" name="Rectangle 15"/>
          <p:cNvSpPr/>
          <p:nvPr/>
        </p:nvSpPr>
        <p:spPr>
          <a:xfrm>
            <a:off x="12085320" y="2482024"/>
            <a:ext cx="5288279" cy="2999041"/>
          </a:xfrm>
          <a:prstGeom prst="rect">
            <a:avLst/>
          </a:prstGeom>
          <a:solidFill>
            <a:srgbClr val="FFFFFF"/>
          </a:solidFill>
          <a:ln w="14287">
            <a:solidFill>
              <a:srgbClr val="E2E8F0"/>
            </a:solidFill>
          </a:ln>
        </p:spPr>
        <p:txBody>
          <a:bodyPr rtlCol="0" anchor="ctr" lIns="0" rIns="0" tIns="0" bIns="0"/>
          <a:lstStyle/>
          <a:p>
            <a:pPr algn="ctr"/>
          </a:p>
        </p:txBody>
      </p:sp>
      <p:sp>
        <p:nvSpPr>
          <p:cNvPr id="17" name="TextBox 16"/>
          <p:cNvSpPr txBox="1"/>
          <p:nvPr/>
        </p:nvSpPr>
        <p:spPr>
          <a:xfrm>
            <a:off x="12456795" y="2853499"/>
            <a:ext cx="4545329" cy="522888"/>
          </a:xfrm>
          <a:prstGeom prst="rect">
            <a:avLst/>
          </a:prstGeom>
          <a:noFill/>
        </p:spPr>
        <p:txBody>
          <a:bodyPr wrap="square" lIns="0" rIns="0" tIns="0" bIns="0" anchor="t"/>
          <a:lstStyle/>
          <a:p>
            <a:pPr algn="l">
              <a:lnSpc>
                <a:spcPct val="103200"/>
              </a:lnSpc>
            </a:pPr>
            <a:r>
              <a:rPr sz="3049" b="1" i="0" u="none">
                <a:solidFill>
                  <a:srgbClr val="0F172A"/>
                </a:solidFill>
                <a:latin typeface="Arial"/>
              </a:rPr>
              <a:t>Unique</a:t>
            </a:r>
          </a:p>
        </p:txBody>
      </p:sp>
      <p:sp>
        <p:nvSpPr>
          <p:cNvPr id="18" name="TextBox 17"/>
          <p:cNvSpPr txBox="1"/>
          <p:nvPr/>
        </p:nvSpPr>
        <p:spPr>
          <a:xfrm>
            <a:off x="12456795" y="3524977"/>
            <a:ext cx="4545329" cy="1584613"/>
          </a:xfrm>
          <a:prstGeom prst="rect">
            <a:avLst/>
          </a:prstGeom>
          <a:noFill/>
        </p:spPr>
        <p:txBody>
          <a:bodyPr wrap="square" lIns="0" rIns="0" tIns="0" bIns="0" anchor="t"/>
          <a:lstStyle/>
          <a:p>
            <a:pPr algn="l">
              <a:lnSpc>
                <a:spcPct val="111800"/>
              </a:lnSpc>
            </a:pPr>
            <a:r>
              <a:rPr sz="2332" b="0" i="0" u="none">
                <a:solidFill>
                  <a:srgbClr val="334155"/>
                </a:solidFill>
                <a:latin typeface="Calibri"/>
              </a:rPr>
              <a:t>Rejects </a:t>
            </a:r>
            <a:r>
              <a:rPr sz="2332" b="1" i="0" u="none">
                <a:solidFill>
                  <a:srgbClr val="334155"/>
                </a:solidFill>
                <a:latin typeface="Calibri"/>
              </a:rPr>
              <a:t>duplicate</a:t>
            </a:r>
            <a:r>
              <a:rPr sz="2332" b="0" i="0" u="none">
                <a:solidFill>
                  <a:srgbClr val="334155"/>
                </a:solidFill>
                <a:latin typeface="Calibri"/>
              </a:rPr>
              <a:t> values in the indexed column(s). Created automatically for PRIMARY KEY and UNIQUE constraints.</a:t>
            </a:r>
          </a:p>
        </p:txBody>
      </p:sp>
      <p:sp>
        <p:nvSpPr>
          <p:cNvPr id="19" name="Rectangle 18"/>
          <p:cNvSpPr/>
          <p:nvPr/>
        </p:nvSpPr>
        <p:spPr>
          <a:xfrm>
            <a:off x="12085320" y="5679186"/>
            <a:ext cx="5288279" cy="1154952"/>
          </a:xfrm>
          <a:prstGeom prst="rect">
            <a:avLst/>
          </a:prstGeom>
          <a:solidFill>
            <a:srgbClr val="F8FAFC"/>
          </a:solidFill>
          <a:ln w="14287">
            <a:solidFill>
              <a:srgbClr val="E2E8F0"/>
            </a:solidFill>
          </a:ln>
        </p:spPr>
        <p:txBody>
          <a:bodyPr rtlCol="0" anchor="ctr" lIns="0" rIns="0" tIns="0" bIns="0"/>
          <a:lstStyle/>
          <a:p>
            <a:pPr algn="ctr"/>
          </a:p>
        </p:txBody>
      </p:sp>
      <p:sp>
        <p:nvSpPr>
          <p:cNvPr id="20" name="TextBox 19"/>
          <p:cNvSpPr txBox="1"/>
          <p:nvPr/>
        </p:nvSpPr>
        <p:spPr>
          <a:xfrm>
            <a:off x="12352020" y="5945886"/>
            <a:ext cx="4754879" cy="621552"/>
          </a:xfrm>
          <a:prstGeom prst="rect">
            <a:avLst/>
          </a:prstGeom>
          <a:noFill/>
        </p:spPr>
        <p:txBody>
          <a:bodyPr wrap="none" lIns="0" rIns="0" tIns="0" bIns="0"/>
          <a:lstStyle/>
          <a:p>
            <a:pPr>
              <a:lnSpc>
                <a:spcPct val="110000"/>
              </a:lnSpc>
            </a:pPr>
            <a:r>
              <a:rPr sz="1853" b="1" i="0" u="none">
                <a:solidFill>
                  <a:srgbClr val="0E8A8A"/>
                </a:solidFill>
                <a:latin typeface="Courier New"/>
              </a:rPr>
              <a:t>CREATE</a:t>
            </a:r>
            <a:r>
              <a:rPr sz="1853" b="0" i="0" u="none">
                <a:solidFill>
                  <a:srgbClr val="0F172A"/>
                </a:solidFill>
                <a:latin typeface="Courier New"/>
              </a:rPr>
              <a:t> </a:t>
            </a:r>
            <a:r>
              <a:rPr sz="1853" b="1" i="0" u="none">
                <a:solidFill>
                  <a:srgbClr val="0E8A8A"/>
                </a:solidFill>
                <a:latin typeface="Courier New"/>
              </a:rPr>
              <a:t>UNIQUE</a:t>
            </a:r>
            <a:r>
              <a:rPr sz="1853" b="0" i="0" u="none">
                <a:solidFill>
                  <a:srgbClr val="0F172A"/>
                </a:solidFill>
                <a:latin typeface="Courier New"/>
              </a:rPr>
              <a:t> </a:t>
            </a:r>
            <a:r>
              <a:rPr sz="1853" b="1" i="0" u="none">
                <a:solidFill>
                  <a:srgbClr val="0E8A8A"/>
                </a:solidFill>
                <a:latin typeface="Courier New"/>
              </a:rPr>
              <a:t>INDEX</a:t>
            </a:r>
            <a:r>
              <a:rPr sz="1853" b="0" i="0" u="none">
                <a:solidFill>
                  <a:srgbClr val="0F172A"/>
                </a:solidFill>
                <a:latin typeface="Courier New"/>
              </a:rPr>
              <a:t> </a:t>
            </a:r>
            <a:r>
              <a:rPr sz="1853" b="0" i="0" u="none">
                <a:solidFill>
                  <a:srgbClr val="0F172A"/>
                </a:solidFill>
                <a:latin typeface="Courier New"/>
              </a:rPr>
              <a:t>uq_proj_pname</a:t>
            </a:r>
          </a:p>
          <a:p>
            <a:pPr>
              <a:lnSpc>
                <a:spcPct val="110000"/>
              </a:lnSpc>
            </a:pPr>
            <a:r>
              <a:rPr sz="1853" b="0" i="0" u="none">
                <a:solidFill>
                  <a:srgbClr val="0F172A"/>
                </a:solidFill>
                <a:latin typeface="Courier New"/>
              </a:rPr>
              <a:t>  </a:t>
            </a:r>
            <a:r>
              <a:rPr sz="1853" b="1" i="0" u="none">
                <a:solidFill>
                  <a:srgbClr val="0E8A8A"/>
                </a:solidFill>
                <a:latin typeface="Courier New"/>
              </a:rPr>
              <a:t>ON</a:t>
            </a:r>
            <a:r>
              <a:rPr sz="1853" b="0" i="0" u="none">
                <a:solidFill>
                  <a:srgbClr val="0F172A"/>
                </a:solidFill>
                <a:latin typeface="Courier New"/>
              </a:rPr>
              <a:t> </a:t>
            </a:r>
            <a:r>
              <a:rPr sz="1853" b="0" i="0" u="none">
                <a:solidFill>
                  <a:srgbClr val="0F172A"/>
                </a:solidFill>
                <a:latin typeface="Courier New"/>
              </a:rPr>
              <a:t>project</a:t>
            </a:r>
            <a:r>
              <a:rPr sz="1853" b="0" i="0" u="none">
                <a:solidFill>
                  <a:srgbClr val="0F172A"/>
                </a:solidFill>
                <a:latin typeface="Courier New"/>
              </a:rPr>
              <a:t> </a:t>
            </a:r>
            <a:r>
              <a:rPr sz="1853" b="0" i="0" u="none">
                <a:solidFill>
                  <a:srgbClr val="0F172A"/>
                </a:solidFill>
                <a:latin typeface="Courier New"/>
              </a:rPr>
              <a:t>(</a:t>
            </a:r>
            <a:r>
              <a:rPr sz="1853" b="0" i="0" u="none">
                <a:solidFill>
                  <a:srgbClr val="0F172A"/>
                </a:solidFill>
                <a:latin typeface="Courier New"/>
              </a:rPr>
              <a:t>pname</a:t>
            </a:r>
            <a:r>
              <a:rPr sz="1853" b="0" i="0" u="none">
                <a:solidFill>
                  <a:srgbClr val="0F172A"/>
                </a:solidFill>
                <a:latin typeface="Courier New"/>
              </a:rPr>
              <a:t>)</a:t>
            </a:r>
            <a:r>
              <a:rPr sz="1853" b="0" i="0" u="none">
                <a:solidFill>
                  <a:srgbClr val="0F172A"/>
                </a:solidFill>
                <a:latin typeface="Courier New"/>
              </a:rPr>
              <a:t>;</a:t>
            </a:r>
          </a:p>
        </p:txBody>
      </p:sp>
      <p:sp>
        <p:nvSpPr>
          <p:cNvPr id="21" name="Rectangle 20"/>
          <p:cNvSpPr/>
          <p:nvPr/>
        </p:nvSpPr>
        <p:spPr>
          <a:xfrm>
            <a:off x="914400" y="7876696"/>
            <a:ext cx="16459200" cy="1247165"/>
          </a:xfrm>
          <a:prstGeom prst="rect">
            <a:avLst/>
          </a:prstGeom>
          <a:solidFill>
            <a:srgbClr val="E6F4F4"/>
          </a:solidFill>
          <a:ln>
            <a:noFill/>
          </a:ln>
        </p:spPr>
        <p:txBody>
          <a:bodyPr rtlCol="0" anchor="ctr" lIns="0" rIns="0" tIns="0" bIns="0"/>
          <a:lstStyle/>
          <a:p>
            <a:pPr algn="ctr"/>
          </a:p>
        </p:txBody>
      </p:sp>
      <p:sp>
        <p:nvSpPr>
          <p:cNvPr id="22" name="Rectangle 21"/>
          <p:cNvSpPr/>
          <p:nvPr/>
        </p:nvSpPr>
        <p:spPr>
          <a:xfrm>
            <a:off x="914400" y="7876696"/>
            <a:ext cx="47625" cy="1247165"/>
          </a:xfrm>
          <a:prstGeom prst="rect">
            <a:avLst/>
          </a:prstGeom>
          <a:solidFill>
            <a:srgbClr val="0E8A8A"/>
          </a:solidFill>
          <a:ln>
            <a:noFill/>
          </a:ln>
        </p:spPr>
        <p:txBody>
          <a:bodyPr rtlCol="0" anchor="ctr" lIns="0" rIns="0" tIns="0" bIns="0"/>
          <a:lstStyle/>
          <a:p>
            <a:pPr algn="ctr"/>
          </a:p>
        </p:txBody>
      </p:sp>
      <p:sp>
        <p:nvSpPr>
          <p:cNvPr id="23" name="TextBox 22"/>
          <p:cNvSpPr txBox="1"/>
          <p:nvPr/>
        </p:nvSpPr>
        <p:spPr>
          <a:xfrm>
            <a:off x="1310640" y="8124346"/>
            <a:ext cx="15666720" cy="751865"/>
          </a:xfrm>
          <a:prstGeom prst="rect">
            <a:avLst/>
          </a:prstGeom>
          <a:noFill/>
        </p:spPr>
        <p:txBody>
          <a:bodyPr wrap="square" lIns="0" rIns="0" tIns="0" bIns="0"/>
          <a:lstStyle/>
          <a:p>
            <a:pPr>
              <a:lnSpc>
                <a:spcPct val="112000"/>
              </a:lnSpc>
            </a:pPr>
            <a:r>
              <a:rPr sz="2152" b="0" i="0" u="none">
                <a:solidFill>
                  <a:srgbClr val="0F172A"/>
                </a:solidFill>
                <a:latin typeface="Calibri"/>
              </a:rPr>
              <a:t>CLUSTERED / NONCLUSTERED is SQL Server syntax (MySQL InnoDB also clusters rows by the primary key). In Oracle and PostgreSQL every ordinary index works like a non-clustered one: Oracle's clustered equivalent is an </a:t>
            </a:r>
            <a:r>
              <a:rPr sz="2152" b="0" i="1" u="none">
                <a:solidFill>
                  <a:srgbClr val="0F172A"/>
                </a:solidFill>
                <a:latin typeface="Calibri"/>
              </a:rPr>
              <a:t>index-organized table</a:t>
            </a:r>
            <a:r>
              <a:rPr sz="2152" b="0" i="0" u="none">
                <a:solidFill>
                  <a:srgbClr val="0F172A"/>
                </a:solidFill>
                <a:latin typeface="Calibri"/>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40760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INDEXES</a:t>
            </a:r>
          </a:p>
        </p:txBody>
      </p:sp>
      <p:cxnSp>
        <p:nvCxnSpPr>
          <p:cNvPr id="3" name="Connector 2"/>
          <p:cNvCxnSpPr/>
          <p:nvPr/>
        </p:nvCxnSpPr>
        <p:spPr>
          <a:xfrm>
            <a:off x="2398204" y="981075"/>
            <a:ext cx="14127671"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64/71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When to create an index</a:t>
            </a:r>
          </a:p>
        </p:txBody>
      </p:sp>
      <p:sp>
        <p:nvSpPr>
          <p:cNvPr id="6" name="Rectangle 5"/>
          <p:cNvSpPr/>
          <p:nvPr/>
        </p:nvSpPr>
        <p:spPr>
          <a:xfrm>
            <a:off x="914400" y="2482024"/>
            <a:ext cx="8069580" cy="3883632"/>
          </a:xfrm>
          <a:prstGeom prst="rect">
            <a:avLst/>
          </a:prstGeom>
          <a:solidFill>
            <a:srgbClr val="E6F4F4"/>
          </a:solidFill>
          <a:ln w="14287">
            <a:solidFill>
              <a:srgbClr val="B7DCDC"/>
            </a:solidFill>
          </a:ln>
        </p:spPr>
        <p:txBody>
          <a:bodyPr rtlCol="0" anchor="ctr" lIns="0" rIns="0" tIns="0" bIns="0"/>
          <a:lstStyle/>
          <a:p>
            <a:pPr algn="ctr"/>
          </a:p>
        </p:txBody>
      </p:sp>
      <p:sp>
        <p:nvSpPr>
          <p:cNvPr id="7" name="TextBox 6"/>
          <p:cNvSpPr txBox="1"/>
          <p:nvPr/>
        </p:nvSpPr>
        <p:spPr>
          <a:xfrm>
            <a:off x="1314450" y="2882074"/>
            <a:ext cx="7269480" cy="563110"/>
          </a:xfrm>
          <a:prstGeom prst="rect">
            <a:avLst/>
          </a:prstGeom>
          <a:noFill/>
        </p:spPr>
        <p:txBody>
          <a:bodyPr wrap="square" lIns="0" rIns="0" tIns="0" bIns="0" anchor="t"/>
          <a:lstStyle/>
          <a:p>
            <a:pPr algn="l">
              <a:lnSpc>
                <a:spcPct val="103200"/>
              </a:lnSpc>
            </a:pPr>
            <a:r>
              <a:rPr sz="3284" b="1" i="0" u="none">
                <a:solidFill>
                  <a:srgbClr val="0E8A8A"/>
                </a:solidFill>
                <a:latin typeface="Arial"/>
              </a:rPr>
              <a:t>Create an index when</a:t>
            </a:r>
          </a:p>
        </p:txBody>
      </p:sp>
      <p:sp>
        <p:nvSpPr>
          <p:cNvPr id="8" name="TextBox 7"/>
          <p:cNvSpPr txBox="1"/>
          <p:nvPr/>
        </p:nvSpPr>
        <p:spPr>
          <a:xfrm>
            <a:off x="1314450" y="3605204"/>
            <a:ext cx="7269480" cy="2280658"/>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The column has a </a:t>
            </a:r>
            <a:r>
              <a:rPr sz="2511" b="1" i="0" u="none">
                <a:solidFill>
                  <a:srgbClr val="334155"/>
                </a:solidFill>
                <a:latin typeface="Calibri"/>
              </a:rPr>
              <a:t>wide range</a:t>
            </a:r>
            <a:r>
              <a:rPr sz="2511" b="0" i="0" u="none">
                <a:solidFill>
                  <a:srgbClr val="334155"/>
                </a:solidFill>
                <a:latin typeface="Calibri"/>
              </a:rPr>
              <a:t> of values</a:t>
            </a:r>
          </a:p>
          <a:p>
            <a:pPr algn="l" marL="350870" indent="-350870">
              <a:lnSpc>
                <a:spcPct val="111800"/>
              </a:lnSpc>
              <a:spcBef>
                <a:spcPts val="627"/>
              </a:spcBef>
              <a:buChar char="•"/>
            </a:pPr>
            <a:r>
              <a:rPr sz="2511" b="0" i="0" u="none">
                <a:solidFill>
                  <a:srgbClr val="334155"/>
                </a:solidFill>
                <a:latin typeface="Calibri"/>
              </a:rPr>
              <a:t>The column has </a:t>
            </a:r>
            <a:r>
              <a:rPr sz="2511" b="1" i="0" u="none">
                <a:solidFill>
                  <a:srgbClr val="334155"/>
                </a:solidFill>
                <a:latin typeface="Calibri"/>
              </a:rPr>
              <a:t>many NULLs</a:t>
            </a:r>
            <a:r>
              <a:rPr sz="2511" b="0" i="0" u="none">
                <a:solidFill>
                  <a:srgbClr val="334155"/>
                </a:solidFill>
                <a:latin typeface="Calibri"/>
              </a:rPr>
              <a:t> and you search the non-null values</a:t>
            </a:r>
          </a:p>
          <a:p>
            <a:pPr algn="l" marL="350870" indent="-350870">
              <a:lnSpc>
                <a:spcPct val="111800"/>
              </a:lnSpc>
              <a:spcBef>
                <a:spcPts val="627"/>
              </a:spcBef>
              <a:buChar char="•"/>
            </a:pPr>
            <a:r>
              <a:rPr sz="2511" b="0" i="0" u="none">
                <a:solidFill>
                  <a:srgbClr val="334155"/>
                </a:solidFill>
                <a:latin typeface="Calibri"/>
              </a:rPr>
              <a:t>Columns are often used </a:t>
            </a:r>
            <a:r>
              <a:rPr sz="2511" b="1" i="0" u="none">
                <a:solidFill>
                  <a:srgbClr val="334155"/>
                </a:solidFill>
                <a:latin typeface="Calibri"/>
              </a:rPr>
              <a:t>together</a:t>
            </a:r>
            <a:r>
              <a:rPr sz="2511" b="0" i="0" u="none">
                <a:solidFill>
                  <a:srgbClr val="334155"/>
                </a:solidFill>
                <a:latin typeface="Calibri"/>
              </a:rPr>
              <a:t> in WHERE or JOIN</a:t>
            </a:r>
          </a:p>
        </p:txBody>
      </p:sp>
      <p:sp>
        <p:nvSpPr>
          <p:cNvPr id="9" name="Rectangle 8"/>
          <p:cNvSpPr/>
          <p:nvPr/>
        </p:nvSpPr>
        <p:spPr>
          <a:xfrm>
            <a:off x="9304020" y="2482024"/>
            <a:ext cx="8069580" cy="3883632"/>
          </a:xfrm>
          <a:prstGeom prst="rect">
            <a:avLst/>
          </a:prstGeom>
          <a:solidFill>
            <a:srgbClr val="FDECEF"/>
          </a:solidFill>
          <a:ln w="14287">
            <a:solidFill>
              <a:srgbClr val="F5C2CB"/>
            </a:solidFill>
          </a:ln>
        </p:spPr>
        <p:txBody>
          <a:bodyPr rtlCol="0" anchor="ctr" lIns="0" rIns="0" tIns="0" bIns="0"/>
          <a:lstStyle/>
          <a:p>
            <a:pPr algn="ctr"/>
          </a:p>
        </p:txBody>
      </p:sp>
      <p:sp>
        <p:nvSpPr>
          <p:cNvPr id="10" name="TextBox 9"/>
          <p:cNvSpPr txBox="1"/>
          <p:nvPr/>
        </p:nvSpPr>
        <p:spPr>
          <a:xfrm>
            <a:off x="9704070" y="2882074"/>
            <a:ext cx="7269480" cy="563110"/>
          </a:xfrm>
          <a:prstGeom prst="rect">
            <a:avLst/>
          </a:prstGeom>
          <a:noFill/>
        </p:spPr>
        <p:txBody>
          <a:bodyPr wrap="square" lIns="0" rIns="0" tIns="0" bIns="0" anchor="t"/>
          <a:lstStyle/>
          <a:p>
            <a:pPr algn="l">
              <a:lnSpc>
                <a:spcPct val="103200"/>
              </a:lnSpc>
            </a:pPr>
            <a:r>
              <a:rPr sz="3284" b="1" i="0" u="none">
                <a:solidFill>
                  <a:srgbClr val="C8102E"/>
                </a:solidFill>
                <a:latin typeface="Arial"/>
              </a:rPr>
              <a:t>Avoid an index when</a:t>
            </a:r>
          </a:p>
        </p:txBody>
      </p:sp>
      <p:sp>
        <p:nvSpPr>
          <p:cNvPr id="11" name="TextBox 10"/>
          <p:cNvSpPr txBox="1"/>
          <p:nvPr/>
        </p:nvSpPr>
        <p:spPr>
          <a:xfrm>
            <a:off x="9704070" y="3605204"/>
            <a:ext cx="7269480" cy="2360401"/>
          </a:xfrm>
          <a:prstGeom prst="rect">
            <a:avLst/>
          </a:prstGeom>
          <a:noFill/>
        </p:spPr>
        <p:txBody>
          <a:bodyPr wrap="square" lIns="0" rIns="0" tIns="0" bIns="0" anchor="t"/>
          <a:lstStyle/>
          <a:p>
            <a:pPr algn="l" marL="350870" indent="-350870">
              <a:lnSpc>
                <a:spcPct val="111800"/>
              </a:lnSpc>
              <a:buChar char="•"/>
            </a:pPr>
            <a:r>
              <a:rPr sz="2511" b="0" i="0" u="none">
                <a:solidFill>
                  <a:srgbClr val="334155"/>
                </a:solidFill>
                <a:latin typeface="Calibri"/>
              </a:rPr>
              <a:t>The table is </a:t>
            </a:r>
            <a:r>
              <a:rPr sz="2511" b="1" i="0" u="none">
                <a:solidFill>
                  <a:srgbClr val="334155"/>
                </a:solidFill>
                <a:latin typeface="Calibri"/>
              </a:rPr>
              <a:t>small</a:t>
            </a:r>
          </a:p>
          <a:p>
            <a:pPr algn="l" marL="350870" indent="-350870">
              <a:lnSpc>
                <a:spcPct val="111800"/>
              </a:lnSpc>
              <a:spcBef>
                <a:spcPts val="627"/>
              </a:spcBef>
              <a:buChar char="•"/>
            </a:pPr>
            <a:r>
              <a:rPr sz="2511" b="0" i="0" u="none">
                <a:solidFill>
                  <a:srgbClr val="334155"/>
                </a:solidFill>
                <a:latin typeface="Calibri"/>
              </a:rPr>
              <a:t>The column is rarely used in conditions</a:t>
            </a:r>
          </a:p>
          <a:p>
            <a:pPr algn="l" marL="350870" indent="-350870">
              <a:lnSpc>
                <a:spcPct val="111800"/>
              </a:lnSpc>
              <a:spcBef>
                <a:spcPts val="627"/>
              </a:spcBef>
              <a:buChar char="•"/>
            </a:pPr>
            <a:r>
              <a:rPr sz="2511" b="0" i="0" u="none">
                <a:solidFill>
                  <a:srgbClr val="334155"/>
                </a:solidFill>
                <a:latin typeface="Calibri"/>
              </a:rPr>
              <a:t>The table is </a:t>
            </a:r>
            <a:r>
              <a:rPr sz="2511" b="1" i="0" u="none">
                <a:solidFill>
                  <a:srgbClr val="334155"/>
                </a:solidFill>
                <a:latin typeface="Calibri"/>
              </a:rPr>
              <a:t>updated very often</a:t>
            </a:r>
          </a:p>
          <a:p>
            <a:pPr algn="l" marL="350870" indent="-350870">
              <a:lnSpc>
                <a:spcPct val="111800"/>
              </a:lnSpc>
              <a:spcBef>
                <a:spcPts val="627"/>
              </a:spcBef>
              <a:buChar char="•"/>
            </a:pPr>
            <a:r>
              <a:rPr sz="2511" b="0" i="0" u="none">
                <a:solidFill>
                  <a:srgbClr val="334155"/>
                </a:solidFill>
                <a:latin typeface="Calibri"/>
              </a:rPr>
              <a:t>The column is used inside an </a:t>
            </a:r>
            <a:r>
              <a:rPr sz="2511" b="1" i="0" u="none">
                <a:solidFill>
                  <a:srgbClr val="334155"/>
                </a:solidFill>
                <a:latin typeface="Calibri"/>
              </a:rPr>
              <a:t>expression</a:t>
            </a:r>
            <a:r>
              <a:rPr sz="2511" b="0" i="0" u="none">
                <a:solidFill>
                  <a:srgbClr val="334155"/>
                </a:solidFill>
                <a:latin typeface="Calibri"/>
              </a:rPr>
              <a:t> (unless function-based)</a:t>
            </a:r>
          </a:p>
        </p:txBody>
      </p:sp>
      <p:sp>
        <p:nvSpPr>
          <p:cNvPr id="12" name="Rectangle 11"/>
          <p:cNvSpPr/>
          <p:nvPr/>
        </p:nvSpPr>
        <p:spPr>
          <a:xfrm>
            <a:off x="914400" y="6819046"/>
            <a:ext cx="16459200" cy="995911"/>
          </a:xfrm>
          <a:prstGeom prst="rect">
            <a:avLst/>
          </a:prstGeom>
          <a:solidFill>
            <a:srgbClr val="FEF3C7"/>
          </a:solidFill>
          <a:ln>
            <a:noFill/>
          </a:ln>
        </p:spPr>
        <p:txBody>
          <a:bodyPr rtlCol="0" anchor="ctr" lIns="0" rIns="0" tIns="0" bIns="0"/>
          <a:lstStyle/>
          <a:p>
            <a:pPr algn="ctr"/>
          </a:p>
        </p:txBody>
      </p:sp>
      <p:sp>
        <p:nvSpPr>
          <p:cNvPr id="13" name="Rectangle 12"/>
          <p:cNvSpPr/>
          <p:nvPr/>
        </p:nvSpPr>
        <p:spPr>
          <a:xfrm>
            <a:off x="914400" y="6819046"/>
            <a:ext cx="47625" cy="995911"/>
          </a:xfrm>
          <a:prstGeom prst="rect">
            <a:avLst/>
          </a:prstGeom>
          <a:solidFill>
            <a:srgbClr val="B45309"/>
          </a:solidFill>
          <a:ln>
            <a:noFill/>
          </a:ln>
        </p:spPr>
        <p:txBody>
          <a:bodyPr rtlCol="0" anchor="ctr" lIns="0" rIns="0" tIns="0" bIns="0"/>
          <a:lstStyle/>
          <a:p>
            <a:pPr algn="ctr"/>
          </a:p>
        </p:txBody>
      </p:sp>
      <p:sp>
        <p:nvSpPr>
          <p:cNvPr id="14" name="TextBox 13"/>
          <p:cNvSpPr txBox="1"/>
          <p:nvPr/>
        </p:nvSpPr>
        <p:spPr>
          <a:xfrm>
            <a:off x="1341120" y="7085746"/>
            <a:ext cx="15605760" cy="462511"/>
          </a:xfrm>
          <a:prstGeom prst="rect">
            <a:avLst/>
          </a:prstGeom>
          <a:noFill/>
        </p:spPr>
        <p:txBody>
          <a:bodyPr wrap="square" lIns="0" rIns="0" tIns="0" bIns="0"/>
          <a:lstStyle/>
          <a:p>
            <a:pPr>
              <a:lnSpc>
                <a:spcPct val="112000"/>
              </a:lnSpc>
            </a:pPr>
            <a:r>
              <a:rPr sz="2511" b="0" i="0" u="none">
                <a:solidFill>
                  <a:srgbClr val="0F172A"/>
                </a:solidFill>
                <a:latin typeface="Calibri"/>
              </a:rPr>
              <a:t>Every INSERT, UPDATE and DELETE must also update every index. </a:t>
            </a:r>
            <a:r>
              <a:rPr sz="2511" b="1" i="0" u="none">
                <a:solidFill>
                  <a:srgbClr val="0F172A"/>
                </a:solidFill>
                <a:latin typeface="Calibri"/>
              </a:rPr>
              <a:t>More indexes is not always better.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40760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INDEXES</a:t>
            </a:r>
          </a:p>
        </p:txBody>
      </p:sp>
      <p:cxnSp>
        <p:nvCxnSpPr>
          <p:cNvPr id="3" name="Connector 2"/>
          <p:cNvCxnSpPr/>
          <p:nvPr/>
        </p:nvCxnSpPr>
        <p:spPr>
          <a:xfrm>
            <a:off x="2398204" y="981075"/>
            <a:ext cx="14127671"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65/71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Creating and removing indexes</a:t>
            </a:r>
          </a:p>
        </p:txBody>
      </p:sp>
      <p:sp>
        <p:nvSpPr>
          <p:cNvPr id="6" name="Rectangle 5"/>
          <p:cNvSpPr/>
          <p:nvPr/>
        </p:nvSpPr>
        <p:spPr>
          <a:xfrm>
            <a:off x="914400" y="2482024"/>
            <a:ext cx="9001125" cy="3319391"/>
          </a:xfrm>
          <a:prstGeom prst="rect">
            <a:avLst/>
          </a:prstGeom>
          <a:solidFill>
            <a:srgbClr val="F8FAFC"/>
          </a:solidFill>
          <a:ln w="14287">
            <a:solidFill>
              <a:srgbClr val="E2E8F0"/>
            </a:solidFill>
          </a:ln>
        </p:spPr>
        <p:txBody>
          <a:bodyPr rtlCol="0" anchor="ctr" lIns="0" rIns="0" tIns="0" bIns="0"/>
          <a:lstStyle/>
          <a:p>
            <a:pPr algn="ctr"/>
          </a:p>
        </p:txBody>
      </p:sp>
      <p:sp>
        <p:nvSpPr>
          <p:cNvPr id="7" name="TextBox 6"/>
          <p:cNvSpPr txBox="1"/>
          <p:nvPr/>
        </p:nvSpPr>
        <p:spPr>
          <a:xfrm>
            <a:off x="1181100" y="2748724"/>
            <a:ext cx="8467725" cy="2785991"/>
          </a:xfrm>
          <a:prstGeom prst="rect">
            <a:avLst/>
          </a:prstGeom>
          <a:noFill/>
        </p:spPr>
        <p:txBody>
          <a:bodyPr wrap="none" lIns="0" rIns="0" tIns="0" bIns="0"/>
          <a:lstStyle/>
          <a:p>
            <a:pPr>
              <a:lnSpc>
                <a:spcPct val="110000"/>
              </a:lnSpc>
            </a:pPr>
            <a:r>
              <a:rPr sz="1846" b="1" i="0" u="none">
                <a:solidFill>
                  <a:srgbClr val="0E8A8A"/>
                </a:solidFill>
                <a:latin typeface="Courier New"/>
              </a:rPr>
              <a:t>CREATE</a:t>
            </a:r>
            <a:r>
              <a:rPr sz="1846" b="0" i="0" u="none">
                <a:solidFill>
                  <a:srgbClr val="0F172A"/>
                </a:solidFill>
                <a:latin typeface="Courier New"/>
              </a:rPr>
              <a:t> </a:t>
            </a:r>
            <a:r>
              <a:rPr sz="1846" b="1" i="0" u="none">
                <a:solidFill>
                  <a:srgbClr val="0E8A8A"/>
                </a:solidFill>
                <a:latin typeface="Courier New"/>
              </a:rPr>
              <a:t>INDEX</a:t>
            </a:r>
            <a:r>
              <a:rPr sz="1846" b="0" i="0" u="none">
                <a:solidFill>
                  <a:srgbClr val="0F172A"/>
                </a:solidFill>
                <a:latin typeface="Courier New"/>
              </a:rPr>
              <a:t> </a:t>
            </a:r>
            <a:r>
              <a:rPr sz="1846" b="0" i="0" u="none">
                <a:solidFill>
                  <a:srgbClr val="0F172A"/>
                </a:solidFill>
                <a:latin typeface="Courier New"/>
              </a:rPr>
              <a:t>emp_salary_idx</a:t>
            </a:r>
            <a:r>
              <a:rPr sz="1846" b="0" i="0" u="none">
                <a:solidFill>
                  <a:srgbClr val="0F172A"/>
                </a:solidFill>
                <a:latin typeface="Courier New"/>
              </a:rPr>
              <a:t> </a:t>
            </a:r>
            <a:r>
              <a:rPr sz="1846" b="1" i="0" u="none">
                <a:solidFill>
                  <a:srgbClr val="0E8A8A"/>
                </a:solidFill>
                <a:latin typeface="Courier New"/>
              </a:rPr>
              <a:t>ON</a:t>
            </a:r>
            <a:r>
              <a:rPr sz="1846" b="0" i="0" u="none">
                <a:solidFill>
                  <a:srgbClr val="0F172A"/>
                </a:solidFill>
                <a:latin typeface="Courier New"/>
              </a:rPr>
              <a:t> </a:t>
            </a:r>
            <a:r>
              <a:rPr sz="1846" b="0" i="0" u="none">
                <a:solidFill>
                  <a:srgbClr val="0F172A"/>
                </a:solidFill>
                <a:latin typeface="Courier New"/>
              </a:rPr>
              <a:t>employee</a:t>
            </a:r>
            <a:r>
              <a:rPr sz="1846" b="0" i="0" u="none">
                <a:solidFill>
                  <a:srgbClr val="0F172A"/>
                </a:solidFill>
                <a:latin typeface="Courier New"/>
              </a:rPr>
              <a:t> </a:t>
            </a:r>
            <a:r>
              <a:rPr sz="1846" b="0" i="0" u="none">
                <a:solidFill>
                  <a:srgbClr val="0F172A"/>
                </a:solidFill>
                <a:latin typeface="Courier New"/>
              </a:rPr>
              <a:t>(</a:t>
            </a:r>
            <a:r>
              <a:rPr sz="1846" b="0" i="0" u="none">
                <a:solidFill>
                  <a:srgbClr val="0F172A"/>
                </a:solidFill>
                <a:latin typeface="Courier New"/>
              </a:rPr>
              <a:t>salary</a:t>
            </a:r>
            <a:r>
              <a:rPr sz="1846" b="0" i="0" u="none">
                <a:solidFill>
                  <a:srgbClr val="0F172A"/>
                </a:solidFill>
                <a:latin typeface="Courier New"/>
              </a:rPr>
              <a:t>)</a:t>
            </a:r>
            <a:r>
              <a:rPr sz="1846" b="0" i="0" u="none">
                <a:solidFill>
                  <a:srgbClr val="0F172A"/>
                </a:solidFill>
                <a:latin typeface="Courier New"/>
              </a:rPr>
              <a:t>;</a:t>
            </a:r>
          </a:p>
          <a:p>
            <a:pPr>
              <a:lnSpc>
                <a:spcPct val="110000"/>
              </a:lnSpc>
            </a:pPr>
            <a:r>
              <a:rPr sz="1846" b="0" i="0" u="none">
                <a:solidFill>
                  <a:srgbClr val="0F172A"/>
                </a:solidFill>
                <a:latin typeface="Courier New"/>
              </a:rPr>
              <a:t> </a:t>
            </a:r>
          </a:p>
          <a:p>
            <a:pPr>
              <a:lnSpc>
                <a:spcPct val="110000"/>
              </a:lnSpc>
            </a:pPr>
            <a:r>
              <a:rPr sz="1846" b="0" i="1" u="none">
                <a:solidFill>
                  <a:srgbClr val="64748B"/>
                </a:solidFill>
                <a:latin typeface="Courier New"/>
              </a:rPr>
              <a:t>-- composite: helps WHERE dno = ? AND lname = ?</a:t>
            </a:r>
          </a:p>
          <a:p>
            <a:pPr>
              <a:lnSpc>
                <a:spcPct val="110000"/>
              </a:lnSpc>
            </a:pPr>
            <a:r>
              <a:rPr sz="1846" b="1" i="0" u="none">
                <a:solidFill>
                  <a:srgbClr val="0E8A8A"/>
                </a:solidFill>
                <a:latin typeface="Courier New"/>
              </a:rPr>
              <a:t>CREATE</a:t>
            </a:r>
            <a:r>
              <a:rPr sz="1846" b="0" i="0" u="none">
                <a:solidFill>
                  <a:srgbClr val="0F172A"/>
                </a:solidFill>
                <a:latin typeface="Courier New"/>
              </a:rPr>
              <a:t> </a:t>
            </a:r>
            <a:r>
              <a:rPr sz="1846" b="1" i="0" u="none">
                <a:solidFill>
                  <a:srgbClr val="0E8A8A"/>
                </a:solidFill>
                <a:latin typeface="Courier New"/>
              </a:rPr>
              <a:t>INDEX</a:t>
            </a:r>
            <a:r>
              <a:rPr sz="1846" b="0" i="0" u="none">
                <a:solidFill>
                  <a:srgbClr val="0F172A"/>
                </a:solidFill>
                <a:latin typeface="Courier New"/>
              </a:rPr>
              <a:t> </a:t>
            </a:r>
            <a:r>
              <a:rPr sz="1846" b="0" i="0" u="none">
                <a:solidFill>
                  <a:srgbClr val="0F172A"/>
                </a:solidFill>
                <a:latin typeface="Courier New"/>
              </a:rPr>
              <a:t>emp_dno_lname_idx</a:t>
            </a:r>
            <a:r>
              <a:rPr sz="1846" b="0" i="0" u="none">
                <a:solidFill>
                  <a:srgbClr val="0F172A"/>
                </a:solidFill>
                <a:latin typeface="Courier New"/>
              </a:rPr>
              <a:t> </a:t>
            </a:r>
            <a:r>
              <a:rPr sz="1846" b="1" i="0" u="none">
                <a:solidFill>
                  <a:srgbClr val="0E8A8A"/>
                </a:solidFill>
                <a:latin typeface="Courier New"/>
              </a:rPr>
              <a:t>ON</a:t>
            </a:r>
            <a:r>
              <a:rPr sz="1846" b="0" i="0" u="none">
                <a:solidFill>
                  <a:srgbClr val="0F172A"/>
                </a:solidFill>
                <a:latin typeface="Courier New"/>
              </a:rPr>
              <a:t> </a:t>
            </a:r>
            <a:r>
              <a:rPr sz="1846" b="0" i="0" u="none">
                <a:solidFill>
                  <a:srgbClr val="0F172A"/>
                </a:solidFill>
                <a:latin typeface="Courier New"/>
              </a:rPr>
              <a:t>employee</a:t>
            </a:r>
            <a:r>
              <a:rPr sz="1846" b="0" i="0" u="none">
                <a:solidFill>
                  <a:srgbClr val="0F172A"/>
                </a:solidFill>
                <a:latin typeface="Courier New"/>
              </a:rPr>
              <a:t> </a:t>
            </a:r>
            <a:r>
              <a:rPr sz="1846" b="0" i="0" u="none">
                <a:solidFill>
                  <a:srgbClr val="0F172A"/>
                </a:solidFill>
                <a:latin typeface="Courier New"/>
              </a:rPr>
              <a:t>(</a:t>
            </a:r>
            <a:r>
              <a:rPr sz="1846" b="0" i="0" u="none">
                <a:solidFill>
                  <a:srgbClr val="0F172A"/>
                </a:solidFill>
                <a:latin typeface="Courier New"/>
              </a:rPr>
              <a:t>dno</a:t>
            </a:r>
            <a:r>
              <a:rPr sz="1846" b="0" i="0" u="none">
                <a:solidFill>
                  <a:srgbClr val="0F172A"/>
                </a:solidFill>
                <a:latin typeface="Courier New"/>
              </a:rPr>
              <a:t>,</a:t>
            </a:r>
            <a:r>
              <a:rPr sz="1846" b="0" i="0" u="none">
                <a:solidFill>
                  <a:srgbClr val="0F172A"/>
                </a:solidFill>
                <a:latin typeface="Courier New"/>
              </a:rPr>
              <a:t> </a:t>
            </a:r>
            <a:r>
              <a:rPr sz="1846" b="0" i="0" u="none">
                <a:solidFill>
                  <a:srgbClr val="0F172A"/>
                </a:solidFill>
                <a:latin typeface="Courier New"/>
              </a:rPr>
              <a:t>lname</a:t>
            </a:r>
            <a:r>
              <a:rPr sz="1846" b="0" i="0" u="none">
                <a:solidFill>
                  <a:srgbClr val="0F172A"/>
                </a:solidFill>
                <a:latin typeface="Courier New"/>
              </a:rPr>
              <a:t>)</a:t>
            </a:r>
            <a:r>
              <a:rPr sz="1846" b="0" i="0" u="none">
                <a:solidFill>
                  <a:srgbClr val="0F172A"/>
                </a:solidFill>
                <a:latin typeface="Courier New"/>
              </a:rPr>
              <a:t>;</a:t>
            </a:r>
          </a:p>
          <a:p>
            <a:pPr>
              <a:lnSpc>
                <a:spcPct val="110000"/>
              </a:lnSpc>
            </a:pPr>
            <a:r>
              <a:rPr sz="1846" b="0" i="0" u="none">
                <a:solidFill>
                  <a:srgbClr val="0F172A"/>
                </a:solidFill>
                <a:latin typeface="Courier New"/>
              </a:rPr>
              <a:t> </a:t>
            </a:r>
          </a:p>
          <a:p>
            <a:pPr>
              <a:lnSpc>
                <a:spcPct val="110000"/>
              </a:lnSpc>
            </a:pPr>
            <a:r>
              <a:rPr sz="1846" b="1" i="0" u="none">
                <a:solidFill>
                  <a:srgbClr val="0E8A8A"/>
                </a:solidFill>
                <a:latin typeface="Courier New"/>
              </a:rPr>
              <a:t>CREATE</a:t>
            </a:r>
            <a:r>
              <a:rPr sz="1846" b="0" i="0" u="none">
                <a:solidFill>
                  <a:srgbClr val="0F172A"/>
                </a:solidFill>
                <a:latin typeface="Courier New"/>
              </a:rPr>
              <a:t> </a:t>
            </a:r>
            <a:r>
              <a:rPr sz="1846" b="1" i="0" u="none">
                <a:solidFill>
                  <a:srgbClr val="0E8A8A"/>
                </a:solidFill>
                <a:latin typeface="Courier New"/>
              </a:rPr>
              <a:t>INDEX</a:t>
            </a:r>
            <a:r>
              <a:rPr sz="1846" b="0" i="0" u="none">
                <a:solidFill>
                  <a:srgbClr val="0F172A"/>
                </a:solidFill>
                <a:latin typeface="Courier New"/>
              </a:rPr>
              <a:t> </a:t>
            </a:r>
            <a:r>
              <a:rPr sz="1846" b="0" i="0" u="none">
                <a:solidFill>
                  <a:srgbClr val="0F172A"/>
                </a:solidFill>
                <a:latin typeface="Courier New"/>
              </a:rPr>
              <a:t>emp_email_idx</a:t>
            </a:r>
            <a:r>
              <a:rPr sz="1846" b="0" i="0" u="none">
                <a:solidFill>
                  <a:srgbClr val="0F172A"/>
                </a:solidFill>
                <a:latin typeface="Courier New"/>
              </a:rPr>
              <a:t> </a:t>
            </a:r>
            <a:r>
              <a:rPr sz="1846" b="1" i="0" u="none">
                <a:solidFill>
                  <a:srgbClr val="0E8A8A"/>
                </a:solidFill>
                <a:latin typeface="Courier New"/>
              </a:rPr>
              <a:t>ON</a:t>
            </a:r>
            <a:r>
              <a:rPr sz="1846" b="0" i="0" u="none">
                <a:solidFill>
                  <a:srgbClr val="0F172A"/>
                </a:solidFill>
                <a:latin typeface="Courier New"/>
              </a:rPr>
              <a:t> </a:t>
            </a:r>
            <a:r>
              <a:rPr sz="1846" b="0" i="0" u="none">
                <a:solidFill>
                  <a:srgbClr val="0F172A"/>
                </a:solidFill>
                <a:latin typeface="Courier New"/>
              </a:rPr>
              <a:t>employee</a:t>
            </a:r>
            <a:r>
              <a:rPr sz="1846" b="0" i="0" u="none">
                <a:solidFill>
                  <a:srgbClr val="0F172A"/>
                </a:solidFill>
                <a:latin typeface="Courier New"/>
              </a:rPr>
              <a:t> </a:t>
            </a:r>
            <a:r>
              <a:rPr sz="1846" b="0" i="0" u="none">
                <a:solidFill>
                  <a:srgbClr val="0F172A"/>
                </a:solidFill>
                <a:latin typeface="Courier New"/>
              </a:rPr>
              <a:t>(</a:t>
            </a:r>
            <a:r>
              <a:rPr sz="1846" b="0" i="0" u="none">
                <a:solidFill>
                  <a:srgbClr val="0F172A"/>
                </a:solidFill>
                <a:latin typeface="Courier New"/>
              </a:rPr>
              <a:t>email</a:t>
            </a:r>
            <a:r>
              <a:rPr sz="1846" b="0" i="0" u="none">
                <a:solidFill>
                  <a:srgbClr val="0F172A"/>
                </a:solidFill>
                <a:latin typeface="Courier New"/>
              </a:rPr>
              <a:t>)</a:t>
            </a:r>
            <a:r>
              <a:rPr sz="1846" b="0" i="0" u="none">
                <a:solidFill>
                  <a:srgbClr val="0F172A"/>
                </a:solidFill>
                <a:latin typeface="Courier New"/>
              </a:rPr>
              <a:t>;</a:t>
            </a:r>
          </a:p>
          <a:p>
            <a:pPr>
              <a:lnSpc>
                <a:spcPct val="110000"/>
              </a:lnSpc>
            </a:pPr>
            <a:r>
              <a:rPr sz="1846" b="0" i="0" u="none">
                <a:solidFill>
                  <a:srgbClr val="0F172A"/>
                </a:solidFill>
                <a:latin typeface="Courier New"/>
              </a:rPr>
              <a:t> </a:t>
            </a:r>
          </a:p>
          <a:p>
            <a:pPr>
              <a:lnSpc>
                <a:spcPct val="110000"/>
              </a:lnSpc>
            </a:pPr>
            <a:r>
              <a:rPr sz="1846" b="1" i="0" u="none">
                <a:solidFill>
                  <a:srgbClr val="0E8A8A"/>
                </a:solidFill>
                <a:latin typeface="Courier New"/>
              </a:rPr>
              <a:t>DROP</a:t>
            </a:r>
            <a:r>
              <a:rPr sz="1846" b="0" i="0" u="none">
                <a:solidFill>
                  <a:srgbClr val="0F172A"/>
                </a:solidFill>
                <a:latin typeface="Courier New"/>
              </a:rPr>
              <a:t> </a:t>
            </a:r>
            <a:r>
              <a:rPr sz="1846" b="1" i="0" u="none">
                <a:solidFill>
                  <a:srgbClr val="0E8A8A"/>
                </a:solidFill>
                <a:latin typeface="Courier New"/>
              </a:rPr>
              <a:t>INDEX</a:t>
            </a:r>
            <a:r>
              <a:rPr sz="1846" b="0" i="0" u="none">
                <a:solidFill>
                  <a:srgbClr val="0F172A"/>
                </a:solidFill>
                <a:latin typeface="Courier New"/>
              </a:rPr>
              <a:t> </a:t>
            </a:r>
            <a:r>
              <a:rPr sz="1846" b="0" i="0" u="none">
                <a:solidFill>
                  <a:srgbClr val="0F172A"/>
                </a:solidFill>
                <a:latin typeface="Courier New"/>
              </a:rPr>
              <a:t>emp_salary_idx</a:t>
            </a:r>
            <a:r>
              <a:rPr sz="1846" b="0" i="0" u="none">
                <a:solidFill>
                  <a:srgbClr val="0F172A"/>
                </a:solidFill>
                <a:latin typeface="Courier New"/>
              </a:rPr>
              <a:t>;</a:t>
            </a:r>
            <a:r>
              <a:rPr sz="1846" b="0" i="0" u="none">
                <a:solidFill>
                  <a:srgbClr val="0F172A"/>
                </a:solidFill>
                <a:latin typeface="Courier New"/>
              </a:rPr>
              <a:t>            </a:t>
            </a:r>
            <a:r>
              <a:rPr sz="1846" b="0" i="1" u="none">
                <a:solidFill>
                  <a:srgbClr val="64748B"/>
                </a:solidFill>
                <a:latin typeface="Courier New"/>
              </a:rPr>
              <a:t>-- Oracle, PostgreSQL</a:t>
            </a:r>
          </a:p>
          <a:p>
            <a:pPr>
              <a:lnSpc>
                <a:spcPct val="110000"/>
              </a:lnSpc>
            </a:pPr>
            <a:r>
              <a:rPr sz="1846" b="1" i="0" u="none">
                <a:solidFill>
                  <a:srgbClr val="0E8A8A"/>
                </a:solidFill>
                <a:latin typeface="Courier New"/>
              </a:rPr>
              <a:t>DROP</a:t>
            </a:r>
            <a:r>
              <a:rPr sz="1846" b="0" i="0" u="none">
                <a:solidFill>
                  <a:srgbClr val="0F172A"/>
                </a:solidFill>
                <a:latin typeface="Courier New"/>
              </a:rPr>
              <a:t> </a:t>
            </a:r>
            <a:r>
              <a:rPr sz="1846" b="1" i="0" u="none">
                <a:solidFill>
                  <a:srgbClr val="0E8A8A"/>
                </a:solidFill>
                <a:latin typeface="Courier New"/>
              </a:rPr>
              <a:t>INDEX</a:t>
            </a:r>
            <a:r>
              <a:rPr sz="1846" b="0" i="0" u="none">
                <a:solidFill>
                  <a:srgbClr val="0F172A"/>
                </a:solidFill>
                <a:latin typeface="Courier New"/>
              </a:rPr>
              <a:t> </a:t>
            </a:r>
            <a:r>
              <a:rPr sz="1846" b="0" i="0" u="none">
                <a:solidFill>
                  <a:srgbClr val="0F172A"/>
                </a:solidFill>
                <a:latin typeface="Courier New"/>
              </a:rPr>
              <a:t>emp_salary_idx</a:t>
            </a:r>
            <a:r>
              <a:rPr sz="1846" b="0" i="0" u="none">
                <a:solidFill>
                  <a:srgbClr val="0F172A"/>
                </a:solidFill>
                <a:latin typeface="Courier New"/>
              </a:rPr>
              <a:t> </a:t>
            </a:r>
            <a:r>
              <a:rPr sz="1846" b="1" i="0" u="none">
                <a:solidFill>
                  <a:srgbClr val="0E8A8A"/>
                </a:solidFill>
                <a:latin typeface="Courier New"/>
              </a:rPr>
              <a:t>ON</a:t>
            </a:r>
            <a:r>
              <a:rPr sz="1846" b="0" i="0" u="none">
                <a:solidFill>
                  <a:srgbClr val="0F172A"/>
                </a:solidFill>
                <a:latin typeface="Courier New"/>
              </a:rPr>
              <a:t> </a:t>
            </a:r>
            <a:r>
              <a:rPr sz="1846" b="0" i="0" u="none">
                <a:solidFill>
                  <a:srgbClr val="0F172A"/>
                </a:solidFill>
                <a:latin typeface="Courier New"/>
              </a:rPr>
              <a:t>employee</a:t>
            </a:r>
            <a:r>
              <a:rPr sz="1846" b="0" i="0" u="none">
                <a:solidFill>
                  <a:srgbClr val="0F172A"/>
                </a:solidFill>
                <a:latin typeface="Courier New"/>
              </a:rPr>
              <a:t>;</a:t>
            </a:r>
            <a:r>
              <a:rPr sz="1846" b="0" i="0" u="none">
                <a:solidFill>
                  <a:srgbClr val="0F172A"/>
                </a:solidFill>
                <a:latin typeface="Courier New"/>
              </a:rPr>
              <a:t> </a:t>
            </a:r>
            <a:r>
              <a:rPr sz="1846" b="0" i="1" u="none">
                <a:solidFill>
                  <a:srgbClr val="64748B"/>
                </a:solidFill>
                <a:latin typeface="Courier New"/>
              </a:rPr>
              <a:t>-- SQL Server, MySQL</a:t>
            </a:r>
          </a:p>
        </p:txBody>
      </p:sp>
      <p:sp>
        <p:nvSpPr>
          <p:cNvPr id="8" name="Rectangle 7"/>
          <p:cNvSpPr/>
          <p:nvPr/>
        </p:nvSpPr>
        <p:spPr>
          <a:xfrm>
            <a:off x="10342245" y="2482024"/>
            <a:ext cx="7031355" cy="1825241"/>
          </a:xfrm>
          <a:prstGeom prst="rect">
            <a:avLst/>
          </a:prstGeom>
          <a:solidFill>
            <a:srgbClr val="E6F4F4"/>
          </a:solidFill>
          <a:ln>
            <a:noFill/>
          </a:ln>
        </p:spPr>
        <p:txBody>
          <a:bodyPr rtlCol="0" anchor="ctr" lIns="0" rIns="0" tIns="0" bIns="0"/>
          <a:lstStyle/>
          <a:p>
            <a:pPr algn="ctr"/>
          </a:p>
        </p:txBody>
      </p:sp>
      <p:sp>
        <p:nvSpPr>
          <p:cNvPr id="9" name="Rectangle 8"/>
          <p:cNvSpPr/>
          <p:nvPr/>
        </p:nvSpPr>
        <p:spPr>
          <a:xfrm>
            <a:off x="10342245" y="2482024"/>
            <a:ext cx="47625" cy="1825241"/>
          </a:xfrm>
          <a:prstGeom prst="rect">
            <a:avLst/>
          </a:prstGeom>
          <a:solidFill>
            <a:srgbClr val="0E8A8A"/>
          </a:solidFill>
          <a:ln>
            <a:noFill/>
          </a:ln>
        </p:spPr>
        <p:txBody>
          <a:bodyPr rtlCol="0" anchor="ctr" lIns="0" rIns="0" tIns="0" bIns="0"/>
          <a:lstStyle/>
          <a:p>
            <a:pPr algn="ctr"/>
          </a:p>
        </p:txBody>
      </p:sp>
      <p:sp>
        <p:nvSpPr>
          <p:cNvPr id="10" name="TextBox 9"/>
          <p:cNvSpPr txBox="1"/>
          <p:nvPr/>
        </p:nvSpPr>
        <p:spPr>
          <a:xfrm>
            <a:off x="10768965" y="2748724"/>
            <a:ext cx="6177915" cy="1291841"/>
          </a:xfrm>
          <a:prstGeom prst="rect">
            <a:avLst/>
          </a:prstGeom>
          <a:noFill/>
        </p:spPr>
        <p:txBody>
          <a:bodyPr wrap="square" lIns="0" rIns="0" tIns="0" bIns="0"/>
          <a:lstStyle/>
          <a:p>
            <a:pPr>
              <a:lnSpc>
                <a:spcPct val="112000"/>
              </a:lnSpc>
            </a:pPr>
            <a:r>
              <a:rPr sz="2511" b="0" i="0" u="none">
                <a:solidFill>
                  <a:srgbClr val="0F172A"/>
                </a:solidFill>
                <a:latin typeface="Calibri"/>
              </a:rPr>
              <a:t>Column order matters in a composite index: it helps queries on </a:t>
            </a:r>
            <a:r>
              <a:rPr sz="2511" b="1" i="0" u="none">
                <a:solidFill>
                  <a:srgbClr val="0F172A"/>
                </a:solidFill>
                <a:latin typeface="Calibri"/>
              </a:rPr>
              <a:t>dno</a:t>
            </a:r>
            <a:r>
              <a:rPr sz="2511" b="0" i="0" u="none">
                <a:solidFill>
                  <a:srgbClr val="0F172A"/>
                </a:solidFill>
                <a:latin typeface="Calibri"/>
              </a:rPr>
              <a:t> or </a:t>
            </a:r>
            <a:r>
              <a:rPr sz="2511" b="1" i="0" u="none">
                <a:solidFill>
                  <a:srgbClr val="0F172A"/>
                </a:solidFill>
                <a:latin typeface="Calibri"/>
              </a:rPr>
              <a:t>dno + lname</a:t>
            </a:r>
            <a:r>
              <a:rPr sz="2511" b="0" i="0" u="none">
                <a:solidFill>
                  <a:srgbClr val="0F172A"/>
                </a:solidFill>
                <a:latin typeface="Calibri"/>
              </a:rPr>
              <a:t>, not on lname alone.</a:t>
            </a:r>
          </a:p>
        </p:txBody>
      </p:sp>
      <p:sp>
        <p:nvSpPr>
          <p:cNvPr id="11" name="Rectangle 10"/>
          <p:cNvSpPr/>
          <p:nvPr/>
        </p:nvSpPr>
        <p:spPr>
          <a:xfrm>
            <a:off x="10342245" y="4520625"/>
            <a:ext cx="7031355" cy="1825241"/>
          </a:xfrm>
          <a:prstGeom prst="rect">
            <a:avLst/>
          </a:prstGeom>
          <a:solidFill>
            <a:srgbClr val="FEF3C7"/>
          </a:solidFill>
          <a:ln>
            <a:noFill/>
          </a:ln>
        </p:spPr>
        <p:txBody>
          <a:bodyPr rtlCol="0" anchor="ctr" lIns="0" rIns="0" tIns="0" bIns="0"/>
          <a:lstStyle/>
          <a:p>
            <a:pPr algn="ctr"/>
          </a:p>
        </p:txBody>
      </p:sp>
      <p:sp>
        <p:nvSpPr>
          <p:cNvPr id="12" name="Rectangle 11"/>
          <p:cNvSpPr/>
          <p:nvPr/>
        </p:nvSpPr>
        <p:spPr>
          <a:xfrm>
            <a:off x="10342245" y="4520625"/>
            <a:ext cx="47625" cy="1825241"/>
          </a:xfrm>
          <a:prstGeom prst="rect">
            <a:avLst/>
          </a:prstGeom>
          <a:solidFill>
            <a:srgbClr val="B45309"/>
          </a:solidFill>
          <a:ln>
            <a:noFill/>
          </a:ln>
        </p:spPr>
        <p:txBody>
          <a:bodyPr rtlCol="0" anchor="ctr" lIns="0" rIns="0" tIns="0" bIns="0"/>
          <a:lstStyle/>
          <a:p>
            <a:pPr algn="ctr"/>
          </a:p>
        </p:txBody>
      </p:sp>
      <p:sp>
        <p:nvSpPr>
          <p:cNvPr id="13" name="TextBox 12"/>
          <p:cNvSpPr txBox="1"/>
          <p:nvPr/>
        </p:nvSpPr>
        <p:spPr>
          <a:xfrm>
            <a:off x="10768965" y="4787325"/>
            <a:ext cx="6177915" cy="1291841"/>
          </a:xfrm>
          <a:prstGeom prst="rect">
            <a:avLst/>
          </a:prstGeom>
          <a:noFill/>
        </p:spPr>
        <p:txBody>
          <a:bodyPr wrap="square" lIns="0" rIns="0" tIns="0" bIns="0"/>
          <a:lstStyle/>
          <a:p>
            <a:pPr>
              <a:lnSpc>
                <a:spcPct val="112000"/>
              </a:lnSpc>
            </a:pPr>
            <a:r>
              <a:rPr sz="2511" b="0" i="0" u="none">
                <a:solidFill>
                  <a:srgbClr val="0F172A"/>
                </a:solidFill>
                <a:latin typeface="Calibri"/>
              </a:rPr>
              <a:t>Check whether a query uses an index with </a:t>
            </a:r>
            <a:r>
              <a:rPr sz="2511" b="1" i="0" u="none">
                <a:solidFill>
                  <a:srgbClr val="0F172A"/>
                </a:solidFill>
                <a:latin typeface="Calibri"/>
              </a:rPr>
              <a:t>EXPLAIN</a:t>
            </a:r>
            <a:r>
              <a:rPr sz="2511" b="0" i="0" u="none">
                <a:solidFill>
                  <a:srgbClr val="0F172A"/>
                </a:solidFill>
                <a:latin typeface="Calibri"/>
              </a:rPr>
              <a:t> (PostgreSQL, MySQL) or the execution plan (Oracle, SQL Server).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857250"/>
            <a:ext cx="7620000" cy="331470"/>
          </a:xfrm>
          <a:prstGeom prst="rect">
            <a:avLst/>
          </a:prstGeom>
          <a:noFill/>
        </p:spPr>
        <p:txBody>
          <a:bodyPr wrap="square" lIns="0" rIns="0" tIns="0" bIns="0" anchor="t"/>
          <a:lstStyle/>
          <a:p>
            <a:pPr algn="l">
              <a:lnSpc>
                <a:spcPct val="111800"/>
              </a:lnSpc>
            </a:pPr>
            <a:r>
              <a:rPr sz="1800" b="1" i="0" u="none">
                <a:solidFill>
                  <a:srgbClr val="F87171"/>
                </a:solidFill>
                <a:latin typeface="Arial"/>
              </a:rPr>
              <a:t>KEY IDEA</a:t>
            </a:r>
          </a:p>
        </p:txBody>
      </p:sp>
      <p:cxnSp>
        <p:nvCxnSpPr>
          <p:cNvPr id="3" name="Connector 2"/>
          <p:cNvCxnSpPr/>
          <p:nvPr/>
        </p:nvCxnSpPr>
        <p:spPr>
          <a:xfrm>
            <a:off x="2438400" y="962025"/>
            <a:ext cx="14935200" cy="0"/>
          </a:xfrm>
          <a:prstGeom prst="line">
            <a:avLst/>
          </a:prstGeom>
          <a:ln w="19050">
            <a:solidFill>
              <a:srgbClr val="1E293B"/>
            </a:solidFill>
          </a:ln>
        </p:spPr>
      </p:cxnSp>
      <p:sp>
        <p:nvSpPr>
          <p:cNvPr id="4" name="TextBox 3"/>
          <p:cNvSpPr txBox="1"/>
          <p:nvPr/>
        </p:nvSpPr>
        <p:spPr>
          <a:xfrm>
            <a:off x="914400" y="3143250"/>
            <a:ext cx="14287500" cy="2568321"/>
          </a:xfrm>
          <a:prstGeom prst="rect">
            <a:avLst/>
          </a:prstGeom>
          <a:noFill/>
        </p:spPr>
        <p:txBody>
          <a:bodyPr wrap="square" lIns="0" rIns="0" tIns="0" bIns="0"/>
          <a:lstStyle/>
          <a:p>
            <a:pPr>
              <a:lnSpc>
                <a:spcPct val="90000"/>
              </a:lnSpc>
            </a:pPr>
            <a:r>
              <a:rPr sz="6300" b="1" i="0" u="none">
                <a:solidFill>
                  <a:srgbClr val="FFFFFF"/>
                </a:solidFill>
                <a:latin typeface="Arial"/>
              </a:rPr>
              <a:t>Write SQL that says </a:t>
            </a:r>
            <a:r>
              <a:rPr sz="6300" b="1" i="0" u="none">
                <a:solidFill>
                  <a:srgbClr val="F87171"/>
                </a:solidFill>
                <a:latin typeface="Arial"/>
              </a:rPr>
              <a:t>what</a:t>
            </a:r>
            <a:r>
              <a:rPr sz="6300" b="1" i="0" u="none">
                <a:solidFill>
                  <a:srgbClr val="FFFFFF"/>
                </a:solidFill>
                <a:latin typeface="Arial"/>
              </a:rPr>
              <a:t> you want, test it on a </a:t>
            </a:r>
            <a:r>
              <a:rPr sz="6300" b="1" i="0" u="none">
                <a:solidFill>
                  <a:srgbClr val="F87171"/>
                </a:solidFill>
                <a:latin typeface="Arial"/>
              </a:rPr>
              <a:t>SELECT</a:t>
            </a:r>
            <a:r>
              <a:rPr sz="6300" b="1" i="0" u="none">
                <a:solidFill>
                  <a:srgbClr val="FFFFFF"/>
                </a:solidFill>
                <a:latin typeface="Arial"/>
              </a:rPr>
              <a:t> first, and wrap changes in a </a:t>
            </a:r>
            <a:r>
              <a:rPr sz="6300" b="1" i="0" u="none">
                <a:solidFill>
                  <a:srgbClr val="F87171"/>
                </a:solidFill>
                <a:latin typeface="Arial"/>
              </a:rPr>
              <a:t>transaction</a:t>
            </a:r>
            <a:r>
              <a:rPr sz="6300" b="1" i="0" u="none">
                <a:solidFill>
                  <a:srgbClr val="FFFFFF"/>
                </a:solidFill>
                <a:latin typeface="Arial"/>
              </a:rPr>
              <a:t>.</a:t>
            </a:r>
          </a:p>
        </p:txBody>
      </p:sp>
      <p:sp>
        <p:nvSpPr>
          <p:cNvPr id="5" name="TextBox 4"/>
          <p:cNvSpPr txBox="1"/>
          <p:nvPr/>
        </p:nvSpPr>
        <p:spPr>
          <a:xfrm>
            <a:off x="914400" y="9296400"/>
            <a:ext cx="7620000" cy="331470"/>
          </a:xfrm>
          <a:prstGeom prst="rect">
            <a:avLst/>
          </a:prstGeom>
          <a:noFill/>
        </p:spPr>
        <p:txBody>
          <a:bodyPr wrap="square" lIns="0" rIns="0" tIns="0" bIns="0" anchor="t"/>
          <a:lstStyle/>
          <a:p>
            <a:pPr algn="l">
              <a:lnSpc>
                <a:spcPct val="111800"/>
              </a:lnSpc>
            </a:pPr>
            <a:r>
              <a:rPr sz="1800" b="0" i="0" u="none">
                <a:solidFill>
                  <a:srgbClr val="94A3B8"/>
                </a:solidFill>
                <a:latin typeface="Calibri"/>
              </a:rPr>
              <a:t>ITI · Database Fundamentals</a:t>
            </a:r>
          </a:p>
        </p:txBody>
      </p:sp>
      <p:sp>
        <p:nvSpPr>
          <p:cNvPr id="6" name="TextBox 5"/>
          <p:cNvSpPr txBox="1"/>
          <p:nvPr/>
        </p:nvSpPr>
        <p:spPr>
          <a:xfrm>
            <a:off x="9753600" y="9296400"/>
            <a:ext cx="7620000" cy="331470"/>
          </a:xfrm>
          <a:prstGeom prst="rect">
            <a:avLst/>
          </a:prstGeom>
          <a:noFill/>
        </p:spPr>
        <p:txBody>
          <a:bodyPr wrap="square" lIns="0" rIns="0" tIns="0" bIns="0" anchor="t"/>
          <a:lstStyle/>
          <a:p>
            <a:pPr algn="r">
              <a:lnSpc>
                <a:spcPct val="111800"/>
              </a:lnSpc>
            </a:pPr>
            <a:r>
              <a:rPr sz="1800" b="0" i="0" u="none">
                <a:solidFill>
                  <a:srgbClr val="94A3B8"/>
                </a:solidFill>
                <a:latin typeface="Calibri"/>
              </a:rPr>
              <a:t>Lesson 4 · Structured Query Language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1765934"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67 · RECAP</a:t>
            </a:r>
          </a:p>
        </p:txBody>
      </p:sp>
      <p:cxnSp>
        <p:nvCxnSpPr>
          <p:cNvPr id="3" name="Connector 2"/>
          <p:cNvCxnSpPr/>
          <p:nvPr/>
        </p:nvCxnSpPr>
        <p:spPr>
          <a:xfrm>
            <a:off x="2756535" y="981075"/>
            <a:ext cx="13769340"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67/71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What to walk out remembering</a:t>
            </a:r>
          </a:p>
        </p:txBody>
      </p:sp>
      <p:sp>
        <p:nvSpPr>
          <p:cNvPr id="6" name="TextBox 5"/>
          <p:cNvSpPr txBox="1"/>
          <p:nvPr/>
        </p:nvSpPr>
        <p:spPr>
          <a:xfrm>
            <a:off x="914400" y="30289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01</a:t>
            </a:r>
          </a:p>
        </p:txBody>
      </p:sp>
      <p:sp>
        <p:nvSpPr>
          <p:cNvPr id="7" name="TextBox 6"/>
          <p:cNvSpPr txBox="1"/>
          <p:nvPr/>
        </p:nvSpPr>
        <p:spPr>
          <a:xfrm>
            <a:off x="1771650" y="30289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SQL has four families: </a:t>
            </a:r>
            <a:r>
              <a:rPr sz="2250" b="1" i="0" u="none">
                <a:solidFill>
                  <a:srgbClr val="0F172A"/>
                </a:solidFill>
                <a:latin typeface="Calibri"/>
              </a:rPr>
              <a:t>DDL, DML, DCL, TCL</a:t>
            </a:r>
            <a:r>
              <a:rPr sz="2250" b="0" i="0" u="none">
                <a:solidFill>
                  <a:srgbClr val="0F172A"/>
                </a:solidFill>
                <a:latin typeface="Calibri"/>
              </a:rPr>
              <a:t>; transactions give ACID guarantees.</a:t>
            </a:r>
          </a:p>
        </p:txBody>
      </p:sp>
      <p:cxnSp>
        <p:nvCxnSpPr>
          <p:cNvPr id="8" name="Connector 7"/>
          <p:cNvCxnSpPr/>
          <p:nvPr/>
        </p:nvCxnSpPr>
        <p:spPr>
          <a:xfrm>
            <a:off x="914400" y="3886200"/>
            <a:ext cx="16459200" cy="0"/>
          </a:xfrm>
          <a:prstGeom prst="line">
            <a:avLst/>
          </a:prstGeom>
          <a:ln w="14287">
            <a:solidFill>
              <a:srgbClr val="E2E8F0"/>
            </a:solidFill>
          </a:ln>
        </p:spPr>
      </p:cxnSp>
      <p:sp>
        <p:nvSpPr>
          <p:cNvPr id="9" name="TextBox 8"/>
          <p:cNvSpPr txBox="1"/>
          <p:nvPr/>
        </p:nvSpPr>
        <p:spPr>
          <a:xfrm>
            <a:off x="914400" y="40576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02</a:t>
            </a:r>
          </a:p>
        </p:txBody>
      </p:sp>
      <p:sp>
        <p:nvSpPr>
          <p:cNvPr id="10" name="TextBox 9"/>
          <p:cNvSpPr txBox="1"/>
          <p:nvPr/>
        </p:nvSpPr>
        <p:spPr>
          <a:xfrm>
            <a:off x="1771650" y="40576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Constraints (PK, FK, UNIQUE, NOT NULL, CHECK) belong </a:t>
            </a:r>
            <a:r>
              <a:rPr sz="2250" b="1" i="0" u="none">
                <a:solidFill>
                  <a:srgbClr val="0F172A"/>
                </a:solidFill>
                <a:latin typeface="Calibri"/>
              </a:rPr>
              <a:t>in the table definition</a:t>
            </a:r>
            <a:r>
              <a:rPr sz="2250" b="0" i="0" u="none">
                <a:solidFill>
                  <a:srgbClr val="0F172A"/>
                </a:solidFill>
                <a:latin typeface="Calibri"/>
              </a:rPr>
              <a:t>.</a:t>
            </a:r>
          </a:p>
        </p:txBody>
      </p:sp>
      <p:cxnSp>
        <p:nvCxnSpPr>
          <p:cNvPr id="11" name="Connector 10"/>
          <p:cNvCxnSpPr/>
          <p:nvPr/>
        </p:nvCxnSpPr>
        <p:spPr>
          <a:xfrm>
            <a:off x="914400" y="4914900"/>
            <a:ext cx="16459200" cy="0"/>
          </a:xfrm>
          <a:prstGeom prst="line">
            <a:avLst/>
          </a:prstGeom>
          <a:ln w="14287">
            <a:solidFill>
              <a:srgbClr val="E2E8F0"/>
            </a:solidFill>
          </a:ln>
        </p:spPr>
      </p:cxnSp>
      <p:sp>
        <p:nvSpPr>
          <p:cNvPr id="12" name="TextBox 11"/>
          <p:cNvSpPr txBox="1"/>
          <p:nvPr/>
        </p:nvSpPr>
        <p:spPr>
          <a:xfrm>
            <a:off x="914400" y="50863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03</a:t>
            </a:r>
          </a:p>
        </p:txBody>
      </p:sp>
      <p:sp>
        <p:nvSpPr>
          <p:cNvPr id="13" name="TextBox 12"/>
          <p:cNvSpPr txBox="1"/>
          <p:nvPr/>
        </p:nvSpPr>
        <p:spPr>
          <a:xfrm>
            <a:off x="1771650" y="50863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UPDATE and DELETE without WHERE affect </a:t>
            </a:r>
            <a:r>
              <a:rPr sz="2250" b="1" i="0" u="none">
                <a:solidFill>
                  <a:srgbClr val="0F172A"/>
                </a:solidFill>
                <a:latin typeface="Calibri"/>
              </a:rPr>
              <a:t>every row</a:t>
            </a:r>
            <a:r>
              <a:rPr sz="2250" b="0" i="0" u="none">
                <a:solidFill>
                  <a:srgbClr val="0F172A"/>
                </a:solidFill>
                <a:latin typeface="Calibri"/>
              </a:rPr>
              <a:t>: test first.</a:t>
            </a:r>
          </a:p>
        </p:txBody>
      </p:sp>
      <p:cxnSp>
        <p:nvCxnSpPr>
          <p:cNvPr id="14" name="Connector 13"/>
          <p:cNvCxnSpPr/>
          <p:nvPr/>
        </p:nvCxnSpPr>
        <p:spPr>
          <a:xfrm>
            <a:off x="914400" y="5943600"/>
            <a:ext cx="16459200" cy="0"/>
          </a:xfrm>
          <a:prstGeom prst="line">
            <a:avLst/>
          </a:prstGeom>
          <a:ln w="14287">
            <a:solidFill>
              <a:srgbClr val="E2E8F0"/>
            </a:solidFill>
          </a:ln>
        </p:spPr>
      </p:cxnSp>
      <p:sp>
        <p:nvSpPr>
          <p:cNvPr id="15" name="TextBox 14"/>
          <p:cNvSpPr txBox="1"/>
          <p:nvPr/>
        </p:nvSpPr>
        <p:spPr>
          <a:xfrm>
            <a:off x="914400" y="61150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04</a:t>
            </a:r>
          </a:p>
        </p:txBody>
      </p:sp>
      <p:sp>
        <p:nvSpPr>
          <p:cNvPr id="16" name="TextBox 15"/>
          <p:cNvSpPr txBox="1"/>
          <p:nvPr/>
        </p:nvSpPr>
        <p:spPr>
          <a:xfrm>
            <a:off x="1771650" y="61150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Use </a:t>
            </a:r>
            <a:r>
              <a:rPr sz="2250" b="1" i="0" u="none">
                <a:solidFill>
                  <a:srgbClr val="0F172A"/>
                </a:solidFill>
                <a:latin typeface="Calibri"/>
              </a:rPr>
              <a:t>ANSI JOIN … ON</a:t>
            </a:r>
            <a:r>
              <a:rPr sz="2250" b="0" i="0" u="none">
                <a:solidFill>
                  <a:srgbClr val="0F172A"/>
                </a:solidFill>
                <a:latin typeface="Calibri"/>
              </a:rPr>
              <a:t>; outer joins keep unmatched rows with NULLs.</a:t>
            </a:r>
          </a:p>
        </p:txBody>
      </p:sp>
      <p:cxnSp>
        <p:nvCxnSpPr>
          <p:cNvPr id="17" name="Connector 16"/>
          <p:cNvCxnSpPr/>
          <p:nvPr/>
        </p:nvCxnSpPr>
        <p:spPr>
          <a:xfrm>
            <a:off x="914400" y="6972300"/>
            <a:ext cx="16459200" cy="0"/>
          </a:xfrm>
          <a:prstGeom prst="line">
            <a:avLst/>
          </a:prstGeom>
          <a:ln w="14287">
            <a:solidFill>
              <a:srgbClr val="E2E8F0"/>
            </a:solidFill>
          </a:ln>
        </p:spPr>
      </p:cxnSp>
      <p:sp>
        <p:nvSpPr>
          <p:cNvPr id="18" name="TextBox 17"/>
          <p:cNvSpPr txBox="1"/>
          <p:nvPr/>
        </p:nvSpPr>
        <p:spPr>
          <a:xfrm>
            <a:off x="914400" y="71437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05</a:t>
            </a:r>
          </a:p>
        </p:txBody>
      </p:sp>
      <p:sp>
        <p:nvSpPr>
          <p:cNvPr id="19" name="TextBox 18"/>
          <p:cNvSpPr txBox="1"/>
          <p:nvPr/>
        </p:nvSpPr>
        <p:spPr>
          <a:xfrm>
            <a:off x="1771650" y="71437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WHERE filters rows, </a:t>
            </a:r>
            <a:r>
              <a:rPr sz="2250" b="1" i="0" u="none">
                <a:solidFill>
                  <a:srgbClr val="0F172A"/>
                </a:solidFill>
                <a:latin typeface="Calibri"/>
              </a:rPr>
              <a:t>HAVING</a:t>
            </a:r>
            <a:r>
              <a:rPr sz="2250" b="0" i="0" u="none">
                <a:solidFill>
                  <a:srgbClr val="0F172A"/>
                </a:solidFill>
                <a:latin typeface="Calibri"/>
              </a:rPr>
              <a:t> filters groups; windows keep rows.</a:t>
            </a:r>
          </a:p>
        </p:txBody>
      </p:sp>
      <p:cxnSp>
        <p:nvCxnSpPr>
          <p:cNvPr id="20" name="Connector 19"/>
          <p:cNvCxnSpPr/>
          <p:nvPr/>
        </p:nvCxnSpPr>
        <p:spPr>
          <a:xfrm>
            <a:off x="914400" y="8001000"/>
            <a:ext cx="16459200" cy="0"/>
          </a:xfrm>
          <a:prstGeom prst="line">
            <a:avLst/>
          </a:prstGeom>
          <a:ln w="14287">
            <a:solidFill>
              <a:srgbClr val="E2E8F0"/>
            </a:solidFill>
          </a:ln>
        </p:spPr>
      </p:cxnSp>
      <p:sp>
        <p:nvSpPr>
          <p:cNvPr id="21" name="TextBox 20"/>
          <p:cNvSpPr txBox="1"/>
          <p:nvPr/>
        </p:nvSpPr>
        <p:spPr>
          <a:xfrm>
            <a:off x="914400" y="8172450"/>
            <a:ext cx="762000" cy="414337"/>
          </a:xfrm>
          <a:prstGeom prst="rect">
            <a:avLst/>
          </a:prstGeom>
          <a:noFill/>
        </p:spPr>
        <p:txBody>
          <a:bodyPr wrap="square" lIns="0" rIns="0" tIns="0" bIns="0" anchor="t"/>
          <a:lstStyle/>
          <a:p>
            <a:pPr algn="l">
              <a:lnSpc>
                <a:spcPct val="111800"/>
              </a:lnSpc>
            </a:pPr>
            <a:r>
              <a:rPr sz="2250" b="1" i="0" u="none">
                <a:solidFill>
                  <a:srgbClr val="C8102E"/>
                </a:solidFill>
                <a:latin typeface="Arial"/>
              </a:rPr>
              <a:t>06</a:t>
            </a:r>
          </a:p>
        </p:txBody>
      </p:sp>
      <p:sp>
        <p:nvSpPr>
          <p:cNvPr id="22" name="TextBox 21"/>
          <p:cNvSpPr txBox="1"/>
          <p:nvPr/>
        </p:nvSpPr>
        <p:spPr>
          <a:xfrm>
            <a:off x="1771650" y="8172450"/>
            <a:ext cx="15601950" cy="800100"/>
          </a:xfrm>
          <a:prstGeom prst="rect">
            <a:avLst/>
          </a:prstGeom>
          <a:noFill/>
        </p:spPr>
        <p:txBody>
          <a:bodyPr wrap="square" lIns="0" rIns="0" tIns="0" bIns="0" anchor="t"/>
          <a:lstStyle/>
          <a:p>
            <a:pPr algn="l">
              <a:lnSpc>
                <a:spcPct val="111800"/>
              </a:lnSpc>
            </a:pPr>
            <a:r>
              <a:rPr sz="2250" b="0" i="0" u="none">
                <a:solidFill>
                  <a:srgbClr val="0F172A"/>
                </a:solidFill>
                <a:latin typeface="Calibri"/>
              </a:rPr>
              <a:t>Views simplify and secure; indexes speed reads but cost writes.</a:t>
            </a:r>
          </a:p>
        </p:txBody>
      </p:sp>
      <p:cxnSp>
        <p:nvCxnSpPr>
          <p:cNvPr id="23" name="Connector 22"/>
          <p:cNvCxnSpPr/>
          <p:nvPr/>
        </p:nvCxnSpPr>
        <p:spPr>
          <a:xfrm>
            <a:off x="914400" y="9029700"/>
            <a:ext cx="16459200" cy="0"/>
          </a:xfrm>
          <a:prstGeom prst="line">
            <a:avLst/>
          </a:prstGeom>
          <a:ln w="14287">
            <a:solidFill>
              <a:srgbClr val="E2E8F0"/>
            </a:solidFill>
          </a:ln>
        </p:spPr>
      </p:cxn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840926"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PRACTICE · OPTIONAL</a:t>
            </a:r>
          </a:p>
        </p:txBody>
      </p:sp>
      <p:cxnSp>
        <p:nvCxnSpPr>
          <p:cNvPr id="3" name="Connector 2"/>
          <p:cNvCxnSpPr/>
          <p:nvPr/>
        </p:nvCxnSpPr>
        <p:spPr>
          <a:xfrm>
            <a:off x="3831526" y="981075"/>
            <a:ext cx="12694349"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68/71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Practice: Lesson 4 (COMPANY database)</a:t>
            </a:r>
          </a:p>
        </p:txBody>
      </p:sp>
      <p:sp>
        <p:nvSpPr>
          <p:cNvPr id="6" name="Rectangle 5"/>
          <p:cNvSpPr/>
          <p:nvPr/>
        </p:nvSpPr>
        <p:spPr>
          <a:xfrm>
            <a:off x="914400" y="2482024"/>
            <a:ext cx="5273040" cy="3013549"/>
          </a:xfrm>
          <a:prstGeom prst="rect">
            <a:avLst/>
          </a:prstGeom>
          <a:solidFill>
            <a:srgbClr val="FFFFFF"/>
          </a:solidFill>
          <a:ln w="14287">
            <a:solidFill>
              <a:srgbClr val="E2E8F0"/>
            </a:solidFill>
          </a:ln>
        </p:spPr>
        <p:txBody>
          <a:bodyPr rtlCol="0" anchor="ctr" lIns="0" rIns="0" tIns="0" bIns="0"/>
          <a:lstStyle/>
          <a:p>
            <a:pPr algn="ctr"/>
          </a:p>
        </p:txBody>
      </p:sp>
      <p:sp>
        <p:nvSpPr>
          <p:cNvPr id="7" name="TextBox 6"/>
          <p:cNvSpPr txBox="1"/>
          <p:nvPr/>
        </p:nvSpPr>
        <p:spPr>
          <a:xfrm>
            <a:off x="1287780" y="2855404"/>
            <a:ext cx="4526280" cy="426933"/>
          </a:xfrm>
          <a:prstGeom prst="rect">
            <a:avLst/>
          </a:prstGeom>
          <a:noFill/>
        </p:spPr>
        <p:txBody>
          <a:bodyPr wrap="square" lIns="0" rIns="0" tIns="0" bIns="0" anchor="t"/>
          <a:lstStyle/>
          <a:p>
            <a:pPr algn="l">
              <a:lnSpc>
                <a:spcPct val="111800"/>
              </a:lnSpc>
            </a:pPr>
            <a:r>
              <a:rPr sz="2318" b="1" i="0" u="none">
                <a:solidFill>
                  <a:srgbClr val="0E8A8A"/>
                </a:solidFill>
                <a:latin typeface="Arial"/>
              </a:rPr>
              <a:t>Q1 · CORE</a:t>
            </a:r>
          </a:p>
        </p:txBody>
      </p:sp>
      <p:sp>
        <p:nvSpPr>
          <p:cNvPr id="8" name="TextBox 7"/>
          <p:cNvSpPr txBox="1"/>
          <p:nvPr/>
        </p:nvSpPr>
        <p:spPr>
          <a:xfrm>
            <a:off x="1287780" y="3415687"/>
            <a:ext cx="4526280" cy="1706506"/>
          </a:xfrm>
          <a:prstGeom prst="rect">
            <a:avLst/>
          </a:prstGeom>
          <a:noFill/>
        </p:spPr>
        <p:txBody>
          <a:bodyPr wrap="square" lIns="0" rIns="0" tIns="0" bIns="0" anchor="t"/>
          <a:lstStyle/>
          <a:p>
            <a:pPr algn="l">
              <a:lnSpc>
                <a:spcPct val="111800"/>
              </a:lnSpc>
            </a:pPr>
            <a:r>
              <a:rPr sz="2511" b="0" i="0" u="none">
                <a:solidFill>
                  <a:srgbClr val="0F172A"/>
                </a:solidFill>
                <a:latin typeface="Calibri"/>
              </a:rPr>
              <a:t>List the names of employees in department 5 who earn between 30,000 and 40,000, highest first.</a:t>
            </a:r>
          </a:p>
        </p:txBody>
      </p:sp>
      <p:sp>
        <p:nvSpPr>
          <p:cNvPr id="9" name="Rectangle 8"/>
          <p:cNvSpPr/>
          <p:nvPr/>
        </p:nvSpPr>
        <p:spPr>
          <a:xfrm>
            <a:off x="6507480" y="2482024"/>
            <a:ext cx="5273040" cy="3013549"/>
          </a:xfrm>
          <a:prstGeom prst="rect">
            <a:avLst/>
          </a:prstGeom>
          <a:solidFill>
            <a:srgbClr val="FFFFFF"/>
          </a:solidFill>
          <a:ln w="14287">
            <a:solidFill>
              <a:srgbClr val="E2E8F0"/>
            </a:solidFill>
          </a:ln>
        </p:spPr>
        <p:txBody>
          <a:bodyPr rtlCol="0" anchor="ctr" lIns="0" rIns="0" tIns="0" bIns="0"/>
          <a:lstStyle/>
          <a:p>
            <a:pPr algn="ctr"/>
          </a:p>
        </p:txBody>
      </p:sp>
      <p:sp>
        <p:nvSpPr>
          <p:cNvPr id="10" name="TextBox 9"/>
          <p:cNvSpPr txBox="1"/>
          <p:nvPr/>
        </p:nvSpPr>
        <p:spPr>
          <a:xfrm>
            <a:off x="6880860" y="2855404"/>
            <a:ext cx="4526280" cy="426933"/>
          </a:xfrm>
          <a:prstGeom prst="rect">
            <a:avLst/>
          </a:prstGeom>
          <a:noFill/>
        </p:spPr>
        <p:txBody>
          <a:bodyPr wrap="square" lIns="0" rIns="0" tIns="0" bIns="0" anchor="t"/>
          <a:lstStyle/>
          <a:p>
            <a:pPr algn="l">
              <a:lnSpc>
                <a:spcPct val="111800"/>
              </a:lnSpc>
            </a:pPr>
            <a:r>
              <a:rPr sz="2318" b="1" i="0" u="none">
                <a:solidFill>
                  <a:srgbClr val="0E8A8A"/>
                </a:solidFill>
                <a:latin typeface="Arial"/>
              </a:rPr>
              <a:t>Q2 · CORE</a:t>
            </a:r>
          </a:p>
        </p:txBody>
      </p:sp>
      <p:sp>
        <p:nvSpPr>
          <p:cNvPr id="11" name="TextBox 10"/>
          <p:cNvSpPr txBox="1"/>
          <p:nvPr/>
        </p:nvSpPr>
        <p:spPr>
          <a:xfrm>
            <a:off x="6880860" y="3415687"/>
            <a:ext cx="4526280" cy="1706506"/>
          </a:xfrm>
          <a:prstGeom prst="rect">
            <a:avLst/>
          </a:prstGeom>
          <a:noFill/>
        </p:spPr>
        <p:txBody>
          <a:bodyPr wrap="square" lIns="0" rIns="0" tIns="0" bIns="0" anchor="t"/>
          <a:lstStyle/>
          <a:p>
            <a:pPr algn="l">
              <a:lnSpc>
                <a:spcPct val="111800"/>
              </a:lnSpc>
            </a:pPr>
            <a:r>
              <a:rPr sz="2511" b="0" i="0" u="none">
                <a:solidFill>
                  <a:srgbClr val="0F172A"/>
                </a:solidFill>
                <a:latin typeface="Calibri"/>
              </a:rPr>
              <a:t>For each project: its name, number of employees and total hours. Only projects with total hours &gt; 50.</a:t>
            </a:r>
          </a:p>
        </p:txBody>
      </p:sp>
      <p:sp>
        <p:nvSpPr>
          <p:cNvPr id="12" name="Rectangle 11"/>
          <p:cNvSpPr/>
          <p:nvPr/>
        </p:nvSpPr>
        <p:spPr>
          <a:xfrm>
            <a:off x="12100560" y="2482024"/>
            <a:ext cx="5273040" cy="3013549"/>
          </a:xfrm>
          <a:prstGeom prst="rect">
            <a:avLst/>
          </a:prstGeom>
          <a:solidFill>
            <a:srgbClr val="FFFFFF"/>
          </a:solidFill>
          <a:ln w="14287">
            <a:solidFill>
              <a:srgbClr val="E2E8F0"/>
            </a:solidFill>
          </a:ln>
        </p:spPr>
        <p:txBody>
          <a:bodyPr rtlCol="0" anchor="ctr" lIns="0" rIns="0" tIns="0" bIns="0"/>
          <a:lstStyle/>
          <a:p>
            <a:pPr algn="ctr"/>
          </a:p>
        </p:txBody>
      </p:sp>
      <p:sp>
        <p:nvSpPr>
          <p:cNvPr id="13" name="TextBox 12"/>
          <p:cNvSpPr txBox="1"/>
          <p:nvPr/>
        </p:nvSpPr>
        <p:spPr>
          <a:xfrm>
            <a:off x="12473940" y="2855404"/>
            <a:ext cx="4526280" cy="426933"/>
          </a:xfrm>
          <a:prstGeom prst="rect">
            <a:avLst/>
          </a:prstGeom>
          <a:noFill/>
        </p:spPr>
        <p:txBody>
          <a:bodyPr wrap="square" lIns="0" rIns="0" tIns="0" bIns="0" anchor="t"/>
          <a:lstStyle/>
          <a:p>
            <a:pPr algn="l">
              <a:lnSpc>
                <a:spcPct val="111800"/>
              </a:lnSpc>
            </a:pPr>
            <a:r>
              <a:rPr sz="2318" b="1" i="0" u="none">
                <a:solidFill>
                  <a:srgbClr val="0E8A8A"/>
                </a:solidFill>
                <a:latin typeface="Arial"/>
              </a:rPr>
              <a:t>Q3 · CORE</a:t>
            </a:r>
          </a:p>
        </p:txBody>
      </p:sp>
      <p:sp>
        <p:nvSpPr>
          <p:cNvPr id="14" name="TextBox 13"/>
          <p:cNvSpPr txBox="1"/>
          <p:nvPr/>
        </p:nvSpPr>
        <p:spPr>
          <a:xfrm>
            <a:off x="12473940" y="3415687"/>
            <a:ext cx="4526280" cy="1291841"/>
          </a:xfrm>
          <a:prstGeom prst="rect">
            <a:avLst/>
          </a:prstGeom>
          <a:noFill/>
        </p:spPr>
        <p:txBody>
          <a:bodyPr wrap="square" lIns="0" rIns="0" tIns="0" bIns="0" anchor="t"/>
          <a:lstStyle/>
          <a:p>
            <a:pPr algn="l">
              <a:lnSpc>
                <a:spcPct val="111800"/>
              </a:lnSpc>
            </a:pPr>
            <a:r>
              <a:rPr sz="2511" b="0" i="0" u="none">
                <a:solidFill>
                  <a:srgbClr val="0F172A"/>
                </a:solidFill>
                <a:latin typeface="Calibri"/>
              </a:rPr>
              <a:t>List every department with its manager's name, including departments with </a:t>
            </a:r>
            <a:r>
              <a:rPr sz="2511" b="1" i="0" u="none">
                <a:solidFill>
                  <a:srgbClr val="0F172A"/>
                </a:solidFill>
                <a:latin typeface="Calibri"/>
              </a:rPr>
              <a:t>no</a:t>
            </a:r>
            <a:r>
              <a:rPr sz="2511" b="0" i="0" u="none">
                <a:solidFill>
                  <a:srgbClr val="0F172A"/>
                </a:solidFill>
                <a:latin typeface="Calibri"/>
              </a:rPr>
              <a:t> manager.</a:t>
            </a:r>
          </a:p>
        </p:txBody>
      </p:sp>
      <p:sp>
        <p:nvSpPr>
          <p:cNvPr id="15" name="Rectangle 14"/>
          <p:cNvSpPr/>
          <p:nvPr/>
        </p:nvSpPr>
        <p:spPr>
          <a:xfrm>
            <a:off x="914400" y="5815614"/>
            <a:ext cx="5273040" cy="3013549"/>
          </a:xfrm>
          <a:prstGeom prst="rect">
            <a:avLst/>
          </a:prstGeom>
          <a:solidFill>
            <a:srgbClr val="FFFFFF"/>
          </a:solidFill>
          <a:ln w="14287">
            <a:solidFill>
              <a:srgbClr val="E2E8F0"/>
            </a:solidFill>
          </a:ln>
        </p:spPr>
        <p:txBody>
          <a:bodyPr rtlCol="0" anchor="ctr" lIns="0" rIns="0" tIns="0" bIns="0"/>
          <a:lstStyle/>
          <a:p>
            <a:pPr algn="ctr"/>
          </a:p>
        </p:txBody>
      </p:sp>
      <p:sp>
        <p:nvSpPr>
          <p:cNvPr id="16" name="TextBox 15"/>
          <p:cNvSpPr txBox="1"/>
          <p:nvPr/>
        </p:nvSpPr>
        <p:spPr>
          <a:xfrm>
            <a:off x="1287780" y="6188994"/>
            <a:ext cx="452628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Q4 · STRETCH</a:t>
            </a:r>
          </a:p>
        </p:txBody>
      </p:sp>
      <p:sp>
        <p:nvSpPr>
          <p:cNvPr id="17" name="TextBox 16"/>
          <p:cNvSpPr txBox="1"/>
          <p:nvPr/>
        </p:nvSpPr>
        <p:spPr>
          <a:xfrm>
            <a:off x="1287780" y="6749277"/>
            <a:ext cx="4526280" cy="1706506"/>
          </a:xfrm>
          <a:prstGeom prst="rect">
            <a:avLst/>
          </a:prstGeom>
          <a:noFill/>
        </p:spPr>
        <p:txBody>
          <a:bodyPr wrap="square" lIns="0" rIns="0" tIns="0" bIns="0" anchor="t"/>
          <a:lstStyle/>
          <a:p>
            <a:pPr algn="l">
              <a:lnSpc>
                <a:spcPct val="111800"/>
              </a:lnSpc>
            </a:pPr>
            <a:r>
              <a:rPr sz="2511" b="0" i="0" u="none">
                <a:solidFill>
                  <a:srgbClr val="0F172A"/>
                </a:solidFill>
                <a:latin typeface="Calibri"/>
              </a:rPr>
              <a:t>Find employees who earn more than the </a:t>
            </a:r>
            <a:r>
              <a:rPr sz="2511" b="1" i="0" u="none">
                <a:solidFill>
                  <a:srgbClr val="0F172A"/>
                </a:solidFill>
                <a:latin typeface="Calibri"/>
              </a:rPr>
              <a:t>average of their own department</a:t>
            </a:r>
            <a:r>
              <a:rPr sz="2511" b="0" i="0" u="none">
                <a:solidFill>
                  <a:srgbClr val="0F172A"/>
                </a:solidFill>
                <a:latin typeface="Calibri"/>
              </a:rPr>
              <a:t> (CTE or correlated subquery).</a:t>
            </a:r>
          </a:p>
        </p:txBody>
      </p:sp>
      <p:sp>
        <p:nvSpPr>
          <p:cNvPr id="18" name="Rectangle 17"/>
          <p:cNvSpPr/>
          <p:nvPr/>
        </p:nvSpPr>
        <p:spPr>
          <a:xfrm>
            <a:off x="6507480" y="5815614"/>
            <a:ext cx="5273040" cy="3013549"/>
          </a:xfrm>
          <a:prstGeom prst="rect">
            <a:avLst/>
          </a:prstGeom>
          <a:solidFill>
            <a:srgbClr val="FFFFFF"/>
          </a:solidFill>
          <a:ln w="14287">
            <a:solidFill>
              <a:srgbClr val="E2E8F0"/>
            </a:solidFill>
          </a:ln>
        </p:spPr>
        <p:txBody>
          <a:bodyPr rtlCol="0" anchor="ctr" lIns="0" rIns="0" tIns="0" bIns="0"/>
          <a:lstStyle/>
          <a:p>
            <a:pPr algn="ctr"/>
          </a:p>
        </p:txBody>
      </p:sp>
      <p:sp>
        <p:nvSpPr>
          <p:cNvPr id="19" name="TextBox 18"/>
          <p:cNvSpPr txBox="1"/>
          <p:nvPr/>
        </p:nvSpPr>
        <p:spPr>
          <a:xfrm>
            <a:off x="6880860" y="6188994"/>
            <a:ext cx="4526280" cy="426933"/>
          </a:xfrm>
          <a:prstGeom prst="rect">
            <a:avLst/>
          </a:prstGeom>
          <a:noFill/>
        </p:spPr>
        <p:txBody>
          <a:bodyPr wrap="square" lIns="0" rIns="0" tIns="0" bIns="0" anchor="t"/>
          <a:lstStyle/>
          <a:p>
            <a:pPr algn="l">
              <a:lnSpc>
                <a:spcPct val="111800"/>
              </a:lnSpc>
            </a:pPr>
            <a:r>
              <a:rPr sz="2318" b="1" i="0" u="none">
                <a:solidFill>
                  <a:srgbClr val="C8102E"/>
                </a:solidFill>
                <a:latin typeface="Arial"/>
              </a:rPr>
              <a:t>Q5 · STRETCH</a:t>
            </a:r>
          </a:p>
        </p:txBody>
      </p:sp>
      <p:sp>
        <p:nvSpPr>
          <p:cNvPr id="20" name="TextBox 19"/>
          <p:cNvSpPr txBox="1"/>
          <p:nvPr/>
        </p:nvSpPr>
        <p:spPr>
          <a:xfrm>
            <a:off x="6880860" y="6749277"/>
            <a:ext cx="4526280" cy="1291841"/>
          </a:xfrm>
          <a:prstGeom prst="rect">
            <a:avLst/>
          </a:prstGeom>
          <a:noFill/>
        </p:spPr>
        <p:txBody>
          <a:bodyPr wrap="square" lIns="0" rIns="0" tIns="0" bIns="0" anchor="t"/>
          <a:lstStyle/>
          <a:p>
            <a:pPr algn="l">
              <a:lnSpc>
                <a:spcPct val="111800"/>
              </a:lnSpc>
            </a:pPr>
            <a:r>
              <a:rPr sz="2511" b="0" i="0" u="none">
                <a:solidFill>
                  <a:srgbClr val="0F172A"/>
                </a:solidFill>
                <a:latin typeface="Calibri"/>
              </a:rPr>
              <a:t>Find employees who work on </a:t>
            </a:r>
            <a:r>
              <a:rPr sz="2511" b="1" i="0" u="none">
                <a:solidFill>
                  <a:srgbClr val="0F172A"/>
                </a:solidFill>
                <a:latin typeface="Calibri"/>
              </a:rPr>
              <a:t>every</a:t>
            </a:r>
            <a:r>
              <a:rPr sz="2511" b="0" i="0" u="none">
                <a:solidFill>
                  <a:srgbClr val="0F172A"/>
                </a:solidFill>
                <a:latin typeface="Calibri"/>
              </a:rPr>
              <a:t> project controlled by department 5 (NOT EXISTS twice).</a:t>
            </a:r>
          </a:p>
        </p:txBody>
      </p:sp>
      <p:sp>
        <p:nvSpPr>
          <p:cNvPr id="21" name="Rectangle 20"/>
          <p:cNvSpPr/>
          <p:nvPr/>
        </p:nvSpPr>
        <p:spPr>
          <a:xfrm>
            <a:off x="12100560" y="5815614"/>
            <a:ext cx="5273040" cy="3013549"/>
          </a:xfrm>
          <a:prstGeom prst="rect">
            <a:avLst/>
          </a:prstGeom>
          <a:solidFill>
            <a:srgbClr val="FFFFFF"/>
          </a:solidFill>
          <a:ln w="14287">
            <a:solidFill>
              <a:srgbClr val="E2E8F0"/>
            </a:solidFill>
          </a:ln>
        </p:spPr>
        <p:txBody>
          <a:bodyPr rtlCol="0" anchor="ctr" lIns="0" rIns="0" tIns="0" bIns="0"/>
          <a:lstStyle/>
          <a:p>
            <a:pPr algn="ctr"/>
          </a:p>
        </p:txBody>
      </p:sp>
      <p:sp>
        <p:nvSpPr>
          <p:cNvPr id="22" name="TextBox 21"/>
          <p:cNvSpPr txBox="1"/>
          <p:nvPr/>
        </p:nvSpPr>
        <p:spPr>
          <a:xfrm>
            <a:off x="12473940" y="6188994"/>
            <a:ext cx="4526280" cy="426933"/>
          </a:xfrm>
          <a:prstGeom prst="rect">
            <a:avLst/>
          </a:prstGeom>
          <a:noFill/>
        </p:spPr>
        <p:txBody>
          <a:bodyPr wrap="square" lIns="0" rIns="0" tIns="0" bIns="0" anchor="t"/>
          <a:lstStyle/>
          <a:p>
            <a:pPr algn="l">
              <a:lnSpc>
                <a:spcPct val="111800"/>
              </a:lnSpc>
            </a:pPr>
            <a:r>
              <a:rPr sz="2318" b="1" i="0" u="none">
                <a:solidFill>
                  <a:srgbClr val="0F172A"/>
                </a:solidFill>
                <a:latin typeface="Arial"/>
              </a:rPr>
              <a:t>Q6 · CHALLENGE</a:t>
            </a:r>
          </a:p>
        </p:txBody>
      </p:sp>
      <p:sp>
        <p:nvSpPr>
          <p:cNvPr id="23" name="TextBox 22"/>
          <p:cNvSpPr txBox="1"/>
          <p:nvPr/>
        </p:nvSpPr>
        <p:spPr>
          <a:xfrm>
            <a:off x="12473940" y="6749277"/>
            <a:ext cx="4526280" cy="1706506"/>
          </a:xfrm>
          <a:prstGeom prst="rect">
            <a:avLst/>
          </a:prstGeom>
          <a:noFill/>
        </p:spPr>
        <p:txBody>
          <a:bodyPr wrap="square" lIns="0" rIns="0" tIns="0" bIns="0" anchor="t"/>
          <a:lstStyle/>
          <a:p>
            <a:pPr algn="l">
              <a:lnSpc>
                <a:spcPct val="111800"/>
              </a:lnSpc>
            </a:pPr>
            <a:r>
              <a:rPr sz="2511" b="0" i="0" u="none">
                <a:solidFill>
                  <a:srgbClr val="0F172A"/>
                </a:solidFill>
                <a:latin typeface="Calibri"/>
              </a:rPr>
              <a:t>Give a 10% raise to employees in Research inside a transaction, verify the result, then ROLLBACK.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857250"/>
            <a:ext cx="2363152" cy="304800"/>
          </a:xfrm>
          <a:prstGeom prst="rect">
            <a:avLst/>
          </a:prstGeom>
          <a:noFill/>
        </p:spPr>
        <p:txBody>
          <a:bodyPr wrap="square" lIns="0" rIns="0" tIns="0" bIns="0" anchor="t"/>
          <a:lstStyle/>
          <a:p>
            <a:pPr algn="l">
              <a:lnSpc>
                <a:spcPct val="111800"/>
              </a:lnSpc>
            </a:pPr>
            <a:r>
              <a:rPr sz="1650" b="1" i="0" u="none">
                <a:solidFill>
                  <a:srgbClr val="C8102E"/>
                </a:solidFill>
                <a:latin typeface="Arial"/>
              </a:rPr>
              <a:t>69 · STUDY MORE</a:t>
            </a:r>
          </a:p>
        </p:txBody>
      </p:sp>
      <p:cxnSp>
        <p:nvCxnSpPr>
          <p:cNvPr id="3" name="Connector 2"/>
          <p:cNvCxnSpPr/>
          <p:nvPr/>
        </p:nvCxnSpPr>
        <p:spPr>
          <a:xfrm>
            <a:off x="3353752" y="981075"/>
            <a:ext cx="13172123" cy="0"/>
          </a:xfrm>
          <a:prstGeom prst="line">
            <a:avLst/>
          </a:prstGeom>
          <a:ln w="19050">
            <a:solidFill>
              <a:srgbClr val="E2E8F0"/>
            </a:solidFill>
          </a:ln>
        </p:spPr>
      </p:cxnSp>
      <p:sp>
        <p:nvSpPr>
          <p:cNvPr id="4" name="TextBox 3"/>
          <p:cNvSpPr txBox="1"/>
          <p:nvPr/>
        </p:nvSpPr>
        <p:spPr>
          <a:xfrm>
            <a:off x="16306800" y="838200"/>
            <a:ext cx="1066800" cy="342900"/>
          </a:xfrm>
          <a:prstGeom prst="rect">
            <a:avLst/>
          </a:prstGeom>
          <a:noFill/>
        </p:spPr>
        <p:txBody>
          <a:bodyPr wrap="square" lIns="0" rIns="0" tIns="0" bIns="0" anchor="t"/>
          <a:lstStyle/>
          <a:p>
            <a:pPr algn="r">
              <a:lnSpc>
                <a:spcPct val="111800"/>
              </a:lnSpc>
            </a:pPr>
            <a:r>
              <a:rPr sz="1800" b="0" i="0" u="none">
                <a:solidFill>
                  <a:srgbClr val="94A3B8"/>
                </a:solidFill>
                <a:latin typeface="Courier New"/>
              </a:rPr>
              <a:t>69/71</a:t>
            </a:r>
          </a:p>
        </p:txBody>
      </p:sp>
      <p:sp>
        <p:nvSpPr>
          <p:cNvPr id="5" name="TextBox 4"/>
          <p:cNvSpPr txBox="1"/>
          <p:nvPr/>
        </p:nvSpPr>
        <p:spPr>
          <a:xfrm>
            <a:off x="914400" y="1333500"/>
            <a:ext cx="16459200" cy="653224"/>
          </a:xfrm>
          <a:prstGeom prst="rect">
            <a:avLst/>
          </a:prstGeom>
          <a:noFill/>
        </p:spPr>
        <p:txBody>
          <a:bodyPr wrap="square" lIns="0" rIns="0" tIns="0" bIns="0" anchor="t"/>
          <a:lstStyle/>
          <a:p>
            <a:pPr algn="l">
              <a:lnSpc>
                <a:spcPct val="96320"/>
              </a:lnSpc>
            </a:pPr>
            <a:r>
              <a:rPr sz="4050" b="1" i="0" u="none">
                <a:solidFill>
                  <a:srgbClr val="0F172A"/>
                </a:solidFill>
                <a:latin typeface="Arial"/>
              </a:rPr>
              <a:t>Go deeper: Lesson 4</a:t>
            </a:r>
          </a:p>
        </p:txBody>
      </p:sp>
      <p:sp>
        <p:nvSpPr>
          <p:cNvPr id="6" name="TextBox 5"/>
          <p:cNvSpPr txBox="1"/>
          <p:nvPr/>
        </p:nvSpPr>
        <p:spPr>
          <a:xfrm>
            <a:off x="914400" y="306705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PRACTICE</a:t>
            </a:r>
          </a:p>
        </p:txBody>
      </p:sp>
      <p:sp>
        <p:nvSpPr>
          <p:cNvPr id="7" name="TextBox 6"/>
          <p:cNvSpPr txBox="1"/>
          <p:nvPr/>
        </p:nvSpPr>
        <p:spPr>
          <a:xfrm>
            <a:off x="3009900" y="3009900"/>
            <a:ext cx="14363700" cy="933450"/>
          </a:xfrm>
          <a:prstGeom prst="rect">
            <a:avLst/>
          </a:prstGeom>
          <a:noFill/>
        </p:spPr>
        <p:txBody>
          <a:bodyPr wrap="square" lIns="0" rIns="0" tIns="0" bIns="0"/>
          <a:lstStyle/>
          <a:p>
            <a:r>
              <a:rPr sz="2100" b="1" i="0" u="none">
                <a:solidFill>
                  <a:srgbClr val="0F172A"/>
                </a:solidFill>
                <a:latin typeface="Arial"/>
              </a:rPr>
              <a:t>SQLBolt</a:t>
            </a:r>
            <a:r>
              <a:rPr sz="1950" b="0" i="0" u="none">
                <a:solidFill>
                  <a:srgbClr val="334155"/>
                </a:solidFill>
                <a:latin typeface="Calibri"/>
              </a:rPr>
              <a:t> — short interactive lessons with exercises</a:t>
            </a:r>
          </a:p>
          <a:p>
            <a:r>
              <a:rPr sz="1800" b="0" i="0" u="none">
                <a:solidFill>
                  <a:srgbClr val="0E8A8A"/>
                </a:solidFill>
                <a:latin typeface="Courier New"/>
                <a:hlinkClick r:id="rId2"/>
              </a:rPr>
              <a:t>sqlbolt.com</a:t>
            </a:r>
          </a:p>
        </p:txBody>
      </p:sp>
      <p:cxnSp>
        <p:nvCxnSpPr>
          <p:cNvPr id="8" name="Connector 7"/>
          <p:cNvCxnSpPr/>
          <p:nvPr/>
        </p:nvCxnSpPr>
        <p:spPr>
          <a:xfrm>
            <a:off x="914400" y="3981450"/>
            <a:ext cx="16459200" cy="0"/>
          </a:xfrm>
          <a:prstGeom prst="line">
            <a:avLst/>
          </a:prstGeom>
          <a:ln w="14287">
            <a:solidFill>
              <a:srgbClr val="E2E8F0"/>
            </a:solidFill>
          </a:ln>
        </p:spPr>
      </p:cxnSp>
      <p:sp>
        <p:nvSpPr>
          <p:cNvPr id="9" name="TextBox 8"/>
          <p:cNvSpPr txBox="1"/>
          <p:nvPr/>
        </p:nvSpPr>
        <p:spPr>
          <a:xfrm>
            <a:off x="914400" y="419100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PRACTICE</a:t>
            </a:r>
          </a:p>
        </p:txBody>
      </p:sp>
      <p:sp>
        <p:nvSpPr>
          <p:cNvPr id="10" name="TextBox 9"/>
          <p:cNvSpPr txBox="1"/>
          <p:nvPr/>
        </p:nvSpPr>
        <p:spPr>
          <a:xfrm>
            <a:off x="3009900" y="4133850"/>
            <a:ext cx="14363700" cy="933450"/>
          </a:xfrm>
          <a:prstGeom prst="rect">
            <a:avLst/>
          </a:prstGeom>
          <a:noFill/>
        </p:spPr>
        <p:txBody>
          <a:bodyPr wrap="square" lIns="0" rIns="0" tIns="0" bIns="0"/>
          <a:lstStyle/>
          <a:p>
            <a:r>
              <a:rPr sz="2100" b="1" i="0" u="none">
                <a:solidFill>
                  <a:srgbClr val="0F172A"/>
                </a:solidFill>
                <a:latin typeface="Arial"/>
              </a:rPr>
              <a:t>PostgreSQL Exercises</a:t>
            </a:r>
            <a:r>
              <a:rPr sz="1950" b="0" i="0" u="none">
                <a:solidFill>
                  <a:srgbClr val="334155"/>
                </a:solidFill>
                <a:latin typeface="Calibri"/>
              </a:rPr>
              <a:t> — graded query exercises on a real schema</a:t>
            </a:r>
          </a:p>
          <a:p>
            <a:r>
              <a:rPr sz="1800" b="0" i="0" u="none">
                <a:solidFill>
                  <a:srgbClr val="0E8A8A"/>
                </a:solidFill>
                <a:latin typeface="Courier New"/>
                <a:hlinkClick r:id="rId3"/>
              </a:rPr>
              <a:t>pgexercises.com</a:t>
            </a:r>
          </a:p>
        </p:txBody>
      </p:sp>
      <p:cxnSp>
        <p:nvCxnSpPr>
          <p:cNvPr id="11" name="Connector 10"/>
          <p:cNvCxnSpPr/>
          <p:nvPr/>
        </p:nvCxnSpPr>
        <p:spPr>
          <a:xfrm>
            <a:off x="914400" y="5105400"/>
            <a:ext cx="16459200" cy="0"/>
          </a:xfrm>
          <a:prstGeom prst="line">
            <a:avLst/>
          </a:prstGeom>
          <a:ln w="14287">
            <a:solidFill>
              <a:srgbClr val="E2E8F0"/>
            </a:solidFill>
          </a:ln>
        </p:spPr>
      </p:cxnSp>
      <p:sp>
        <p:nvSpPr>
          <p:cNvPr id="12" name="TextBox 11"/>
          <p:cNvSpPr txBox="1"/>
          <p:nvPr/>
        </p:nvSpPr>
        <p:spPr>
          <a:xfrm>
            <a:off x="914400" y="531495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TUTORIAL</a:t>
            </a:r>
          </a:p>
        </p:txBody>
      </p:sp>
      <p:sp>
        <p:nvSpPr>
          <p:cNvPr id="13" name="TextBox 12"/>
          <p:cNvSpPr txBox="1"/>
          <p:nvPr/>
        </p:nvSpPr>
        <p:spPr>
          <a:xfrm>
            <a:off x="3009900" y="5257800"/>
            <a:ext cx="14363700" cy="933450"/>
          </a:xfrm>
          <a:prstGeom prst="rect">
            <a:avLst/>
          </a:prstGeom>
          <a:noFill/>
        </p:spPr>
        <p:txBody>
          <a:bodyPr wrap="square" lIns="0" rIns="0" tIns="0" bIns="0"/>
          <a:lstStyle/>
          <a:p>
            <a:r>
              <a:rPr sz="2100" b="1" i="0" u="none">
                <a:solidFill>
                  <a:srgbClr val="0F172A"/>
                </a:solidFill>
                <a:latin typeface="Arial"/>
              </a:rPr>
              <a:t>Mode SQL Tutorial</a:t>
            </a:r>
            <a:r>
              <a:rPr sz="1950" b="0" i="0" u="none">
                <a:solidFill>
                  <a:srgbClr val="334155"/>
                </a:solidFill>
                <a:latin typeface="Calibri"/>
              </a:rPr>
              <a:t> — from basics to window functions</a:t>
            </a:r>
          </a:p>
          <a:p>
            <a:r>
              <a:rPr sz="1800" b="0" i="0" u="none">
                <a:solidFill>
                  <a:srgbClr val="0E8A8A"/>
                </a:solidFill>
                <a:latin typeface="Courier New"/>
                <a:hlinkClick r:id="rId4"/>
              </a:rPr>
              <a:t>mode.com/sql-tutorial</a:t>
            </a:r>
          </a:p>
        </p:txBody>
      </p:sp>
      <p:cxnSp>
        <p:nvCxnSpPr>
          <p:cNvPr id="14" name="Connector 13"/>
          <p:cNvCxnSpPr/>
          <p:nvPr/>
        </p:nvCxnSpPr>
        <p:spPr>
          <a:xfrm>
            <a:off x="914400" y="6229350"/>
            <a:ext cx="16459200" cy="0"/>
          </a:xfrm>
          <a:prstGeom prst="line">
            <a:avLst/>
          </a:prstGeom>
          <a:ln w="14287">
            <a:solidFill>
              <a:srgbClr val="E2E8F0"/>
            </a:solidFill>
          </a:ln>
        </p:spPr>
      </p:cxnSp>
      <p:sp>
        <p:nvSpPr>
          <p:cNvPr id="15" name="TextBox 14"/>
          <p:cNvSpPr txBox="1"/>
          <p:nvPr/>
        </p:nvSpPr>
        <p:spPr>
          <a:xfrm>
            <a:off x="914400" y="643890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DOCS</a:t>
            </a:r>
          </a:p>
        </p:txBody>
      </p:sp>
      <p:sp>
        <p:nvSpPr>
          <p:cNvPr id="16" name="TextBox 15"/>
          <p:cNvSpPr txBox="1"/>
          <p:nvPr/>
        </p:nvSpPr>
        <p:spPr>
          <a:xfrm>
            <a:off x="3009900" y="6381750"/>
            <a:ext cx="14363700" cy="933450"/>
          </a:xfrm>
          <a:prstGeom prst="rect">
            <a:avLst/>
          </a:prstGeom>
          <a:noFill/>
        </p:spPr>
        <p:txBody>
          <a:bodyPr wrap="square" lIns="0" rIns="0" tIns="0" bIns="0"/>
          <a:lstStyle/>
          <a:p>
            <a:r>
              <a:rPr sz="2100" b="1" i="0" u="none">
                <a:solidFill>
                  <a:srgbClr val="0F172A"/>
                </a:solidFill>
                <a:latin typeface="Arial"/>
              </a:rPr>
              <a:t>PostgreSQL docs: SQL language</a:t>
            </a:r>
            <a:r>
              <a:rPr sz="1950" b="0" i="0" u="none">
                <a:solidFill>
                  <a:srgbClr val="334155"/>
                </a:solidFill>
                <a:latin typeface="Calibri"/>
              </a:rPr>
              <a:t> — the reference for every statement</a:t>
            </a:r>
          </a:p>
          <a:p>
            <a:r>
              <a:rPr sz="1800" b="0" i="0" u="none">
                <a:solidFill>
                  <a:srgbClr val="0E8A8A"/>
                </a:solidFill>
                <a:latin typeface="Courier New"/>
                <a:hlinkClick r:id="rId5"/>
              </a:rPr>
              <a:t>www.postgresql.org/docs/current/sql.html</a:t>
            </a:r>
          </a:p>
        </p:txBody>
      </p:sp>
      <p:cxnSp>
        <p:nvCxnSpPr>
          <p:cNvPr id="17" name="Connector 16"/>
          <p:cNvCxnSpPr/>
          <p:nvPr/>
        </p:nvCxnSpPr>
        <p:spPr>
          <a:xfrm>
            <a:off x="914400" y="7353300"/>
            <a:ext cx="16459200" cy="0"/>
          </a:xfrm>
          <a:prstGeom prst="line">
            <a:avLst/>
          </a:prstGeom>
          <a:ln w="14287">
            <a:solidFill>
              <a:srgbClr val="E2E8F0"/>
            </a:solidFill>
          </a:ln>
        </p:spPr>
      </p:cxnSp>
      <p:sp>
        <p:nvSpPr>
          <p:cNvPr id="18" name="TextBox 17"/>
          <p:cNvSpPr txBox="1"/>
          <p:nvPr/>
        </p:nvSpPr>
        <p:spPr>
          <a:xfrm>
            <a:off x="914400" y="756285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DOCS</a:t>
            </a:r>
          </a:p>
        </p:txBody>
      </p:sp>
      <p:sp>
        <p:nvSpPr>
          <p:cNvPr id="19" name="TextBox 18"/>
          <p:cNvSpPr txBox="1"/>
          <p:nvPr/>
        </p:nvSpPr>
        <p:spPr>
          <a:xfrm>
            <a:off x="3009900" y="7505700"/>
            <a:ext cx="14363700" cy="933450"/>
          </a:xfrm>
          <a:prstGeom prst="rect">
            <a:avLst/>
          </a:prstGeom>
          <a:noFill/>
        </p:spPr>
        <p:txBody>
          <a:bodyPr wrap="square" lIns="0" rIns="0" tIns="0" bIns="0"/>
          <a:lstStyle/>
          <a:p>
            <a:r>
              <a:rPr sz="2100" b="1" i="0" u="none">
                <a:solidFill>
                  <a:srgbClr val="0F172A"/>
                </a:solidFill>
                <a:latin typeface="Arial"/>
              </a:rPr>
              <a:t>Microsoft T-SQL reference</a:t>
            </a:r>
            <a:r>
              <a:rPr sz="1950" b="0" i="0" u="none">
                <a:solidFill>
                  <a:srgbClr val="334155"/>
                </a:solidFill>
                <a:latin typeface="Calibri"/>
              </a:rPr>
              <a:t> — SQL Server syntax and examples</a:t>
            </a:r>
          </a:p>
          <a:p>
            <a:r>
              <a:rPr sz="1800" b="0" i="0" u="none">
                <a:solidFill>
                  <a:srgbClr val="0E8A8A"/>
                </a:solidFill>
                <a:latin typeface="Courier New"/>
                <a:hlinkClick r:id="rId6"/>
              </a:rPr>
              <a:t>learn.microsoft.com/en-us/sql/t-sql/language-reference</a:t>
            </a:r>
          </a:p>
        </p:txBody>
      </p:sp>
      <p:cxnSp>
        <p:nvCxnSpPr>
          <p:cNvPr id="20" name="Connector 19"/>
          <p:cNvCxnSpPr/>
          <p:nvPr/>
        </p:nvCxnSpPr>
        <p:spPr>
          <a:xfrm>
            <a:off x="914400" y="8477250"/>
            <a:ext cx="16459200" cy="0"/>
          </a:xfrm>
          <a:prstGeom prst="line">
            <a:avLst/>
          </a:prstGeom>
          <a:ln w="14287">
            <a:solidFill>
              <a:srgbClr val="E2E8F0"/>
            </a:solidFill>
          </a:ln>
        </p:spPr>
      </p:cxnSp>
      <p:sp>
        <p:nvSpPr>
          <p:cNvPr id="21" name="TextBox 20"/>
          <p:cNvSpPr txBox="1"/>
          <p:nvPr/>
        </p:nvSpPr>
        <p:spPr>
          <a:xfrm>
            <a:off x="914400" y="8686800"/>
            <a:ext cx="1905000" cy="323850"/>
          </a:xfrm>
          <a:prstGeom prst="rect">
            <a:avLst/>
          </a:prstGeom>
          <a:noFill/>
        </p:spPr>
        <p:txBody>
          <a:bodyPr wrap="square" lIns="0" rIns="0" tIns="0" bIns="0" anchor="t"/>
          <a:lstStyle/>
          <a:p>
            <a:pPr algn="l">
              <a:lnSpc>
                <a:spcPct val="111800"/>
              </a:lnSpc>
            </a:pPr>
            <a:r>
              <a:rPr sz="1650" b="1" i="0" u="none">
                <a:solidFill>
                  <a:srgbClr val="C8102E"/>
                </a:solidFill>
                <a:latin typeface="Arial"/>
              </a:rPr>
              <a:t>READ</a:t>
            </a:r>
          </a:p>
        </p:txBody>
      </p:sp>
      <p:sp>
        <p:nvSpPr>
          <p:cNvPr id="22" name="TextBox 21"/>
          <p:cNvSpPr txBox="1"/>
          <p:nvPr/>
        </p:nvSpPr>
        <p:spPr>
          <a:xfrm>
            <a:off x="3009900" y="8629650"/>
            <a:ext cx="14363700" cy="933450"/>
          </a:xfrm>
          <a:prstGeom prst="rect">
            <a:avLst/>
          </a:prstGeom>
          <a:noFill/>
        </p:spPr>
        <p:txBody>
          <a:bodyPr wrap="square" lIns="0" rIns="0" tIns="0" bIns="0"/>
          <a:lstStyle/>
          <a:p>
            <a:r>
              <a:rPr sz="2100" b="1" i="0" u="none">
                <a:solidFill>
                  <a:srgbClr val="0F172A"/>
                </a:solidFill>
                <a:latin typeface="Arial"/>
              </a:rPr>
              <a:t>Use The Index, Luke</a:t>
            </a:r>
            <a:r>
              <a:rPr sz="1950" b="0" i="0" u="none">
                <a:solidFill>
                  <a:srgbClr val="334155"/>
                </a:solidFill>
                <a:latin typeface="Calibri"/>
              </a:rPr>
              <a:t> — how indexes really work, free online</a:t>
            </a:r>
          </a:p>
          <a:p>
            <a:r>
              <a:rPr sz="1800" b="0" i="0" u="none">
                <a:solidFill>
                  <a:srgbClr val="0E8A8A"/>
                </a:solidFill>
                <a:latin typeface="Courier New"/>
                <a:hlinkClick r:id="rId7"/>
              </a:rPr>
              <a:t>use-the-index-luke.com</a:t>
            </a:r>
          </a:p>
        </p:txBody>
      </p:sp>
      <p:cxnSp>
        <p:nvCxnSpPr>
          <p:cNvPr id="23" name="Connector 22"/>
          <p:cNvCxnSpPr/>
          <p:nvPr/>
        </p:nvCxnSpPr>
        <p:spPr>
          <a:xfrm>
            <a:off x="914400" y="9601200"/>
            <a:ext cx="16459200" cy="0"/>
          </a:xfrm>
          <a:prstGeom prst="line">
            <a:avLst/>
          </a:prstGeom>
          <a:ln w="14287">
            <a:solidFill>
              <a:srgbClr val="E2E8F0"/>
            </a:solidFill>
          </a:ln>
        </p:spPr>
      </p:cxn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857250"/>
            <a:ext cx="7620000" cy="331470"/>
          </a:xfrm>
          <a:prstGeom prst="rect">
            <a:avLst/>
          </a:prstGeom>
          <a:noFill/>
        </p:spPr>
        <p:txBody>
          <a:bodyPr wrap="square" lIns="0" rIns="0" tIns="0" bIns="0" anchor="t"/>
          <a:lstStyle/>
          <a:p>
            <a:pPr algn="l">
              <a:lnSpc>
                <a:spcPct val="111800"/>
              </a:lnSpc>
            </a:pPr>
            <a:r>
              <a:rPr sz="1800" b="1" i="0" u="none">
                <a:solidFill>
                  <a:srgbClr val="F87171"/>
                </a:solidFill>
                <a:latin typeface="Arial"/>
              </a:rPr>
              <a:t>UP NEXT · LESSON 5</a:t>
            </a:r>
          </a:p>
        </p:txBody>
      </p:sp>
      <p:cxnSp>
        <p:nvCxnSpPr>
          <p:cNvPr id="3" name="Connector 2"/>
          <p:cNvCxnSpPr/>
          <p:nvPr/>
        </p:nvCxnSpPr>
        <p:spPr>
          <a:xfrm>
            <a:off x="3867150" y="962025"/>
            <a:ext cx="13506450" cy="0"/>
          </a:xfrm>
          <a:prstGeom prst="line">
            <a:avLst/>
          </a:prstGeom>
          <a:ln w="19050">
            <a:solidFill>
              <a:srgbClr val="1E293B"/>
            </a:solidFill>
          </a:ln>
        </p:spPr>
      </p:cxnSp>
      <p:sp>
        <p:nvSpPr>
          <p:cNvPr id="4" name="TextBox 3"/>
          <p:cNvSpPr txBox="1"/>
          <p:nvPr/>
        </p:nvSpPr>
        <p:spPr>
          <a:xfrm>
            <a:off x="914400" y="3143250"/>
            <a:ext cx="8572500" cy="359092"/>
          </a:xfrm>
          <a:prstGeom prst="rect">
            <a:avLst/>
          </a:prstGeom>
          <a:noFill/>
        </p:spPr>
        <p:txBody>
          <a:bodyPr wrap="square" lIns="0" rIns="0" tIns="0" bIns="0" anchor="t"/>
          <a:lstStyle/>
          <a:p>
            <a:pPr algn="l">
              <a:lnSpc>
                <a:spcPct val="111800"/>
              </a:lnSpc>
            </a:pPr>
            <a:r>
              <a:rPr sz="1950" b="1" i="0" u="none">
                <a:solidFill>
                  <a:srgbClr val="94A3B8"/>
                </a:solidFill>
                <a:latin typeface="Arial"/>
              </a:rPr>
              <a:t>LESSON 5 · NORMALIZATION</a:t>
            </a:r>
          </a:p>
        </p:txBody>
      </p:sp>
      <p:sp>
        <p:nvSpPr>
          <p:cNvPr id="5" name="TextBox 4"/>
          <p:cNvSpPr txBox="1"/>
          <p:nvPr/>
        </p:nvSpPr>
        <p:spPr>
          <a:xfrm>
            <a:off x="914400" y="3562350"/>
            <a:ext cx="14287500" cy="936117"/>
          </a:xfrm>
          <a:prstGeom prst="rect">
            <a:avLst/>
          </a:prstGeom>
          <a:noFill/>
        </p:spPr>
        <p:txBody>
          <a:bodyPr wrap="square" lIns="0" rIns="0" tIns="0" bIns="0"/>
          <a:lstStyle/>
          <a:p>
            <a:pPr>
              <a:lnSpc>
                <a:spcPct val="90000"/>
              </a:lnSpc>
            </a:pPr>
            <a:r>
              <a:rPr sz="6300" b="1" i="0" u="none">
                <a:solidFill>
                  <a:srgbClr val="FFFFFF"/>
                </a:solidFill>
                <a:latin typeface="Arial"/>
              </a:rPr>
              <a:t>Is the design </a:t>
            </a:r>
            <a:r>
              <a:rPr sz="6300" b="1" i="0" u="none">
                <a:solidFill>
                  <a:srgbClr val="F87171"/>
                </a:solidFill>
                <a:latin typeface="Arial"/>
              </a:rPr>
              <a:t>good</a:t>
            </a:r>
            <a:r>
              <a:rPr sz="6300" b="1" i="0" u="none">
                <a:solidFill>
                  <a:srgbClr val="FFFFFF"/>
                </a:solidFill>
                <a:latin typeface="Arial"/>
              </a:rPr>
              <a:t>?</a:t>
            </a:r>
          </a:p>
        </p:txBody>
      </p:sp>
      <p:sp>
        <p:nvSpPr>
          <p:cNvPr id="6" name="TextBox 5"/>
          <p:cNvSpPr txBox="1"/>
          <p:nvPr/>
        </p:nvSpPr>
        <p:spPr>
          <a:xfrm>
            <a:off x="914400" y="5069967"/>
            <a:ext cx="12382500" cy="1333500"/>
          </a:xfrm>
          <a:prstGeom prst="rect">
            <a:avLst/>
          </a:prstGeom>
          <a:noFill/>
        </p:spPr>
        <p:txBody>
          <a:bodyPr wrap="square" lIns="0" rIns="0" tIns="0" bIns="0"/>
          <a:lstStyle/>
          <a:p>
            <a:pPr>
              <a:lnSpc>
                <a:spcPct val="120000"/>
              </a:lnSpc>
            </a:pPr>
            <a:r>
              <a:rPr sz="2400" b="0" i="0" u="none">
                <a:solidFill>
                  <a:srgbClr val="CBD5E1"/>
                </a:solidFill>
                <a:latin typeface="Calibri"/>
              </a:rPr>
              <a:t>Functional dependencies and normal forms: how to spot redundancy and remove update anomalies.</a:t>
            </a:r>
          </a:p>
        </p:txBody>
      </p:sp>
      <p:sp>
        <p:nvSpPr>
          <p:cNvPr id="7" name="TextBox 6"/>
          <p:cNvSpPr txBox="1"/>
          <p:nvPr/>
        </p:nvSpPr>
        <p:spPr>
          <a:xfrm>
            <a:off x="914400" y="9296400"/>
            <a:ext cx="7620000" cy="331470"/>
          </a:xfrm>
          <a:prstGeom prst="rect">
            <a:avLst/>
          </a:prstGeom>
          <a:noFill/>
        </p:spPr>
        <p:txBody>
          <a:bodyPr wrap="square" lIns="0" rIns="0" tIns="0" bIns="0" anchor="t"/>
          <a:lstStyle/>
          <a:p>
            <a:pPr algn="l">
              <a:lnSpc>
                <a:spcPct val="111800"/>
              </a:lnSpc>
            </a:pPr>
            <a:r>
              <a:rPr sz="1800" b="0" i="0" u="none">
                <a:solidFill>
                  <a:srgbClr val="94A3B8"/>
                </a:solidFill>
                <a:latin typeface="Calibri"/>
              </a:rPr>
              <a:t>ITI · Database Fundamentals</a:t>
            </a:r>
          </a:p>
        </p:txBody>
      </p:sp>
      <p:sp>
        <p:nvSpPr>
          <p:cNvPr id="8" name="TextBox 7"/>
          <p:cNvSpPr txBox="1"/>
          <p:nvPr/>
        </p:nvSpPr>
        <p:spPr>
          <a:xfrm>
            <a:off x="9753600" y="9296400"/>
            <a:ext cx="7620000" cy="331470"/>
          </a:xfrm>
          <a:prstGeom prst="rect">
            <a:avLst/>
          </a:prstGeom>
          <a:noFill/>
        </p:spPr>
        <p:txBody>
          <a:bodyPr wrap="square" lIns="0" rIns="0" tIns="0" bIns="0" anchor="t"/>
          <a:lstStyle/>
          <a:p>
            <a:pPr algn="r">
              <a:lnSpc>
                <a:spcPct val="111800"/>
              </a:lnSpc>
            </a:pPr>
            <a:r>
              <a:rPr sz="1800" b="0" i="0" u="none">
                <a:solidFill>
                  <a:srgbClr val="94A3B8"/>
                </a:solidFill>
                <a:latin typeface="Calibri"/>
              </a:rPr>
              <a:t>Thank you — questions?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3810000"/>
            <a:ext cx="16459200" cy="419100"/>
          </a:xfrm>
          <a:prstGeom prst="rect">
            <a:avLst/>
          </a:prstGeom>
          <a:noFill/>
        </p:spPr>
        <p:txBody>
          <a:bodyPr wrap="square" lIns="0" rIns="0" tIns="0" bIns="0" anchor="t"/>
          <a:lstStyle/>
          <a:p>
            <a:pPr algn="ctr">
              <a:lnSpc>
                <a:spcPct val="111800"/>
              </a:lnSpc>
            </a:pPr>
            <a:r>
              <a:rPr sz="2250" b="1" i="0" u="none">
                <a:solidFill>
                  <a:srgbClr val="F87171"/>
                </a:solidFill>
                <a:latin typeface="Arial"/>
              </a:rPr>
              <a:t>ITI · DATABASE FUNDAMENTALS</a:t>
            </a:r>
          </a:p>
        </p:txBody>
      </p:sp>
      <p:sp>
        <p:nvSpPr>
          <p:cNvPr id="3" name="TextBox 2"/>
          <p:cNvSpPr txBox="1"/>
          <p:nvPr/>
        </p:nvSpPr>
        <p:spPr>
          <a:xfrm>
            <a:off x="914400" y="4476750"/>
            <a:ext cx="16459200" cy="1714500"/>
          </a:xfrm>
          <a:prstGeom prst="rect">
            <a:avLst/>
          </a:prstGeom>
          <a:noFill/>
        </p:spPr>
        <p:txBody>
          <a:bodyPr wrap="square" lIns="0" rIns="0" tIns="0" bIns="0" anchor="t"/>
          <a:lstStyle/>
          <a:p>
            <a:pPr algn="ctr">
              <a:lnSpc>
                <a:spcPct val="86000"/>
              </a:lnSpc>
            </a:pPr>
            <a:r>
              <a:rPr sz="10500" b="1" i="0" u="none">
                <a:solidFill>
                  <a:srgbClr val="FFFFFF"/>
                </a:solidFill>
                <a:latin typeface="Arial"/>
              </a:rPr>
              <a:t>Thank You !</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