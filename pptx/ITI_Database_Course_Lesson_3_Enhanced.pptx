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This is Lesson 3 of the Database Fundamentals course. Today we turn ERDs into real tables using a 7-step algorithm. By the end, you'll never again stare at an ERD wondering where the foreign key goes.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concrete outcomes. By the end of this lesson students should be able to apply the 7 rules on any ERD, place every foreign key correctly, and justify where it goes.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 is the whole lesson on one slide. Seven rules, then one worked case study, then practice. Each rule gets exactly one slide in the same format: a tiny ERD on the left, the resulting tables on the right, and the FK highlighted.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we map anything, agree on vocabulary. A relation is a table. A tuple is a row. An attribute is a column. A domain is the set of allowed values for that column. These are the four nouns we use for the next 20 minutes.</a:t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five constraints are the tools we spend on every mapping rule. PK uniquely identifies a row. FK points from one table to another. UK is also unique but not necessarily the PK. NOT NULL means a value is required. CHECK enforces a condition.</a:t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pattern every one of the next seven slides follows. Left: a tiny ERD fragment. Right: the tables it becomes. The arrow is a foreign-key reference. If you can read this one slide, you can read all seven.</a:t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simplest rule. Every regular (strong) entity type becomes its own table. Pick one key attribute as the primary key. Nothing to do with other entities yet.</a:t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weak entity has no key of its own — it depends on an owner. Create a table for it, add the owner's PK as a FK, and the composite PK is (owner FK + the weak entity's partial key). Example: a dependent needs their employee's id plus their own name to be unique.</a:t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slide the old deck got wrong. Three cases. Both sides mandatory: merge into one table — no row of either side exists without the other. One mandatory: put the FK on the mandatory side pointing to the optional side — the mandatory row then always has a value, and optional rows have none to orphan. Both optional: a separate link table so neither side carries NULLs.</a:t>
            </a:r>
            <a:endParaRPr/>
          </a:p>
        </p:txBody>
      </p:sp>
      <p:sp>
        <p:nvSpPr>
          <p:cNvPr id="260" name="Google Shape;2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instructor teaches many courses, but a course has exactly one lead instructor. The FK sits on the many side — course.instructor_id. Any attributes of the relationship itself go on the many-side table too.</a:t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student can enrol in many courses, and a course has many students. You cannot stuff that into either entity's table without duplicating rows. Make a third table — the junction — with both FKs. Relationship attributes like grade go here.</a:t>
            </a:r>
            <a:endParaRPr/>
          </a:p>
        </p:txBody>
      </p:sp>
      <p:sp>
        <p:nvSpPr>
          <p:cNvPr id="333" name="Google Shape;3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student can have several phone numbers. Never cram them into one column separated by commas — you cannot query that. Make a tiny table with two columns: the owner's FK, and the value. Together they form the PK.</a:t>
            </a:r>
            <a:endParaRPr/>
          </a:p>
        </p:txBody>
      </p:sp>
      <p:sp>
        <p:nvSpPr>
          <p:cNvPr id="362" name="Google Shape;36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ternary (or higher-arity) relationship cannot be broken into pairs of binary relationships without losing meaning. Example: a supplier delivers a part to a project — the three together are the fact. Make one junction table with three FKs; the PK is all three together.</a:t>
            </a:r>
            <a:endParaRPr/>
          </a:p>
        </p:txBody>
      </p:sp>
      <p:sp>
        <p:nvSpPr>
          <p:cNvPr id="387" name="Google Shape;38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slide, all seven rules. Print this if you print one slide from the lesson. It is the lookup table you reach for during any mapping exercise.</a:t>
            </a:r>
            <a:endParaRPr/>
          </a:p>
        </p:txBody>
      </p:sp>
      <p:sp>
        <p:nvSpPr>
          <p:cNvPr id="407" name="Google Shape;40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the three mistakes I see on nearly every first draft. For each: show the wrong version, show the right version, and say in one line why the wrong version breaks.</a:t>
            </a:r>
            <a:endParaRPr/>
          </a:p>
        </p:txBody>
      </p:sp>
      <p:sp>
        <p:nvSpPr>
          <p:cNvPr id="457" name="Google Shape;45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the narrative aloud. Then ask: how many entities do you see? How many relationships? Which are 1:1, 1:N, M:N? Students should list them before you move to the ERD slide.</a:t>
            </a:r>
            <a:endParaRPr/>
          </a:p>
        </p:txBody>
      </p:sp>
      <p:sp>
        <p:nvSpPr>
          <p:cNvPr id="489" name="Google Shape;48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entities, three relationships. Customer–Account 1:1, both sides total (double lines). Customer–Transaction 1:N and Branch–Transaction 1:N, transaction side total — every transaction has a customer and a branch. Branch has two candidate keys (name, address). Customer phone is multi-valued. Ask: is last_tx_date derivable from TRANSACTION? Yes — we store it for speed; mention that.</a:t>
            </a:r>
            <a:endParaRPr/>
          </a:p>
        </p:txBody>
      </p:sp>
      <p:sp>
        <p:nvSpPr>
          <p:cNvPr id="508" name="Google Shape;50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Branch and customer: step 1 (branch PK = name, address UNIQUE). Account: step 3 — 1:1 both total, so we may merge; we keep it split with customer_id UNIQUE + NOT NULL in account. Customer_phone: step 6. Transaction: step 1 plus two step-4 FKs (customer_id, branch_name), both NOT NULL because of total participation. Every FK is teal.</a:t>
            </a:r>
            <a:endParaRPr/>
          </a:p>
        </p:txBody>
      </p:sp>
      <p:sp>
        <p:nvSpPr>
          <p:cNvPr id="523" name="Google Shape;52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worked case study. Three entities — model, part, factory. Highlight the last sentence: parts and models in the SAME factory. That is what forces a ternary relationship, not three independent binaries.</a:t>
            </a:r>
            <a:endParaRPr/>
          </a:p>
        </p:txBody>
      </p:sp>
      <p:sp>
        <p:nvSpPr>
          <p:cNvPr id="559" name="Google Shape;55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entities around one ternary diamond 'produces'. Cardinality M-N-1 means: for a given (model, part) pair there is EXACTLY one factory that produces that pair. That constraint is what forces a ternary and cannot be captured with three binary M:N relationships.</a:t>
            </a:r>
            <a:endParaRPr/>
          </a:p>
        </p:txBody>
      </p:sp>
      <p:sp>
        <p:nvSpPr>
          <p:cNvPr id="580" name="Google Shape;58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entity tables (step 1), one multi-valued table part_image (step 6), and the ternary produces (step 7). Factory computer system is composite, so only its parts (os, dbms, internet) become columns. In produces, the factory leg has cardinality 1: for a given (model, part) there is exactly one factory, so the PK is (model_name, part_id) and factory_city is a NOT NULL FK outside the key.</a:t>
            </a:r>
            <a:endParaRPr/>
          </a:p>
        </p:txBody>
      </p:sp>
      <p:sp>
        <p:nvSpPr>
          <p:cNvPr id="593" name="Google Shape;59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Third worked case study. Four entities — bus, route, town, driver. Highlight two patterns: options is multi-valued, and driver-to-route allocation is time-varying (we must keep the history of changes AND know each driver's last route).</a:t>
            </a:r>
            <a:endParaRPr/>
          </a:p>
        </p:txBody>
      </p:sp>
      <p:sp>
        <p:nvSpPr>
          <p:cNvPr id="629" name="Google Shape;62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entities, four relationships. runs: bus N to route 1, bus side total. passes: route M:N town. drives: route M:N driver with start_date and end_date, keeps the allocation history. last route: route 1 to driver N, the current assignment. Route and driver have no natural key, so we propose route_id and driver_id.</a:t>
            </a:r>
            <a:endParaRPr/>
          </a:p>
        </p:txBody>
      </p:sp>
      <p:sp>
        <p:nvSpPr>
          <p:cNvPr id="650" name="Google Shape;65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Seven tables. bus: step 1 plus step-4 FK route_id (NOT NULL, total). route, town, driver: step 1. bus_option: step 6. route_town: step 5. drives: step 5 with relationship attributes, PK (driver_id, route_id, start_date). driver.last_route_id: step 4 FK from the last-route relationship.</a:t>
            </a:r>
            <a:endParaRPr/>
          </a:p>
        </p:txBody>
      </p:sp>
      <p:sp>
        <p:nvSpPr>
          <p:cNvPr id="663" name="Google Shape;66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lines. If a student remembers nothing else, remember these.</a:t>
            </a:r>
            <a:endParaRPr/>
          </a:p>
        </p:txBody>
      </p:sp>
      <p:sp>
        <p:nvSpPr>
          <p:cNvPr id="709" name="Google Shape;70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Answers — Q1: B (M:N needs a junction, so a new table). Q2: C (FK on the N-side, so the course table). Q3: B (both mandatory means merge; or if you keep them split, FK goes on the mandatory side — not a link table).</a:t>
            </a:r>
            <a:endParaRPr/>
          </a:p>
        </p:txBody>
      </p:sp>
      <p:sp>
        <p:nvSpPr>
          <p:cNvPr id="731" name="Google Shape;73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4 picks up these exact tables and writes SQL on them — CREATE TABLE with every constraint, INSERT, SELECT, JOIN. Same ITI example throughout.</a:t>
            </a:r>
            <a:endParaRPr/>
          </a:p>
        </p:txBody>
      </p:sp>
      <p:sp>
        <p:nvSpPr>
          <p:cNvPr id="757" name="Google Shape;75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14400" y="838200"/>
            <a:ext cx="133350" cy="4953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219200" y="944880"/>
            <a:ext cx="78109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ITI · DATABASE FUNDAMENTALS · LESSON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14400" y="3628668"/>
            <a:ext cx="16952976" cy="22143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48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ERD Mapping </a:t>
            </a:r>
            <a:r>
              <a:rPr b="1" i="0" lang="en-US" sz="84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to Tables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6071592"/>
            <a:ext cx="13620750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7-step algorithm from entities and relationships to relations, keys, and foreign keys.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8732520"/>
            <a:ext cx="3784497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Lecturer: Rana Salah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14400" y="9128760"/>
            <a:ext cx="3784497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rsalah@mcit.gov.eg · Room 3005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1588078" y="8793480"/>
            <a:ext cx="5785522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Based on original slides by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1588078" y="9159240"/>
            <a:ext cx="5785522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Shahinaz S. Azab · edited by Mona Saleh · Rana Salah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914400" y="838200"/>
            <a:ext cx="2775097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02 · 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589615" y="958215"/>
            <a:ext cx="1378398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914400" y="1478280"/>
            <a:ext cx="18105120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91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You will be able to…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914400" y="5103495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914400" y="2762250"/>
            <a:ext cx="5257800" cy="533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914400" y="2762250"/>
            <a:ext cx="9525" cy="234886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164580" y="2762250"/>
            <a:ext cx="9525" cy="234886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303020" y="3196590"/>
            <a:ext cx="4928616" cy="601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900"/>
              <a:buFont typeface="Courier New"/>
              <a:buNone/>
            </a:pPr>
            <a:r>
              <a:rPr b="1" i="0" lang="en-US" sz="39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303020" y="3912870"/>
            <a:ext cx="461497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7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 any ERD and name the 7 mapping rules that apply.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515100" y="5103495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515100" y="2762250"/>
            <a:ext cx="5257800" cy="533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515100" y="2762250"/>
            <a:ext cx="9525" cy="234886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1765280" y="2762250"/>
            <a:ext cx="9525" cy="234886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903720" y="3196590"/>
            <a:ext cx="4928616" cy="601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900"/>
              <a:buFont typeface="Courier New"/>
              <a:buNone/>
            </a:pPr>
            <a:r>
              <a:rPr b="1" i="0" lang="en-US" sz="39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903720" y="3912870"/>
            <a:ext cx="461497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7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Decide where every foreign key goes — and why.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2115800" y="5103495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2115800" y="2762250"/>
            <a:ext cx="5257800" cy="533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12115800" y="2762250"/>
            <a:ext cx="9525" cy="234886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7365980" y="2762250"/>
            <a:ext cx="9525" cy="234886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2504420" y="3196590"/>
            <a:ext cx="4928616" cy="601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900"/>
              <a:buFont typeface="Courier New"/>
              <a:buNone/>
            </a:pPr>
            <a:r>
              <a:rPr b="1" i="0" lang="en-US" sz="39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2504420" y="3912870"/>
            <a:ext cx="461497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7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Map a full narrative — ERD → tables — end to end.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914400" y="838200"/>
            <a:ext cx="208148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03 · AGENDA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959060" y="958215"/>
            <a:ext cx="1441454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914400" y="1478280"/>
            <a:ext cx="18105120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91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7-step Mapping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14400" y="3417570"/>
            <a:ext cx="7943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914400" y="2880360"/>
            <a:ext cx="647700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714500" y="2857500"/>
            <a:ext cx="2672548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Regular entities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429750" y="3417570"/>
            <a:ext cx="7943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9429750" y="2880360"/>
            <a:ext cx="647700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0229850" y="2857500"/>
            <a:ext cx="2988707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M:N relationships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14400" y="4347210"/>
            <a:ext cx="7943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914400" y="3810000"/>
            <a:ext cx="647700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714500" y="3787140"/>
            <a:ext cx="2270343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Weak entities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9429750" y="4347210"/>
            <a:ext cx="7943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9429750" y="3810000"/>
            <a:ext cx="647700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0229850" y="3787140"/>
            <a:ext cx="3800189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Multi-valued attributes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914400" y="5276850"/>
            <a:ext cx="7943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914400" y="4739640"/>
            <a:ext cx="647700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714500" y="4716780"/>
            <a:ext cx="2831021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1:1 relationships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9429750" y="5276850"/>
            <a:ext cx="7943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9429750" y="4739640"/>
            <a:ext cx="647700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229850" y="4716780"/>
            <a:ext cx="3226939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N-ary relationships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914400" y="6206490"/>
            <a:ext cx="7943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914400" y="5669280"/>
            <a:ext cx="647700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714500" y="5646420"/>
            <a:ext cx="2890087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1:N relationships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429750" y="6206490"/>
            <a:ext cx="7943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429750" y="5669280"/>
            <a:ext cx="647700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0229850" y="5646420"/>
            <a:ext cx="4632496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Case study · pitfalls · recap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914400" y="838200"/>
            <a:ext cx="29470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04 · VOCABULARY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745944" y="958215"/>
            <a:ext cx="13627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914400" y="1478280"/>
            <a:ext cx="18105120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91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relational model in one picture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914400" y="2571750"/>
            <a:ext cx="9267706" cy="393192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922020" y="2579370"/>
            <a:ext cx="9252466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1188720" y="2712720"/>
            <a:ext cx="299604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← relation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8881825" y="2712720"/>
            <a:ext cx="110216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tuples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22020" y="3128010"/>
            <a:ext cx="9252466" cy="5524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922020" y="3672840"/>
            <a:ext cx="3450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1112520" y="3261360"/>
            <a:ext cx="3173067" cy="316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student_id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372570" y="3672840"/>
            <a:ext cx="42737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563070" y="3261360"/>
            <a:ext cx="4020961" cy="316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646319" y="3672840"/>
            <a:ext cx="1528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836819" y="3261360"/>
            <a:ext cx="1223367" cy="316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gpa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922020" y="4236720"/>
            <a:ext cx="3450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1112520" y="3794760"/>
            <a:ext cx="31730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42001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372570" y="4236720"/>
            <a:ext cx="42737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563070" y="3794760"/>
            <a:ext cx="402096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Mona Saleh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646319" y="4236720"/>
            <a:ext cx="1528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836819" y="3794760"/>
            <a:ext cx="12233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3.6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922020" y="4800600"/>
            <a:ext cx="3450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1112520" y="4358640"/>
            <a:ext cx="31730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42002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372570" y="4800600"/>
            <a:ext cx="42737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563070" y="4358640"/>
            <a:ext cx="402096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Omar Hany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646319" y="4800600"/>
            <a:ext cx="1528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836819" y="4358640"/>
            <a:ext cx="12233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3.2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922020" y="5364480"/>
            <a:ext cx="3450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1112520" y="4922520"/>
            <a:ext cx="31730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42003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372570" y="5364480"/>
            <a:ext cx="42737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563070" y="4922520"/>
            <a:ext cx="402096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Nour Adel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646319" y="5364480"/>
            <a:ext cx="1528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8836819" y="4922520"/>
            <a:ext cx="12233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3.9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112520" y="5486400"/>
            <a:ext cx="3173067" cy="36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42004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63070" y="5486400"/>
            <a:ext cx="4020961" cy="36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Youssef Tarek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836819" y="5486400"/>
            <a:ext cx="1223367" cy="36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2.8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922020" y="5932170"/>
            <a:ext cx="9252466" cy="5638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188720" y="6084570"/>
            <a:ext cx="2298632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↑ column = </a:t>
            </a: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attribute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440579" y="6084570"/>
            <a:ext cx="1613928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← row = </a:t>
            </a: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753606" y="2571750"/>
            <a:ext cx="6619800" cy="1124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10753606" y="2571750"/>
            <a:ext cx="45720" cy="11239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1066026" y="2800350"/>
            <a:ext cx="66448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1066026" y="3139440"/>
            <a:ext cx="664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50">
                <a:solidFill>
                  <a:srgbClr val="0F172A"/>
                </a:solidFill>
              </a:rPr>
              <a:t>A relation is a set of tuples/rows.</a:t>
            </a:r>
            <a:endParaRPr sz="2250">
              <a:solidFill>
                <a:srgbClr val="0F172A"/>
              </a:solidFill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0753606" y="3905250"/>
            <a:ext cx="6619875" cy="1123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10753606" y="3905250"/>
            <a:ext cx="45720" cy="11239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11066026" y="4133850"/>
            <a:ext cx="66448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1066026" y="4472940"/>
            <a:ext cx="66448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One row — one fact.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0753606" y="5238750"/>
            <a:ext cx="6619875" cy="1123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10753606" y="5238750"/>
            <a:ext cx="45720" cy="11239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11066026" y="5467350"/>
            <a:ext cx="66448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ATTRIBUTE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1066026" y="5806440"/>
            <a:ext cx="66448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One column — one property.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753606" y="6572250"/>
            <a:ext cx="6619875" cy="1123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0753606" y="6572250"/>
            <a:ext cx="45720" cy="11239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1066026" y="6800850"/>
            <a:ext cx="66448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DOMAIN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1066026" y="7139940"/>
            <a:ext cx="66448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set of values that column may hold.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914400" y="838200"/>
            <a:ext cx="29470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05 · VOCABULARY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745944" y="958215"/>
            <a:ext cx="13627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914400" y="1478280"/>
            <a:ext cx="18105120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91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Keys &amp; constraints you will use today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14400" y="2686050"/>
            <a:ext cx="3108960" cy="202311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1207770" y="2979420"/>
            <a:ext cx="277444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PK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207770" y="3398520"/>
            <a:ext cx="277444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Primary Key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207770" y="3775710"/>
            <a:ext cx="259842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Unique, not null — identifies every row.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251960" y="2686050"/>
            <a:ext cx="3108960" cy="2023110"/>
          </a:xfrm>
          <a:prstGeom prst="rect">
            <a:avLst/>
          </a:prstGeom>
          <a:solidFill>
            <a:srgbClr val="E6F4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545330" y="2979420"/>
            <a:ext cx="277444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FK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545330" y="3398520"/>
            <a:ext cx="277444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45330" y="3775710"/>
            <a:ext cx="259842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Points to the PK of another table.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589520" y="2686050"/>
            <a:ext cx="3108960" cy="202311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7882890" y="2979420"/>
            <a:ext cx="277444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UK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882890" y="3398520"/>
            <a:ext cx="277444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Unique Key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882890" y="3775710"/>
            <a:ext cx="259842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Unique values, but not the chosen PK.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0927081" y="2686050"/>
            <a:ext cx="3108960" cy="202311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1220450" y="2979420"/>
            <a:ext cx="277444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1220450" y="3398520"/>
            <a:ext cx="277444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NOT NULL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1220450" y="3775710"/>
            <a:ext cx="259842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 is required for every row.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4264640" y="2686050"/>
            <a:ext cx="3108960" cy="202311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4558010" y="2979420"/>
            <a:ext cx="277444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CHK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4558010" y="3398520"/>
            <a:ext cx="277444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4558010" y="3775710"/>
            <a:ext cx="259842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boolean rule the row must satisfy.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914400" y="5318760"/>
            <a:ext cx="16459200" cy="8610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914400" y="5318760"/>
            <a:ext cx="45720" cy="8610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264920" y="5585460"/>
            <a:ext cx="162976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every </a:t>
            </a:r>
            <a:r>
              <a:rPr b="1" i="0" lang="en-US" sz="225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FK is coloured teal 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and every </a:t>
            </a:r>
            <a:r>
              <a:rPr b="1" i="0" lang="en-US" sz="225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PK is coloured red 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— in the diagrams and in the tables.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914400" y="838200"/>
            <a:ext cx="3274874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06 · MENTAL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043958" y="958215"/>
            <a:ext cx="1332964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914400" y="1478280"/>
            <a:ext cx="18105120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91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to read every mapping slide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914400" y="2686050"/>
            <a:ext cx="825627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ERD FRAGMENT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914400" y="3158490"/>
            <a:ext cx="7505700" cy="42062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8387" y="3463300"/>
            <a:ext cx="4697723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8801100" y="4632960"/>
            <a:ext cx="76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9867900" y="3550920"/>
            <a:ext cx="825627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TABLES (WITH FK)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9867900" y="4023360"/>
            <a:ext cx="7505700" cy="112776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9875520" y="4030980"/>
            <a:ext cx="7490460" cy="5105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0066020" y="4145280"/>
            <a:ext cx="733417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entity_a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9875520" y="5135880"/>
            <a:ext cx="74904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10066020" y="4674870"/>
            <a:ext cx="733417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a_id (PK)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name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3346311" y="5135880"/>
            <a:ext cx="6249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FK 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867900" y="5379720"/>
            <a:ext cx="7505700" cy="112014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9875520" y="5387340"/>
            <a:ext cx="7490460" cy="5105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0066020" y="5501640"/>
            <a:ext cx="733417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entity_b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0066020" y="6031230"/>
            <a:ext cx="733417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b_id (PK)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title, </a:t>
            </a:r>
            <a:r>
              <a:rPr b="1" i="0" lang="en-US" sz="195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a_id (FK → entity_a)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914400" y="861060"/>
            <a:ext cx="5516927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STEP 1 OF 7 · REGULAR ENTITIES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082189" y="981075"/>
            <a:ext cx="104532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16687800" y="83820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01/07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914400" y="1428750"/>
            <a:ext cx="1810512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83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Every strong entity becomes a table.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914400" y="2343150"/>
            <a:ext cx="7991475" cy="46177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303020" y="2731770"/>
            <a:ext cx="79356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" name="Google Shape;2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020" y="3143250"/>
            <a:ext cx="7214235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/>
          <p:nvPr/>
        </p:nvSpPr>
        <p:spPr>
          <a:xfrm>
            <a:off x="9382125" y="2343150"/>
            <a:ext cx="879062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9382125" y="2792730"/>
            <a:ext cx="7991475" cy="227076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89745" y="2800350"/>
            <a:ext cx="7976235" cy="5867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9618345" y="2933700"/>
            <a:ext cx="775832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9389745" y="3387090"/>
            <a:ext cx="7976235" cy="5524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9389745" y="3931920"/>
            <a:ext cx="23897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9618345" y="3520440"/>
            <a:ext cx="2008703" cy="316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student_id </a:t>
            </a:r>
            <a:r>
              <a:rPr b="1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PK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11779448" y="3931920"/>
            <a:ext cx="19620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12008048" y="3520440"/>
            <a:ext cx="1581031" cy="316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3741480" y="3931920"/>
            <a:ext cx="27123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13970080" y="3520440"/>
            <a:ext cx="2336534" cy="316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email </a:t>
            </a:r>
            <a:r>
              <a:rPr b="1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UK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6453842" y="3931920"/>
            <a:ext cx="9121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16682442" y="3520440"/>
            <a:ext cx="531138" cy="316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gpa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9618345" y="4053840"/>
            <a:ext cx="2008703" cy="36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42001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2008048" y="4053840"/>
            <a:ext cx="1581031" cy="36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Mona Saleh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3970080" y="4053840"/>
            <a:ext cx="2336534" cy="36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mona@iti.gov.eg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6682442" y="4053840"/>
            <a:ext cx="531138" cy="36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3.6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9389745" y="4499610"/>
            <a:ext cx="7976235" cy="5562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9618345" y="4613910"/>
            <a:ext cx="200870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42002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2008048" y="4613910"/>
            <a:ext cx="15810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Omar Hany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3970080" y="4613910"/>
            <a:ext cx="233653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omar@iti.gov.eg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6682442" y="4613910"/>
            <a:ext cx="5311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3.2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9382125" y="5330190"/>
            <a:ext cx="7991475" cy="1228725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9382125" y="5330190"/>
            <a:ext cx="45720" cy="12287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9694545" y="5558790"/>
            <a:ext cx="765209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73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Rule: 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DECEF"/>
                </a:highlight>
                <a:latin typeface="Arial"/>
                <a:ea typeface="Arial"/>
                <a:cs typeface="Arial"/>
                <a:sym typeface="Arial"/>
              </a:rPr>
              <a:t>one table per entity, one attribute per column, choose any key attribute as the PK.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/>
          <p:nvPr/>
        </p:nvSpPr>
        <p:spPr>
          <a:xfrm>
            <a:off x="914400" y="861060"/>
            <a:ext cx="490608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STEP 2 OF 7 · WEAK ENTITIES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526881" y="981075"/>
            <a:ext cx="1100851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16687800" y="83820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02/07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914400" y="1428750"/>
            <a:ext cx="16952976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83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Weak entity → table + FK; PK = owner FK + partial key.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914400" y="2971800"/>
            <a:ext cx="7991475" cy="56997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1303020" y="3360420"/>
            <a:ext cx="79356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020" y="3771900"/>
            <a:ext cx="721423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/>
          <p:nvPr/>
        </p:nvSpPr>
        <p:spPr>
          <a:xfrm>
            <a:off x="1303020" y="7505700"/>
            <a:ext cx="7430662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double rectangle = weak entity. double diamond = identifying relationship. dashed underline = partial key · double line = total participation.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9382125" y="2971800"/>
            <a:ext cx="879062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9382125" y="3421380"/>
            <a:ext cx="7991475" cy="123444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9389745" y="3429000"/>
            <a:ext cx="7976235" cy="5867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9618345" y="3562350"/>
            <a:ext cx="775832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instructor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9618345" y="4168140"/>
            <a:ext cx="77583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instructor_id (PK)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name, email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9382125" y="4865370"/>
            <a:ext cx="7991475" cy="214122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9389745" y="4872990"/>
            <a:ext cx="7976235" cy="5867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9618345" y="5006340"/>
            <a:ext cx="775832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office_hour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9618345" y="5612130"/>
            <a:ext cx="7758322" cy="1272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instructor_id (PK, FK → instructor)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weekday (PK)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start_time, room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9382125" y="7273290"/>
            <a:ext cx="7991475" cy="1228725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9382125" y="7273290"/>
            <a:ext cx="45720" cy="12287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9694545" y="7501890"/>
            <a:ext cx="765209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73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Rule: 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DECEF"/>
                </a:highlight>
                <a:latin typeface="Arial"/>
                <a:ea typeface="Arial"/>
                <a:cs typeface="Arial"/>
                <a:sym typeface="Arial"/>
              </a:rPr>
              <a:t>composite PK = owner's PK (as FK) + the weak entity's partial key.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/>
          <p:nvPr/>
        </p:nvSpPr>
        <p:spPr>
          <a:xfrm>
            <a:off x="914400" y="861060"/>
            <a:ext cx="5571804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STEP 3 OF 7 · 1:1 RELATIONSHIPS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6132076" y="981075"/>
            <a:ext cx="1040332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16687800" y="83820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03/07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914400" y="1409700"/>
            <a:ext cx="16952976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15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Binary 1:1 Relation depends on participation — pick one of three.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914400" y="2807970"/>
            <a:ext cx="5308521" cy="412242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922020" y="2815590"/>
            <a:ext cx="5293281" cy="5867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1150620" y="2967990"/>
            <a:ext cx="49948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· Both mandatory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188720" y="3669030"/>
            <a:ext cx="4902677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97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Every </a:t>
            </a:r>
            <a:r>
              <a:rPr b="1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employee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must have an </a:t>
            </a:r>
            <a:r>
              <a:rPr b="1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office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every </a:t>
            </a:r>
            <a:r>
              <a:rPr b="1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office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must have an </a:t>
            </a:r>
            <a:r>
              <a:rPr b="1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188720" y="4514850"/>
            <a:ext cx="4759881" cy="14173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1348740" y="4674870"/>
            <a:ext cx="4573036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employee_office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348740" y="5071110"/>
            <a:ext cx="16596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emp_id (PK)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2857500" y="5071110"/>
            <a:ext cx="10363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name,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348740" y="5436870"/>
            <a:ext cx="22707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office_no, floor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188720" y="6107430"/>
            <a:ext cx="4759881" cy="548640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1188720" y="6107430"/>
            <a:ext cx="3810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1379220" y="6240780"/>
            <a:ext cx="4559777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→ Merge into one table.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489621" y="2807970"/>
            <a:ext cx="5308640" cy="412242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6497241" y="2815590"/>
            <a:ext cx="5293400" cy="5867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6725841" y="2967990"/>
            <a:ext cx="499500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 · One mandatory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763941" y="3669030"/>
            <a:ext cx="490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97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Every </a:t>
            </a:r>
            <a:r>
              <a:rPr b="1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department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must have a </a:t>
            </a:r>
            <a:r>
              <a:rPr b="1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manager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; not every </a:t>
            </a:r>
            <a:r>
              <a:rPr b="1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employee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manages one.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763941" y="4514850"/>
            <a:ext cx="4760000" cy="14401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6923961" y="4674870"/>
            <a:ext cx="4573159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department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6923961" y="5071110"/>
            <a:ext cx="18105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dept_id (PK)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8569881" y="5071110"/>
            <a:ext cx="10363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name,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923961" y="5482590"/>
            <a:ext cx="377255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manager_id (FK, NOT NULL)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6763941" y="6107430"/>
            <a:ext cx="4760000" cy="548640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6763941" y="6107430"/>
            <a:ext cx="3810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6954441" y="6240780"/>
            <a:ext cx="45599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→ FK on the mandatory side.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2064960" y="2807970"/>
            <a:ext cx="5308640" cy="412242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12072581" y="2815590"/>
            <a:ext cx="5293400" cy="5867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12301181" y="2967990"/>
            <a:ext cx="499500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 · Both optional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2339281" y="3669030"/>
            <a:ext cx="490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97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instructor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may mentor a </a:t>
            </a:r>
            <a:r>
              <a:rPr b="1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; both sides can exist alone.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12339281" y="4514850"/>
            <a:ext cx="4760000" cy="14173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12499301" y="4674870"/>
            <a:ext cx="4573159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mentorship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2499301" y="5071110"/>
            <a:ext cx="33192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instructor_id (FK, UK)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15516820" y="5071110"/>
            <a:ext cx="213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12499301" y="5436870"/>
            <a:ext cx="28666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student_id (FK, UK)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12339281" y="6107430"/>
            <a:ext cx="4760000" cy="548640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12339281" y="6107430"/>
            <a:ext cx="3810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12529781" y="6240780"/>
            <a:ext cx="45599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→ Third link table.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914400" y="7197090"/>
            <a:ext cx="16459200" cy="11239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914400" y="7197090"/>
            <a:ext cx="45720" cy="11239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1226820" y="7387590"/>
            <a:ext cx="1637385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57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Why FK on the mandatory side (case B):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that row is required to have a partner — the FK can be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NOT NULL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. Putting it on the optional side would force NULLs for every unpaired row.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914400" y="861060"/>
            <a:ext cx="561358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STEP 4 OF 7 · 1:N RELATIONSHIPS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170057" y="981075"/>
            <a:ext cx="1036534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16687800" y="83820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04/07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914400" y="1428750"/>
            <a:ext cx="1810512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83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Binary 1:N —</a:t>
            </a:r>
            <a:r>
              <a:rPr b="1" i="0" lang="en-US" sz="4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Put the FK on the N (many) side.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914400" y="2343150"/>
            <a:ext cx="7991475" cy="54406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1303020" y="2731770"/>
            <a:ext cx="79356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020" y="3143250"/>
            <a:ext cx="721423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2"/>
          <p:cNvSpPr/>
          <p:nvPr/>
        </p:nvSpPr>
        <p:spPr>
          <a:xfrm>
            <a:off x="1303020" y="6877050"/>
            <a:ext cx="7430662" cy="556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double line = total participation: every course has an instructor → FK is NOT NULL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9382125" y="2343150"/>
            <a:ext cx="879062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9382125" y="2792730"/>
            <a:ext cx="7991475" cy="123444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9389745" y="2800350"/>
            <a:ext cx="7976235" cy="5867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9618345" y="2933700"/>
            <a:ext cx="775832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instructor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9618345" y="3539490"/>
            <a:ext cx="77583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instructor_id (PK)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name, email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9382125" y="4236720"/>
            <a:ext cx="7991475" cy="176022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9397365" y="4251960"/>
            <a:ext cx="7960995" cy="5867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9625965" y="4385310"/>
            <a:ext cx="774262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course · the N side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9625965" y="4991100"/>
            <a:ext cx="774262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course_code (PK)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title, credits, </a:t>
            </a:r>
            <a:r>
              <a:rPr b="1" i="0" lang="en-US" sz="1950" u="none" cap="none" strike="noStrike">
                <a:solidFill>
                  <a:srgbClr val="0E8A8A"/>
                </a:solidFill>
                <a:highlight>
                  <a:srgbClr val="E6F4F4"/>
                </a:highlight>
                <a:latin typeface="Courier New"/>
                <a:ea typeface="Courier New"/>
                <a:cs typeface="Courier New"/>
                <a:sym typeface="Courier New"/>
              </a:rPr>
              <a:t>instructor_id (FK → instructor)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9382125" y="6263640"/>
            <a:ext cx="7991475" cy="1228725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9382125" y="6263640"/>
            <a:ext cx="45720" cy="12287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9694545" y="6492240"/>
            <a:ext cx="765209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73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Rule: 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DECEF"/>
                </a:highlight>
                <a:latin typeface="Arial"/>
                <a:ea typeface="Arial"/>
                <a:cs typeface="Arial"/>
                <a:sym typeface="Arial"/>
              </a:rPr>
              <a:t>FK on the N-side; add any simple relationship attributes there too.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"/>
          <p:cNvSpPr/>
          <p:nvPr/>
        </p:nvSpPr>
        <p:spPr>
          <a:xfrm>
            <a:off x="914400" y="861060"/>
            <a:ext cx="5683127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STEP 5 OF 7 · M:N RELATIONSHIPS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6233279" y="981075"/>
            <a:ext cx="1030212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16687800" y="83820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05/07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914400" y="1409700"/>
            <a:ext cx="18105120" cy="6038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15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Binary M:N → a new junction table with both FKs.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914400" y="2242185"/>
            <a:ext cx="7991475" cy="51816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1303020" y="2630805"/>
            <a:ext cx="79356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1" name="Google Shape;3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020" y="3042285"/>
            <a:ext cx="721423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3"/>
          <p:cNvSpPr/>
          <p:nvPr/>
        </p:nvSpPr>
        <p:spPr>
          <a:xfrm>
            <a:off x="1303020" y="6776085"/>
            <a:ext cx="79356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grade and enrolled_at belong to the relationship, not to either entity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9382125" y="2242185"/>
            <a:ext cx="879062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9382125" y="2691765"/>
            <a:ext cx="3919537" cy="109728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9389745" y="2699385"/>
            <a:ext cx="3904297" cy="5105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9580245" y="2813685"/>
            <a:ext cx="364042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9580245" y="3343275"/>
            <a:ext cx="36404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student_id (PK)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3454063" y="2691765"/>
            <a:ext cx="3919537" cy="109728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13461683" y="2699385"/>
            <a:ext cx="3904297" cy="5105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13652183" y="2813685"/>
            <a:ext cx="364042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course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13652183" y="3343275"/>
            <a:ext cx="36404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course_code (PK)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9382125" y="3941445"/>
            <a:ext cx="7991475" cy="2230755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9397365" y="3956685"/>
            <a:ext cx="7960995" cy="5867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9625965" y="4090035"/>
            <a:ext cx="774262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enrolment · junction table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9625965" y="4695825"/>
            <a:ext cx="7742625" cy="13468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9324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student_id (PK, </a:t>
            </a:r>
            <a:r>
              <a:rPr b="1" i="0" lang="en-US" sz="195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FK → student)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course_code (PK, </a:t>
            </a:r>
            <a:r>
              <a:rPr b="1" i="0" lang="en-US" sz="195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FK → course)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grade, enrolled_at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9382125" y="6381750"/>
            <a:ext cx="7991475" cy="765810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9382125" y="6381750"/>
            <a:ext cx="45720" cy="76581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9694545" y="6591300"/>
            <a:ext cx="7652099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97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Rule: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FDECEF"/>
                </a:highlight>
                <a:latin typeface="Arial"/>
                <a:ea typeface="Arial"/>
                <a:cs typeface="Arial"/>
                <a:sym typeface="Arial"/>
              </a:rPr>
              <a:t>composite PK of both FKs; relationship attributes live here.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4"/>
          <p:cNvSpPr/>
          <p:nvPr/>
        </p:nvSpPr>
        <p:spPr>
          <a:xfrm>
            <a:off x="914400" y="861060"/>
            <a:ext cx="687166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STEP 6 OF 7 · MULTI-VALUED ATTRIBUTES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7313772" y="981075"/>
            <a:ext cx="922162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16687800" y="83820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06/07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914400" y="1428750"/>
            <a:ext cx="1810512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83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One extra table — FK + value.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914400" y="2343150"/>
            <a:ext cx="7991475" cy="51816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1303020" y="2731770"/>
            <a:ext cx="79356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0" name="Google Shape;3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020" y="3143250"/>
            <a:ext cx="721423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4"/>
          <p:cNvSpPr/>
          <p:nvPr/>
        </p:nvSpPr>
        <p:spPr>
          <a:xfrm>
            <a:off x="1303020" y="6877050"/>
            <a:ext cx="79356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double ellipse = multi-valued attribute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9382125" y="2343150"/>
            <a:ext cx="879062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9382125" y="2792730"/>
            <a:ext cx="7991475" cy="123444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9389745" y="2800350"/>
            <a:ext cx="7976235" cy="5867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9618345" y="2933700"/>
            <a:ext cx="775832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9618345" y="3539490"/>
            <a:ext cx="77583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student_id (PK)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name, gpa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9382125" y="4236720"/>
            <a:ext cx="7991475" cy="176022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9397365" y="4251960"/>
            <a:ext cx="7960995" cy="5867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9625965" y="4385310"/>
            <a:ext cx="774262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student_phone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9625965" y="4991100"/>
            <a:ext cx="774262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student_id (PK, </a:t>
            </a:r>
            <a:r>
              <a:rPr b="1" i="0" lang="en-US" sz="195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FK → student)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phone (PK)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9382125" y="6263640"/>
            <a:ext cx="7991475" cy="842963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9382125" y="6263640"/>
            <a:ext cx="45720" cy="842963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9694545" y="6492240"/>
            <a:ext cx="765209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73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Rule: 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DECEF"/>
                </a:highlight>
                <a:latin typeface="Arial"/>
                <a:ea typeface="Arial"/>
                <a:cs typeface="Arial"/>
                <a:sym typeface="Arial"/>
              </a:rPr>
              <a:t>one row per value; composite PK of (FK, value).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"/>
          <p:cNvSpPr/>
          <p:nvPr/>
        </p:nvSpPr>
        <p:spPr>
          <a:xfrm>
            <a:off x="914400" y="861060"/>
            <a:ext cx="6081272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STEP 7 OF 7 · N-ARY RELATIONSHIPS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6595229" y="981075"/>
            <a:ext cx="994017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16687800" y="83820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07/07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914400" y="1409700"/>
            <a:ext cx="18105120" cy="6038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15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Three or more? One junction table, n FKs.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914400" y="2242185"/>
            <a:ext cx="7991475" cy="523875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1303020" y="2630805"/>
            <a:ext cx="79356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TERNARY ERD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020" y="3042285"/>
            <a:ext cx="721423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5"/>
          <p:cNvSpPr/>
          <p:nvPr/>
        </p:nvSpPr>
        <p:spPr>
          <a:xfrm>
            <a:off x="9382125" y="2242185"/>
            <a:ext cx="879062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ONE JUNCTION 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9382125" y="2691765"/>
            <a:ext cx="7991475" cy="272415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9397365" y="2707005"/>
            <a:ext cx="7960995" cy="5867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9625965" y="2840355"/>
            <a:ext cx="774262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supplies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9625965" y="3446145"/>
            <a:ext cx="7742625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3716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supplier_id (PK, </a:t>
            </a:r>
            <a:r>
              <a:rPr b="1" i="0" lang="en-US" sz="195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FK)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part_id (PK, </a:t>
            </a:r>
            <a:r>
              <a:rPr b="1" i="0" lang="en-US" sz="195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FK)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project_id (PK, </a:t>
            </a:r>
            <a:r>
              <a:rPr b="1" i="0" lang="en-US" sz="195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FK)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quantity, delivered_on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9382125" y="5625465"/>
            <a:ext cx="7991475" cy="185547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9382125" y="5625465"/>
            <a:ext cx="45720" cy="185547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9694545" y="5835015"/>
            <a:ext cx="7652099" cy="1474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65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Not the same as three M:N tables.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Three binary junctions would let you say "supplier A supplies part P" and "project J uses part P" — without knowing supplier A actually delivered P to project J. The ternary row captures all three at once.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6"/>
          <p:cNvSpPr/>
          <p:nvPr/>
        </p:nvSpPr>
        <p:spPr>
          <a:xfrm>
            <a:off x="914400" y="838200"/>
            <a:ext cx="2336221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14 · SUMMARY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3190637" y="958215"/>
            <a:ext cx="1418296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914400" y="1478280"/>
            <a:ext cx="18105120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91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rule, where the FK goes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914400" y="2686050"/>
            <a:ext cx="16459200" cy="624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1123950" y="2857500"/>
            <a:ext cx="74295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2209800" y="2857500"/>
            <a:ext cx="35709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ERD construct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6083618" y="2857500"/>
            <a:ext cx="42911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to create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10656689" y="2857500"/>
            <a:ext cx="67151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Where the FK goes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914400" y="390906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1123950" y="3463290"/>
            <a:ext cx="742950" cy="339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2209800" y="3463290"/>
            <a:ext cx="3570932" cy="339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Strong entity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6083618" y="3463290"/>
            <a:ext cx="4291164" cy="339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One 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10656689" y="3463290"/>
            <a:ext cx="6715155" cy="339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— none 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914400" y="3916680"/>
            <a:ext cx="16459200" cy="60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914400" y="451866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1123950" y="4069080"/>
            <a:ext cx="74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2209800" y="4069080"/>
            <a:ext cx="3570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Weak entity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6083618" y="4069080"/>
            <a:ext cx="42911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One 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10656689" y="4069080"/>
            <a:ext cx="67151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On the weak table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, part of composite PK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914400" y="512826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1123950" y="4678680"/>
            <a:ext cx="74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2209800" y="4678680"/>
            <a:ext cx="3570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1:1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6083618" y="4678680"/>
            <a:ext cx="42911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Merge · one FK · link 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10656689" y="4678680"/>
            <a:ext cx="67151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On the mandatory side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(or in the link table)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914400" y="5135880"/>
            <a:ext cx="16459200" cy="60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914400" y="573786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1123950" y="5288280"/>
            <a:ext cx="74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2209800" y="5288280"/>
            <a:ext cx="3570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1:N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6083618" y="5288280"/>
            <a:ext cx="42911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 new 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10656689" y="5288280"/>
            <a:ext cx="67151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On the N (many) side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914400" y="634746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1123950" y="5897880"/>
            <a:ext cx="74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2209800" y="5897880"/>
            <a:ext cx="3570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M:N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6083618" y="5897880"/>
            <a:ext cx="42911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New junction 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10656689" y="5897880"/>
            <a:ext cx="67151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Both FKs in the junction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914400" y="6355080"/>
            <a:ext cx="16459200" cy="60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914400" y="695706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6"/>
          <p:cNvSpPr/>
          <p:nvPr/>
        </p:nvSpPr>
        <p:spPr>
          <a:xfrm>
            <a:off x="1123950" y="6507480"/>
            <a:ext cx="74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2209800" y="6507480"/>
            <a:ext cx="3570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Multi-valued attribute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6083618" y="6507480"/>
            <a:ext cx="42911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New small 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10656689" y="6507480"/>
            <a:ext cx="67151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FK + value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as composite PK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1123950" y="7117080"/>
            <a:ext cx="742950" cy="36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2209800" y="7117080"/>
            <a:ext cx="3570932" cy="36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N-ary (n ≥ 3)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6083618" y="7117080"/>
            <a:ext cx="4291164" cy="36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New junction 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10656689" y="7117080"/>
            <a:ext cx="6715155" cy="36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All n FKs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as composite PK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7"/>
          <p:cNvSpPr/>
          <p:nvPr/>
        </p:nvSpPr>
        <p:spPr>
          <a:xfrm>
            <a:off x="914400" y="838200"/>
            <a:ext cx="2279118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15 · PITFALLS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3138726" y="958215"/>
            <a:ext cx="1423487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914400" y="1478280"/>
            <a:ext cx="18105120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91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Three mistakes we see every term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914400" y="2686050"/>
            <a:ext cx="5308521" cy="484632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922020" y="2693670"/>
            <a:ext cx="5293281" cy="5867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1150620" y="2846070"/>
            <a:ext cx="49948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#1 · 1:N on the wrong side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1188720" y="3547110"/>
            <a:ext cx="4759881" cy="137160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DC262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1348740" y="3707130"/>
            <a:ext cx="4582637" cy="10896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Courier New"/>
                <a:ea typeface="Courier New"/>
                <a:cs typeface="Courier New"/>
                <a:sym typeface="Courier New"/>
              </a:rPr>
              <a:t>WRONG </a:t>
            </a:r>
            <a:r>
              <a:rPr b="0" i="0" lang="en-US" sz="1800" u="none" cap="none" strike="noStrike">
                <a:solidFill>
                  <a:srgbClr val="991B1B"/>
                </a:solidFill>
                <a:highlight>
                  <a:srgbClr val="FEF2F2"/>
                </a:highlight>
                <a:latin typeface="Courier New"/>
                <a:ea typeface="Courier New"/>
                <a:cs typeface="Courier New"/>
                <a:sym typeface="Courier New"/>
              </a:rPr>
              <a:t>instructor: id, name, </a:t>
            </a:r>
            <a:r>
              <a:rPr b="0" i="0" lang="en-US" sz="1800" u="none" cap="none" strike="sngStrike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course_code (FK)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1188720" y="5071110"/>
            <a:ext cx="4759881" cy="1394460"/>
          </a:xfrm>
          <a:prstGeom prst="rect">
            <a:avLst/>
          </a:prstGeom>
          <a:solidFill>
            <a:srgbClr val="E6F4F4"/>
          </a:solidFill>
          <a:ln cap="flat" cmpd="sng" w="95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7"/>
          <p:cNvSpPr/>
          <p:nvPr/>
        </p:nvSpPr>
        <p:spPr>
          <a:xfrm>
            <a:off x="1348740" y="5231130"/>
            <a:ext cx="4582637" cy="1112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RIGHT </a:t>
            </a:r>
            <a:r>
              <a:rPr b="0" i="0" lang="en-US" sz="180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Courier New"/>
                <a:ea typeface="Courier New"/>
                <a:cs typeface="Courier New"/>
                <a:sym typeface="Courier New"/>
              </a:rPr>
              <a:t>course: code, title, </a:t>
            </a:r>
            <a:r>
              <a:rPr b="1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instructor_id (FK)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1188720" y="6617970"/>
            <a:ext cx="4902677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 instructor would need as many rows as courses he teach.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6489621" y="2686050"/>
            <a:ext cx="5308640" cy="484632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6497241" y="2693670"/>
            <a:ext cx="5293400" cy="5867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7"/>
          <p:cNvSpPr/>
          <p:nvPr/>
        </p:nvSpPr>
        <p:spPr>
          <a:xfrm>
            <a:off x="6725841" y="2846070"/>
            <a:ext cx="499500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#2 · M:N without a junction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6763941" y="3547110"/>
            <a:ext cx="4760000" cy="137160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DC262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7"/>
          <p:cNvSpPr/>
          <p:nvPr/>
        </p:nvSpPr>
        <p:spPr>
          <a:xfrm>
            <a:off x="6923961" y="3707130"/>
            <a:ext cx="4582760" cy="10896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Courier New"/>
                <a:ea typeface="Courier New"/>
                <a:cs typeface="Courier New"/>
                <a:sym typeface="Courier New"/>
              </a:rPr>
              <a:t>WRONG </a:t>
            </a:r>
            <a:r>
              <a:rPr b="0" i="0" lang="en-US" sz="1800" u="none" cap="none" strike="noStrike">
                <a:solidFill>
                  <a:srgbClr val="991B1B"/>
                </a:solidFill>
                <a:highlight>
                  <a:srgbClr val="FEF2F2"/>
                </a:highlight>
                <a:latin typeface="Courier New"/>
                <a:ea typeface="Courier New"/>
                <a:cs typeface="Courier New"/>
                <a:sym typeface="Courier New"/>
              </a:rPr>
              <a:t>student: id, name, </a:t>
            </a:r>
            <a:r>
              <a:rPr b="0" i="0" lang="en-US" sz="1800" u="none" cap="none" strike="sngStrike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course_code (FK)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6763941" y="5071110"/>
            <a:ext cx="4760000" cy="1371600"/>
          </a:xfrm>
          <a:prstGeom prst="rect">
            <a:avLst/>
          </a:prstGeom>
          <a:solidFill>
            <a:srgbClr val="E6F4F4"/>
          </a:solidFill>
          <a:ln cap="flat" cmpd="sng" w="95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7"/>
          <p:cNvSpPr/>
          <p:nvPr/>
        </p:nvSpPr>
        <p:spPr>
          <a:xfrm>
            <a:off x="6923961" y="5231130"/>
            <a:ext cx="4582760" cy="10896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RIGHT </a:t>
            </a:r>
            <a:r>
              <a:rPr b="0" i="0" lang="en-US" sz="180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Courier New"/>
                <a:ea typeface="Courier New"/>
                <a:cs typeface="Courier New"/>
                <a:sym typeface="Courier New"/>
              </a:rPr>
              <a:t>enrolment(student_id, course_code, grade)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6763941" y="6595110"/>
            <a:ext cx="490280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Can't record multiple courses per student without duplication.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12064960" y="2686050"/>
            <a:ext cx="5308640" cy="484632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7"/>
          <p:cNvSpPr/>
          <p:nvPr/>
        </p:nvSpPr>
        <p:spPr>
          <a:xfrm>
            <a:off x="12072581" y="2693670"/>
            <a:ext cx="5293400" cy="5867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12301181" y="2846070"/>
            <a:ext cx="499500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#3 · Multi-value in one cell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12339281" y="3547110"/>
            <a:ext cx="4760000" cy="137160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DC262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7"/>
          <p:cNvSpPr/>
          <p:nvPr/>
        </p:nvSpPr>
        <p:spPr>
          <a:xfrm>
            <a:off x="12499301" y="3707130"/>
            <a:ext cx="4582760" cy="10896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Courier New"/>
                <a:ea typeface="Courier New"/>
                <a:cs typeface="Courier New"/>
                <a:sym typeface="Courier New"/>
              </a:rPr>
              <a:t>WRONG </a:t>
            </a:r>
            <a:r>
              <a:rPr b="0" i="0" lang="en-US" sz="1800" u="none" cap="none" strike="noStrike">
                <a:solidFill>
                  <a:srgbClr val="991B1B"/>
                </a:solidFill>
                <a:highlight>
                  <a:srgbClr val="FEF2F2"/>
                </a:highlight>
                <a:latin typeface="Courier New"/>
                <a:ea typeface="Courier New"/>
                <a:cs typeface="Courier New"/>
                <a:sym typeface="Courier New"/>
              </a:rPr>
              <a:t>student.phones = </a:t>
            </a:r>
            <a:r>
              <a:rPr b="0" i="0" lang="en-US" sz="1800" u="none" cap="none" strike="sngStrike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'010…, 011…, 012…'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12339281" y="5071110"/>
            <a:ext cx="4760000" cy="1028700"/>
          </a:xfrm>
          <a:prstGeom prst="rect">
            <a:avLst/>
          </a:prstGeom>
          <a:solidFill>
            <a:srgbClr val="E6F4F4"/>
          </a:solidFill>
          <a:ln cap="flat" cmpd="sng" w="95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7"/>
          <p:cNvSpPr/>
          <p:nvPr/>
        </p:nvSpPr>
        <p:spPr>
          <a:xfrm>
            <a:off x="12499301" y="5231130"/>
            <a:ext cx="4582760" cy="746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RIGHT </a:t>
            </a:r>
            <a:r>
              <a:rPr b="0" i="0" lang="en-US" sz="180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Courier New"/>
                <a:ea typeface="Courier New"/>
                <a:cs typeface="Courier New"/>
                <a:sym typeface="Courier New"/>
              </a:rPr>
              <a:t>student_phone(student_id, phone)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12339281" y="6252210"/>
            <a:ext cx="490280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comma-separated column can't be indexed, joined, or constrained.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8"/>
          <p:cNvSpPr/>
          <p:nvPr/>
        </p:nvSpPr>
        <p:spPr>
          <a:xfrm>
            <a:off x="914400" y="838200"/>
            <a:ext cx="5683127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CASE STUDY · 1 OF 3 · NARRATIVE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6233279" y="958215"/>
            <a:ext cx="1114032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8"/>
          <p:cNvSpPr/>
          <p:nvPr/>
        </p:nvSpPr>
        <p:spPr>
          <a:xfrm>
            <a:off x="914400" y="1383030"/>
            <a:ext cx="1810512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83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banking system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914400" y="2297430"/>
            <a:ext cx="9545737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bank operates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many branches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; each branch has a unique name, a unique address and a phone.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914400" y="3345180"/>
            <a:ext cx="9545737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bank stores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customer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information: ID, name, address, and one or more phone numbers.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914400" y="4392930"/>
            <a:ext cx="954573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Each customer owns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exactly one account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; each account belongs to exactly one customer and has a number, balance, and the date of its last transaction.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914400" y="5869305"/>
            <a:ext cx="954573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customer may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make any number of transactions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— withdrawal or deposit — at any branch. Each transaction records a number, type, date, time, amount, and the branch where it occurred.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10753606" y="2297430"/>
            <a:ext cx="6619875" cy="485775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11104126" y="2647950"/>
            <a:ext cx="651071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THINK BEFORE THE NEXT SLIDE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11140321" y="309753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words are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entities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11140321" y="349377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words are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11140321" y="389001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relationship is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1:1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11140321" y="428625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is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1:N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? Which is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M:N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11140321" y="468249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Any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multi-valued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attributes?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9"/>
          <p:cNvSpPr/>
          <p:nvPr/>
        </p:nvSpPr>
        <p:spPr>
          <a:xfrm>
            <a:off x="914400" y="838200"/>
            <a:ext cx="4494324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CASE STUDY · 2 OF 3 · ERD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5152549" y="958215"/>
            <a:ext cx="1222105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9"/>
          <p:cNvSpPr/>
          <p:nvPr/>
        </p:nvSpPr>
        <p:spPr>
          <a:xfrm>
            <a:off x="914400" y="1383030"/>
            <a:ext cx="1810512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83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banking ERD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9"/>
          <p:cNvSpPr/>
          <p:nvPr/>
        </p:nvSpPr>
        <p:spPr>
          <a:xfrm>
            <a:off x="914400" y="2297430"/>
            <a:ext cx="16459200" cy="66141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4" name="Google Shape;5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620" y="2533650"/>
            <a:ext cx="15986760" cy="6141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9"/>
          <p:cNvSpPr/>
          <p:nvPr/>
        </p:nvSpPr>
        <p:spPr>
          <a:xfrm>
            <a:off x="914400" y="9197340"/>
            <a:ext cx="9489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▣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2072878" y="9197340"/>
            <a:ext cx="17020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◆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9"/>
          <p:cNvSpPr/>
          <p:nvPr/>
        </p:nvSpPr>
        <p:spPr>
          <a:xfrm>
            <a:off x="3905964" y="9197340"/>
            <a:ext cx="28266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⬭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multi-valued attribute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6761440" y="9197340"/>
            <a:ext cx="27858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1 / N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cardinality (Chen)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9579769" y="9197340"/>
            <a:ext cx="2328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═ </a:t>
            </a: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total participation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0"/>
          <p:cNvSpPr/>
          <p:nvPr/>
        </p:nvSpPr>
        <p:spPr>
          <a:xfrm>
            <a:off x="914400" y="838200"/>
            <a:ext cx="508630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CASE STUDY · 3 OF 3 · TABLES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5690711" y="958215"/>
            <a:ext cx="1168288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0"/>
          <p:cNvSpPr/>
          <p:nvPr/>
        </p:nvSpPr>
        <p:spPr>
          <a:xfrm>
            <a:off x="914400" y="1363980"/>
            <a:ext cx="18105120" cy="6038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15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banking schema, mapped step by step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914400" y="2196465"/>
            <a:ext cx="3139440" cy="331470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922020" y="2204085"/>
            <a:ext cx="3124200" cy="5105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1093470" y="2318385"/>
            <a:ext cx="9679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branch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3394591" y="2318385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1093470" y="2867025"/>
            <a:ext cx="2875026" cy="1261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name (PK)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address </a:t>
            </a: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UK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phone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4244340" y="2196465"/>
            <a:ext cx="3139440" cy="331470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4251960" y="2204085"/>
            <a:ext cx="3124200" cy="5105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0"/>
          <p:cNvSpPr/>
          <p:nvPr/>
        </p:nvSpPr>
        <p:spPr>
          <a:xfrm>
            <a:off x="4423410" y="2318385"/>
            <a:ext cx="126515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customer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6724531" y="2318385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4423410" y="2867025"/>
            <a:ext cx="2875026" cy="1261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customer_id (PK)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name address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7574280" y="2196465"/>
            <a:ext cx="3139440" cy="331470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0"/>
          <p:cNvSpPr/>
          <p:nvPr/>
        </p:nvSpPr>
        <p:spPr>
          <a:xfrm>
            <a:off x="7589520" y="2211705"/>
            <a:ext cx="3108960" cy="5105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0"/>
          <p:cNvSpPr/>
          <p:nvPr/>
        </p:nvSpPr>
        <p:spPr>
          <a:xfrm>
            <a:off x="7760970" y="2326005"/>
            <a:ext cx="11165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account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10046851" y="2326005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7760970" y="2874645"/>
            <a:ext cx="2859329" cy="21069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account_no (PK)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balance last_tx_date </a:t>
            </a: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customer_id (FK, UK, NN)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10904220" y="2196465"/>
            <a:ext cx="3139440" cy="331470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0"/>
          <p:cNvSpPr/>
          <p:nvPr/>
        </p:nvSpPr>
        <p:spPr>
          <a:xfrm>
            <a:off x="10919460" y="2211705"/>
            <a:ext cx="3108960" cy="5105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0"/>
          <p:cNvSpPr/>
          <p:nvPr/>
        </p:nvSpPr>
        <p:spPr>
          <a:xfrm>
            <a:off x="11090910" y="2326005"/>
            <a:ext cx="22886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customer_phone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13376792" y="2326005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11090910" y="2874645"/>
            <a:ext cx="2859329" cy="883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customer_id (PK, FK) </a:t>
            </a: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phone (PK)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0"/>
          <p:cNvSpPr/>
          <p:nvPr/>
        </p:nvSpPr>
        <p:spPr>
          <a:xfrm>
            <a:off x="14234160" y="2196465"/>
            <a:ext cx="3139440" cy="331470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0"/>
          <p:cNvSpPr/>
          <p:nvPr/>
        </p:nvSpPr>
        <p:spPr>
          <a:xfrm>
            <a:off x="14249400" y="2211705"/>
            <a:ext cx="3108960" cy="5105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0"/>
          <p:cNvSpPr/>
          <p:nvPr/>
        </p:nvSpPr>
        <p:spPr>
          <a:xfrm>
            <a:off x="14420850" y="2326005"/>
            <a:ext cx="17983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16546711" y="2326005"/>
            <a:ext cx="71639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1+4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0"/>
          <p:cNvSpPr/>
          <p:nvPr/>
        </p:nvSpPr>
        <p:spPr>
          <a:xfrm>
            <a:off x="14420850" y="2874645"/>
            <a:ext cx="2859329" cy="2506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tx_no (PK)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type </a:t>
            </a: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CHK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tx_date, tx_time amount </a:t>
            </a: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customer_id (FK, NN) branch_name (FK, NN)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914400" y="5777865"/>
            <a:ext cx="16459200" cy="1533525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0"/>
          <p:cNvSpPr/>
          <p:nvPr/>
        </p:nvSpPr>
        <p:spPr>
          <a:xfrm>
            <a:off x="914400" y="5777865"/>
            <a:ext cx="45720" cy="1533525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0"/>
          <p:cNvSpPr/>
          <p:nvPr/>
        </p:nvSpPr>
        <p:spPr>
          <a:xfrm>
            <a:off x="1226820" y="5987415"/>
            <a:ext cx="16373856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Design note: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customer–account is 1:1 with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both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sides total, so step 3 allows a </a:t>
            </a:r>
            <a:r>
              <a:rPr b="0" i="1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. We keep two tables and put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customer_id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account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UNIQUE + NOT NULL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— that keeps it exactly 1:1. Branch has two candidate keys (name, address): name is the PK, address becomes UNIQUE.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1"/>
          <p:cNvSpPr/>
          <p:nvPr/>
        </p:nvSpPr>
        <p:spPr>
          <a:xfrm>
            <a:off x="914400" y="838200"/>
            <a:ext cx="647889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CAR CASE STUDY · 1 OF 3 · NARRATIVE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6956703" y="958215"/>
            <a:ext cx="1041689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1"/>
          <p:cNvSpPr/>
          <p:nvPr/>
        </p:nvSpPr>
        <p:spPr>
          <a:xfrm>
            <a:off x="914400" y="1383030"/>
            <a:ext cx="1810512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83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car manufacturer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914400" y="2297430"/>
            <a:ext cx="9545737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 organisation makes many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models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of cars — each with a unique name, a suffix (GL, XL…) and an engine size.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914400" y="3345180"/>
            <a:ext cx="9545737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Each model is made of many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parts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(id, description, production year, and many images). A part may appear in many models.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914400" y="4392930"/>
            <a:ext cx="954573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Each model is produced at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exactly one factory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Five factories exist — London, Birmingham, Bristol, Wolverhampton, Manchester — each with a machine count, capacity, OS, DBMS, Internet.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914400" y="5869305"/>
            <a:ext cx="9267706" cy="1590675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1"/>
          <p:cNvSpPr/>
          <p:nvPr/>
        </p:nvSpPr>
        <p:spPr>
          <a:xfrm>
            <a:off x="914400" y="5869305"/>
            <a:ext cx="45720" cy="15906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1"/>
          <p:cNvSpPr/>
          <p:nvPr/>
        </p:nvSpPr>
        <p:spPr>
          <a:xfrm>
            <a:off x="1150620" y="6021705"/>
            <a:ext cx="911901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Key constraint: 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parts and the model are produced in the </a:t>
            </a:r>
            <a:r>
              <a:rPr b="1" i="1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same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factory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. That ties the three entities together as one fact — a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ternary 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relationship.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10753606" y="2297430"/>
            <a:ext cx="6619875" cy="516255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1"/>
          <p:cNvSpPr/>
          <p:nvPr/>
        </p:nvSpPr>
        <p:spPr>
          <a:xfrm>
            <a:off x="11104126" y="2647950"/>
            <a:ext cx="651071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THINK BEFORE THE NEXT SLIDE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11140321" y="309753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many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entities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11140321" y="349377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attribute is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multi-valued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11140321" y="389001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173355" lvl="0" marL="173355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 ↔ part — what cardinality?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11140321" y="428625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173355" lvl="0" marL="173355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 ↔ factory — what cardinality?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11140321" y="468249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is the fact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ternary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, not three binaries?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2"/>
          <p:cNvSpPr/>
          <p:nvPr/>
        </p:nvSpPr>
        <p:spPr>
          <a:xfrm>
            <a:off x="914400" y="838200"/>
            <a:ext cx="52899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CAR CASE STUDY · 2 OF 3 · ERD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2"/>
          <p:cNvSpPr/>
          <p:nvPr/>
        </p:nvSpPr>
        <p:spPr>
          <a:xfrm>
            <a:off x="5875854" y="958215"/>
            <a:ext cx="1149774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"/>
          <p:cNvSpPr/>
          <p:nvPr/>
        </p:nvSpPr>
        <p:spPr>
          <a:xfrm>
            <a:off x="914400" y="1363980"/>
            <a:ext cx="18105120" cy="6038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15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One ternary “produces” — model, part, factory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2"/>
          <p:cNvSpPr/>
          <p:nvPr/>
        </p:nvSpPr>
        <p:spPr>
          <a:xfrm>
            <a:off x="914400" y="2196465"/>
            <a:ext cx="16459200" cy="5899785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6" name="Google Shape;5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620" y="2432685"/>
            <a:ext cx="15986760" cy="542734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2"/>
          <p:cNvSpPr/>
          <p:nvPr/>
        </p:nvSpPr>
        <p:spPr>
          <a:xfrm>
            <a:off x="914400" y="8362950"/>
            <a:ext cx="16459200" cy="11620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2"/>
          <p:cNvSpPr/>
          <p:nvPr/>
        </p:nvSpPr>
        <p:spPr>
          <a:xfrm>
            <a:off x="914400" y="8362950"/>
            <a:ext cx="45720" cy="1162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2"/>
          <p:cNvSpPr/>
          <p:nvPr/>
        </p:nvSpPr>
        <p:spPr>
          <a:xfrm>
            <a:off x="1226820" y="8572500"/>
            <a:ext cx="1637385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57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Why ternary?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For a given (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) pair the factory is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exactly one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— the same one that makes both. Three separate binary M:N relationships would lose that link.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3"/>
          <p:cNvSpPr/>
          <p:nvPr/>
        </p:nvSpPr>
        <p:spPr>
          <a:xfrm>
            <a:off x="914400" y="838200"/>
            <a:ext cx="588206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CAR CASE STUDY · 3 OF 3 · TABLES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3"/>
          <p:cNvSpPr/>
          <p:nvPr/>
        </p:nvSpPr>
        <p:spPr>
          <a:xfrm>
            <a:off x="6414135" y="958215"/>
            <a:ext cx="1095946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3"/>
          <p:cNvSpPr/>
          <p:nvPr/>
        </p:nvSpPr>
        <p:spPr>
          <a:xfrm>
            <a:off x="914400" y="1363980"/>
            <a:ext cx="18105120" cy="6038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15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car schema, mapped step by step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914400" y="2196465"/>
            <a:ext cx="3139440" cy="253746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3"/>
          <p:cNvSpPr/>
          <p:nvPr/>
        </p:nvSpPr>
        <p:spPr>
          <a:xfrm>
            <a:off x="922020" y="2204085"/>
            <a:ext cx="3124200" cy="5105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3"/>
          <p:cNvSpPr/>
          <p:nvPr/>
        </p:nvSpPr>
        <p:spPr>
          <a:xfrm>
            <a:off x="1093470" y="2318385"/>
            <a:ext cx="8193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3394591" y="2318385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1093470" y="2867025"/>
            <a:ext cx="2875026" cy="1261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name (PK)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suffix engine_size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4244340" y="2196465"/>
            <a:ext cx="3139440" cy="253746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3"/>
          <p:cNvSpPr/>
          <p:nvPr/>
        </p:nvSpPr>
        <p:spPr>
          <a:xfrm>
            <a:off x="4251960" y="2204085"/>
            <a:ext cx="3124200" cy="5105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3"/>
          <p:cNvSpPr/>
          <p:nvPr/>
        </p:nvSpPr>
        <p:spPr>
          <a:xfrm>
            <a:off x="4423410" y="2318385"/>
            <a:ext cx="6706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part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6724531" y="2318385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/>
          <p:nvPr/>
        </p:nvSpPr>
        <p:spPr>
          <a:xfrm>
            <a:off x="4423410" y="2867025"/>
            <a:ext cx="2875026" cy="1261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part_id (PK)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 year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3"/>
          <p:cNvSpPr/>
          <p:nvPr/>
        </p:nvSpPr>
        <p:spPr>
          <a:xfrm>
            <a:off x="7574280" y="2196465"/>
            <a:ext cx="3139440" cy="253746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3"/>
          <p:cNvSpPr/>
          <p:nvPr/>
        </p:nvSpPr>
        <p:spPr>
          <a:xfrm>
            <a:off x="7581900" y="2204085"/>
            <a:ext cx="3124200" cy="5105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3"/>
          <p:cNvSpPr/>
          <p:nvPr/>
        </p:nvSpPr>
        <p:spPr>
          <a:xfrm>
            <a:off x="7753350" y="2318385"/>
            <a:ext cx="11165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factory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3"/>
          <p:cNvSpPr/>
          <p:nvPr/>
        </p:nvSpPr>
        <p:spPr>
          <a:xfrm>
            <a:off x="10054471" y="2318385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3"/>
          <p:cNvSpPr/>
          <p:nvPr/>
        </p:nvSpPr>
        <p:spPr>
          <a:xfrm>
            <a:off x="7753350" y="2867025"/>
            <a:ext cx="2875026" cy="1661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city (PK)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machines, capacity os, dbms, internet </a:t>
            </a: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← composite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3"/>
          <p:cNvSpPr/>
          <p:nvPr/>
        </p:nvSpPr>
        <p:spPr>
          <a:xfrm>
            <a:off x="10904220" y="2196465"/>
            <a:ext cx="3139440" cy="253746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3"/>
          <p:cNvSpPr/>
          <p:nvPr/>
        </p:nvSpPr>
        <p:spPr>
          <a:xfrm>
            <a:off x="10919460" y="2211705"/>
            <a:ext cx="3108960" cy="5105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3"/>
          <p:cNvSpPr/>
          <p:nvPr/>
        </p:nvSpPr>
        <p:spPr>
          <a:xfrm>
            <a:off x="11090910" y="2326005"/>
            <a:ext cx="163488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part_image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3"/>
          <p:cNvSpPr/>
          <p:nvPr/>
        </p:nvSpPr>
        <p:spPr>
          <a:xfrm>
            <a:off x="13376792" y="2326005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3"/>
          <p:cNvSpPr/>
          <p:nvPr/>
        </p:nvSpPr>
        <p:spPr>
          <a:xfrm>
            <a:off x="11090910" y="2874645"/>
            <a:ext cx="2859329" cy="883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part_id (PK, FK) </a:t>
            </a: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image_url (PK)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3"/>
          <p:cNvSpPr/>
          <p:nvPr/>
        </p:nvSpPr>
        <p:spPr>
          <a:xfrm>
            <a:off x="14234160" y="2196465"/>
            <a:ext cx="3139440" cy="253746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3"/>
          <p:cNvSpPr/>
          <p:nvPr/>
        </p:nvSpPr>
        <p:spPr>
          <a:xfrm>
            <a:off x="14249400" y="2211705"/>
            <a:ext cx="3108960" cy="5105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3"/>
          <p:cNvSpPr/>
          <p:nvPr/>
        </p:nvSpPr>
        <p:spPr>
          <a:xfrm>
            <a:off x="14420850" y="2326005"/>
            <a:ext cx="126515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produces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3"/>
          <p:cNvSpPr/>
          <p:nvPr/>
        </p:nvSpPr>
        <p:spPr>
          <a:xfrm>
            <a:off x="16706731" y="2326005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3"/>
          <p:cNvSpPr/>
          <p:nvPr/>
        </p:nvSpPr>
        <p:spPr>
          <a:xfrm>
            <a:off x="14420850" y="2874645"/>
            <a:ext cx="2859329" cy="1729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model_name (PK, FK) part_id (PK, FK) factory_city (FK, NN)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3"/>
          <p:cNvSpPr/>
          <p:nvPr/>
        </p:nvSpPr>
        <p:spPr>
          <a:xfrm>
            <a:off x="914400" y="5000625"/>
            <a:ext cx="16459200" cy="116205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3"/>
          <p:cNvSpPr/>
          <p:nvPr/>
        </p:nvSpPr>
        <p:spPr>
          <a:xfrm>
            <a:off x="914400" y="5000625"/>
            <a:ext cx="45720" cy="116205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3"/>
          <p:cNvSpPr/>
          <p:nvPr/>
        </p:nvSpPr>
        <p:spPr>
          <a:xfrm>
            <a:off x="1226820" y="5210175"/>
            <a:ext cx="1637385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Design note — the ternary: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composite PK of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produces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is (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model_name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part_id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);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factory_city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is a non-key FK because the same (model, part) pair always lands at one factory — the “same factory” constraint from the narrative.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4"/>
          <p:cNvSpPr/>
          <p:nvPr/>
        </p:nvSpPr>
        <p:spPr>
          <a:xfrm>
            <a:off x="914400" y="838200"/>
            <a:ext cx="6465011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BUS CASE STUDY · 1 OF 3 · NARRATIVE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4"/>
          <p:cNvSpPr/>
          <p:nvPr/>
        </p:nvSpPr>
        <p:spPr>
          <a:xfrm>
            <a:off x="6944083" y="958215"/>
            <a:ext cx="1042951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4"/>
          <p:cNvSpPr/>
          <p:nvPr/>
        </p:nvSpPr>
        <p:spPr>
          <a:xfrm>
            <a:off x="914400" y="1383030"/>
            <a:ext cx="1810512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83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country bus company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4"/>
          <p:cNvSpPr/>
          <p:nvPr/>
        </p:nvSpPr>
        <p:spPr>
          <a:xfrm>
            <a:off x="914400" y="2297430"/>
            <a:ext cx="9545737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company owns many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buses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— number, no. of chairs, brand, and one or more </a:t>
            </a:r>
            <a:r>
              <a:rPr b="1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options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(AC, automatic, PS).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4"/>
          <p:cNvSpPr/>
          <p:nvPr/>
        </p:nvSpPr>
        <p:spPr>
          <a:xfrm>
            <a:off x="914400" y="3326130"/>
            <a:ext cx="9545737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is allocated to one </a:t>
            </a:r>
            <a:r>
              <a:rPr b="1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route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; a route may have many buses. A route has km, start, end, duration.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4"/>
          <p:cNvSpPr/>
          <p:nvPr/>
        </p:nvSpPr>
        <p:spPr>
          <a:xfrm>
            <a:off x="914400" y="4354830"/>
            <a:ext cx="9545737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route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passes through many </a:t>
            </a:r>
            <a:r>
              <a:rPr b="1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towns </a:t>
            </a: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; a town may be on many routes. Each town has a unique name and a station name.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4"/>
          <p:cNvSpPr/>
          <p:nvPr/>
        </p:nvSpPr>
        <p:spPr>
          <a:xfrm>
            <a:off x="914400" y="5383530"/>
            <a:ext cx="9267706" cy="11620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4"/>
          <p:cNvSpPr/>
          <p:nvPr/>
        </p:nvSpPr>
        <p:spPr>
          <a:xfrm>
            <a:off x="914400" y="5383530"/>
            <a:ext cx="45720" cy="1162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4"/>
          <p:cNvSpPr/>
          <p:nvPr/>
        </p:nvSpPr>
        <p:spPr>
          <a:xfrm>
            <a:off x="1150620" y="5535930"/>
            <a:ext cx="9119017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Time-varying: 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one or more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drivers 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are allocated to a route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for a period 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. The system keeps every change </a:t>
            </a: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0" lang="en-US" sz="22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each driver's last route.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4"/>
          <p:cNvSpPr/>
          <p:nvPr/>
        </p:nvSpPr>
        <p:spPr>
          <a:xfrm>
            <a:off x="10753606" y="2297430"/>
            <a:ext cx="6619875" cy="424815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4"/>
          <p:cNvSpPr/>
          <p:nvPr/>
        </p:nvSpPr>
        <p:spPr>
          <a:xfrm>
            <a:off x="11104126" y="2647950"/>
            <a:ext cx="651071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THINK BEFORE THE NEXT SLIDE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4"/>
          <p:cNvSpPr/>
          <p:nvPr/>
        </p:nvSpPr>
        <p:spPr>
          <a:xfrm>
            <a:off x="11140321" y="309753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attribute is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multi-valued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4"/>
          <p:cNvSpPr/>
          <p:nvPr/>
        </p:nvSpPr>
        <p:spPr>
          <a:xfrm>
            <a:off x="11140321" y="349377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173355" lvl="0" marL="173355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 ↔ route — what cardinality?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4"/>
          <p:cNvSpPr/>
          <p:nvPr/>
        </p:nvSpPr>
        <p:spPr>
          <a:xfrm>
            <a:off x="11140321" y="389001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173355" lvl="0" marL="173355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route ↔ town — what cardinality?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4"/>
          <p:cNvSpPr/>
          <p:nvPr/>
        </p:nvSpPr>
        <p:spPr>
          <a:xfrm>
            <a:off x="11140321" y="428625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do you record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allocation history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4"/>
          <p:cNvSpPr/>
          <p:nvPr/>
        </p:nvSpPr>
        <p:spPr>
          <a:xfrm>
            <a:off x="11140321" y="4682490"/>
            <a:ext cx="605391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Where does the </a:t>
            </a: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last route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 driver live?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5"/>
          <p:cNvSpPr/>
          <p:nvPr/>
        </p:nvSpPr>
        <p:spPr>
          <a:xfrm>
            <a:off x="914400" y="838200"/>
            <a:ext cx="527607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BUS CASE STUDY · 2 OF 3 · ERD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5"/>
          <p:cNvSpPr/>
          <p:nvPr/>
        </p:nvSpPr>
        <p:spPr>
          <a:xfrm>
            <a:off x="5863233" y="958215"/>
            <a:ext cx="1151036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5"/>
          <p:cNvSpPr/>
          <p:nvPr/>
        </p:nvSpPr>
        <p:spPr>
          <a:xfrm>
            <a:off x="914400" y="1325880"/>
            <a:ext cx="18105120" cy="6038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15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 · route · town · driver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5"/>
          <p:cNvSpPr/>
          <p:nvPr/>
        </p:nvSpPr>
        <p:spPr>
          <a:xfrm>
            <a:off x="914400" y="2120265"/>
            <a:ext cx="16459200" cy="6052185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6" name="Google Shape;6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620" y="2356485"/>
            <a:ext cx="15986760" cy="5579745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25"/>
          <p:cNvSpPr/>
          <p:nvPr/>
        </p:nvSpPr>
        <p:spPr>
          <a:xfrm>
            <a:off x="914400" y="8401050"/>
            <a:ext cx="16459200" cy="11239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5"/>
          <p:cNvSpPr/>
          <p:nvPr/>
        </p:nvSpPr>
        <p:spPr>
          <a:xfrm>
            <a:off x="914400" y="8401050"/>
            <a:ext cx="45720" cy="11239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5"/>
          <p:cNvSpPr/>
          <p:nvPr/>
        </p:nvSpPr>
        <p:spPr>
          <a:xfrm>
            <a:off x="1226820" y="8591550"/>
            <a:ext cx="1637385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57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Allocation history: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drives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is M:N with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start_date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end_date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— every reassignment is a new row.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last route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is a separate 1:N so each driver points to exactly one current route.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6"/>
          <p:cNvSpPr/>
          <p:nvPr/>
        </p:nvSpPr>
        <p:spPr>
          <a:xfrm>
            <a:off x="914400" y="838200"/>
            <a:ext cx="586818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BUS CASE STUDY · 3 OF 3 · TABLES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6401514" y="958215"/>
            <a:ext cx="1097208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914400" y="1325880"/>
            <a:ext cx="1810512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64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bus schema, mapped step by step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6"/>
          <p:cNvSpPr/>
          <p:nvPr/>
        </p:nvSpPr>
        <p:spPr>
          <a:xfrm>
            <a:off x="914400" y="2057400"/>
            <a:ext cx="5372100" cy="209169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929640" y="2072640"/>
            <a:ext cx="5341620" cy="5105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6"/>
          <p:cNvSpPr/>
          <p:nvPr/>
        </p:nvSpPr>
        <p:spPr>
          <a:xfrm>
            <a:off x="1101090" y="2186940"/>
            <a:ext cx="5220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bus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6"/>
          <p:cNvSpPr/>
          <p:nvPr/>
        </p:nvSpPr>
        <p:spPr>
          <a:xfrm>
            <a:off x="5299472" y="2186940"/>
            <a:ext cx="8765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1 + 4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6"/>
          <p:cNvSpPr/>
          <p:nvPr/>
        </p:nvSpPr>
        <p:spPr>
          <a:xfrm>
            <a:off x="1101090" y="2735580"/>
            <a:ext cx="5158968" cy="12839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number (PK)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chairs, brand </a:t>
            </a: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route_id (FK, NN)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6"/>
          <p:cNvSpPr/>
          <p:nvPr/>
        </p:nvSpPr>
        <p:spPr>
          <a:xfrm>
            <a:off x="6457950" y="2057400"/>
            <a:ext cx="5372100" cy="209169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6"/>
          <p:cNvSpPr/>
          <p:nvPr/>
        </p:nvSpPr>
        <p:spPr>
          <a:xfrm>
            <a:off x="6465570" y="2065020"/>
            <a:ext cx="5356860" cy="5105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6"/>
          <p:cNvSpPr/>
          <p:nvPr/>
        </p:nvSpPr>
        <p:spPr>
          <a:xfrm>
            <a:off x="6637020" y="2179320"/>
            <a:ext cx="8193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route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6"/>
          <p:cNvSpPr/>
          <p:nvPr/>
        </p:nvSpPr>
        <p:spPr>
          <a:xfrm>
            <a:off x="11170801" y="2179320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6"/>
          <p:cNvSpPr/>
          <p:nvPr/>
        </p:nvSpPr>
        <p:spPr>
          <a:xfrm>
            <a:off x="6637020" y="2727960"/>
            <a:ext cx="5174666" cy="1261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route_id (PK)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km, start, end duration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6"/>
          <p:cNvSpPr/>
          <p:nvPr/>
        </p:nvSpPr>
        <p:spPr>
          <a:xfrm>
            <a:off x="12001500" y="2057400"/>
            <a:ext cx="5372100" cy="2091690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6"/>
          <p:cNvSpPr/>
          <p:nvPr/>
        </p:nvSpPr>
        <p:spPr>
          <a:xfrm>
            <a:off x="12009120" y="2065020"/>
            <a:ext cx="5356860" cy="5105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6"/>
          <p:cNvSpPr/>
          <p:nvPr/>
        </p:nvSpPr>
        <p:spPr>
          <a:xfrm>
            <a:off x="12180570" y="2179320"/>
            <a:ext cx="6706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town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6"/>
          <p:cNvSpPr/>
          <p:nvPr/>
        </p:nvSpPr>
        <p:spPr>
          <a:xfrm>
            <a:off x="16714351" y="2179320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12180570" y="2727960"/>
            <a:ext cx="5174666" cy="861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name (PK)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6"/>
          <p:cNvSpPr/>
          <p:nvPr/>
        </p:nvSpPr>
        <p:spPr>
          <a:xfrm>
            <a:off x="914400" y="4320540"/>
            <a:ext cx="5372100" cy="249174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6"/>
          <p:cNvSpPr/>
          <p:nvPr/>
        </p:nvSpPr>
        <p:spPr>
          <a:xfrm>
            <a:off x="929640" y="4335780"/>
            <a:ext cx="5341620" cy="5105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6"/>
          <p:cNvSpPr/>
          <p:nvPr/>
        </p:nvSpPr>
        <p:spPr>
          <a:xfrm>
            <a:off x="1101090" y="4450080"/>
            <a:ext cx="163488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bus_option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6"/>
          <p:cNvSpPr/>
          <p:nvPr/>
        </p:nvSpPr>
        <p:spPr>
          <a:xfrm>
            <a:off x="5619631" y="4450080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6"/>
          <p:cNvSpPr/>
          <p:nvPr/>
        </p:nvSpPr>
        <p:spPr>
          <a:xfrm>
            <a:off x="1101090" y="4998720"/>
            <a:ext cx="5158968" cy="883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bus_number (PK, FK) </a:t>
            </a: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option (PK) </a:t>
            </a: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CHK AC·Auto·PS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6"/>
          <p:cNvSpPr/>
          <p:nvPr/>
        </p:nvSpPr>
        <p:spPr>
          <a:xfrm>
            <a:off x="6457950" y="4320540"/>
            <a:ext cx="5372100" cy="249174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6"/>
          <p:cNvSpPr/>
          <p:nvPr/>
        </p:nvSpPr>
        <p:spPr>
          <a:xfrm>
            <a:off x="6473190" y="4335780"/>
            <a:ext cx="5341620" cy="5105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6"/>
          <p:cNvSpPr/>
          <p:nvPr/>
        </p:nvSpPr>
        <p:spPr>
          <a:xfrm>
            <a:off x="6644640" y="4450080"/>
            <a:ext cx="163488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route_town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6"/>
          <p:cNvSpPr/>
          <p:nvPr/>
        </p:nvSpPr>
        <p:spPr>
          <a:xfrm>
            <a:off x="11163181" y="4450080"/>
            <a:ext cx="5563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6"/>
          <p:cNvSpPr/>
          <p:nvPr/>
        </p:nvSpPr>
        <p:spPr>
          <a:xfrm>
            <a:off x="6644640" y="4998720"/>
            <a:ext cx="5158968" cy="883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route_id (PK, FK) town_name (PK, FK)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6"/>
          <p:cNvSpPr/>
          <p:nvPr/>
        </p:nvSpPr>
        <p:spPr>
          <a:xfrm>
            <a:off x="12001500" y="4320540"/>
            <a:ext cx="5372100" cy="249174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6"/>
          <p:cNvSpPr/>
          <p:nvPr/>
        </p:nvSpPr>
        <p:spPr>
          <a:xfrm>
            <a:off x="12016740" y="4335780"/>
            <a:ext cx="5341620" cy="5105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6"/>
          <p:cNvSpPr/>
          <p:nvPr/>
        </p:nvSpPr>
        <p:spPr>
          <a:xfrm>
            <a:off x="12188190" y="4450080"/>
            <a:ext cx="9679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6"/>
          <p:cNvSpPr/>
          <p:nvPr/>
        </p:nvSpPr>
        <p:spPr>
          <a:xfrm>
            <a:off x="16386572" y="4450080"/>
            <a:ext cx="8765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1 + 4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6"/>
          <p:cNvSpPr/>
          <p:nvPr/>
        </p:nvSpPr>
        <p:spPr>
          <a:xfrm>
            <a:off x="12188190" y="4998720"/>
            <a:ext cx="5158968" cy="1684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driver_id (PK) 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name, mobile, hire_date salary, grade </a:t>
            </a: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last_route_id (FK)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6"/>
          <p:cNvSpPr/>
          <p:nvPr/>
        </p:nvSpPr>
        <p:spPr>
          <a:xfrm>
            <a:off x="914400" y="7040880"/>
            <a:ext cx="16459200" cy="1268730"/>
          </a:xfrm>
          <a:prstGeom prst="rect">
            <a:avLst/>
          </a:prstGeom>
          <a:noFill/>
          <a:ln cap="flat" cmpd="sng" w="152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6"/>
          <p:cNvSpPr/>
          <p:nvPr/>
        </p:nvSpPr>
        <p:spPr>
          <a:xfrm>
            <a:off x="929640" y="7056120"/>
            <a:ext cx="16428720" cy="5105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6"/>
          <p:cNvSpPr/>
          <p:nvPr/>
        </p:nvSpPr>
        <p:spPr>
          <a:xfrm>
            <a:off x="1101090" y="7170420"/>
            <a:ext cx="65391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drives · time-stamped allocation history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14706124" y="7170420"/>
            <a:ext cx="255698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step 5 + relationship attribute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6"/>
          <p:cNvSpPr/>
          <p:nvPr/>
        </p:nvSpPr>
        <p:spPr>
          <a:xfrm>
            <a:off x="1101090" y="7719060"/>
            <a:ext cx="16578682" cy="4610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driver_id (PK, FK)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1800" u="none" cap="none" strike="noStrike">
                <a:solidFill>
                  <a:srgbClr val="0E8A8A"/>
                </a:solidFill>
                <a:latin typeface="Courier New"/>
                <a:ea typeface="Courier New"/>
                <a:cs typeface="Courier New"/>
                <a:sym typeface="Courier New"/>
              </a:rPr>
              <a:t>route_id (PK, FK)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18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start_date (PK)</a:t>
            </a:r>
            <a:r>
              <a:rPr b="0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, end_date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6"/>
          <p:cNvSpPr/>
          <p:nvPr/>
        </p:nvSpPr>
        <p:spPr>
          <a:xfrm>
            <a:off x="914400" y="8538210"/>
            <a:ext cx="16459200" cy="108585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6"/>
          <p:cNvSpPr/>
          <p:nvPr/>
        </p:nvSpPr>
        <p:spPr>
          <a:xfrm>
            <a:off x="914400" y="8538210"/>
            <a:ext cx="45720" cy="108585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6"/>
          <p:cNvSpPr/>
          <p:nvPr/>
        </p:nvSpPr>
        <p:spPr>
          <a:xfrm>
            <a:off x="1226820" y="8709660"/>
            <a:ext cx="1637385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History + last route: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every reassignment inserts a new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drives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row;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driver.last_route_id </a:t>
            </a:r>
            <a:r>
              <a:rPr b="0" i="0" lang="en-US" sz="1950" u="none" cap="none" strike="noStrike">
                <a:solidFill>
                  <a:srgbClr val="0F172A"/>
                </a:solidFill>
                <a:highlight>
                  <a:srgbClr val="E6F4F4"/>
                </a:highlight>
                <a:latin typeface="Arial"/>
                <a:ea typeface="Arial"/>
                <a:cs typeface="Arial"/>
                <a:sym typeface="Arial"/>
              </a:rPr>
              <a:t>is a convenience FK updated on each change (otherwise derivable as the most recent row).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7"/>
          <p:cNvSpPr/>
          <p:nvPr/>
        </p:nvSpPr>
        <p:spPr>
          <a:xfrm>
            <a:off x="914400" y="838200"/>
            <a:ext cx="1836051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20 · RECAP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7"/>
          <p:cNvSpPr/>
          <p:nvPr/>
        </p:nvSpPr>
        <p:spPr>
          <a:xfrm>
            <a:off x="2735937" y="958215"/>
            <a:ext cx="1463766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7"/>
          <p:cNvSpPr/>
          <p:nvPr/>
        </p:nvSpPr>
        <p:spPr>
          <a:xfrm>
            <a:off x="914400" y="1478280"/>
            <a:ext cx="18105120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91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to walk out remembering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7"/>
          <p:cNvSpPr/>
          <p:nvPr/>
        </p:nvSpPr>
        <p:spPr>
          <a:xfrm>
            <a:off x="914400" y="360807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7"/>
          <p:cNvSpPr/>
          <p:nvPr/>
        </p:nvSpPr>
        <p:spPr>
          <a:xfrm>
            <a:off x="914400" y="3009900"/>
            <a:ext cx="6477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7"/>
          <p:cNvSpPr/>
          <p:nvPr/>
        </p:nvSpPr>
        <p:spPr>
          <a:xfrm>
            <a:off x="1752600" y="2971800"/>
            <a:ext cx="12906578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10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Every entity → one table. Weak entities carry the owner's FK inside their PK.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7"/>
          <p:cNvSpPr/>
          <p:nvPr/>
        </p:nvSpPr>
        <p:spPr>
          <a:xfrm>
            <a:off x="914400" y="465201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7"/>
          <p:cNvSpPr/>
          <p:nvPr/>
        </p:nvSpPr>
        <p:spPr>
          <a:xfrm>
            <a:off x="914400" y="4053840"/>
            <a:ext cx="6477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7"/>
          <p:cNvSpPr/>
          <p:nvPr/>
        </p:nvSpPr>
        <p:spPr>
          <a:xfrm>
            <a:off x="1752600" y="4015740"/>
            <a:ext cx="9303889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10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1:1 — merge, FK on the mandatory side, or a link table.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7"/>
          <p:cNvSpPr/>
          <p:nvPr/>
        </p:nvSpPr>
        <p:spPr>
          <a:xfrm>
            <a:off x="914400" y="569595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7"/>
          <p:cNvSpPr/>
          <p:nvPr/>
        </p:nvSpPr>
        <p:spPr>
          <a:xfrm>
            <a:off x="914400" y="5097780"/>
            <a:ext cx="6477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7"/>
          <p:cNvSpPr/>
          <p:nvPr/>
        </p:nvSpPr>
        <p:spPr>
          <a:xfrm>
            <a:off x="1752600" y="5059680"/>
            <a:ext cx="5450003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10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1:N — FK on the N side. Always.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7"/>
          <p:cNvSpPr/>
          <p:nvPr/>
        </p:nvSpPr>
        <p:spPr>
          <a:xfrm>
            <a:off x="914400" y="673989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7"/>
          <p:cNvSpPr/>
          <p:nvPr/>
        </p:nvSpPr>
        <p:spPr>
          <a:xfrm>
            <a:off x="914400" y="6141720"/>
            <a:ext cx="6477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7"/>
          <p:cNvSpPr/>
          <p:nvPr/>
        </p:nvSpPr>
        <p:spPr>
          <a:xfrm>
            <a:off x="1752600" y="6103620"/>
            <a:ext cx="11856339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10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M:N and N-ary — a new junction table whose PK is the combined FKs.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7"/>
          <p:cNvSpPr/>
          <p:nvPr/>
        </p:nvSpPr>
        <p:spPr>
          <a:xfrm>
            <a:off x="914400" y="7185660"/>
            <a:ext cx="6477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7"/>
          <p:cNvSpPr/>
          <p:nvPr/>
        </p:nvSpPr>
        <p:spPr>
          <a:xfrm>
            <a:off x="1752600" y="7147560"/>
            <a:ext cx="12788181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10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Multi-valued attributes get their own table — never a comma-separated cell.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8"/>
          <p:cNvSpPr/>
          <p:nvPr/>
        </p:nvSpPr>
        <p:spPr>
          <a:xfrm>
            <a:off x="914400" y="838200"/>
            <a:ext cx="3691747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21 · CHECK YOURSELF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8"/>
          <p:cNvSpPr/>
          <p:nvPr/>
        </p:nvSpPr>
        <p:spPr>
          <a:xfrm>
            <a:off x="4422934" y="958215"/>
            <a:ext cx="1295066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8"/>
          <p:cNvSpPr/>
          <p:nvPr/>
        </p:nvSpPr>
        <p:spPr>
          <a:xfrm>
            <a:off x="914400" y="1478280"/>
            <a:ext cx="18105120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91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Three questions · answers in notes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8"/>
          <p:cNvSpPr/>
          <p:nvPr/>
        </p:nvSpPr>
        <p:spPr>
          <a:xfrm>
            <a:off x="914400" y="2686050"/>
            <a:ext cx="5308521" cy="4204335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8"/>
          <p:cNvSpPr/>
          <p:nvPr/>
        </p:nvSpPr>
        <p:spPr>
          <a:xfrm>
            <a:off x="1264920" y="3036570"/>
            <a:ext cx="506822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Q1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8"/>
          <p:cNvSpPr/>
          <p:nvPr/>
        </p:nvSpPr>
        <p:spPr>
          <a:xfrm>
            <a:off x="1264920" y="3451860"/>
            <a:ext cx="4745705" cy="1160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student enrols in many courses; a course has many students. How many tables?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8"/>
          <p:cNvSpPr/>
          <p:nvPr/>
        </p:nvSpPr>
        <p:spPr>
          <a:xfrm>
            <a:off x="1264920" y="4783455"/>
            <a:ext cx="474570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A.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8"/>
          <p:cNvSpPr/>
          <p:nvPr/>
        </p:nvSpPr>
        <p:spPr>
          <a:xfrm>
            <a:off x="1264920" y="5286375"/>
            <a:ext cx="474570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B.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8"/>
          <p:cNvSpPr/>
          <p:nvPr/>
        </p:nvSpPr>
        <p:spPr>
          <a:xfrm>
            <a:off x="1264920" y="5789295"/>
            <a:ext cx="474570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C.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8"/>
          <p:cNvSpPr/>
          <p:nvPr/>
        </p:nvSpPr>
        <p:spPr>
          <a:xfrm>
            <a:off x="6489621" y="2686050"/>
            <a:ext cx="5308640" cy="4204335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8"/>
          <p:cNvSpPr/>
          <p:nvPr/>
        </p:nvSpPr>
        <p:spPr>
          <a:xfrm>
            <a:off x="6840141" y="3036570"/>
            <a:ext cx="5068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Q2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8"/>
          <p:cNvSpPr/>
          <p:nvPr/>
        </p:nvSpPr>
        <p:spPr>
          <a:xfrm>
            <a:off x="6840141" y="3451860"/>
            <a:ext cx="4745828" cy="796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One instructor teaches many courses. Where does the FK go?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8"/>
          <p:cNvSpPr/>
          <p:nvPr/>
        </p:nvSpPr>
        <p:spPr>
          <a:xfrm>
            <a:off x="6840141" y="4419600"/>
            <a:ext cx="474582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A.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instructor 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8"/>
          <p:cNvSpPr/>
          <p:nvPr/>
        </p:nvSpPr>
        <p:spPr>
          <a:xfrm>
            <a:off x="6840141" y="4922520"/>
            <a:ext cx="474582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B.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new junction 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8"/>
          <p:cNvSpPr/>
          <p:nvPr/>
        </p:nvSpPr>
        <p:spPr>
          <a:xfrm>
            <a:off x="6840141" y="5425440"/>
            <a:ext cx="474582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C.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course 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8"/>
          <p:cNvSpPr/>
          <p:nvPr/>
        </p:nvSpPr>
        <p:spPr>
          <a:xfrm>
            <a:off x="12064960" y="2686050"/>
            <a:ext cx="5308640" cy="4204335"/>
          </a:xfrm>
          <a:prstGeom prst="rect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8"/>
          <p:cNvSpPr/>
          <p:nvPr/>
        </p:nvSpPr>
        <p:spPr>
          <a:xfrm>
            <a:off x="12415481" y="3036570"/>
            <a:ext cx="5068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Q3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8"/>
          <p:cNvSpPr/>
          <p:nvPr/>
        </p:nvSpPr>
        <p:spPr>
          <a:xfrm>
            <a:off x="12415481" y="3451860"/>
            <a:ext cx="4745828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1:1 relationship, both sides mandatory. Best mapping?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8"/>
          <p:cNvSpPr/>
          <p:nvPr/>
        </p:nvSpPr>
        <p:spPr>
          <a:xfrm>
            <a:off x="12415481" y="4411980"/>
            <a:ext cx="474582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A.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Link 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8"/>
          <p:cNvSpPr/>
          <p:nvPr/>
        </p:nvSpPr>
        <p:spPr>
          <a:xfrm>
            <a:off x="12415481" y="4914900"/>
            <a:ext cx="474582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B.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Merge the two tables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8"/>
          <p:cNvSpPr/>
          <p:nvPr/>
        </p:nvSpPr>
        <p:spPr>
          <a:xfrm>
            <a:off x="12415481" y="5417820"/>
            <a:ext cx="4745828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C. 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FK on either side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9"/>
          <p:cNvSpPr/>
          <p:nvPr/>
        </p:nvSpPr>
        <p:spPr>
          <a:xfrm>
            <a:off x="914400" y="838200"/>
            <a:ext cx="3367207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UP NEXT · LESSON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9"/>
          <p:cNvSpPr/>
          <p:nvPr/>
        </p:nvSpPr>
        <p:spPr>
          <a:xfrm>
            <a:off x="4127897" y="958215"/>
            <a:ext cx="1324570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9"/>
          <p:cNvSpPr/>
          <p:nvPr/>
        </p:nvSpPr>
        <p:spPr>
          <a:xfrm>
            <a:off x="914400" y="3186113"/>
            <a:ext cx="1810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LESSON 4 · SQL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9"/>
          <p:cNvSpPr/>
          <p:nvPr/>
        </p:nvSpPr>
        <p:spPr>
          <a:xfrm>
            <a:off x="914400" y="3696653"/>
            <a:ext cx="16952976" cy="2278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96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We'll write </a:t>
            </a:r>
            <a:r>
              <a:rPr b="1" i="0" lang="en-US" sz="90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SQL </a:t>
            </a:r>
            <a:r>
              <a:rPr b="1" i="0" lang="en-US" sz="9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 these tables.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9"/>
          <p:cNvSpPr/>
          <p:nvPr/>
        </p:nvSpPr>
        <p:spPr>
          <a:xfrm>
            <a:off x="914400" y="6279832"/>
            <a:ext cx="11772900" cy="9124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Same ITI example — </a:t>
            </a:r>
            <a:r>
              <a:rPr b="0" i="0" lang="en-US" sz="255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</a:t>
            </a:r>
            <a:r>
              <a:rPr b="0" i="0" lang="en-US" sz="25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every constraint, </a:t>
            </a:r>
            <a:r>
              <a:rPr b="0" i="0" lang="en-US" sz="255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b="0" i="0" lang="en-US" sz="25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55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0" i="0" lang="en-US" sz="25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joins and the rest. PostgreSQL dialect, from scratch.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9"/>
          <p:cNvSpPr/>
          <p:nvPr/>
        </p:nvSpPr>
        <p:spPr>
          <a:xfrm>
            <a:off x="914400" y="9243060"/>
            <a:ext cx="35280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ITI · Database Fundamentals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9"/>
          <p:cNvSpPr/>
          <p:nvPr/>
        </p:nvSpPr>
        <p:spPr>
          <a:xfrm>
            <a:off x="14634092" y="9243060"/>
            <a:ext cx="30134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Thank you — questions?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