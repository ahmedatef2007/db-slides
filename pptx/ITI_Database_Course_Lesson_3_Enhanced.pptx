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</p:sldIdLst>
  <p:sldSz cy="10287000" cx="18288000"/>
  <p:notesSz cx="10287000" cy="18288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Welcome. This is Lesson 3 of the Database Fundamentals course. Today we turn ERDs into real tables using a 7-step algorithm. By the end, you'll never again stare at an ERD wondering where the foreign key goes.</a:t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6" name="Google Shape;26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Three concrete outcomes. By the end of this lesson students should be able to apply the 7 rules on any ERD, place every foreign key correctly, and justify where it goes.</a:t>
            </a:r>
            <a:endParaRPr/>
          </a:p>
        </p:txBody>
      </p:sp>
      <p:sp>
        <p:nvSpPr>
          <p:cNvPr id="27" name="Google Shape;27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Here is the whole lesson on one slide. Seven rules, then one worked case study, then practice. Each rule gets exactly one slide in the same format: a tiny ERD on the left, the resulting tables on the right, and the FK highlighted.</a:t>
            </a:r>
            <a:endParaRPr/>
          </a:p>
        </p:txBody>
      </p:sp>
      <p:sp>
        <p:nvSpPr>
          <p:cNvPr id="53" name="Google Shape;53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4" name="Google Shape;84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Before we map anything, agree on vocabulary. A relation is a table. A tuple is a row. An attribute is a column. A domain is the set of allowed values for that column. These are the four nouns we use for the next 20 minutes.</a:t>
            </a:r>
            <a:endParaRPr/>
          </a:p>
        </p:txBody>
      </p:sp>
      <p:sp>
        <p:nvSpPr>
          <p:cNvPr id="85" name="Google Shape;85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3" name="Google Shape;14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These five constraints are the tools we spend on every mapping rule. PK uniquely identifies a row. FK points from one table to another. UK is also unique but not necessarily the PK. NOT NULL means a value is required. CHECK enforces a condition.</a:t>
            </a:r>
            <a:endParaRPr/>
          </a:p>
        </p:txBody>
      </p:sp>
      <p:sp>
        <p:nvSpPr>
          <p:cNvPr id="144" name="Google Shape;144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4" name="Google Shape;174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This is the pattern every one of the next seven slides follows. Left: a tiny ERD fragment. Right: the tables it becomes. The arrow is a foreign-key reference. If you can read this one slide, you can read all seven.</a:t>
            </a:r>
            <a:endParaRPr/>
          </a:p>
        </p:txBody>
      </p:sp>
      <p:sp>
        <p:nvSpPr>
          <p:cNvPr id="175" name="Google Shape;175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97" name="Google Shape;19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 simplest rule. Every regular (strong) entity type becomes its own table. Pick one key attribute as the primary key. Nothing to do with other entities yet.</a:t>
            </a:r>
            <a:endParaRPr/>
          </a:p>
        </p:txBody>
      </p:sp>
      <p:sp>
        <p:nvSpPr>
          <p:cNvPr id="198" name="Google Shape;198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34" name="Google Shape;23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A weak entity has no key of its own — it depends on an owner. Create a table for it, add the owner's PK as a FK, and the composite PK is (owner FK + the weak entity's partial key). Example: a dependent needs their employee's id plus their own name to be unique.</a:t>
            </a:r>
          </a:p>
          <a:p/>
          <a:p>
            <a:r>
              <a:t>Reviewer note: with weekday alone as the partial key, an instructor cannot hold two office hours on the same day. If that can happen, the partial key is (weekday, start_time), so the PK becomes (instructor_id, weekday, start_time).</a:t>
            </a:r>
          </a:p>
        </p:txBody>
      </p:sp>
      <p:sp>
        <p:nvSpPr>
          <p:cNvPr id="235" name="Google Shape;235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9" name="Google Shape;259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This is the slide the old deck got wrong. Three cases. Both sides mandatory: merge into one table — no row of either side exists without the other. One mandatory: put the FK on the mandatory side pointing to the optional side — the mandatory row then always has a value, and optional rows have none to orphan. Both optional: a separate link table so neither side carries NULLs.</a:t>
            </a:r>
          </a:p>
          <a:p/>
          <a:p>
            <a:r>
              <a:t>Reviewer note: case C now shows a primary key for the link table. With a 1:1 relationship either FK can be the PK; the other gets UNIQUE. Another valid option for case C is an FK on either side that allows NULLs (plus UNIQUE).</a:t>
            </a:r>
          </a:p>
        </p:txBody>
      </p:sp>
      <p:sp>
        <p:nvSpPr>
          <p:cNvPr id="260" name="Google Shape;260;p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7" name="Google Shape;307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One instructor teaches many courses, but a course has exactly one lead instructor. The FK sits on the many side — course.instructor_id. Any attributes of the relationship itself go on the many-side table too.</a:t>
            </a:r>
            <a:endParaRPr/>
          </a:p>
        </p:txBody>
      </p:sp>
      <p:sp>
        <p:nvSpPr>
          <p:cNvPr id="308" name="Google Shape;308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2" name="Google Shape;332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student can enrol in many courses, and a course has many students. You cannot stuff that into either entity's table without duplicating rows. Make a third table — the junction — with both FKs. Relationship attributes like grade go here.</a:t>
            </a:r>
            <a:endParaRPr/>
          </a:p>
        </p:txBody>
      </p:sp>
      <p:sp>
        <p:nvSpPr>
          <p:cNvPr id="333" name="Google Shape;333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61" name="Google Shape;36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student can have several phone numbers. Never cram them into one column separated by commas — you cannot query that. Make a tiny table with two columns: the owner's FK, and the value. Together they form the PK.</a:t>
            </a:r>
            <a:endParaRPr/>
          </a:p>
        </p:txBody>
      </p:sp>
      <p:sp>
        <p:nvSpPr>
          <p:cNvPr id="362" name="Google Shape;362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86" name="Google Shape;38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 ternary (or higher-arity) relationship cannot be broken into pairs of binary relationships without losing meaning. Example: a supplier delivers a part to a project — the three together are the fact. Make one junction table with three FKs; the PK is all three together.</a:t>
            </a:r>
            <a:endParaRPr/>
          </a:p>
        </p:txBody>
      </p:sp>
      <p:sp>
        <p:nvSpPr>
          <p:cNvPr id="387" name="Google Shape;387;p1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06" name="Google Shape;406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One slide, all seven rules. Print this if you print one slide from the lesson. It is the lookup table you reach for during any mapping exercise.</a:t>
            </a:r>
            <a:endParaRPr/>
          </a:p>
        </p:txBody>
      </p:sp>
      <p:sp>
        <p:nvSpPr>
          <p:cNvPr id="407" name="Google Shape;407;p1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4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56" name="Google Shape;456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These are the three mistakes I see on nearly every first draft. For each: show the wrong version, show the right version, and say in one line why the wrong version breaks.</a:t>
            </a:r>
            <a:endParaRPr/>
          </a:p>
        </p:txBody>
      </p:sp>
      <p:sp>
        <p:nvSpPr>
          <p:cNvPr id="457" name="Google Shape;457;p1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86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88" name="Google Shape;48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Read the narrative aloud. Then ask: how many entities do you see? How many relationships? Which are 1:1, 1:N, M:N? Students should list them before you move to the ERD slide.</a:t>
            </a:r>
            <a:endParaRPr/>
          </a:p>
        </p:txBody>
      </p:sp>
      <p:sp>
        <p:nvSpPr>
          <p:cNvPr id="489" name="Google Shape;489;p1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5" name="Shape 5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Google Shape;50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07" name="Google Shape;507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Four entities, three relationships. Customer–Account 1:1, both sides total (double lines). Customer–Transaction 1:N and Branch–Transaction 1:N, transaction side total — every transaction has a customer and a branch. Branch has two candidate keys (name, address). Customer phone is multi-valued. Ask: is last_tx_date derivable from TRANSACTION? Yes — we store it for speed; mention that.</a:t>
            </a:r>
            <a:endParaRPr/>
          </a:p>
        </p:txBody>
      </p:sp>
      <p:sp>
        <p:nvSpPr>
          <p:cNvPr id="508" name="Google Shape;508;p1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0" name="Shape 5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1" name="Google Shape;521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2" name="Google Shape;5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Branch and customer: step 1 (branch PK = name, address UNIQUE). Account: step 3 — 1:1 both total, so we may merge; we keep it split with customer_id UNIQUE + NOT NULL in account. Customer_phone: step 6. Transaction: step 1 plus two step-4 FKs (customer_id, branch_name), both NOT NULL because of total participation. Every FK is teal.</a:t>
            </a:r>
            <a:endParaRPr/>
          </a:p>
        </p:txBody>
      </p:sp>
      <p:sp>
        <p:nvSpPr>
          <p:cNvPr id="523" name="Google Shape;523;p1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6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58" name="Google Shape;558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Second worked case study. Three entities — model, part, factory. Highlight the last sentence: parts and models in the SAME factory. That is what forces a ternary relationship, not three independent binaries.</a:t>
            </a:r>
            <a:endParaRPr/>
          </a:p>
        </p:txBody>
      </p:sp>
      <p:sp>
        <p:nvSpPr>
          <p:cNvPr id="559" name="Google Shape;559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9" name="Google Shape;579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Three entities around one ternary diamond 'produces'. Cardinality M-N-1 means: for a given (model, part) pair there is EXACTLY one factory that produces that pair. That constraint is what forces a ternary and cannot be captured with three binary M:N relationships.</a:t>
            </a:r>
            <a:endParaRPr/>
          </a:p>
        </p:txBody>
      </p:sp>
      <p:sp>
        <p:nvSpPr>
          <p:cNvPr id="580" name="Google Shape;580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92" name="Google Shape;592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Three entity tables (step 1), one multi-valued table part_image (step 6), and the ternary produces (step 7). Factory computer system is composite, so only its parts (os, dbms, internet) become columns. In produces, the factory leg has cardinality 1: for a given (model, part) there is exactly one factory, so the PK is (model_name, part_id) and factory_city is a NOT NULL FK outside the key.</a:t>
            </a:r>
          </a:p>
          <a:p/>
          <a:p>
            <a:r>
              <a:t>Reviewer note (technical): the narrative also says each model is produced at exactly one factory, so model_name -&gt; factory_city. In produces(model_name, part_id, factory_city) that is a partial dependency on the key, which Lesson 5 calls a 2NF violation. The normalized alternative: put factory_city (FK) in model, keep model_part(model_name, part_id) as a plain M:N, and enforce 'part made in the same factory' with a constraint. Worth showing as a bridge to Lesson 5.</a:t>
            </a:r>
          </a:p>
        </p:txBody>
      </p:sp>
      <p:sp>
        <p:nvSpPr>
          <p:cNvPr id="593" name="Google Shape;593;p2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8" name="Google Shape;628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Third worked case study. Four entities — bus, route, town, driver. Highlight two patterns: options is multi-valued, and driver-to-route allocation is time-varying (we must keep the history of changes AND know each driver's last route).</a:t>
            </a:r>
            <a:endParaRPr/>
          </a:p>
        </p:txBody>
      </p:sp>
      <p:sp>
        <p:nvSpPr>
          <p:cNvPr id="629" name="Google Shape;629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9" name="Google Shape;649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Four entities, four relationships. runs: bus N to route 1, bus side total. passes: route M:N town. drives: route M:N driver with start_date and end_date, keeps the allocation history. last route: route 1 to driver N, the current assignment. Route and driver have no natural key, so we propose route_id and driver_id.</a:t>
            </a:r>
            <a:endParaRPr/>
          </a:p>
        </p:txBody>
      </p:sp>
      <p:sp>
        <p:nvSpPr>
          <p:cNvPr id="650" name="Google Shape;650;p2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0" name="Shape 6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Google Shape;661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62" name="Google Shape;66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Seven tables. bus: step 1 plus step-4 FK route_id (NOT NULL, total). route, town, driver: step 1. bus_option: step 6. route_town: step 5. drives: step 5 with relationship attributes, PK (driver_id, route_id, start_date). driver.last_route_id: step 4 FK from the last-route relationship.</a:t>
            </a:r>
          </a:p>
          <a:p/>
          <a:p>
            <a:r>
              <a:t>Reviewer note: 'end' (and 'start' in some DBMSs) is a reserved word in SQL; name the route columns start_point and end_point when you write the CREATE TABLE in Lesson 4. The original narrative says 'station names' (plural) in each town; if a town can have several stations, station becomes a multi-valued attribute (town_station table, step 6).</a:t>
            </a:r>
          </a:p>
        </p:txBody>
      </p:sp>
      <p:sp>
        <p:nvSpPr>
          <p:cNvPr id="663" name="Google Shape;663;p2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6" name="Shape 7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7" name="Google Shape;707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8" name="Google Shape;708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Five lines. If a student remembers nothing else, remember these.</a:t>
            </a:r>
            <a:endParaRPr/>
          </a:p>
        </p:txBody>
      </p:sp>
      <p:sp>
        <p:nvSpPr>
          <p:cNvPr id="709" name="Google Shape;709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Answers — Q1: B (M:N needs a junction, so a new table). Q2: C (FK on the N-side, so the course table). Q3: B (both mandatory means merge; or if you keep them split, FK goes on the mandatory side — not a link table).</a:t>
            </a:r>
            <a:endParaRPr/>
          </a:p>
        </p:txBody>
      </p:sp>
      <p:sp>
        <p:nvSpPr>
          <p:cNvPr id="731" name="Google Shape;731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6" name="Google Shape;75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Lesson 4 picks up these exact tables and writes SQL on them — CREATE TABLE with every constraint, INSERT, SELECT, JOIN. The examples switch to the COMPANY database; ask students to map its ERD from Lesson 2 with the same 7 steps.</a:t>
            </a:r>
            <a:endParaRPr/>
          </a:p>
        </p:txBody>
      </p:sp>
      <p:sp>
        <p:nvSpPr>
          <p:cNvPr id="757" name="Google Shape;757;p2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914400" y="838200"/>
            <a:ext cx="133350" cy="49530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1219200" y="944880"/>
            <a:ext cx="781097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ITI · DATABASE FUNDAMENTALS · LESSON 3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914400" y="3628668"/>
            <a:ext cx="16952976" cy="2214324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248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8400"/>
              <a:buFont typeface="Arial"/>
              <a:buNone/>
            </a:pPr>
            <a:r>
              <a:rPr b="1" i="0" lang="en-US" sz="84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ERD Mapping </a:t>
            </a:r>
            <a:r>
              <a:rPr b="1" i="0" lang="en-US" sz="84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to Tables</a:t>
            </a:r>
            <a:endParaRPr b="0" i="0" sz="8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914400" y="6071592"/>
            <a:ext cx="1362075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550"/>
              <a:buFont typeface="Arial"/>
              <a:buNone/>
            </a:pPr>
            <a:r>
              <a:rPr b="0" i="0" lang="en-US" sz="25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 7-step algorithm from entities and relationships to relations, keys, and foreign keys.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914400" y="8732520"/>
            <a:ext cx="3784497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Lecturer: Rana Salah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3"/>
          <p:cNvSpPr/>
          <p:nvPr/>
        </p:nvSpPr>
        <p:spPr>
          <a:xfrm>
            <a:off x="914400" y="9128760"/>
            <a:ext cx="3784497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rsalah@mcit.gov.eg · Room 3005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11588078" y="8793480"/>
            <a:ext cx="5785522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r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Based on original slides by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11588078" y="9159240"/>
            <a:ext cx="5785522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r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Shahinaz S. Azab · edited by Mona Saleh · Rana Salah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/>
          <p:nvPr/>
        </p:nvSpPr>
        <p:spPr>
          <a:xfrm>
            <a:off x="914400" y="838200"/>
            <a:ext cx="2775097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02 · OBJECTIVES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" name="Google Shape;30;p4"/>
          <p:cNvSpPr/>
          <p:nvPr/>
        </p:nvSpPr>
        <p:spPr>
          <a:xfrm>
            <a:off x="3589615" y="958215"/>
            <a:ext cx="1378398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You will be able to…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4"/>
          <p:cNvSpPr/>
          <p:nvPr/>
        </p:nvSpPr>
        <p:spPr>
          <a:xfrm>
            <a:off x="914400" y="5103495"/>
            <a:ext cx="52578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" name="Google Shape;33;p4"/>
          <p:cNvSpPr/>
          <p:nvPr/>
        </p:nvSpPr>
        <p:spPr>
          <a:xfrm>
            <a:off x="914400" y="2762250"/>
            <a:ext cx="5257800" cy="533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4"/>
          <p:cNvSpPr/>
          <p:nvPr/>
        </p:nvSpPr>
        <p:spPr>
          <a:xfrm>
            <a:off x="914400" y="2762250"/>
            <a:ext cx="9525" cy="234886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" name="Google Shape;35;p4"/>
          <p:cNvSpPr/>
          <p:nvPr/>
        </p:nvSpPr>
        <p:spPr>
          <a:xfrm>
            <a:off x="6164580" y="2762250"/>
            <a:ext cx="9525" cy="234886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" name="Google Shape;36;p4"/>
          <p:cNvSpPr/>
          <p:nvPr/>
        </p:nvSpPr>
        <p:spPr>
          <a:xfrm>
            <a:off x="1303020" y="3196590"/>
            <a:ext cx="4928616" cy="6019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3900"/>
              <a:buFont typeface="Courier New"/>
              <a:buNone/>
            </a:pPr>
            <a:r>
              <a:rPr b="1" i="0" lang="en-US" sz="39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01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4"/>
          <p:cNvSpPr/>
          <p:nvPr/>
        </p:nvSpPr>
        <p:spPr>
          <a:xfrm>
            <a:off x="1303020" y="3912870"/>
            <a:ext cx="4614977" cy="847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67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Read any ERD and name the 7 mapping rules that apply.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4"/>
          <p:cNvSpPr/>
          <p:nvPr/>
        </p:nvSpPr>
        <p:spPr>
          <a:xfrm>
            <a:off x="6515100" y="5103495"/>
            <a:ext cx="52578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4"/>
          <p:cNvSpPr/>
          <p:nvPr/>
        </p:nvSpPr>
        <p:spPr>
          <a:xfrm>
            <a:off x="6515100" y="2762250"/>
            <a:ext cx="5257800" cy="533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" name="Google Shape;40;p4"/>
          <p:cNvSpPr/>
          <p:nvPr/>
        </p:nvSpPr>
        <p:spPr>
          <a:xfrm>
            <a:off x="6515100" y="2762250"/>
            <a:ext cx="9525" cy="234886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" name="Google Shape;41;p4"/>
          <p:cNvSpPr/>
          <p:nvPr/>
        </p:nvSpPr>
        <p:spPr>
          <a:xfrm>
            <a:off x="11765280" y="2762250"/>
            <a:ext cx="9525" cy="234886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4"/>
          <p:cNvSpPr/>
          <p:nvPr/>
        </p:nvSpPr>
        <p:spPr>
          <a:xfrm>
            <a:off x="6903720" y="3196590"/>
            <a:ext cx="4928616" cy="6019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3900"/>
              <a:buFont typeface="Courier New"/>
              <a:buNone/>
            </a:pPr>
            <a:r>
              <a:rPr b="1" i="0" lang="en-US" sz="39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02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" name="Google Shape;43;p4"/>
          <p:cNvSpPr/>
          <p:nvPr/>
        </p:nvSpPr>
        <p:spPr>
          <a:xfrm>
            <a:off x="6903720" y="3912870"/>
            <a:ext cx="4614977" cy="847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67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Decide where every foreign key goes — and why.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" name="Google Shape;44;p4"/>
          <p:cNvSpPr/>
          <p:nvPr/>
        </p:nvSpPr>
        <p:spPr>
          <a:xfrm>
            <a:off x="12115800" y="5103495"/>
            <a:ext cx="52578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4"/>
          <p:cNvSpPr/>
          <p:nvPr/>
        </p:nvSpPr>
        <p:spPr>
          <a:xfrm>
            <a:off x="12115800" y="2762250"/>
            <a:ext cx="5257800" cy="533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" name="Google Shape;46;p4"/>
          <p:cNvSpPr/>
          <p:nvPr/>
        </p:nvSpPr>
        <p:spPr>
          <a:xfrm>
            <a:off x="12115800" y="2762250"/>
            <a:ext cx="9525" cy="234886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4"/>
          <p:cNvSpPr/>
          <p:nvPr/>
        </p:nvSpPr>
        <p:spPr>
          <a:xfrm>
            <a:off x="17365980" y="2762250"/>
            <a:ext cx="9525" cy="234886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" name="Google Shape;48;p4"/>
          <p:cNvSpPr/>
          <p:nvPr/>
        </p:nvSpPr>
        <p:spPr>
          <a:xfrm>
            <a:off x="12504420" y="3196590"/>
            <a:ext cx="4928616" cy="6019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3900"/>
              <a:buFont typeface="Courier New"/>
              <a:buNone/>
            </a:pPr>
            <a:r>
              <a:rPr b="1" i="0" lang="en-US" sz="39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03</a:t>
            </a:r>
            <a:endParaRPr b="0" i="0" sz="3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" name="Google Shape;49;p4"/>
          <p:cNvSpPr/>
          <p:nvPr/>
        </p:nvSpPr>
        <p:spPr>
          <a:xfrm>
            <a:off x="12504420" y="3912870"/>
            <a:ext cx="4614977" cy="8477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067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Map a full narrative — ERD → tables — end to end.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"/>
          <p:cNvSpPr/>
          <p:nvPr/>
        </p:nvSpPr>
        <p:spPr>
          <a:xfrm>
            <a:off x="914400" y="838200"/>
            <a:ext cx="2081486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03 · AGENDA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5"/>
          <p:cNvSpPr/>
          <p:nvPr/>
        </p:nvSpPr>
        <p:spPr>
          <a:xfrm>
            <a:off x="2959060" y="958215"/>
            <a:ext cx="14414540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5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 7-step Mapping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p5"/>
          <p:cNvSpPr/>
          <p:nvPr/>
        </p:nvSpPr>
        <p:spPr>
          <a:xfrm>
            <a:off x="914400" y="3417570"/>
            <a:ext cx="7943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" name="Google Shape;59;p5"/>
          <p:cNvSpPr/>
          <p:nvPr/>
        </p:nvSpPr>
        <p:spPr>
          <a:xfrm>
            <a:off x="914400" y="2880360"/>
            <a:ext cx="6477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550"/>
              <a:buFont typeface="Courier New"/>
              <a:buNone/>
            </a:pPr>
            <a:r>
              <a:rPr b="1" i="0" lang="en-US" sz="25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01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5"/>
          <p:cNvSpPr/>
          <p:nvPr/>
        </p:nvSpPr>
        <p:spPr>
          <a:xfrm>
            <a:off x="1714500" y="2857500"/>
            <a:ext cx="2672548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Regular entities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5"/>
          <p:cNvSpPr/>
          <p:nvPr/>
        </p:nvSpPr>
        <p:spPr>
          <a:xfrm>
            <a:off x="9429750" y="3417570"/>
            <a:ext cx="7943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5"/>
          <p:cNvSpPr/>
          <p:nvPr/>
        </p:nvSpPr>
        <p:spPr>
          <a:xfrm>
            <a:off x="9429750" y="2880360"/>
            <a:ext cx="6477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550"/>
              <a:buFont typeface="Courier New"/>
              <a:buNone/>
            </a:pPr>
            <a:r>
              <a:rPr b="1" i="0" lang="en-US" sz="25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05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" name="Google Shape;63;p5"/>
          <p:cNvSpPr/>
          <p:nvPr/>
        </p:nvSpPr>
        <p:spPr>
          <a:xfrm>
            <a:off x="10229850" y="2857500"/>
            <a:ext cx="2988707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M:N relationships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" name="Google Shape;64;p5"/>
          <p:cNvSpPr/>
          <p:nvPr/>
        </p:nvSpPr>
        <p:spPr>
          <a:xfrm>
            <a:off x="914400" y="4347210"/>
            <a:ext cx="7943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5"/>
          <p:cNvSpPr/>
          <p:nvPr/>
        </p:nvSpPr>
        <p:spPr>
          <a:xfrm>
            <a:off x="914400" y="3810000"/>
            <a:ext cx="6477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550"/>
              <a:buFont typeface="Courier New"/>
              <a:buNone/>
            </a:pPr>
            <a:r>
              <a:rPr b="1" i="0" lang="en-US" sz="25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02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5"/>
          <p:cNvSpPr/>
          <p:nvPr/>
        </p:nvSpPr>
        <p:spPr>
          <a:xfrm>
            <a:off x="1714500" y="3787140"/>
            <a:ext cx="2270343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Weak entities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" name="Google Shape;67;p5"/>
          <p:cNvSpPr/>
          <p:nvPr/>
        </p:nvSpPr>
        <p:spPr>
          <a:xfrm>
            <a:off x="9429750" y="4347210"/>
            <a:ext cx="7943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" name="Google Shape;68;p5"/>
          <p:cNvSpPr/>
          <p:nvPr/>
        </p:nvSpPr>
        <p:spPr>
          <a:xfrm>
            <a:off x="9429750" y="3810000"/>
            <a:ext cx="6477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550"/>
              <a:buFont typeface="Courier New"/>
              <a:buNone/>
            </a:pPr>
            <a:r>
              <a:rPr b="1" i="0" lang="en-US" sz="25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06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p5"/>
          <p:cNvSpPr/>
          <p:nvPr/>
        </p:nvSpPr>
        <p:spPr>
          <a:xfrm>
            <a:off x="10229850" y="3787140"/>
            <a:ext cx="3800189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Multi-valued attributes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5"/>
          <p:cNvSpPr/>
          <p:nvPr/>
        </p:nvSpPr>
        <p:spPr>
          <a:xfrm>
            <a:off x="914400" y="5276850"/>
            <a:ext cx="7943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5"/>
          <p:cNvSpPr/>
          <p:nvPr/>
        </p:nvSpPr>
        <p:spPr>
          <a:xfrm>
            <a:off x="914400" y="4739640"/>
            <a:ext cx="6477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550"/>
              <a:buFont typeface="Courier New"/>
              <a:buNone/>
            </a:pPr>
            <a:r>
              <a:rPr b="1" i="0" lang="en-US" sz="25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03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" name="Google Shape;72;p5"/>
          <p:cNvSpPr/>
          <p:nvPr/>
        </p:nvSpPr>
        <p:spPr>
          <a:xfrm>
            <a:off x="1714500" y="4716780"/>
            <a:ext cx="2831021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1:1 relationships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5"/>
          <p:cNvSpPr/>
          <p:nvPr/>
        </p:nvSpPr>
        <p:spPr>
          <a:xfrm>
            <a:off x="9429750" y="5276850"/>
            <a:ext cx="7943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5"/>
          <p:cNvSpPr/>
          <p:nvPr/>
        </p:nvSpPr>
        <p:spPr>
          <a:xfrm>
            <a:off x="9429750" y="4739640"/>
            <a:ext cx="6477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550"/>
              <a:buFont typeface="Courier New"/>
              <a:buNone/>
            </a:pPr>
            <a:r>
              <a:rPr b="1" i="0" lang="en-US" sz="25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07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" name="Google Shape;75;p5"/>
          <p:cNvSpPr/>
          <p:nvPr/>
        </p:nvSpPr>
        <p:spPr>
          <a:xfrm>
            <a:off x="10229850" y="4716780"/>
            <a:ext cx="3226939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N-ary relationships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p5"/>
          <p:cNvSpPr/>
          <p:nvPr/>
        </p:nvSpPr>
        <p:spPr>
          <a:xfrm>
            <a:off x="914400" y="6206490"/>
            <a:ext cx="7943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5"/>
          <p:cNvSpPr/>
          <p:nvPr/>
        </p:nvSpPr>
        <p:spPr>
          <a:xfrm>
            <a:off x="914400" y="5669280"/>
            <a:ext cx="6477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550"/>
              <a:buFont typeface="Courier New"/>
              <a:buNone/>
            </a:pPr>
            <a:r>
              <a:rPr b="1" i="0" lang="en-US" sz="25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04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8" name="Google Shape;78;p5"/>
          <p:cNvSpPr/>
          <p:nvPr/>
        </p:nvSpPr>
        <p:spPr>
          <a:xfrm>
            <a:off x="1714500" y="5646420"/>
            <a:ext cx="2890087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1:N relationships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p5"/>
          <p:cNvSpPr/>
          <p:nvPr/>
        </p:nvSpPr>
        <p:spPr>
          <a:xfrm>
            <a:off x="9429750" y="6206490"/>
            <a:ext cx="79438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0" name="Google Shape;80;p5"/>
          <p:cNvSpPr/>
          <p:nvPr/>
        </p:nvSpPr>
        <p:spPr>
          <a:xfrm>
            <a:off x="9429750" y="5669280"/>
            <a:ext cx="647700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2550"/>
              <a:buFont typeface="Courier New"/>
              <a:buNone/>
            </a:pPr>
            <a:r>
              <a:rPr b="1" i="0" lang="en-US" sz="255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+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1" name="Google Shape;81;p5"/>
          <p:cNvSpPr/>
          <p:nvPr/>
        </p:nvSpPr>
        <p:spPr>
          <a:xfrm>
            <a:off x="10229850" y="5646420"/>
            <a:ext cx="4632496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Case study · pitfalls · recap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6"/>
          <p:cNvSpPr/>
          <p:nvPr/>
        </p:nvSpPr>
        <p:spPr>
          <a:xfrm>
            <a:off x="914400" y="838200"/>
            <a:ext cx="29470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04 · VOCABULARY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6"/>
          <p:cNvSpPr/>
          <p:nvPr/>
        </p:nvSpPr>
        <p:spPr>
          <a:xfrm>
            <a:off x="3745944" y="958215"/>
            <a:ext cx="1362765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6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 relational model in one picture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p6"/>
          <p:cNvSpPr/>
          <p:nvPr/>
        </p:nvSpPr>
        <p:spPr>
          <a:xfrm>
            <a:off x="914400" y="2571750"/>
            <a:ext cx="9267706" cy="393192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" name="Google Shape;91;p6"/>
          <p:cNvSpPr/>
          <p:nvPr/>
        </p:nvSpPr>
        <p:spPr>
          <a:xfrm>
            <a:off x="922020" y="2579370"/>
            <a:ext cx="9252466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6"/>
          <p:cNvSpPr/>
          <p:nvPr/>
        </p:nvSpPr>
        <p:spPr>
          <a:xfrm>
            <a:off x="1188720" y="2712720"/>
            <a:ext cx="2996041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STUDENT </a:t>
            </a:r>
            <a:r>
              <a:rPr b="0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← relation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3" name="Google Shape;93;p6"/>
          <p:cNvSpPr/>
          <p:nvPr/>
        </p:nvSpPr>
        <p:spPr>
          <a:xfrm>
            <a:off x="8881825" y="2712720"/>
            <a:ext cx="110216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4 tuples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4" name="Google Shape;94;p6"/>
          <p:cNvSpPr/>
          <p:nvPr/>
        </p:nvSpPr>
        <p:spPr>
          <a:xfrm>
            <a:off x="922020" y="3128010"/>
            <a:ext cx="9252466" cy="55245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6"/>
          <p:cNvSpPr/>
          <p:nvPr/>
        </p:nvSpPr>
        <p:spPr>
          <a:xfrm>
            <a:off x="922020" y="3672840"/>
            <a:ext cx="34505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6" name="Google Shape;96;p6"/>
          <p:cNvSpPr/>
          <p:nvPr/>
        </p:nvSpPr>
        <p:spPr>
          <a:xfrm>
            <a:off x="1112520" y="3261360"/>
            <a:ext cx="3173067" cy="31623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student_id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6"/>
          <p:cNvSpPr/>
          <p:nvPr/>
        </p:nvSpPr>
        <p:spPr>
          <a:xfrm>
            <a:off x="4372570" y="3672840"/>
            <a:ext cx="42737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6"/>
          <p:cNvSpPr/>
          <p:nvPr/>
        </p:nvSpPr>
        <p:spPr>
          <a:xfrm>
            <a:off x="4563070" y="3261360"/>
            <a:ext cx="4020961" cy="31623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name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6"/>
          <p:cNvSpPr/>
          <p:nvPr/>
        </p:nvSpPr>
        <p:spPr>
          <a:xfrm>
            <a:off x="8646319" y="3672840"/>
            <a:ext cx="15281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6"/>
          <p:cNvSpPr/>
          <p:nvPr/>
        </p:nvSpPr>
        <p:spPr>
          <a:xfrm>
            <a:off x="8836819" y="3261360"/>
            <a:ext cx="1223367" cy="31623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gpa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6"/>
          <p:cNvSpPr/>
          <p:nvPr/>
        </p:nvSpPr>
        <p:spPr>
          <a:xfrm>
            <a:off x="922020" y="4236720"/>
            <a:ext cx="34505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6"/>
          <p:cNvSpPr/>
          <p:nvPr/>
        </p:nvSpPr>
        <p:spPr>
          <a:xfrm>
            <a:off x="1112520" y="3794760"/>
            <a:ext cx="31730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42001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3" name="Google Shape;103;p6"/>
          <p:cNvSpPr/>
          <p:nvPr/>
        </p:nvSpPr>
        <p:spPr>
          <a:xfrm>
            <a:off x="4372570" y="4236720"/>
            <a:ext cx="42737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p6"/>
          <p:cNvSpPr/>
          <p:nvPr/>
        </p:nvSpPr>
        <p:spPr>
          <a:xfrm>
            <a:off x="4563070" y="3794760"/>
            <a:ext cx="4020961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Mona Saleh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6"/>
          <p:cNvSpPr/>
          <p:nvPr/>
        </p:nvSpPr>
        <p:spPr>
          <a:xfrm>
            <a:off x="8646319" y="4236720"/>
            <a:ext cx="15281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6"/>
          <p:cNvSpPr/>
          <p:nvPr/>
        </p:nvSpPr>
        <p:spPr>
          <a:xfrm>
            <a:off x="8836819" y="3794760"/>
            <a:ext cx="12233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3.6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7" name="Google Shape;107;p6"/>
          <p:cNvSpPr/>
          <p:nvPr/>
        </p:nvSpPr>
        <p:spPr>
          <a:xfrm>
            <a:off x="922020" y="4800600"/>
            <a:ext cx="34505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6"/>
          <p:cNvSpPr/>
          <p:nvPr/>
        </p:nvSpPr>
        <p:spPr>
          <a:xfrm>
            <a:off x="1112520" y="4358640"/>
            <a:ext cx="31730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42002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6"/>
          <p:cNvSpPr/>
          <p:nvPr/>
        </p:nvSpPr>
        <p:spPr>
          <a:xfrm>
            <a:off x="4372570" y="4800600"/>
            <a:ext cx="42737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6"/>
          <p:cNvSpPr/>
          <p:nvPr/>
        </p:nvSpPr>
        <p:spPr>
          <a:xfrm>
            <a:off x="4563070" y="4358640"/>
            <a:ext cx="4020961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Omar Hany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6"/>
          <p:cNvSpPr/>
          <p:nvPr/>
        </p:nvSpPr>
        <p:spPr>
          <a:xfrm>
            <a:off x="8646319" y="4800600"/>
            <a:ext cx="15281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6"/>
          <p:cNvSpPr/>
          <p:nvPr/>
        </p:nvSpPr>
        <p:spPr>
          <a:xfrm>
            <a:off x="8836819" y="4358640"/>
            <a:ext cx="12233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3.2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6"/>
          <p:cNvSpPr/>
          <p:nvPr/>
        </p:nvSpPr>
        <p:spPr>
          <a:xfrm>
            <a:off x="922020" y="5364480"/>
            <a:ext cx="345055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4" name="Google Shape;114;p6"/>
          <p:cNvSpPr/>
          <p:nvPr/>
        </p:nvSpPr>
        <p:spPr>
          <a:xfrm>
            <a:off x="1112520" y="4922520"/>
            <a:ext cx="31730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42003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4372570" y="5364480"/>
            <a:ext cx="427374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6"/>
          <p:cNvSpPr/>
          <p:nvPr/>
        </p:nvSpPr>
        <p:spPr>
          <a:xfrm>
            <a:off x="4563070" y="4922520"/>
            <a:ext cx="4020961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Nour Adel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6"/>
          <p:cNvSpPr/>
          <p:nvPr/>
        </p:nvSpPr>
        <p:spPr>
          <a:xfrm>
            <a:off x="8646319" y="5364480"/>
            <a:ext cx="1528167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6"/>
          <p:cNvSpPr/>
          <p:nvPr/>
        </p:nvSpPr>
        <p:spPr>
          <a:xfrm>
            <a:off x="8836819" y="4922520"/>
            <a:ext cx="1223367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3.9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9" name="Google Shape;119;p6"/>
          <p:cNvSpPr/>
          <p:nvPr/>
        </p:nvSpPr>
        <p:spPr>
          <a:xfrm>
            <a:off x="1112520" y="5486400"/>
            <a:ext cx="3173067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42004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4563070" y="5486400"/>
            <a:ext cx="4020961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Youssef Tarek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8836819" y="5486400"/>
            <a:ext cx="1223367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2.8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922020" y="5932170"/>
            <a:ext cx="9252466" cy="56388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"/>
          <p:cNvSpPr/>
          <p:nvPr/>
        </p:nvSpPr>
        <p:spPr>
          <a:xfrm>
            <a:off x="1188720" y="6084570"/>
            <a:ext cx="2298632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↑ column = </a:t>
            </a:r>
            <a:r>
              <a:rPr b="1" i="0" lang="en-US" sz="18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attribute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8440579" y="6084570"/>
            <a:ext cx="1613928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← row = </a:t>
            </a:r>
            <a:r>
              <a:rPr b="1" i="0" lang="en-US" sz="18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tuple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6"/>
          <p:cNvSpPr/>
          <p:nvPr/>
        </p:nvSpPr>
        <p:spPr>
          <a:xfrm>
            <a:off x="10753606" y="2571750"/>
            <a:ext cx="6619800" cy="11241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"/>
          <p:cNvSpPr/>
          <p:nvPr/>
        </p:nvSpPr>
        <p:spPr>
          <a:xfrm>
            <a:off x="10753606" y="2571750"/>
            <a:ext cx="45720" cy="112395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6"/>
          <p:cNvSpPr/>
          <p:nvPr/>
        </p:nvSpPr>
        <p:spPr>
          <a:xfrm>
            <a:off x="11066026" y="2800350"/>
            <a:ext cx="6644831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RELATION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11066026" y="3139440"/>
            <a:ext cx="66447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250">
                <a:solidFill>
                  <a:srgbClr val="0F172A"/>
                </a:solidFill>
              </a:rPr>
              <a:t>A relation is a set of tuples/rows.</a:t>
            </a:r>
            <a:endParaRPr sz="2250">
              <a:solidFill>
                <a:srgbClr val="0F172A"/>
              </a:solidFill>
            </a:endParaRPr>
          </a:p>
        </p:txBody>
      </p:sp>
      <p:sp>
        <p:nvSpPr>
          <p:cNvPr id="129" name="Google Shape;129;p6"/>
          <p:cNvSpPr/>
          <p:nvPr/>
        </p:nvSpPr>
        <p:spPr>
          <a:xfrm>
            <a:off x="10753606" y="3905250"/>
            <a:ext cx="6619875" cy="112395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6"/>
          <p:cNvSpPr/>
          <p:nvPr/>
        </p:nvSpPr>
        <p:spPr>
          <a:xfrm>
            <a:off x="10753606" y="3905250"/>
            <a:ext cx="45720" cy="112395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"/>
          <p:cNvSpPr/>
          <p:nvPr/>
        </p:nvSpPr>
        <p:spPr>
          <a:xfrm>
            <a:off x="11066026" y="4133850"/>
            <a:ext cx="6644831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TUPLE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11066026" y="4472940"/>
            <a:ext cx="6644831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One row — one fact.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10753606" y="5238750"/>
            <a:ext cx="6619875" cy="112395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6"/>
          <p:cNvSpPr/>
          <p:nvPr/>
        </p:nvSpPr>
        <p:spPr>
          <a:xfrm>
            <a:off x="10753606" y="5238750"/>
            <a:ext cx="45720" cy="112395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6"/>
          <p:cNvSpPr/>
          <p:nvPr/>
        </p:nvSpPr>
        <p:spPr>
          <a:xfrm>
            <a:off x="11066026" y="5467350"/>
            <a:ext cx="6644831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ATTRIBUTE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11066026" y="5806440"/>
            <a:ext cx="6644831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One column — one property.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6"/>
          <p:cNvSpPr/>
          <p:nvPr/>
        </p:nvSpPr>
        <p:spPr>
          <a:xfrm>
            <a:off x="10753606" y="6572250"/>
            <a:ext cx="6619875" cy="112395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6"/>
          <p:cNvSpPr/>
          <p:nvPr/>
        </p:nvSpPr>
        <p:spPr>
          <a:xfrm>
            <a:off x="10753606" y="6572250"/>
            <a:ext cx="45720" cy="112395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6"/>
          <p:cNvSpPr/>
          <p:nvPr/>
        </p:nvSpPr>
        <p:spPr>
          <a:xfrm>
            <a:off x="11066026" y="6800850"/>
            <a:ext cx="6644831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DOMAIN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6"/>
          <p:cNvSpPr/>
          <p:nvPr/>
        </p:nvSpPr>
        <p:spPr>
          <a:xfrm>
            <a:off x="11066026" y="7139940"/>
            <a:ext cx="6644831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 set of values that column may hold.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7"/>
          <p:cNvSpPr/>
          <p:nvPr/>
        </p:nvSpPr>
        <p:spPr>
          <a:xfrm>
            <a:off x="914400" y="838200"/>
            <a:ext cx="29470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05 · VOCABULARY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3745944" y="958215"/>
            <a:ext cx="1362765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Keys &amp; constraints you will use today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914400" y="2686050"/>
            <a:ext cx="3108960" cy="202311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0" name="Google Shape;150;p7"/>
          <p:cNvSpPr/>
          <p:nvPr/>
        </p:nvSpPr>
        <p:spPr>
          <a:xfrm>
            <a:off x="1207770" y="2979420"/>
            <a:ext cx="277444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100"/>
              <a:buFont typeface="Courier New"/>
              <a:buNone/>
            </a:pPr>
            <a:r>
              <a:rPr b="1" i="0" lang="en-US" sz="21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PK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1207770" y="3398520"/>
            <a:ext cx="277444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Primary Key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7"/>
          <p:cNvSpPr/>
          <p:nvPr/>
        </p:nvSpPr>
        <p:spPr>
          <a:xfrm>
            <a:off x="1207770" y="3775710"/>
            <a:ext cx="2598420" cy="678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Unique, not null — identifies every row.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4251960" y="2686050"/>
            <a:ext cx="3108960" cy="2023110"/>
          </a:xfrm>
          <a:prstGeom prst="rect">
            <a:avLst/>
          </a:prstGeom>
          <a:solidFill>
            <a:srgbClr val="E6F4F4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7"/>
          <p:cNvSpPr/>
          <p:nvPr/>
        </p:nvSpPr>
        <p:spPr>
          <a:xfrm>
            <a:off x="4545330" y="2979420"/>
            <a:ext cx="277444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2100"/>
              <a:buFont typeface="Courier New"/>
              <a:buNone/>
            </a:pPr>
            <a:r>
              <a:rPr b="1" i="0" lang="en-US" sz="21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FK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4545330" y="3398520"/>
            <a:ext cx="277444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Foreign Key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7"/>
          <p:cNvSpPr/>
          <p:nvPr/>
        </p:nvSpPr>
        <p:spPr>
          <a:xfrm>
            <a:off x="4545330" y="3775710"/>
            <a:ext cx="2598420" cy="678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Points to the PK of another table.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7589520" y="2686050"/>
            <a:ext cx="3108960" cy="202311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7"/>
          <p:cNvSpPr/>
          <p:nvPr/>
        </p:nvSpPr>
        <p:spPr>
          <a:xfrm>
            <a:off x="7882890" y="2979420"/>
            <a:ext cx="277444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100"/>
              <a:buFont typeface="Courier New"/>
              <a:buNone/>
            </a:pPr>
            <a:r>
              <a:rPr b="1" i="0" lang="en-US" sz="21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UK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9" name="Google Shape;159;p7"/>
          <p:cNvSpPr/>
          <p:nvPr/>
        </p:nvSpPr>
        <p:spPr>
          <a:xfrm>
            <a:off x="7882890" y="3398520"/>
            <a:ext cx="277444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Unique Key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/>
          <p:nvPr/>
        </p:nvSpPr>
        <p:spPr>
          <a:xfrm>
            <a:off x="7882890" y="3775710"/>
            <a:ext cx="2598420" cy="678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Unique values, but not the chosen PK.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7"/>
          <p:cNvSpPr/>
          <p:nvPr/>
        </p:nvSpPr>
        <p:spPr>
          <a:xfrm>
            <a:off x="10927081" y="2686050"/>
            <a:ext cx="3108960" cy="202311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7"/>
          <p:cNvSpPr/>
          <p:nvPr/>
        </p:nvSpPr>
        <p:spPr>
          <a:xfrm>
            <a:off x="11220450" y="2979420"/>
            <a:ext cx="277444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100"/>
              <a:buFont typeface="Courier New"/>
              <a:buNone/>
            </a:pPr>
            <a:r>
              <a:rPr b="1" i="0" lang="en-US" sz="21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NN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7"/>
          <p:cNvSpPr/>
          <p:nvPr/>
        </p:nvSpPr>
        <p:spPr>
          <a:xfrm>
            <a:off x="11220450" y="3398520"/>
            <a:ext cx="277444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NOT NULL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7"/>
          <p:cNvSpPr/>
          <p:nvPr/>
        </p:nvSpPr>
        <p:spPr>
          <a:xfrm>
            <a:off x="11220450" y="3775710"/>
            <a:ext cx="2598420" cy="678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Value is required for every row.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7"/>
          <p:cNvSpPr/>
          <p:nvPr/>
        </p:nvSpPr>
        <p:spPr>
          <a:xfrm>
            <a:off x="14264640" y="2686050"/>
            <a:ext cx="3108960" cy="202311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7"/>
          <p:cNvSpPr/>
          <p:nvPr/>
        </p:nvSpPr>
        <p:spPr>
          <a:xfrm>
            <a:off x="14558010" y="2979420"/>
            <a:ext cx="277444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100"/>
              <a:buFont typeface="Courier New"/>
              <a:buNone/>
            </a:pPr>
            <a:r>
              <a:rPr b="1" i="0" lang="en-US" sz="21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CHK</a:t>
            </a:r>
            <a:endParaRPr b="0" i="0" sz="2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7" name="Google Shape;167;p7"/>
          <p:cNvSpPr/>
          <p:nvPr/>
        </p:nvSpPr>
        <p:spPr>
          <a:xfrm>
            <a:off x="14558010" y="3398520"/>
            <a:ext cx="277444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CHECK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7"/>
          <p:cNvSpPr/>
          <p:nvPr/>
        </p:nvSpPr>
        <p:spPr>
          <a:xfrm>
            <a:off x="14558010" y="3775710"/>
            <a:ext cx="2598420" cy="678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 boolean rule the row must satisfy.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7"/>
          <p:cNvSpPr/>
          <p:nvPr/>
        </p:nvSpPr>
        <p:spPr>
          <a:xfrm>
            <a:off x="914400" y="5318760"/>
            <a:ext cx="16459200" cy="86106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p7"/>
          <p:cNvSpPr/>
          <p:nvPr/>
        </p:nvSpPr>
        <p:spPr>
          <a:xfrm>
            <a:off x="914400" y="5318760"/>
            <a:ext cx="45720" cy="8610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7"/>
          <p:cNvSpPr/>
          <p:nvPr/>
        </p:nvSpPr>
        <p:spPr>
          <a:xfrm>
            <a:off x="1264920" y="5585460"/>
            <a:ext cx="1629765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every </a:t>
            </a:r>
            <a:r>
              <a:rPr b="1" i="0" lang="en-US" sz="2250" u="none" cap="none" strike="noStrike">
                <a:solidFill>
                  <a:srgbClr val="0E8A8A"/>
                </a:solidFill>
                <a:latin typeface="Arial"/>
                <a:ea typeface="Arial"/>
                <a:cs typeface="Arial"/>
                <a:sym typeface="Arial"/>
              </a:rPr>
              <a:t>FK is coloured teal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and every </a:t>
            </a:r>
            <a:r>
              <a:rPr b="1" i="0" lang="en-US" sz="22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PK is coloured red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— in the diagrams and in the tables.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8"/>
          <p:cNvSpPr/>
          <p:nvPr/>
        </p:nvSpPr>
        <p:spPr>
          <a:xfrm>
            <a:off x="914400" y="838200"/>
            <a:ext cx="3274874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06 · MENTAL MODEL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8" name="Google Shape;178;p8"/>
          <p:cNvSpPr/>
          <p:nvPr/>
        </p:nvSpPr>
        <p:spPr>
          <a:xfrm>
            <a:off x="4043958" y="958215"/>
            <a:ext cx="13329642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8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How to read every mapping slide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914400" y="2686050"/>
            <a:ext cx="825627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ERD FRAGMENT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914400" y="3158490"/>
            <a:ext cx="7505700" cy="420624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82" name="Google Shape;182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18387" y="3463300"/>
            <a:ext cx="4697723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8"/>
          <p:cNvSpPr/>
          <p:nvPr/>
        </p:nvSpPr>
        <p:spPr>
          <a:xfrm>
            <a:off x="8801100" y="4632960"/>
            <a:ext cx="76200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5400"/>
              <a:buFont typeface="Arial"/>
              <a:buNone/>
            </a:pPr>
            <a:r>
              <a:rPr b="0" i="0" lang="en-US" sz="54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→</a:t>
            </a:r>
            <a:endParaRPr b="0" i="0" sz="5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8"/>
          <p:cNvSpPr/>
          <p:nvPr/>
        </p:nvSpPr>
        <p:spPr>
          <a:xfrm>
            <a:off x="9867900" y="3550920"/>
            <a:ext cx="825627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TABLES (WITH FK)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9867900" y="4023360"/>
            <a:ext cx="7505700" cy="112776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6" name="Google Shape;186;p8"/>
          <p:cNvSpPr/>
          <p:nvPr/>
        </p:nvSpPr>
        <p:spPr>
          <a:xfrm>
            <a:off x="9875520" y="4030980"/>
            <a:ext cx="749046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8"/>
          <p:cNvSpPr/>
          <p:nvPr/>
        </p:nvSpPr>
        <p:spPr>
          <a:xfrm>
            <a:off x="10066020" y="4145280"/>
            <a:ext cx="733417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entity_a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8"/>
          <p:cNvSpPr/>
          <p:nvPr/>
        </p:nvSpPr>
        <p:spPr>
          <a:xfrm>
            <a:off x="9875520" y="5135880"/>
            <a:ext cx="749046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8"/>
          <p:cNvSpPr/>
          <p:nvPr/>
        </p:nvSpPr>
        <p:spPr>
          <a:xfrm>
            <a:off x="10066020" y="4674870"/>
            <a:ext cx="733417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a_id (PK)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name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13346311" y="5135880"/>
            <a:ext cx="6249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FK ↓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/>
          <p:nvPr/>
        </p:nvSpPr>
        <p:spPr>
          <a:xfrm>
            <a:off x="9867900" y="5379720"/>
            <a:ext cx="7505700" cy="112014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p8"/>
          <p:cNvSpPr/>
          <p:nvPr/>
        </p:nvSpPr>
        <p:spPr>
          <a:xfrm>
            <a:off x="9875520" y="5387340"/>
            <a:ext cx="749046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8"/>
          <p:cNvSpPr/>
          <p:nvPr/>
        </p:nvSpPr>
        <p:spPr>
          <a:xfrm>
            <a:off x="10066020" y="5501640"/>
            <a:ext cx="7334174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entity_b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8"/>
          <p:cNvSpPr/>
          <p:nvPr/>
        </p:nvSpPr>
        <p:spPr>
          <a:xfrm>
            <a:off x="10066020" y="6031230"/>
            <a:ext cx="7334174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b_id (PK)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title, </a:t>
            </a:r>
            <a:r>
              <a:rPr b="1" i="0" lang="en-US" sz="195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a_id (FK → entity_a)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9"/>
          <p:cNvSpPr/>
          <p:nvPr/>
        </p:nvSpPr>
        <p:spPr>
          <a:xfrm>
            <a:off x="914400" y="861060"/>
            <a:ext cx="5516927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STEP 1 OF 7 · REGULAR ENTITIES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6082189" y="981075"/>
            <a:ext cx="10453212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9"/>
          <p:cNvSpPr/>
          <p:nvPr/>
        </p:nvSpPr>
        <p:spPr>
          <a:xfrm>
            <a:off x="16687800" y="838200"/>
            <a:ext cx="762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01/07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9"/>
          <p:cNvSpPr/>
          <p:nvPr/>
        </p:nvSpPr>
        <p:spPr>
          <a:xfrm>
            <a:off x="914400" y="1428750"/>
            <a:ext cx="1810512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830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Every strong entity becomes a table.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9"/>
          <p:cNvSpPr/>
          <p:nvPr/>
        </p:nvSpPr>
        <p:spPr>
          <a:xfrm>
            <a:off x="914400" y="2343150"/>
            <a:ext cx="7991475" cy="461772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5" name="Google Shape;205;p9"/>
          <p:cNvSpPr/>
          <p:nvPr/>
        </p:nvSpPr>
        <p:spPr>
          <a:xfrm>
            <a:off x="1303020" y="2731770"/>
            <a:ext cx="79356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06" name="Google Shape;206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03020" y="3143250"/>
            <a:ext cx="7214235" cy="3429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9"/>
          <p:cNvSpPr/>
          <p:nvPr/>
        </p:nvSpPr>
        <p:spPr>
          <a:xfrm>
            <a:off x="9382125" y="2343150"/>
            <a:ext cx="879062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9"/>
          <p:cNvSpPr/>
          <p:nvPr/>
        </p:nvSpPr>
        <p:spPr>
          <a:xfrm>
            <a:off x="9382125" y="2792730"/>
            <a:ext cx="7991475" cy="227076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89745" y="2800350"/>
            <a:ext cx="7976235" cy="5867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9"/>
          <p:cNvSpPr/>
          <p:nvPr/>
        </p:nvSpPr>
        <p:spPr>
          <a:xfrm>
            <a:off x="9618345" y="2933700"/>
            <a:ext cx="7758322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student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9"/>
          <p:cNvSpPr/>
          <p:nvPr/>
        </p:nvSpPr>
        <p:spPr>
          <a:xfrm>
            <a:off x="9389745" y="3387090"/>
            <a:ext cx="7976235" cy="55245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9"/>
          <p:cNvSpPr/>
          <p:nvPr/>
        </p:nvSpPr>
        <p:spPr>
          <a:xfrm>
            <a:off x="9389745" y="3931920"/>
            <a:ext cx="238970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9"/>
          <p:cNvSpPr/>
          <p:nvPr/>
        </p:nvSpPr>
        <p:spPr>
          <a:xfrm>
            <a:off x="9618345" y="3520440"/>
            <a:ext cx="2008703" cy="31623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student_id </a:t>
            </a:r>
            <a:r>
              <a:rPr b="1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PK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11779448" y="3931920"/>
            <a:ext cx="1962031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9"/>
          <p:cNvSpPr/>
          <p:nvPr/>
        </p:nvSpPr>
        <p:spPr>
          <a:xfrm>
            <a:off x="12008048" y="3520440"/>
            <a:ext cx="1581031" cy="31623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name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9"/>
          <p:cNvSpPr/>
          <p:nvPr/>
        </p:nvSpPr>
        <p:spPr>
          <a:xfrm>
            <a:off x="13741480" y="3931920"/>
            <a:ext cx="2712363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9"/>
          <p:cNvSpPr/>
          <p:nvPr/>
        </p:nvSpPr>
        <p:spPr>
          <a:xfrm>
            <a:off x="13970080" y="3520440"/>
            <a:ext cx="2336534" cy="31623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email </a:t>
            </a:r>
            <a:r>
              <a:rPr b="1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UK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9"/>
          <p:cNvSpPr/>
          <p:nvPr/>
        </p:nvSpPr>
        <p:spPr>
          <a:xfrm>
            <a:off x="16453842" y="3931920"/>
            <a:ext cx="912138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p9"/>
          <p:cNvSpPr/>
          <p:nvPr/>
        </p:nvSpPr>
        <p:spPr>
          <a:xfrm>
            <a:off x="16682442" y="3520440"/>
            <a:ext cx="531138" cy="31623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gpa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9"/>
          <p:cNvSpPr/>
          <p:nvPr/>
        </p:nvSpPr>
        <p:spPr>
          <a:xfrm>
            <a:off x="9618345" y="4053840"/>
            <a:ext cx="2008703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42001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9"/>
          <p:cNvSpPr/>
          <p:nvPr/>
        </p:nvSpPr>
        <p:spPr>
          <a:xfrm>
            <a:off x="12008048" y="4053840"/>
            <a:ext cx="1581031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Mona Saleh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9"/>
          <p:cNvSpPr/>
          <p:nvPr/>
        </p:nvSpPr>
        <p:spPr>
          <a:xfrm>
            <a:off x="13970080" y="4053840"/>
            <a:ext cx="2336534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mona@iti.gov.eg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9"/>
          <p:cNvSpPr/>
          <p:nvPr/>
        </p:nvSpPr>
        <p:spPr>
          <a:xfrm>
            <a:off x="16682442" y="4053840"/>
            <a:ext cx="531138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3.6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9"/>
          <p:cNvSpPr/>
          <p:nvPr/>
        </p:nvSpPr>
        <p:spPr>
          <a:xfrm>
            <a:off x="9389745" y="4499610"/>
            <a:ext cx="7976235" cy="55626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5" name="Google Shape;225;p9"/>
          <p:cNvSpPr/>
          <p:nvPr/>
        </p:nvSpPr>
        <p:spPr>
          <a:xfrm>
            <a:off x="9618345" y="4613910"/>
            <a:ext cx="2008703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42002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9"/>
          <p:cNvSpPr/>
          <p:nvPr/>
        </p:nvSpPr>
        <p:spPr>
          <a:xfrm>
            <a:off x="12008048" y="4613910"/>
            <a:ext cx="1581031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Omar Hany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13970080" y="4613910"/>
            <a:ext cx="2336534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omar@iti.gov.eg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9"/>
          <p:cNvSpPr/>
          <p:nvPr/>
        </p:nvSpPr>
        <p:spPr>
          <a:xfrm>
            <a:off x="16682442" y="4613910"/>
            <a:ext cx="531138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3.2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9"/>
          <p:cNvSpPr/>
          <p:nvPr/>
        </p:nvSpPr>
        <p:spPr>
          <a:xfrm>
            <a:off x="9382125" y="5330190"/>
            <a:ext cx="7991475" cy="1228725"/>
          </a:xfrm>
          <a:prstGeom prst="rect">
            <a:avLst/>
          </a:prstGeom>
          <a:solidFill>
            <a:srgbClr val="FDEC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9382125" y="5330190"/>
            <a:ext cx="45720" cy="1228725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9694545" y="5558790"/>
            <a:ext cx="7652099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7733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Rule: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DECEF"/>
                </a:highlight>
                <a:latin typeface="Arial"/>
                <a:ea typeface="Arial"/>
                <a:cs typeface="Arial"/>
                <a:sym typeface="Arial"/>
              </a:rPr>
              <a:t>one table per entity, one attribute per column, choose any key attribute as the PK.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10"/>
          <p:cNvSpPr/>
          <p:nvPr/>
        </p:nvSpPr>
        <p:spPr>
          <a:xfrm>
            <a:off x="914400" y="861060"/>
            <a:ext cx="490608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STEP 2 OF 7 · WEAK ENTITIES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5526881" y="981075"/>
            <a:ext cx="11008519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0"/>
          <p:cNvSpPr/>
          <p:nvPr/>
        </p:nvSpPr>
        <p:spPr>
          <a:xfrm>
            <a:off x="16687800" y="838200"/>
            <a:ext cx="762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02/07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10"/>
          <p:cNvSpPr/>
          <p:nvPr/>
        </p:nvSpPr>
        <p:spPr>
          <a:xfrm>
            <a:off x="914400" y="1428750"/>
            <a:ext cx="16952976" cy="12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830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Weak entity → table + FK; PK = owner FK + partial key.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10"/>
          <p:cNvSpPr/>
          <p:nvPr/>
        </p:nvSpPr>
        <p:spPr>
          <a:xfrm>
            <a:off x="914400" y="2971800"/>
            <a:ext cx="7991475" cy="569976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2" name="Google Shape;242;p10"/>
          <p:cNvSpPr/>
          <p:nvPr/>
        </p:nvSpPr>
        <p:spPr>
          <a:xfrm>
            <a:off x="1303020" y="3360420"/>
            <a:ext cx="79356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3" name="Google Shape;24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03020" y="3771900"/>
            <a:ext cx="721423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10"/>
          <p:cNvSpPr/>
          <p:nvPr/>
        </p:nvSpPr>
        <p:spPr>
          <a:xfrm>
            <a:off x="1303020" y="7505700"/>
            <a:ext cx="7430662" cy="815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double rectangle = weak entity. double diamond = identifying relationship. dashed underline = partial key · double line = total participation.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10"/>
          <p:cNvSpPr/>
          <p:nvPr/>
        </p:nvSpPr>
        <p:spPr>
          <a:xfrm>
            <a:off x="9382125" y="2971800"/>
            <a:ext cx="879062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TABLES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6" name="Google Shape;246;p10"/>
          <p:cNvSpPr/>
          <p:nvPr/>
        </p:nvSpPr>
        <p:spPr>
          <a:xfrm>
            <a:off x="9382125" y="3421380"/>
            <a:ext cx="7991475" cy="123444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0"/>
          <p:cNvSpPr/>
          <p:nvPr/>
        </p:nvSpPr>
        <p:spPr>
          <a:xfrm>
            <a:off x="9389745" y="3429000"/>
            <a:ext cx="7976235" cy="5867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10"/>
          <p:cNvSpPr/>
          <p:nvPr/>
        </p:nvSpPr>
        <p:spPr>
          <a:xfrm>
            <a:off x="9618345" y="3562350"/>
            <a:ext cx="7758322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instructor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10"/>
          <p:cNvSpPr/>
          <p:nvPr/>
        </p:nvSpPr>
        <p:spPr>
          <a:xfrm>
            <a:off x="9618345" y="4168140"/>
            <a:ext cx="775832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instructor_id (PK)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name, email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10"/>
          <p:cNvSpPr/>
          <p:nvPr/>
        </p:nvSpPr>
        <p:spPr>
          <a:xfrm>
            <a:off x="9382125" y="4865370"/>
            <a:ext cx="7991475" cy="214122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0"/>
          <p:cNvSpPr/>
          <p:nvPr/>
        </p:nvSpPr>
        <p:spPr>
          <a:xfrm>
            <a:off x="9389745" y="4872990"/>
            <a:ext cx="7976235" cy="5867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0"/>
          <p:cNvSpPr/>
          <p:nvPr/>
        </p:nvSpPr>
        <p:spPr>
          <a:xfrm>
            <a:off x="9618345" y="5006340"/>
            <a:ext cx="7758322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office_hour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10"/>
          <p:cNvSpPr/>
          <p:nvPr/>
        </p:nvSpPr>
        <p:spPr>
          <a:xfrm>
            <a:off x="9618345" y="5612130"/>
            <a:ext cx="7758322" cy="12725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instructor_id (PK, FK → instructor)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weekday (PK)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start_time, room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10"/>
          <p:cNvSpPr/>
          <p:nvPr/>
        </p:nvSpPr>
        <p:spPr>
          <a:xfrm>
            <a:off x="9382125" y="7273290"/>
            <a:ext cx="7991475" cy="1228725"/>
          </a:xfrm>
          <a:prstGeom prst="rect">
            <a:avLst/>
          </a:prstGeom>
          <a:solidFill>
            <a:srgbClr val="FDEC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5" name="Google Shape;255;p10"/>
          <p:cNvSpPr/>
          <p:nvPr/>
        </p:nvSpPr>
        <p:spPr>
          <a:xfrm>
            <a:off x="9382125" y="7273290"/>
            <a:ext cx="45720" cy="1228725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0"/>
          <p:cNvSpPr/>
          <p:nvPr/>
        </p:nvSpPr>
        <p:spPr>
          <a:xfrm>
            <a:off x="9694545" y="7501890"/>
            <a:ext cx="7652099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7733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Rule: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DECEF"/>
                </a:highlight>
                <a:latin typeface="Arial"/>
                <a:ea typeface="Arial"/>
                <a:cs typeface="Arial"/>
                <a:sym typeface="Arial"/>
              </a:rPr>
              <a:t>composite PK = owner's PK (as FK) + the weak entity's partial key.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1"/>
          <p:cNvSpPr/>
          <p:nvPr/>
        </p:nvSpPr>
        <p:spPr>
          <a:xfrm>
            <a:off x="914400" y="861060"/>
            <a:ext cx="5571804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STEP 3 OF 7 · 1:1 RELATIONSHIPS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1"/>
          <p:cNvSpPr/>
          <p:nvPr/>
        </p:nvSpPr>
        <p:spPr>
          <a:xfrm>
            <a:off x="6132076" y="981075"/>
            <a:ext cx="10403324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4" name="Google Shape;264;p11"/>
          <p:cNvSpPr/>
          <p:nvPr/>
        </p:nvSpPr>
        <p:spPr>
          <a:xfrm>
            <a:off x="16687800" y="838200"/>
            <a:ext cx="762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03/07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1"/>
          <p:cNvSpPr/>
          <p:nvPr/>
        </p:nvSpPr>
        <p:spPr>
          <a:xfrm>
            <a:off x="914400" y="1409700"/>
            <a:ext cx="16952976" cy="11696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158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Binary 1:1 Relation depends on participation — pick one of three.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1"/>
          <p:cNvSpPr/>
          <p:nvPr/>
        </p:nvSpPr>
        <p:spPr>
          <a:xfrm>
            <a:off x="914400" y="2807970"/>
            <a:ext cx="5308521" cy="412242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1"/>
          <p:cNvSpPr/>
          <p:nvPr/>
        </p:nvSpPr>
        <p:spPr>
          <a:xfrm>
            <a:off x="922020" y="2815590"/>
            <a:ext cx="5293281" cy="5867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11"/>
          <p:cNvSpPr/>
          <p:nvPr/>
        </p:nvSpPr>
        <p:spPr>
          <a:xfrm>
            <a:off x="1150620" y="2967990"/>
            <a:ext cx="49948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A · Both mandatory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1"/>
          <p:cNvSpPr/>
          <p:nvPr/>
        </p:nvSpPr>
        <p:spPr>
          <a:xfrm>
            <a:off x="1188720" y="3669030"/>
            <a:ext cx="4902677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297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Every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employee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must have an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office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, every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office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must have an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employee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1"/>
          <p:cNvSpPr/>
          <p:nvPr/>
        </p:nvSpPr>
        <p:spPr>
          <a:xfrm>
            <a:off x="1188720" y="4514850"/>
            <a:ext cx="4759881" cy="141732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11"/>
          <p:cNvSpPr/>
          <p:nvPr/>
        </p:nvSpPr>
        <p:spPr>
          <a:xfrm>
            <a:off x="1348740" y="4674870"/>
            <a:ext cx="4573036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employee_office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1348740" y="5071110"/>
            <a:ext cx="165963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emp_id (PK)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11"/>
          <p:cNvSpPr/>
          <p:nvPr/>
        </p:nvSpPr>
        <p:spPr>
          <a:xfrm>
            <a:off x="2857500" y="5071110"/>
            <a:ext cx="103632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name,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4" name="Google Shape;274;p11"/>
          <p:cNvSpPr/>
          <p:nvPr/>
        </p:nvSpPr>
        <p:spPr>
          <a:xfrm>
            <a:off x="1348740" y="5436870"/>
            <a:ext cx="22707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office_no, floor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5" name="Google Shape;275;p11"/>
          <p:cNvSpPr/>
          <p:nvPr/>
        </p:nvSpPr>
        <p:spPr>
          <a:xfrm>
            <a:off x="1188720" y="6107430"/>
            <a:ext cx="4759881" cy="548640"/>
          </a:xfrm>
          <a:prstGeom prst="rect">
            <a:avLst/>
          </a:prstGeom>
          <a:solidFill>
            <a:srgbClr val="FDEC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11"/>
          <p:cNvSpPr/>
          <p:nvPr/>
        </p:nvSpPr>
        <p:spPr>
          <a:xfrm>
            <a:off x="1188720" y="6107430"/>
            <a:ext cx="3810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11"/>
          <p:cNvSpPr/>
          <p:nvPr/>
        </p:nvSpPr>
        <p:spPr>
          <a:xfrm>
            <a:off x="1379220" y="6240780"/>
            <a:ext cx="4559777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→ Merge into one table.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6489621" y="2807970"/>
            <a:ext cx="5308640" cy="412242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11"/>
          <p:cNvSpPr/>
          <p:nvPr/>
        </p:nvSpPr>
        <p:spPr>
          <a:xfrm>
            <a:off x="6497241" y="2815590"/>
            <a:ext cx="5293400" cy="5867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11"/>
          <p:cNvSpPr/>
          <p:nvPr/>
        </p:nvSpPr>
        <p:spPr>
          <a:xfrm>
            <a:off x="6725841" y="2967990"/>
            <a:ext cx="499500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B · One mandatory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11"/>
          <p:cNvSpPr/>
          <p:nvPr/>
        </p:nvSpPr>
        <p:spPr>
          <a:xfrm>
            <a:off x="6763941" y="3669030"/>
            <a:ext cx="490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297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Every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department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must have a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manager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; not every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employee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manages one.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11"/>
          <p:cNvSpPr/>
          <p:nvPr/>
        </p:nvSpPr>
        <p:spPr>
          <a:xfrm>
            <a:off x="6763941" y="4514850"/>
            <a:ext cx="4760000" cy="144018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11"/>
          <p:cNvSpPr/>
          <p:nvPr/>
        </p:nvSpPr>
        <p:spPr>
          <a:xfrm>
            <a:off x="6923961" y="4674870"/>
            <a:ext cx="4573159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department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4" name="Google Shape;284;p11"/>
          <p:cNvSpPr/>
          <p:nvPr/>
        </p:nvSpPr>
        <p:spPr>
          <a:xfrm>
            <a:off x="6923961" y="5071110"/>
            <a:ext cx="181051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dept_id (PK)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11"/>
          <p:cNvSpPr/>
          <p:nvPr/>
        </p:nvSpPr>
        <p:spPr>
          <a:xfrm>
            <a:off x="8569881" y="5071110"/>
            <a:ext cx="103632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name,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11"/>
          <p:cNvSpPr/>
          <p:nvPr/>
        </p:nvSpPr>
        <p:spPr>
          <a:xfrm>
            <a:off x="6923961" y="5482590"/>
            <a:ext cx="3772555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manager_id (FK, NOT NULL)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11"/>
          <p:cNvSpPr/>
          <p:nvPr/>
        </p:nvSpPr>
        <p:spPr>
          <a:xfrm>
            <a:off x="6763941" y="6107430"/>
            <a:ext cx="4760000" cy="548640"/>
          </a:xfrm>
          <a:prstGeom prst="rect">
            <a:avLst/>
          </a:prstGeom>
          <a:solidFill>
            <a:srgbClr val="FDEC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8" name="Google Shape;288;p11"/>
          <p:cNvSpPr/>
          <p:nvPr/>
        </p:nvSpPr>
        <p:spPr>
          <a:xfrm>
            <a:off x="6763941" y="6107430"/>
            <a:ext cx="3810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11"/>
          <p:cNvSpPr/>
          <p:nvPr/>
        </p:nvSpPr>
        <p:spPr>
          <a:xfrm>
            <a:off x="6954441" y="6240780"/>
            <a:ext cx="45599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→ FK on the mandatory side.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11"/>
          <p:cNvSpPr/>
          <p:nvPr/>
        </p:nvSpPr>
        <p:spPr>
          <a:xfrm>
            <a:off x="12064960" y="2807970"/>
            <a:ext cx="5308640" cy="412242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11"/>
          <p:cNvSpPr/>
          <p:nvPr/>
        </p:nvSpPr>
        <p:spPr>
          <a:xfrm>
            <a:off x="12072581" y="2815590"/>
            <a:ext cx="5293400" cy="5867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2" name="Google Shape;292;p11"/>
          <p:cNvSpPr/>
          <p:nvPr/>
        </p:nvSpPr>
        <p:spPr>
          <a:xfrm>
            <a:off x="12301181" y="2967990"/>
            <a:ext cx="499500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 · Both optional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11"/>
          <p:cNvSpPr/>
          <p:nvPr/>
        </p:nvSpPr>
        <p:spPr>
          <a:xfrm>
            <a:off x="12339281" y="3669030"/>
            <a:ext cx="49028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297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An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instructor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may mentor a </a:t>
            </a:r>
            <a:r>
              <a:rPr b="1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student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; both sides can exist alone.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11"/>
          <p:cNvSpPr/>
          <p:nvPr/>
        </p:nvSpPr>
        <p:spPr>
          <a:xfrm>
            <a:off x="12339281" y="4514850"/>
            <a:ext cx="4760000" cy="141732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11"/>
          <p:cNvSpPr/>
          <p:nvPr/>
        </p:nvSpPr>
        <p:spPr>
          <a:xfrm>
            <a:off x="12499301" y="4674870"/>
            <a:ext cx="4573159" cy="4038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mentorship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11"/>
          <p:cNvSpPr/>
          <p:nvPr/>
        </p:nvSpPr>
        <p:spPr>
          <a:xfrm>
            <a:off x="12499301" y="5071110"/>
            <a:ext cx="3319272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instructor_id (PK, FK)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11"/>
          <p:cNvSpPr/>
          <p:nvPr/>
        </p:nvSpPr>
        <p:spPr>
          <a:xfrm>
            <a:off x="15516820" y="5071110"/>
            <a:ext cx="2133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11"/>
          <p:cNvSpPr/>
          <p:nvPr/>
        </p:nvSpPr>
        <p:spPr>
          <a:xfrm>
            <a:off x="12499301" y="5436870"/>
            <a:ext cx="2866644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1176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student_id (FK, UK)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9" name="Google Shape;299;p11"/>
          <p:cNvSpPr/>
          <p:nvPr/>
        </p:nvSpPr>
        <p:spPr>
          <a:xfrm>
            <a:off x="12339281" y="6107430"/>
            <a:ext cx="4760000" cy="548640"/>
          </a:xfrm>
          <a:prstGeom prst="rect">
            <a:avLst/>
          </a:prstGeom>
          <a:solidFill>
            <a:srgbClr val="FDEC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0" name="Google Shape;300;p11"/>
          <p:cNvSpPr/>
          <p:nvPr/>
        </p:nvSpPr>
        <p:spPr>
          <a:xfrm>
            <a:off x="12339281" y="6107430"/>
            <a:ext cx="38100" cy="5486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11"/>
          <p:cNvSpPr/>
          <p:nvPr/>
        </p:nvSpPr>
        <p:spPr>
          <a:xfrm>
            <a:off x="12529781" y="6240780"/>
            <a:ext cx="45599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→ Third link table.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1"/>
          <p:cNvSpPr/>
          <p:nvPr/>
        </p:nvSpPr>
        <p:spPr>
          <a:xfrm>
            <a:off x="914400" y="7197090"/>
            <a:ext cx="16459200" cy="112395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11"/>
          <p:cNvSpPr/>
          <p:nvPr/>
        </p:nvSpPr>
        <p:spPr>
          <a:xfrm>
            <a:off x="914400" y="7197090"/>
            <a:ext cx="45720" cy="112395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4" name="Google Shape;304;p11"/>
          <p:cNvSpPr/>
          <p:nvPr/>
        </p:nvSpPr>
        <p:spPr>
          <a:xfrm>
            <a:off x="1226820" y="7387590"/>
            <a:ext cx="16373856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1757"/>
              </a:lnSpc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Why FK on the mandatory side (case B):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that row is required to have a partner — the FK can be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NOT NULL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. Putting it on the optional side would force NULLs for every unpaired row.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2"/>
          <p:cNvSpPr/>
          <p:nvPr/>
        </p:nvSpPr>
        <p:spPr>
          <a:xfrm>
            <a:off x="914400" y="861060"/>
            <a:ext cx="561358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STEP 4 OF 7 · 1:N RELATIONSHIPS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12"/>
          <p:cNvSpPr/>
          <p:nvPr/>
        </p:nvSpPr>
        <p:spPr>
          <a:xfrm>
            <a:off x="6170057" y="981075"/>
            <a:ext cx="10365343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12"/>
          <p:cNvSpPr/>
          <p:nvPr/>
        </p:nvSpPr>
        <p:spPr>
          <a:xfrm>
            <a:off x="16687800" y="838200"/>
            <a:ext cx="762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04/07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3" name="Google Shape;313;p12"/>
          <p:cNvSpPr/>
          <p:nvPr/>
        </p:nvSpPr>
        <p:spPr>
          <a:xfrm>
            <a:off x="914400" y="1428750"/>
            <a:ext cx="1810512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830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Binary 1:N — </a:t>
            </a:r>
            <a:r>
              <a:rPr b="1" i="0" lang="en-US" sz="4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put the FK on the N (many) side.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4" name="Google Shape;314;p12"/>
          <p:cNvSpPr/>
          <p:nvPr/>
        </p:nvSpPr>
        <p:spPr>
          <a:xfrm>
            <a:off x="914400" y="2343150"/>
            <a:ext cx="7991475" cy="544068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12"/>
          <p:cNvSpPr/>
          <p:nvPr/>
        </p:nvSpPr>
        <p:spPr>
          <a:xfrm>
            <a:off x="1303020" y="2731770"/>
            <a:ext cx="79356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16" name="Google Shape;316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03020" y="3143250"/>
            <a:ext cx="721423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317" name="Google Shape;317;p12"/>
          <p:cNvSpPr/>
          <p:nvPr/>
        </p:nvSpPr>
        <p:spPr>
          <a:xfrm>
            <a:off x="1303020" y="6877050"/>
            <a:ext cx="7430662" cy="5562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double line = total participation: every course has an instructor → FK is NOT NULL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12"/>
          <p:cNvSpPr/>
          <p:nvPr/>
        </p:nvSpPr>
        <p:spPr>
          <a:xfrm>
            <a:off x="9382125" y="2343150"/>
            <a:ext cx="879062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TABLES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9" name="Google Shape;319;p12"/>
          <p:cNvSpPr/>
          <p:nvPr/>
        </p:nvSpPr>
        <p:spPr>
          <a:xfrm>
            <a:off x="9382125" y="2792730"/>
            <a:ext cx="7991475" cy="123444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2"/>
          <p:cNvSpPr/>
          <p:nvPr/>
        </p:nvSpPr>
        <p:spPr>
          <a:xfrm>
            <a:off x="9389745" y="2800350"/>
            <a:ext cx="7976235" cy="5867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1" name="Google Shape;321;p12"/>
          <p:cNvSpPr/>
          <p:nvPr/>
        </p:nvSpPr>
        <p:spPr>
          <a:xfrm>
            <a:off x="9618345" y="2933700"/>
            <a:ext cx="7758322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instructor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12"/>
          <p:cNvSpPr/>
          <p:nvPr/>
        </p:nvSpPr>
        <p:spPr>
          <a:xfrm>
            <a:off x="9618345" y="3539490"/>
            <a:ext cx="775832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instructor_id (PK)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name, email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12"/>
          <p:cNvSpPr/>
          <p:nvPr/>
        </p:nvSpPr>
        <p:spPr>
          <a:xfrm>
            <a:off x="9382125" y="4236720"/>
            <a:ext cx="7991475" cy="176022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12"/>
          <p:cNvSpPr/>
          <p:nvPr/>
        </p:nvSpPr>
        <p:spPr>
          <a:xfrm>
            <a:off x="9397365" y="4251960"/>
            <a:ext cx="7960995" cy="5867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p12"/>
          <p:cNvSpPr/>
          <p:nvPr/>
        </p:nvSpPr>
        <p:spPr>
          <a:xfrm>
            <a:off x="9625965" y="4385310"/>
            <a:ext cx="7742625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course · the N side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2"/>
          <p:cNvSpPr/>
          <p:nvPr/>
        </p:nvSpPr>
        <p:spPr>
          <a:xfrm>
            <a:off x="9625965" y="4991100"/>
            <a:ext cx="7742625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course_code (PK)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title, credits, </a:t>
            </a:r>
            <a:r>
              <a:rPr b="1" i="0" lang="en-US" sz="1950" u="none" cap="none" strike="noStrike">
                <a:solidFill>
                  <a:srgbClr val="0E8A8A"/>
                </a:solidFill>
                <a:highlight>
                  <a:srgbClr val="E6F4F4"/>
                </a:highlight>
                <a:latin typeface="Courier New"/>
                <a:ea typeface="Courier New"/>
                <a:cs typeface="Courier New"/>
                <a:sym typeface="Courier New"/>
              </a:rPr>
              <a:t>instructor_id (FK → instructor)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7" name="Google Shape;327;p12"/>
          <p:cNvSpPr/>
          <p:nvPr/>
        </p:nvSpPr>
        <p:spPr>
          <a:xfrm>
            <a:off x="9382125" y="6263640"/>
            <a:ext cx="7991475" cy="1228725"/>
          </a:xfrm>
          <a:prstGeom prst="rect">
            <a:avLst/>
          </a:prstGeom>
          <a:solidFill>
            <a:srgbClr val="FDEC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2"/>
          <p:cNvSpPr/>
          <p:nvPr/>
        </p:nvSpPr>
        <p:spPr>
          <a:xfrm>
            <a:off x="9382125" y="6263640"/>
            <a:ext cx="45720" cy="1228725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12"/>
          <p:cNvSpPr/>
          <p:nvPr/>
        </p:nvSpPr>
        <p:spPr>
          <a:xfrm>
            <a:off x="9694545" y="6492240"/>
            <a:ext cx="7652099" cy="8096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7733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Rule: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DECEF"/>
                </a:highlight>
                <a:latin typeface="Arial"/>
                <a:ea typeface="Arial"/>
                <a:cs typeface="Arial"/>
                <a:sym typeface="Arial"/>
              </a:rPr>
              <a:t>FK on the N-side; add any simple relationship attributes there too.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13"/>
          <p:cNvSpPr/>
          <p:nvPr/>
        </p:nvSpPr>
        <p:spPr>
          <a:xfrm>
            <a:off x="914400" y="861060"/>
            <a:ext cx="5683127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STEP 5 OF 7 · M:N RELATIONSHIPS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3"/>
          <p:cNvSpPr/>
          <p:nvPr/>
        </p:nvSpPr>
        <p:spPr>
          <a:xfrm>
            <a:off x="6233279" y="981075"/>
            <a:ext cx="10302121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13"/>
          <p:cNvSpPr/>
          <p:nvPr/>
        </p:nvSpPr>
        <p:spPr>
          <a:xfrm>
            <a:off x="16687800" y="838200"/>
            <a:ext cx="762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05/07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3"/>
          <p:cNvSpPr/>
          <p:nvPr/>
        </p:nvSpPr>
        <p:spPr>
          <a:xfrm>
            <a:off x="914400" y="1409700"/>
            <a:ext cx="18105120" cy="6038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158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Binary M:N → a new junction table with both FKs.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13"/>
          <p:cNvSpPr/>
          <p:nvPr/>
        </p:nvSpPr>
        <p:spPr>
          <a:xfrm>
            <a:off x="914400" y="2242185"/>
            <a:ext cx="7991475" cy="518160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13"/>
          <p:cNvSpPr/>
          <p:nvPr/>
        </p:nvSpPr>
        <p:spPr>
          <a:xfrm>
            <a:off x="1303020" y="2630805"/>
            <a:ext cx="79356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41" name="Google Shape;341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03020" y="3042285"/>
            <a:ext cx="721423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13"/>
          <p:cNvSpPr/>
          <p:nvPr/>
        </p:nvSpPr>
        <p:spPr>
          <a:xfrm>
            <a:off x="1303020" y="6776085"/>
            <a:ext cx="79356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grade and enrolled_at belong to the relationship, not to either entity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3"/>
          <p:cNvSpPr/>
          <p:nvPr/>
        </p:nvSpPr>
        <p:spPr>
          <a:xfrm>
            <a:off x="9382125" y="2242185"/>
            <a:ext cx="879062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TABLES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3"/>
          <p:cNvSpPr/>
          <p:nvPr/>
        </p:nvSpPr>
        <p:spPr>
          <a:xfrm>
            <a:off x="9382125" y="2691765"/>
            <a:ext cx="3919537" cy="109728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13"/>
          <p:cNvSpPr/>
          <p:nvPr/>
        </p:nvSpPr>
        <p:spPr>
          <a:xfrm>
            <a:off x="9389745" y="2699385"/>
            <a:ext cx="3904297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13"/>
          <p:cNvSpPr/>
          <p:nvPr/>
        </p:nvSpPr>
        <p:spPr>
          <a:xfrm>
            <a:off x="9580245" y="2813685"/>
            <a:ext cx="364042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student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13"/>
          <p:cNvSpPr/>
          <p:nvPr/>
        </p:nvSpPr>
        <p:spPr>
          <a:xfrm>
            <a:off x="9580245" y="3343275"/>
            <a:ext cx="364042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student_id (PK)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name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3"/>
          <p:cNvSpPr/>
          <p:nvPr/>
        </p:nvSpPr>
        <p:spPr>
          <a:xfrm>
            <a:off x="13454063" y="2691765"/>
            <a:ext cx="3919537" cy="109728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9" name="Google Shape;349;p13"/>
          <p:cNvSpPr/>
          <p:nvPr/>
        </p:nvSpPr>
        <p:spPr>
          <a:xfrm>
            <a:off x="13461683" y="2699385"/>
            <a:ext cx="3904297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0" name="Google Shape;350;p13"/>
          <p:cNvSpPr/>
          <p:nvPr/>
        </p:nvSpPr>
        <p:spPr>
          <a:xfrm>
            <a:off x="13652183" y="2813685"/>
            <a:ext cx="364042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course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13"/>
          <p:cNvSpPr/>
          <p:nvPr/>
        </p:nvSpPr>
        <p:spPr>
          <a:xfrm>
            <a:off x="13652183" y="3343275"/>
            <a:ext cx="3640426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course_code (PK)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title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13"/>
          <p:cNvSpPr/>
          <p:nvPr/>
        </p:nvSpPr>
        <p:spPr>
          <a:xfrm>
            <a:off x="9382125" y="3941445"/>
            <a:ext cx="7991475" cy="2230755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3"/>
          <p:cNvSpPr/>
          <p:nvPr/>
        </p:nvSpPr>
        <p:spPr>
          <a:xfrm>
            <a:off x="9397365" y="3956685"/>
            <a:ext cx="7960995" cy="5867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4" name="Google Shape;354;p13"/>
          <p:cNvSpPr/>
          <p:nvPr/>
        </p:nvSpPr>
        <p:spPr>
          <a:xfrm>
            <a:off x="9625965" y="4090035"/>
            <a:ext cx="7742625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enrolment · junction table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3"/>
          <p:cNvSpPr/>
          <p:nvPr/>
        </p:nvSpPr>
        <p:spPr>
          <a:xfrm>
            <a:off x="9625965" y="4695825"/>
            <a:ext cx="7742625" cy="134683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9324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student_id (PK, </a:t>
            </a:r>
            <a:r>
              <a:rPr b="1" i="0" lang="en-US" sz="195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FK → student)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course_code (PK, </a:t>
            </a:r>
            <a:r>
              <a:rPr b="1" i="0" lang="en-US" sz="195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FK → course)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grade, enrolled_at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13"/>
          <p:cNvSpPr/>
          <p:nvPr/>
        </p:nvSpPr>
        <p:spPr>
          <a:xfrm>
            <a:off x="9382125" y="6381750"/>
            <a:ext cx="7991475" cy="765810"/>
          </a:xfrm>
          <a:prstGeom prst="rect">
            <a:avLst/>
          </a:prstGeom>
          <a:solidFill>
            <a:srgbClr val="FDEC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13"/>
          <p:cNvSpPr/>
          <p:nvPr/>
        </p:nvSpPr>
        <p:spPr>
          <a:xfrm>
            <a:off x="9382125" y="6381750"/>
            <a:ext cx="45720" cy="76581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8" name="Google Shape;358;p13"/>
          <p:cNvSpPr/>
          <p:nvPr/>
        </p:nvSpPr>
        <p:spPr>
          <a:xfrm>
            <a:off x="9694545" y="6591300"/>
            <a:ext cx="7652099" cy="38481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2973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Rule: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DECEF"/>
                </a:highlight>
                <a:latin typeface="Arial"/>
                <a:ea typeface="Arial"/>
                <a:cs typeface="Arial"/>
                <a:sym typeface="Arial"/>
              </a:rPr>
              <a:t>composite PK of both FKs; relationship attributes live here.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14"/>
          <p:cNvSpPr/>
          <p:nvPr/>
        </p:nvSpPr>
        <p:spPr>
          <a:xfrm>
            <a:off x="914400" y="861060"/>
            <a:ext cx="687166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STEP 6 OF 7 · MULTI-VALUED ATTRIBUTES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14"/>
          <p:cNvSpPr/>
          <p:nvPr/>
        </p:nvSpPr>
        <p:spPr>
          <a:xfrm>
            <a:off x="7313772" y="981075"/>
            <a:ext cx="9221629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14"/>
          <p:cNvSpPr/>
          <p:nvPr/>
        </p:nvSpPr>
        <p:spPr>
          <a:xfrm>
            <a:off x="16687800" y="838200"/>
            <a:ext cx="762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06/07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14"/>
          <p:cNvSpPr/>
          <p:nvPr/>
        </p:nvSpPr>
        <p:spPr>
          <a:xfrm>
            <a:off x="914400" y="1428750"/>
            <a:ext cx="1810512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830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One extra table — FK + value.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8" name="Google Shape;368;p14"/>
          <p:cNvSpPr/>
          <p:nvPr/>
        </p:nvSpPr>
        <p:spPr>
          <a:xfrm>
            <a:off x="914400" y="2343150"/>
            <a:ext cx="7991475" cy="518160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9" name="Google Shape;369;p14"/>
          <p:cNvSpPr/>
          <p:nvPr/>
        </p:nvSpPr>
        <p:spPr>
          <a:xfrm>
            <a:off x="1303020" y="2731770"/>
            <a:ext cx="79356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70" name="Google Shape;370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03020" y="3143250"/>
            <a:ext cx="721423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14"/>
          <p:cNvSpPr/>
          <p:nvPr/>
        </p:nvSpPr>
        <p:spPr>
          <a:xfrm>
            <a:off x="1303020" y="6877050"/>
            <a:ext cx="79356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double ellipse = multi-valued attribute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2" name="Google Shape;372;p14"/>
          <p:cNvSpPr/>
          <p:nvPr/>
        </p:nvSpPr>
        <p:spPr>
          <a:xfrm>
            <a:off x="9382125" y="2343150"/>
            <a:ext cx="879062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TABLES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4"/>
          <p:cNvSpPr/>
          <p:nvPr/>
        </p:nvSpPr>
        <p:spPr>
          <a:xfrm>
            <a:off x="9382125" y="2792730"/>
            <a:ext cx="7991475" cy="123444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4" name="Google Shape;374;p14"/>
          <p:cNvSpPr/>
          <p:nvPr/>
        </p:nvSpPr>
        <p:spPr>
          <a:xfrm>
            <a:off x="9389745" y="2800350"/>
            <a:ext cx="7976235" cy="5867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14"/>
          <p:cNvSpPr/>
          <p:nvPr/>
        </p:nvSpPr>
        <p:spPr>
          <a:xfrm>
            <a:off x="9618345" y="2933700"/>
            <a:ext cx="7758322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student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6" name="Google Shape;376;p14"/>
          <p:cNvSpPr/>
          <p:nvPr/>
        </p:nvSpPr>
        <p:spPr>
          <a:xfrm>
            <a:off x="9618345" y="3539490"/>
            <a:ext cx="775832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student_id (PK)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name, gpa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4"/>
          <p:cNvSpPr/>
          <p:nvPr/>
        </p:nvSpPr>
        <p:spPr>
          <a:xfrm>
            <a:off x="9382125" y="4236720"/>
            <a:ext cx="7991475" cy="176022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8" name="Google Shape;378;p14"/>
          <p:cNvSpPr/>
          <p:nvPr/>
        </p:nvSpPr>
        <p:spPr>
          <a:xfrm>
            <a:off x="9397365" y="4251960"/>
            <a:ext cx="7960995" cy="5867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14"/>
          <p:cNvSpPr/>
          <p:nvPr/>
        </p:nvSpPr>
        <p:spPr>
          <a:xfrm>
            <a:off x="9625965" y="4385310"/>
            <a:ext cx="7742625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student_phone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4"/>
          <p:cNvSpPr/>
          <p:nvPr/>
        </p:nvSpPr>
        <p:spPr>
          <a:xfrm>
            <a:off x="9625965" y="4991100"/>
            <a:ext cx="7742625" cy="8763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student_id (PK, </a:t>
            </a:r>
            <a:r>
              <a:rPr b="1" i="0" lang="en-US" sz="195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FK → student)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phone (PK)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1" name="Google Shape;381;p14"/>
          <p:cNvSpPr/>
          <p:nvPr/>
        </p:nvSpPr>
        <p:spPr>
          <a:xfrm>
            <a:off x="9382125" y="6263640"/>
            <a:ext cx="7991475" cy="842963"/>
          </a:xfrm>
          <a:prstGeom prst="rect">
            <a:avLst/>
          </a:prstGeom>
          <a:solidFill>
            <a:srgbClr val="FDECE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4"/>
          <p:cNvSpPr/>
          <p:nvPr/>
        </p:nvSpPr>
        <p:spPr>
          <a:xfrm>
            <a:off x="9382125" y="6263640"/>
            <a:ext cx="45720" cy="842963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14"/>
          <p:cNvSpPr/>
          <p:nvPr/>
        </p:nvSpPr>
        <p:spPr>
          <a:xfrm>
            <a:off x="9694545" y="6492240"/>
            <a:ext cx="7652099" cy="423863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7733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Rule: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DECEF"/>
                </a:highlight>
                <a:latin typeface="Arial"/>
                <a:ea typeface="Arial"/>
                <a:cs typeface="Arial"/>
                <a:sym typeface="Arial"/>
              </a:rPr>
              <a:t>one row per value; composite PK of (FK, value).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388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15"/>
          <p:cNvSpPr/>
          <p:nvPr/>
        </p:nvSpPr>
        <p:spPr>
          <a:xfrm>
            <a:off x="914400" y="861060"/>
            <a:ext cx="6081272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STEP 7 OF 7 · N-ARY RELATIONSHIPS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5"/>
          <p:cNvSpPr/>
          <p:nvPr/>
        </p:nvSpPr>
        <p:spPr>
          <a:xfrm>
            <a:off x="6595229" y="981075"/>
            <a:ext cx="9940171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1" name="Google Shape;391;p15"/>
          <p:cNvSpPr/>
          <p:nvPr/>
        </p:nvSpPr>
        <p:spPr>
          <a:xfrm>
            <a:off x="16687800" y="838200"/>
            <a:ext cx="7620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Courier New"/>
              <a:buNone/>
            </a:pP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07/07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15"/>
          <p:cNvSpPr/>
          <p:nvPr/>
        </p:nvSpPr>
        <p:spPr>
          <a:xfrm>
            <a:off x="914400" y="1409700"/>
            <a:ext cx="18105120" cy="6038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158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Three or more? One junction table, n FKs.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3" name="Google Shape;393;p15"/>
          <p:cNvSpPr/>
          <p:nvPr/>
        </p:nvSpPr>
        <p:spPr>
          <a:xfrm>
            <a:off x="914400" y="2242185"/>
            <a:ext cx="7991475" cy="523875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4" name="Google Shape;394;p15"/>
          <p:cNvSpPr/>
          <p:nvPr/>
        </p:nvSpPr>
        <p:spPr>
          <a:xfrm>
            <a:off x="1303020" y="2630805"/>
            <a:ext cx="79356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TERNARY 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395" name="Google Shape;39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303020" y="3042285"/>
            <a:ext cx="7214235" cy="381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15"/>
          <p:cNvSpPr/>
          <p:nvPr/>
        </p:nvSpPr>
        <p:spPr>
          <a:xfrm>
            <a:off x="9382125" y="2242185"/>
            <a:ext cx="879062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ONE JUNCTION TABLE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7" name="Google Shape;397;p15"/>
          <p:cNvSpPr/>
          <p:nvPr/>
        </p:nvSpPr>
        <p:spPr>
          <a:xfrm>
            <a:off x="9382125" y="2691765"/>
            <a:ext cx="7991475" cy="272415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8" name="Google Shape;398;p15"/>
          <p:cNvSpPr/>
          <p:nvPr/>
        </p:nvSpPr>
        <p:spPr>
          <a:xfrm>
            <a:off x="9397365" y="2707005"/>
            <a:ext cx="7960995" cy="5867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9" name="Google Shape;399;p15"/>
          <p:cNvSpPr/>
          <p:nvPr/>
        </p:nvSpPr>
        <p:spPr>
          <a:xfrm>
            <a:off x="9625965" y="2840355"/>
            <a:ext cx="7742625" cy="3581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250"/>
              <a:buFont typeface="Courier New"/>
              <a:buNone/>
            </a:pPr>
            <a:r>
              <a:rPr b="1" i="0" lang="en-US" sz="22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supplies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0" name="Google Shape;400;p15"/>
          <p:cNvSpPr/>
          <p:nvPr/>
        </p:nvSpPr>
        <p:spPr>
          <a:xfrm>
            <a:off x="9625965" y="3446145"/>
            <a:ext cx="7742625" cy="18402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3716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supplier_id (PK, </a:t>
            </a:r>
            <a:r>
              <a:rPr b="1" i="0" lang="en-US" sz="195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FK)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part_id (PK, </a:t>
            </a:r>
            <a:r>
              <a:rPr b="1" i="0" lang="en-US" sz="195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FK)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project_id (PK, </a:t>
            </a:r>
            <a:r>
              <a:rPr b="1" i="0" lang="en-US" sz="195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FK)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quantity, delivered_on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15"/>
          <p:cNvSpPr/>
          <p:nvPr/>
        </p:nvSpPr>
        <p:spPr>
          <a:xfrm>
            <a:off x="9382125" y="5625465"/>
            <a:ext cx="7991475" cy="185547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2" name="Google Shape;402;p15"/>
          <p:cNvSpPr/>
          <p:nvPr/>
        </p:nvSpPr>
        <p:spPr>
          <a:xfrm>
            <a:off x="9382125" y="5625465"/>
            <a:ext cx="45720" cy="185547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03" name="Google Shape;403;p15"/>
          <p:cNvSpPr/>
          <p:nvPr/>
        </p:nvSpPr>
        <p:spPr>
          <a:xfrm>
            <a:off x="9694545" y="5835015"/>
            <a:ext cx="7652099" cy="14744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7365"/>
              </a:lnSpc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Not the same as three M:N tables.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Three binary junctions would let you say "supplier A supplies part P" and "project J uses part P" — without knowing supplier A actually delivered P to project J. The ternary row captures all three at once.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p16"/>
          <p:cNvSpPr/>
          <p:nvPr/>
        </p:nvSpPr>
        <p:spPr>
          <a:xfrm>
            <a:off x="914400" y="838200"/>
            <a:ext cx="2336221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14 · SUMMARY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6"/>
          <p:cNvSpPr/>
          <p:nvPr/>
        </p:nvSpPr>
        <p:spPr>
          <a:xfrm>
            <a:off x="3190637" y="958215"/>
            <a:ext cx="14182963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1" name="Google Shape;411;p16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Which rule, where the FK goes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2" name="Google Shape;412;p16"/>
          <p:cNvSpPr/>
          <p:nvPr/>
        </p:nvSpPr>
        <p:spPr>
          <a:xfrm>
            <a:off x="914400" y="2686050"/>
            <a:ext cx="16459200" cy="62484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3" name="Google Shape;413;p16"/>
          <p:cNvSpPr/>
          <p:nvPr/>
        </p:nvSpPr>
        <p:spPr>
          <a:xfrm>
            <a:off x="1123950" y="2857500"/>
            <a:ext cx="74295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#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6"/>
          <p:cNvSpPr/>
          <p:nvPr/>
        </p:nvSpPr>
        <p:spPr>
          <a:xfrm>
            <a:off x="2209800" y="2857500"/>
            <a:ext cx="35709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ERD construct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5" name="Google Shape;415;p16"/>
          <p:cNvSpPr/>
          <p:nvPr/>
        </p:nvSpPr>
        <p:spPr>
          <a:xfrm>
            <a:off x="6083618" y="2857500"/>
            <a:ext cx="4291164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What to create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6" name="Google Shape;416;p16"/>
          <p:cNvSpPr/>
          <p:nvPr/>
        </p:nvSpPr>
        <p:spPr>
          <a:xfrm>
            <a:off x="10656689" y="2857500"/>
            <a:ext cx="6715155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Where the FK goes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6"/>
          <p:cNvSpPr/>
          <p:nvPr/>
        </p:nvSpPr>
        <p:spPr>
          <a:xfrm>
            <a:off x="914400" y="390906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18" name="Google Shape;418;p16"/>
          <p:cNvSpPr/>
          <p:nvPr/>
        </p:nvSpPr>
        <p:spPr>
          <a:xfrm>
            <a:off x="1123950" y="3463290"/>
            <a:ext cx="742950" cy="33909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6"/>
          <p:cNvSpPr/>
          <p:nvPr/>
        </p:nvSpPr>
        <p:spPr>
          <a:xfrm>
            <a:off x="2209800" y="3463290"/>
            <a:ext cx="3570932" cy="33909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Strong entity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6"/>
          <p:cNvSpPr/>
          <p:nvPr/>
        </p:nvSpPr>
        <p:spPr>
          <a:xfrm>
            <a:off x="6083618" y="3463290"/>
            <a:ext cx="4291164" cy="33909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One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6"/>
          <p:cNvSpPr/>
          <p:nvPr/>
        </p:nvSpPr>
        <p:spPr>
          <a:xfrm>
            <a:off x="10656689" y="3463290"/>
            <a:ext cx="6715155" cy="33909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— none —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6"/>
          <p:cNvSpPr/>
          <p:nvPr/>
        </p:nvSpPr>
        <p:spPr>
          <a:xfrm>
            <a:off x="914400" y="3916680"/>
            <a:ext cx="16459200" cy="6096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3" name="Google Shape;423;p16"/>
          <p:cNvSpPr/>
          <p:nvPr/>
        </p:nvSpPr>
        <p:spPr>
          <a:xfrm>
            <a:off x="914400" y="451866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4" name="Google Shape;424;p16"/>
          <p:cNvSpPr/>
          <p:nvPr/>
        </p:nvSpPr>
        <p:spPr>
          <a:xfrm>
            <a:off x="1123950" y="4069080"/>
            <a:ext cx="7429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5" name="Google Shape;425;p16"/>
          <p:cNvSpPr/>
          <p:nvPr/>
        </p:nvSpPr>
        <p:spPr>
          <a:xfrm>
            <a:off x="2209800" y="4069080"/>
            <a:ext cx="3570932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Weak entity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6"/>
          <p:cNvSpPr/>
          <p:nvPr/>
        </p:nvSpPr>
        <p:spPr>
          <a:xfrm>
            <a:off x="6083618" y="4069080"/>
            <a:ext cx="429116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One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7" name="Google Shape;427;p16"/>
          <p:cNvSpPr/>
          <p:nvPr/>
        </p:nvSpPr>
        <p:spPr>
          <a:xfrm>
            <a:off x="10656689" y="4069080"/>
            <a:ext cx="671515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E8A8A"/>
                </a:solidFill>
                <a:latin typeface="Arial"/>
                <a:ea typeface="Arial"/>
                <a:cs typeface="Arial"/>
                <a:sym typeface="Arial"/>
              </a:rPr>
              <a:t>On the weak table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, part of composite PK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8" name="Google Shape;428;p16"/>
          <p:cNvSpPr/>
          <p:nvPr/>
        </p:nvSpPr>
        <p:spPr>
          <a:xfrm>
            <a:off x="914400" y="512826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9" name="Google Shape;429;p16"/>
          <p:cNvSpPr/>
          <p:nvPr/>
        </p:nvSpPr>
        <p:spPr>
          <a:xfrm>
            <a:off x="1123950" y="4678680"/>
            <a:ext cx="7429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3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16"/>
          <p:cNvSpPr/>
          <p:nvPr/>
        </p:nvSpPr>
        <p:spPr>
          <a:xfrm>
            <a:off x="2209800" y="4678680"/>
            <a:ext cx="3570932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1" name="Google Shape;431;p16"/>
          <p:cNvSpPr/>
          <p:nvPr/>
        </p:nvSpPr>
        <p:spPr>
          <a:xfrm>
            <a:off x="6083618" y="4678680"/>
            <a:ext cx="429116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Merge · one FK · link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2" name="Google Shape;432;p16"/>
          <p:cNvSpPr/>
          <p:nvPr/>
        </p:nvSpPr>
        <p:spPr>
          <a:xfrm>
            <a:off x="10656689" y="4678680"/>
            <a:ext cx="671515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E8A8A"/>
                </a:solidFill>
                <a:latin typeface="Arial"/>
                <a:ea typeface="Arial"/>
                <a:cs typeface="Arial"/>
                <a:sym typeface="Arial"/>
              </a:rPr>
              <a:t>On the mandatory side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(or in the link table)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3" name="Google Shape;433;p16"/>
          <p:cNvSpPr/>
          <p:nvPr/>
        </p:nvSpPr>
        <p:spPr>
          <a:xfrm>
            <a:off x="914400" y="5135880"/>
            <a:ext cx="16459200" cy="6096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4" name="Google Shape;434;p16"/>
          <p:cNvSpPr/>
          <p:nvPr/>
        </p:nvSpPr>
        <p:spPr>
          <a:xfrm>
            <a:off x="914400" y="573786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35" name="Google Shape;435;p16"/>
          <p:cNvSpPr/>
          <p:nvPr/>
        </p:nvSpPr>
        <p:spPr>
          <a:xfrm>
            <a:off x="1123950" y="5288280"/>
            <a:ext cx="7429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4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16"/>
          <p:cNvSpPr/>
          <p:nvPr/>
        </p:nvSpPr>
        <p:spPr>
          <a:xfrm>
            <a:off x="2209800" y="5288280"/>
            <a:ext cx="3570932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7" name="Google Shape;437;p16"/>
          <p:cNvSpPr/>
          <p:nvPr/>
        </p:nvSpPr>
        <p:spPr>
          <a:xfrm>
            <a:off x="6083618" y="5288280"/>
            <a:ext cx="429116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No new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8" name="Google Shape;438;p16"/>
          <p:cNvSpPr/>
          <p:nvPr/>
        </p:nvSpPr>
        <p:spPr>
          <a:xfrm>
            <a:off x="10656689" y="5288280"/>
            <a:ext cx="671515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E8A8A"/>
                </a:solidFill>
                <a:latin typeface="Arial"/>
                <a:ea typeface="Arial"/>
                <a:cs typeface="Arial"/>
                <a:sym typeface="Arial"/>
              </a:rPr>
              <a:t>On the N (many) side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9" name="Google Shape;439;p16"/>
          <p:cNvSpPr/>
          <p:nvPr/>
        </p:nvSpPr>
        <p:spPr>
          <a:xfrm>
            <a:off x="914400" y="634746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0" name="Google Shape;440;p16"/>
          <p:cNvSpPr/>
          <p:nvPr/>
        </p:nvSpPr>
        <p:spPr>
          <a:xfrm>
            <a:off x="1123950" y="5897880"/>
            <a:ext cx="7429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5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1" name="Google Shape;441;p16"/>
          <p:cNvSpPr/>
          <p:nvPr/>
        </p:nvSpPr>
        <p:spPr>
          <a:xfrm>
            <a:off x="2209800" y="5897880"/>
            <a:ext cx="3570932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M:N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2" name="Google Shape;442;p16"/>
          <p:cNvSpPr/>
          <p:nvPr/>
        </p:nvSpPr>
        <p:spPr>
          <a:xfrm>
            <a:off x="6083618" y="5897880"/>
            <a:ext cx="429116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New junction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3" name="Google Shape;443;p16"/>
          <p:cNvSpPr/>
          <p:nvPr/>
        </p:nvSpPr>
        <p:spPr>
          <a:xfrm>
            <a:off x="10656689" y="5897880"/>
            <a:ext cx="671515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E8A8A"/>
                </a:solidFill>
                <a:latin typeface="Arial"/>
                <a:ea typeface="Arial"/>
                <a:cs typeface="Arial"/>
                <a:sym typeface="Arial"/>
              </a:rPr>
              <a:t>Both FKs in the junction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p16"/>
          <p:cNvSpPr/>
          <p:nvPr/>
        </p:nvSpPr>
        <p:spPr>
          <a:xfrm>
            <a:off x="914400" y="6355080"/>
            <a:ext cx="16459200" cy="6096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16"/>
          <p:cNvSpPr/>
          <p:nvPr/>
        </p:nvSpPr>
        <p:spPr>
          <a:xfrm>
            <a:off x="914400" y="695706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16"/>
          <p:cNvSpPr/>
          <p:nvPr/>
        </p:nvSpPr>
        <p:spPr>
          <a:xfrm>
            <a:off x="1123950" y="6507480"/>
            <a:ext cx="742950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6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7" name="Google Shape;447;p16"/>
          <p:cNvSpPr/>
          <p:nvPr/>
        </p:nvSpPr>
        <p:spPr>
          <a:xfrm>
            <a:off x="2209800" y="6507480"/>
            <a:ext cx="3570932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Multi-valued attribute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16"/>
          <p:cNvSpPr/>
          <p:nvPr/>
        </p:nvSpPr>
        <p:spPr>
          <a:xfrm>
            <a:off x="6083618" y="6507480"/>
            <a:ext cx="4291164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New small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9" name="Google Shape;449;p16"/>
          <p:cNvSpPr/>
          <p:nvPr/>
        </p:nvSpPr>
        <p:spPr>
          <a:xfrm>
            <a:off x="10656689" y="6507480"/>
            <a:ext cx="6715155" cy="34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E8A8A"/>
                </a:solidFill>
                <a:latin typeface="Arial"/>
                <a:ea typeface="Arial"/>
                <a:cs typeface="Arial"/>
                <a:sym typeface="Arial"/>
              </a:rPr>
              <a:t>FK + value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as composite PK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0" name="Google Shape;450;p16"/>
          <p:cNvSpPr/>
          <p:nvPr/>
        </p:nvSpPr>
        <p:spPr>
          <a:xfrm>
            <a:off x="1123950" y="7117080"/>
            <a:ext cx="742950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7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1" name="Google Shape;451;p16"/>
          <p:cNvSpPr/>
          <p:nvPr/>
        </p:nvSpPr>
        <p:spPr>
          <a:xfrm>
            <a:off x="2209800" y="7117080"/>
            <a:ext cx="3570932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N-ary (n ≥ 3)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2" name="Google Shape;452;p16"/>
          <p:cNvSpPr/>
          <p:nvPr/>
        </p:nvSpPr>
        <p:spPr>
          <a:xfrm>
            <a:off x="6083618" y="7117080"/>
            <a:ext cx="4291164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New junction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53" name="Google Shape;453;p16"/>
          <p:cNvSpPr/>
          <p:nvPr/>
        </p:nvSpPr>
        <p:spPr>
          <a:xfrm>
            <a:off x="10656689" y="7117080"/>
            <a:ext cx="6715155" cy="369570"/>
          </a:xfrm>
          <a:prstGeom prst="rect">
            <a:avLst/>
          </a:prstGeom>
          <a:noFill/>
          <a:ln>
            <a:noFill/>
          </a:ln>
        </p:spPr>
        <p:txBody>
          <a:bodyPr anchorCtr="0" anchor="ctr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E8A8A"/>
                </a:solidFill>
                <a:latin typeface="Arial"/>
                <a:ea typeface="Arial"/>
                <a:cs typeface="Arial"/>
                <a:sym typeface="Arial"/>
              </a:rPr>
              <a:t>All n FKs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as composite PK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58" name="Shape 4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9" name="Google Shape;459;p17"/>
          <p:cNvSpPr/>
          <p:nvPr/>
        </p:nvSpPr>
        <p:spPr>
          <a:xfrm>
            <a:off x="914400" y="838200"/>
            <a:ext cx="2279118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15 · PITFALLS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0" name="Google Shape;460;p17"/>
          <p:cNvSpPr/>
          <p:nvPr/>
        </p:nvSpPr>
        <p:spPr>
          <a:xfrm>
            <a:off x="3138726" y="958215"/>
            <a:ext cx="14234874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1" name="Google Shape;461;p17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Three mistakes we see every term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2" name="Google Shape;462;p17"/>
          <p:cNvSpPr/>
          <p:nvPr/>
        </p:nvSpPr>
        <p:spPr>
          <a:xfrm>
            <a:off x="914400" y="2686050"/>
            <a:ext cx="5308521" cy="484632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3" name="Google Shape;463;p17"/>
          <p:cNvSpPr/>
          <p:nvPr/>
        </p:nvSpPr>
        <p:spPr>
          <a:xfrm>
            <a:off x="922020" y="2693670"/>
            <a:ext cx="5293281" cy="58674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4" name="Google Shape;464;p17"/>
          <p:cNvSpPr/>
          <p:nvPr/>
        </p:nvSpPr>
        <p:spPr>
          <a:xfrm>
            <a:off x="1150620" y="2846070"/>
            <a:ext cx="49948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#1 · 1:N on the wrong side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5" name="Google Shape;465;p17"/>
          <p:cNvSpPr/>
          <p:nvPr/>
        </p:nvSpPr>
        <p:spPr>
          <a:xfrm>
            <a:off x="1188720" y="3547110"/>
            <a:ext cx="4759881" cy="1371600"/>
          </a:xfrm>
          <a:prstGeom prst="rect">
            <a:avLst/>
          </a:prstGeom>
          <a:solidFill>
            <a:srgbClr val="FEF2F2"/>
          </a:solidFill>
          <a:ln cap="flat" cmpd="sng" w="9525">
            <a:solidFill>
              <a:srgbClr val="DC2626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6" name="Google Shape;466;p17"/>
          <p:cNvSpPr/>
          <p:nvPr/>
        </p:nvSpPr>
        <p:spPr>
          <a:xfrm>
            <a:off x="1348740" y="3707130"/>
            <a:ext cx="4582637" cy="10896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2353"/>
              </a:lnSpc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B91C1C"/>
                </a:solidFill>
                <a:latin typeface="Courier New"/>
                <a:ea typeface="Courier New"/>
                <a:cs typeface="Courier New"/>
                <a:sym typeface="Courier New"/>
              </a:rPr>
              <a:t>WRONG </a:t>
            </a:r>
            <a:r>
              <a:rPr b="0" i="0" lang="en-US" sz="1800" u="none" cap="none" strike="noStrike">
                <a:solidFill>
                  <a:srgbClr val="991B1B"/>
                </a:solidFill>
                <a:highlight>
                  <a:srgbClr val="FEF2F2"/>
                </a:highlight>
                <a:latin typeface="Courier New"/>
                <a:ea typeface="Courier New"/>
                <a:cs typeface="Courier New"/>
                <a:sym typeface="Courier New"/>
              </a:rPr>
              <a:t>instructor: id, name, </a:t>
            </a:r>
            <a:r>
              <a:rPr b="0" i="0" lang="en-US" sz="1800" u="none" cap="none" strike="sngStrike">
                <a:solidFill>
                  <a:srgbClr val="991B1B"/>
                </a:solidFill>
                <a:latin typeface="Courier New"/>
                <a:ea typeface="Courier New"/>
                <a:cs typeface="Courier New"/>
                <a:sym typeface="Courier New"/>
              </a:rPr>
              <a:t>course_code (FK)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7" name="Google Shape;467;p17"/>
          <p:cNvSpPr/>
          <p:nvPr/>
        </p:nvSpPr>
        <p:spPr>
          <a:xfrm>
            <a:off x="1188720" y="5071110"/>
            <a:ext cx="4759881" cy="1394460"/>
          </a:xfrm>
          <a:prstGeom prst="rect">
            <a:avLst/>
          </a:prstGeom>
          <a:solidFill>
            <a:srgbClr val="E6F4F4"/>
          </a:solidFill>
          <a:ln cap="flat" cmpd="sng" w="95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68" name="Google Shape;468;p17"/>
          <p:cNvSpPr/>
          <p:nvPr/>
        </p:nvSpPr>
        <p:spPr>
          <a:xfrm>
            <a:off x="1348740" y="5231130"/>
            <a:ext cx="4582637" cy="11125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2353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RIGHT </a:t>
            </a:r>
            <a:r>
              <a:rPr b="0" i="0" lang="en-US" sz="180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Courier New"/>
                <a:ea typeface="Courier New"/>
                <a:cs typeface="Courier New"/>
                <a:sym typeface="Courier New"/>
              </a:rPr>
              <a:t>course: code, title, </a:t>
            </a:r>
            <a:r>
              <a:rPr b="1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instructor_id (FK)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17"/>
          <p:cNvSpPr/>
          <p:nvPr/>
        </p:nvSpPr>
        <p:spPr>
          <a:xfrm>
            <a:off x="1188720" y="6617970"/>
            <a:ext cx="4902677" cy="678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An instructor would need as many rows as courses they teach.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0" name="Google Shape;470;p17"/>
          <p:cNvSpPr/>
          <p:nvPr/>
        </p:nvSpPr>
        <p:spPr>
          <a:xfrm>
            <a:off x="6489621" y="2686050"/>
            <a:ext cx="5308640" cy="484632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1" name="Google Shape;471;p17"/>
          <p:cNvSpPr/>
          <p:nvPr/>
        </p:nvSpPr>
        <p:spPr>
          <a:xfrm>
            <a:off x="6497241" y="2693670"/>
            <a:ext cx="5293400" cy="58674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2" name="Google Shape;472;p17"/>
          <p:cNvSpPr/>
          <p:nvPr/>
        </p:nvSpPr>
        <p:spPr>
          <a:xfrm>
            <a:off x="6725841" y="2846070"/>
            <a:ext cx="499500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#2 · M:N without a junction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3" name="Google Shape;473;p17"/>
          <p:cNvSpPr/>
          <p:nvPr/>
        </p:nvSpPr>
        <p:spPr>
          <a:xfrm>
            <a:off x="6763941" y="3547110"/>
            <a:ext cx="4760000" cy="1371600"/>
          </a:xfrm>
          <a:prstGeom prst="rect">
            <a:avLst/>
          </a:prstGeom>
          <a:solidFill>
            <a:srgbClr val="FEF2F2"/>
          </a:solidFill>
          <a:ln cap="flat" cmpd="sng" w="9525">
            <a:solidFill>
              <a:srgbClr val="DC2626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4" name="Google Shape;474;p17"/>
          <p:cNvSpPr/>
          <p:nvPr/>
        </p:nvSpPr>
        <p:spPr>
          <a:xfrm>
            <a:off x="6923961" y="3707130"/>
            <a:ext cx="4582760" cy="10896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2353"/>
              </a:lnSpc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B91C1C"/>
                </a:solidFill>
                <a:latin typeface="Courier New"/>
                <a:ea typeface="Courier New"/>
                <a:cs typeface="Courier New"/>
                <a:sym typeface="Courier New"/>
              </a:rPr>
              <a:t>WRONG </a:t>
            </a:r>
            <a:r>
              <a:rPr b="0" i="0" lang="en-US" sz="1800" u="none" cap="none" strike="noStrike">
                <a:solidFill>
                  <a:srgbClr val="991B1B"/>
                </a:solidFill>
                <a:highlight>
                  <a:srgbClr val="FEF2F2"/>
                </a:highlight>
                <a:latin typeface="Courier New"/>
                <a:ea typeface="Courier New"/>
                <a:cs typeface="Courier New"/>
                <a:sym typeface="Courier New"/>
              </a:rPr>
              <a:t>student: id, name, </a:t>
            </a:r>
            <a:r>
              <a:rPr b="0" i="0" lang="en-US" sz="1800" u="none" cap="none" strike="sngStrike">
                <a:solidFill>
                  <a:srgbClr val="991B1B"/>
                </a:solidFill>
                <a:latin typeface="Courier New"/>
                <a:ea typeface="Courier New"/>
                <a:cs typeface="Courier New"/>
                <a:sym typeface="Courier New"/>
              </a:rPr>
              <a:t>course_code (FK)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5" name="Google Shape;475;p17"/>
          <p:cNvSpPr/>
          <p:nvPr/>
        </p:nvSpPr>
        <p:spPr>
          <a:xfrm>
            <a:off x="6763941" y="5071110"/>
            <a:ext cx="4760000" cy="1371600"/>
          </a:xfrm>
          <a:prstGeom prst="rect">
            <a:avLst/>
          </a:prstGeom>
          <a:solidFill>
            <a:srgbClr val="E6F4F4"/>
          </a:solidFill>
          <a:ln cap="flat" cmpd="sng" w="95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6" name="Google Shape;476;p17"/>
          <p:cNvSpPr/>
          <p:nvPr/>
        </p:nvSpPr>
        <p:spPr>
          <a:xfrm>
            <a:off x="6923961" y="5231130"/>
            <a:ext cx="4582760" cy="10896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2353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RIGHT </a:t>
            </a:r>
            <a:r>
              <a:rPr b="0" i="0" lang="en-US" sz="180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Courier New"/>
                <a:ea typeface="Courier New"/>
                <a:cs typeface="Courier New"/>
                <a:sym typeface="Courier New"/>
              </a:rPr>
              <a:t>enrolment(student_id, course_code, grade)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17"/>
          <p:cNvSpPr/>
          <p:nvPr/>
        </p:nvSpPr>
        <p:spPr>
          <a:xfrm>
            <a:off x="6763941" y="6595110"/>
            <a:ext cx="4902800" cy="678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Can't record multiple courses per student without duplication.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8" name="Google Shape;478;p17"/>
          <p:cNvSpPr/>
          <p:nvPr/>
        </p:nvSpPr>
        <p:spPr>
          <a:xfrm>
            <a:off x="12064960" y="2686050"/>
            <a:ext cx="5308640" cy="484632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9" name="Google Shape;479;p17"/>
          <p:cNvSpPr/>
          <p:nvPr/>
        </p:nvSpPr>
        <p:spPr>
          <a:xfrm>
            <a:off x="12072581" y="2693670"/>
            <a:ext cx="5293400" cy="58674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0" name="Google Shape;480;p17"/>
          <p:cNvSpPr/>
          <p:nvPr/>
        </p:nvSpPr>
        <p:spPr>
          <a:xfrm>
            <a:off x="12301181" y="2846070"/>
            <a:ext cx="499500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#3 · Multi-value in one cell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1" name="Google Shape;481;p17"/>
          <p:cNvSpPr/>
          <p:nvPr/>
        </p:nvSpPr>
        <p:spPr>
          <a:xfrm>
            <a:off x="12339281" y="3547110"/>
            <a:ext cx="4760000" cy="1371600"/>
          </a:xfrm>
          <a:prstGeom prst="rect">
            <a:avLst/>
          </a:prstGeom>
          <a:solidFill>
            <a:srgbClr val="FEF2F2"/>
          </a:solidFill>
          <a:ln cap="flat" cmpd="sng" w="9525">
            <a:solidFill>
              <a:srgbClr val="DC2626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2" name="Google Shape;482;p17"/>
          <p:cNvSpPr/>
          <p:nvPr/>
        </p:nvSpPr>
        <p:spPr>
          <a:xfrm>
            <a:off x="12499301" y="3707130"/>
            <a:ext cx="4582760" cy="10896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2353"/>
              </a:lnSpc>
              <a:spcBef>
                <a:spcPts val="0"/>
              </a:spcBef>
              <a:spcAft>
                <a:spcPts val="0"/>
              </a:spcAft>
              <a:buClr>
                <a:srgbClr val="B91C1C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B91C1C"/>
                </a:solidFill>
                <a:latin typeface="Courier New"/>
                <a:ea typeface="Courier New"/>
                <a:cs typeface="Courier New"/>
                <a:sym typeface="Courier New"/>
              </a:rPr>
              <a:t>WRONG </a:t>
            </a:r>
            <a:r>
              <a:rPr b="0" i="0" lang="en-US" sz="1800" u="none" cap="none" strike="noStrike">
                <a:solidFill>
                  <a:srgbClr val="991B1B"/>
                </a:solidFill>
                <a:highlight>
                  <a:srgbClr val="FEF2F2"/>
                </a:highlight>
                <a:latin typeface="Courier New"/>
                <a:ea typeface="Courier New"/>
                <a:cs typeface="Courier New"/>
                <a:sym typeface="Courier New"/>
              </a:rPr>
              <a:t>student.phones = </a:t>
            </a:r>
            <a:r>
              <a:rPr b="0" i="0" lang="en-US" sz="1800" u="none" cap="none" strike="sngStrike">
                <a:solidFill>
                  <a:srgbClr val="991B1B"/>
                </a:solidFill>
                <a:latin typeface="Courier New"/>
                <a:ea typeface="Courier New"/>
                <a:cs typeface="Courier New"/>
                <a:sym typeface="Courier New"/>
              </a:rPr>
              <a:t>'010…, 011…, 012…'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3" name="Google Shape;483;p17"/>
          <p:cNvSpPr/>
          <p:nvPr/>
        </p:nvSpPr>
        <p:spPr>
          <a:xfrm>
            <a:off x="12339281" y="5071110"/>
            <a:ext cx="4760000" cy="1028700"/>
          </a:xfrm>
          <a:prstGeom prst="rect">
            <a:avLst/>
          </a:prstGeom>
          <a:solidFill>
            <a:srgbClr val="E6F4F4"/>
          </a:solidFill>
          <a:ln cap="flat" cmpd="sng" w="95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84" name="Google Shape;484;p17"/>
          <p:cNvSpPr/>
          <p:nvPr/>
        </p:nvSpPr>
        <p:spPr>
          <a:xfrm>
            <a:off x="12499301" y="5231130"/>
            <a:ext cx="4582760" cy="746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2353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RIGHT </a:t>
            </a:r>
            <a:r>
              <a:rPr b="0" i="0" lang="en-US" sz="180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Courier New"/>
                <a:ea typeface="Courier New"/>
                <a:cs typeface="Courier New"/>
                <a:sym typeface="Courier New"/>
              </a:rPr>
              <a:t>student_phone(student_id, phone)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5" name="Google Shape;485;p17"/>
          <p:cNvSpPr/>
          <p:nvPr/>
        </p:nvSpPr>
        <p:spPr>
          <a:xfrm>
            <a:off x="12339281" y="6252210"/>
            <a:ext cx="4902800" cy="678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23529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 comma-separated column can't be indexed, joined, or constrained.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490" name="Shape 4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" name="Google Shape;491;p18"/>
          <p:cNvSpPr/>
          <p:nvPr/>
        </p:nvSpPr>
        <p:spPr>
          <a:xfrm>
            <a:off x="914400" y="838200"/>
            <a:ext cx="5683127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CASE STUDY · 1 OF 3 · NARRATIVE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2" name="Google Shape;492;p18"/>
          <p:cNvSpPr/>
          <p:nvPr/>
        </p:nvSpPr>
        <p:spPr>
          <a:xfrm>
            <a:off x="6233279" y="958215"/>
            <a:ext cx="11140321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3" name="Google Shape;493;p18"/>
          <p:cNvSpPr/>
          <p:nvPr/>
        </p:nvSpPr>
        <p:spPr>
          <a:xfrm>
            <a:off x="914400" y="1383030"/>
            <a:ext cx="1810512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830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 banking system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4" name="Google Shape;494;p18"/>
          <p:cNvSpPr/>
          <p:nvPr/>
        </p:nvSpPr>
        <p:spPr>
          <a:xfrm>
            <a:off x="914400" y="2297430"/>
            <a:ext cx="9545737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 bank operates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many branches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; each branch has a unique name, a unique address and a phone.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5" name="Google Shape;495;p18"/>
          <p:cNvSpPr/>
          <p:nvPr/>
        </p:nvSpPr>
        <p:spPr>
          <a:xfrm>
            <a:off x="914400" y="3345180"/>
            <a:ext cx="9545737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The bank stores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customer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information: ID, name, address, and one or more phone numbers.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6" name="Google Shape;496;p18"/>
          <p:cNvSpPr/>
          <p:nvPr/>
        </p:nvSpPr>
        <p:spPr>
          <a:xfrm>
            <a:off x="914400" y="4392930"/>
            <a:ext cx="9545737" cy="1323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Each customer owns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exactly one account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; each account belongs to exactly one customer and has a number, balance, and the date of its last transaction.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7" name="Google Shape;497;p18"/>
          <p:cNvSpPr/>
          <p:nvPr/>
        </p:nvSpPr>
        <p:spPr>
          <a:xfrm>
            <a:off x="914400" y="5869305"/>
            <a:ext cx="9545737" cy="1323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 customer may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make any number of transactions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— withdrawal or deposit — at any branch. Each transaction records a number, type, date, time, amount, and the branch where it occurred.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98" name="Google Shape;498;p18"/>
          <p:cNvSpPr/>
          <p:nvPr/>
        </p:nvSpPr>
        <p:spPr>
          <a:xfrm>
            <a:off x="10753606" y="2297430"/>
            <a:ext cx="6619875" cy="485775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9" name="Google Shape;499;p18"/>
          <p:cNvSpPr/>
          <p:nvPr/>
        </p:nvSpPr>
        <p:spPr>
          <a:xfrm>
            <a:off x="11104126" y="2647950"/>
            <a:ext cx="651071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THINK BEFORE THE NEXT SLIDE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0" name="Google Shape;500;p18"/>
          <p:cNvSpPr/>
          <p:nvPr/>
        </p:nvSpPr>
        <p:spPr>
          <a:xfrm>
            <a:off x="11140321" y="309753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Which words are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entities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1" name="Google Shape;501;p18"/>
          <p:cNvSpPr/>
          <p:nvPr/>
        </p:nvSpPr>
        <p:spPr>
          <a:xfrm>
            <a:off x="11140321" y="349377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Which words are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attributes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18"/>
          <p:cNvSpPr/>
          <p:nvPr/>
        </p:nvSpPr>
        <p:spPr>
          <a:xfrm>
            <a:off x="11140321" y="389001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Which relationship is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1:1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3" name="Google Shape;503;p18"/>
          <p:cNvSpPr/>
          <p:nvPr/>
        </p:nvSpPr>
        <p:spPr>
          <a:xfrm>
            <a:off x="11140321" y="428625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Which is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1:N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 Which is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M:N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4" name="Google Shape;504;p18"/>
          <p:cNvSpPr/>
          <p:nvPr/>
        </p:nvSpPr>
        <p:spPr>
          <a:xfrm>
            <a:off x="11140321" y="468249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Any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multi-valued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attributes?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p19"/>
          <p:cNvSpPr/>
          <p:nvPr/>
        </p:nvSpPr>
        <p:spPr>
          <a:xfrm>
            <a:off x="914400" y="838200"/>
            <a:ext cx="4494324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CASE STUDY · 2 OF 3 · 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1" name="Google Shape;511;p19"/>
          <p:cNvSpPr/>
          <p:nvPr/>
        </p:nvSpPr>
        <p:spPr>
          <a:xfrm>
            <a:off x="5152549" y="958215"/>
            <a:ext cx="12221052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12" name="Google Shape;512;p19"/>
          <p:cNvSpPr/>
          <p:nvPr/>
        </p:nvSpPr>
        <p:spPr>
          <a:xfrm>
            <a:off x="914400" y="1383030"/>
            <a:ext cx="1810512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830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 banking ERD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3" name="Google Shape;513;p19"/>
          <p:cNvSpPr/>
          <p:nvPr/>
        </p:nvSpPr>
        <p:spPr>
          <a:xfrm>
            <a:off x="914400" y="2297430"/>
            <a:ext cx="16459200" cy="661416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14" name="Google Shape;51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0620" y="2533650"/>
            <a:ext cx="15986760" cy="6141720"/>
          </a:xfrm>
          <a:prstGeom prst="rect">
            <a:avLst/>
          </a:prstGeom>
          <a:noFill/>
          <a:ln>
            <a:noFill/>
          </a:ln>
        </p:spPr>
      </p:pic>
      <p:sp>
        <p:nvSpPr>
          <p:cNvPr id="515" name="Google Shape;515;p19"/>
          <p:cNvSpPr/>
          <p:nvPr/>
        </p:nvSpPr>
        <p:spPr>
          <a:xfrm>
            <a:off x="914400" y="9197340"/>
            <a:ext cx="948928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▣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entity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6" name="Google Shape;516;p19"/>
          <p:cNvSpPr/>
          <p:nvPr/>
        </p:nvSpPr>
        <p:spPr>
          <a:xfrm>
            <a:off x="2072878" y="9197340"/>
            <a:ext cx="170207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◆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relationship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7" name="Google Shape;517;p19"/>
          <p:cNvSpPr/>
          <p:nvPr/>
        </p:nvSpPr>
        <p:spPr>
          <a:xfrm>
            <a:off x="3905964" y="9197340"/>
            <a:ext cx="2826699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⬭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multi-valued attribute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8" name="Google Shape;518;p19"/>
          <p:cNvSpPr/>
          <p:nvPr/>
        </p:nvSpPr>
        <p:spPr>
          <a:xfrm>
            <a:off x="6761440" y="9197340"/>
            <a:ext cx="2785836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1 / N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cardinality (Chen)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9" name="Google Shape;519;p19"/>
          <p:cNvSpPr/>
          <p:nvPr/>
        </p:nvSpPr>
        <p:spPr>
          <a:xfrm>
            <a:off x="9579769" y="9197340"/>
            <a:ext cx="2328232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═ </a:t>
            </a:r>
            <a:r>
              <a:rPr b="0" i="0" lang="en-US" sz="19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total participation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24" name="Shape 5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5" name="Google Shape;525;p20"/>
          <p:cNvSpPr/>
          <p:nvPr/>
        </p:nvSpPr>
        <p:spPr>
          <a:xfrm>
            <a:off x="914400" y="838200"/>
            <a:ext cx="508630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CASE STUDY · 3 OF 3 · TABLES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6" name="Google Shape;526;p20"/>
          <p:cNvSpPr/>
          <p:nvPr/>
        </p:nvSpPr>
        <p:spPr>
          <a:xfrm>
            <a:off x="5690711" y="958215"/>
            <a:ext cx="11682889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7" name="Google Shape;527;p20"/>
          <p:cNvSpPr/>
          <p:nvPr/>
        </p:nvSpPr>
        <p:spPr>
          <a:xfrm>
            <a:off x="914400" y="1363980"/>
            <a:ext cx="18105120" cy="6038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158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 banking schema, mapped step by step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28" name="Google Shape;528;p20"/>
          <p:cNvSpPr/>
          <p:nvPr/>
        </p:nvSpPr>
        <p:spPr>
          <a:xfrm>
            <a:off x="914400" y="2196465"/>
            <a:ext cx="3139440" cy="331470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9" name="Google Shape;529;p20"/>
          <p:cNvSpPr/>
          <p:nvPr/>
        </p:nvSpPr>
        <p:spPr>
          <a:xfrm>
            <a:off x="922020" y="2204085"/>
            <a:ext cx="312420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0" name="Google Shape;530;p20"/>
          <p:cNvSpPr/>
          <p:nvPr/>
        </p:nvSpPr>
        <p:spPr>
          <a:xfrm>
            <a:off x="1093470" y="2318385"/>
            <a:ext cx="96797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branch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1" name="Google Shape;531;p20"/>
          <p:cNvSpPr/>
          <p:nvPr/>
        </p:nvSpPr>
        <p:spPr>
          <a:xfrm>
            <a:off x="3394591" y="231838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2" name="Google Shape;532;p20"/>
          <p:cNvSpPr/>
          <p:nvPr/>
        </p:nvSpPr>
        <p:spPr>
          <a:xfrm>
            <a:off x="1093470" y="2867025"/>
            <a:ext cx="2875026" cy="126111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name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address </a:t>
            </a: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UK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phone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3" name="Google Shape;533;p20"/>
          <p:cNvSpPr/>
          <p:nvPr/>
        </p:nvSpPr>
        <p:spPr>
          <a:xfrm>
            <a:off x="4244340" y="2196465"/>
            <a:ext cx="3139440" cy="331470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4" name="Google Shape;534;p20"/>
          <p:cNvSpPr/>
          <p:nvPr/>
        </p:nvSpPr>
        <p:spPr>
          <a:xfrm>
            <a:off x="4251960" y="2204085"/>
            <a:ext cx="312420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5" name="Google Shape;535;p20"/>
          <p:cNvSpPr/>
          <p:nvPr/>
        </p:nvSpPr>
        <p:spPr>
          <a:xfrm>
            <a:off x="4423410" y="2318385"/>
            <a:ext cx="126515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customer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6" name="Google Shape;536;p20"/>
          <p:cNvSpPr/>
          <p:nvPr/>
        </p:nvSpPr>
        <p:spPr>
          <a:xfrm>
            <a:off x="6724531" y="231838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7" name="Google Shape;537;p20"/>
          <p:cNvSpPr/>
          <p:nvPr/>
        </p:nvSpPr>
        <p:spPr>
          <a:xfrm>
            <a:off x="4423410" y="2867025"/>
            <a:ext cx="2875026" cy="126111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customer_id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name address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38" name="Google Shape;538;p20"/>
          <p:cNvSpPr/>
          <p:nvPr/>
        </p:nvSpPr>
        <p:spPr>
          <a:xfrm>
            <a:off x="7574280" y="2196465"/>
            <a:ext cx="3139440" cy="331470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39" name="Google Shape;539;p20"/>
          <p:cNvSpPr/>
          <p:nvPr/>
        </p:nvSpPr>
        <p:spPr>
          <a:xfrm>
            <a:off x="7589520" y="2211705"/>
            <a:ext cx="310896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0" name="Google Shape;540;p20"/>
          <p:cNvSpPr/>
          <p:nvPr/>
        </p:nvSpPr>
        <p:spPr>
          <a:xfrm>
            <a:off x="7760970" y="2326005"/>
            <a:ext cx="111656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account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1" name="Google Shape;541;p20"/>
          <p:cNvSpPr/>
          <p:nvPr/>
        </p:nvSpPr>
        <p:spPr>
          <a:xfrm>
            <a:off x="10046851" y="232600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3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2" name="Google Shape;542;p20"/>
          <p:cNvSpPr/>
          <p:nvPr/>
        </p:nvSpPr>
        <p:spPr>
          <a:xfrm>
            <a:off x="7760970" y="2874645"/>
            <a:ext cx="2859329" cy="210693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account_no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balance last_tx_date </a:t>
            </a: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customer_id (FK, UK, NN)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3" name="Google Shape;543;p20"/>
          <p:cNvSpPr/>
          <p:nvPr/>
        </p:nvSpPr>
        <p:spPr>
          <a:xfrm>
            <a:off x="10904220" y="2196465"/>
            <a:ext cx="3139440" cy="331470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4" name="Google Shape;544;p20"/>
          <p:cNvSpPr/>
          <p:nvPr/>
        </p:nvSpPr>
        <p:spPr>
          <a:xfrm>
            <a:off x="10919460" y="2211705"/>
            <a:ext cx="310896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5" name="Google Shape;545;p20"/>
          <p:cNvSpPr/>
          <p:nvPr/>
        </p:nvSpPr>
        <p:spPr>
          <a:xfrm>
            <a:off x="11090910" y="2326005"/>
            <a:ext cx="22886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customer_phone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6" name="Google Shape;546;p20"/>
          <p:cNvSpPr/>
          <p:nvPr/>
        </p:nvSpPr>
        <p:spPr>
          <a:xfrm>
            <a:off x="13376792" y="232600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6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7" name="Google Shape;547;p20"/>
          <p:cNvSpPr/>
          <p:nvPr/>
        </p:nvSpPr>
        <p:spPr>
          <a:xfrm>
            <a:off x="11090910" y="2874645"/>
            <a:ext cx="2859329" cy="8839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customer_id (PK, FK) </a:t>
            </a: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phone (PK)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8" name="Google Shape;548;p20"/>
          <p:cNvSpPr/>
          <p:nvPr/>
        </p:nvSpPr>
        <p:spPr>
          <a:xfrm>
            <a:off x="14234160" y="2196465"/>
            <a:ext cx="3139440" cy="331470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9" name="Google Shape;549;p20"/>
          <p:cNvSpPr/>
          <p:nvPr/>
        </p:nvSpPr>
        <p:spPr>
          <a:xfrm>
            <a:off x="14249400" y="2211705"/>
            <a:ext cx="310896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0" name="Google Shape;550;p20"/>
          <p:cNvSpPr/>
          <p:nvPr/>
        </p:nvSpPr>
        <p:spPr>
          <a:xfrm>
            <a:off x="14420850" y="2326005"/>
            <a:ext cx="1798332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transaction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1" name="Google Shape;551;p20"/>
          <p:cNvSpPr/>
          <p:nvPr/>
        </p:nvSpPr>
        <p:spPr>
          <a:xfrm>
            <a:off x="16546711" y="2326005"/>
            <a:ext cx="71639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1+4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2" name="Google Shape;552;p20"/>
          <p:cNvSpPr/>
          <p:nvPr/>
        </p:nvSpPr>
        <p:spPr>
          <a:xfrm>
            <a:off x="14420850" y="2874645"/>
            <a:ext cx="2859329" cy="25069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tx_no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type </a:t>
            </a: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CHK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tx_date, tx_time amount </a:t>
            </a: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customer_id (FK, NN) branch_name (FK, NN)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3" name="Google Shape;553;p20"/>
          <p:cNvSpPr/>
          <p:nvPr/>
        </p:nvSpPr>
        <p:spPr>
          <a:xfrm>
            <a:off x="914400" y="5777865"/>
            <a:ext cx="16459200" cy="1533525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4" name="Google Shape;554;p20"/>
          <p:cNvSpPr/>
          <p:nvPr/>
        </p:nvSpPr>
        <p:spPr>
          <a:xfrm>
            <a:off x="914400" y="5777865"/>
            <a:ext cx="45720" cy="1533525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5" name="Google Shape;555;p20"/>
          <p:cNvSpPr/>
          <p:nvPr/>
        </p:nvSpPr>
        <p:spPr>
          <a:xfrm>
            <a:off x="1226820" y="5987415"/>
            <a:ext cx="16373856" cy="115252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175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Design note: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customer–account is 1:1 with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both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sides total, so step 3 allows a </a:t>
            </a:r>
            <a:r>
              <a:rPr b="0" i="1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merge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. We keep two tables and put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customer_id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in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account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as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UNIQUE + NOT NULL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— that keeps it exactly 1:1. Branch has two candidate keys (name, address): name is the PK, address becomes UNIQUE.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0" name="Shape 5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Google Shape;561;p21"/>
          <p:cNvSpPr/>
          <p:nvPr/>
        </p:nvSpPr>
        <p:spPr>
          <a:xfrm>
            <a:off x="914400" y="838200"/>
            <a:ext cx="6478893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CAR CASE STUDY · 1 OF 3 · NARRATIVE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2" name="Google Shape;562;p21"/>
          <p:cNvSpPr/>
          <p:nvPr/>
        </p:nvSpPr>
        <p:spPr>
          <a:xfrm>
            <a:off x="6956703" y="958215"/>
            <a:ext cx="10416898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3" name="Google Shape;563;p21"/>
          <p:cNvSpPr/>
          <p:nvPr/>
        </p:nvSpPr>
        <p:spPr>
          <a:xfrm>
            <a:off x="914400" y="1383030"/>
            <a:ext cx="1810512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830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 car manufacturer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4" name="Google Shape;564;p21"/>
          <p:cNvSpPr/>
          <p:nvPr/>
        </p:nvSpPr>
        <p:spPr>
          <a:xfrm>
            <a:off x="914400" y="2297430"/>
            <a:ext cx="9545737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An organisation makes many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models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of cars — each with a unique name, a suffix (GL, XL…) and an engine size.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5" name="Google Shape;565;p21"/>
          <p:cNvSpPr/>
          <p:nvPr/>
        </p:nvSpPr>
        <p:spPr>
          <a:xfrm>
            <a:off x="914400" y="3345180"/>
            <a:ext cx="9545737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Each model is made of many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parts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(id, description, production year, and many images). A part may appear in many models.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6" name="Google Shape;566;p21"/>
          <p:cNvSpPr/>
          <p:nvPr/>
        </p:nvSpPr>
        <p:spPr>
          <a:xfrm>
            <a:off x="914400" y="4392930"/>
            <a:ext cx="9545737" cy="1323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Each model is produced at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exactly one factory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. Five factories exist — London, Birmingham, Bristol, Wolverhampton, Manchester — each with a machine count, capacity, OS, DBMS, Internet.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7" name="Google Shape;567;p21"/>
          <p:cNvSpPr/>
          <p:nvPr/>
        </p:nvSpPr>
        <p:spPr>
          <a:xfrm>
            <a:off x="914400" y="5869305"/>
            <a:ext cx="9267706" cy="1590675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8" name="Google Shape;568;p21"/>
          <p:cNvSpPr/>
          <p:nvPr/>
        </p:nvSpPr>
        <p:spPr>
          <a:xfrm>
            <a:off x="914400" y="5869305"/>
            <a:ext cx="45720" cy="1590675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9" name="Google Shape;569;p21"/>
          <p:cNvSpPr/>
          <p:nvPr/>
        </p:nvSpPr>
        <p:spPr>
          <a:xfrm>
            <a:off x="1150620" y="6021705"/>
            <a:ext cx="9119017" cy="132397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Key constraint: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the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parts and the model are produced in the </a:t>
            </a:r>
            <a:r>
              <a:rPr b="1" i="1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same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factory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. That ties the three entities together as one fact — a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ternary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relationship.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0" name="Google Shape;570;p21"/>
          <p:cNvSpPr/>
          <p:nvPr/>
        </p:nvSpPr>
        <p:spPr>
          <a:xfrm>
            <a:off x="10753606" y="2297430"/>
            <a:ext cx="6619875" cy="516255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1" name="Google Shape;571;p21"/>
          <p:cNvSpPr/>
          <p:nvPr/>
        </p:nvSpPr>
        <p:spPr>
          <a:xfrm>
            <a:off x="11104126" y="2647950"/>
            <a:ext cx="651071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THINK BEFORE THE NEXT SLIDE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2" name="Google Shape;572;p21"/>
          <p:cNvSpPr/>
          <p:nvPr/>
        </p:nvSpPr>
        <p:spPr>
          <a:xfrm>
            <a:off x="11140321" y="309753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How many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entities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3" name="Google Shape;573;p21"/>
          <p:cNvSpPr/>
          <p:nvPr/>
        </p:nvSpPr>
        <p:spPr>
          <a:xfrm>
            <a:off x="11140321" y="349377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Which attribute is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multi-valued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4" name="Google Shape;574;p21"/>
          <p:cNvSpPr/>
          <p:nvPr/>
        </p:nvSpPr>
        <p:spPr>
          <a:xfrm>
            <a:off x="11140321" y="389001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173355" lvl="0" marL="173355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Char char="•"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model ↔ part — what cardinality?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5" name="Google Shape;575;p21"/>
          <p:cNvSpPr/>
          <p:nvPr/>
        </p:nvSpPr>
        <p:spPr>
          <a:xfrm>
            <a:off x="11140321" y="428625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173355" lvl="0" marL="173355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Char char="•"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model ↔ factory — what cardinality?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6" name="Google Shape;576;p21"/>
          <p:cNvSpPr/>
          <p:nvPr/>
        </p:nvSpPr>
        <p:spPr>
          <a:xfrm>
            <a:off x="11140321" y="468249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Why is the fact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ternary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, not three binaries?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22"/>
          <p:cNvSpPr/>
          <p:nvPr/>
        </p:nvSpPr>
        <p:spPr>
          <a:xfrm>
            <a:off x="914400" y="838200"/>
            <a:ext cx="528995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CAR CASE STUDY · 2 OF 3 · 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3" name="Google Shape;583;p22"/>
          <p:cNvSpPr/>
          <p:nvPr/>
        </p:nvSpPr>
        <p:spPr>
          <a:xfrm>
            <a:off x="5875854" y="958215"/>
            <a:ext cx="11497747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4" name="Google Shape;584;p22"/>
          <p:cNvSpPr/>
          <p:nvPr/>
        </p:nvSpPr>
        <p:spPr>
          <a:xfrm>
            <a:off x="914400" y="1363980"/>
            <a:ext cx="18105120" cy="6038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158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One ternary “produces” — model, part, factory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5" name="Google Shape;585;p22"/>
          <p:cNvSpPr/>
          <p:nvPr/>
        </p:nvSpPr>
        <p:spPr>
          <a:xfrm>
            <a:off x="914400" y="2196465"/>
            <a:ext cx="16459200" cy="5899785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86" name="Google Shape;58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0620" y="2432685"/>
            <a:ext cx="15986760" cy="5427345"/>
          </a:xfrm>
          <a:prstGeom prst="rect">
            <a:avLst/>
          </a:prstGeom>
          <a:noFill/>
          <a:ln>
            <a:noFill/>
          </a:ln>
        </p:spPr>
      </p:pic>
      <p:sp>
        <p:nvSpPr>
          <p:cNvPr id="587" name="Google Shape;587;p22"/>
          <p:cNvSpPr/>
          <p:nvPr/>
        </p:nvSpPr>
        <p:spPr>
          <a:xfrm>
            <a:off x="914400" y="8362950"/>
            <a:ext cx="16459200" cy="116205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p22"/>
          <p:cNvSpPr/>
          <p:nvPr/>
        </p:nvSpPr>
        <p:spPr>
          <a:xfrm>
            <a:off x="914400" y="8362950"/>
            <a:ext cx="45720" cy="116205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9" name="Google Shape;589;p22"/>
          <p:cNvSpPr/>
          <p:nvPr/>
        </p:nvSpPr>
        <p:spPr>
          <a:xfrm>
            <a:off x="1226820" y="8572500"/>
            <a:ext cx="16373856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1757"/>
              </a:lnSpc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Why ternary?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For a given (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model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part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) pair the factory is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exactly one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— the same one that makes both. Three separate binary M:N relationships would lose that link.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94" name="Shape 5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5" name="Google Shape;595;p23"/>
          <p:cNvSpPr/>
          <p:nvPr/>
        </p:nvSpPr>
        <p:spPr>
          <a:xfrm>
            <a:off x="914400" y="838200"/>
            <a:ext cx="588206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CAR CASE STUDY · 3 OF 3 · TABLES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6" name="Google Shape;596;p23"/>
          <p:cNvSpPr/>
          <p:nvPr/>
        </p:nvSpPr>
        <p:spPr>
          <a:xfrm>
            <a:off x="6414135" y="958215"/>
            <a:ext cx="10959465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7" name="Google Shape;597;p23"/>
          <p:cNvSpPr/>
          <p:nvPr/>
        </p:nvSpPr>
        <p:spPr>
          <a:xfrm>
            <a:off x="914400" y="1363980"/>
            <a:ext cx="18105120" cy="6038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158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 car schema, mapped step by step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98" name="Google Shape;598;p23"/>
          <p:cNvSpPr/>
          <p:nvPr/>
        </p:nvSpPr>
        <p:spPr>
          <a:xfrm>
            <a:off x="914400" y="2196465"/>
            <a:ext cx="3139440" cy="253746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99" name="Google Shape;599;p23"/>
          <p:cNvSpPr/>
          <p:nvPr/>
        </p:nvSpPr>
        <p:spPr>
          <a:xfrm>
            <a:off x="922020" y="2204085"/>
            <a:ext cx="312420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0" name="Google Shape;600;p23"/>
          <p:cNvSpPr/>
          <p:nvPr/>
        </p:nvSpPr>
        <p:spPr>
          <a:xfrm>
            <a:off x="1093470" y="2318385"/>
            <a:ext cx="81938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model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1" name="Google Shape;601;p23"/>
          <p:cNvSpPr/>
          <p:nvPr/>
        </p:nvSpPr>
        <p:spPr>
          <a:xfrm>
            <a:off x="3394591" y="231838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2" name="Google Shape;602;p23"/>
          <p:cNvSpPr/>
          <p:nvPr/>
        </p:nvSpPr>
        <p:spPr>
          <a:xfrm>
            <a:off x="1093470" y="2867025"/>
            <a:ext cx="2875026" cy="126111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name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suffix engine_size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3" name="Google Shape;603;p23"/>
          <p:cNvSpPr/>
          <p:nvPr/>
        </p:nvSpPr>
        <p:spPr>
          <a:xfrm>
            <a:off x="4244340" y="2196465"/>
            <a:ext cx="3139440" cy="253746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4" name="Google Shape;604;p23"/>
          <p:cNvSpPr/>
          <p:nvPr/>
        </p:nvSpPr>
        <p:spPr>
          <a:xfrm>
            <a:off x="4251960" y="2204085"/>
            <a:ext cx="312420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5" name="Google Shape;605;p23"/>
          <p:cNvSpPr/>
          <p:nvPr/>
        </p:nvSpPr>
        <p:spPr>
          <a:xfrm>
            <a:off x="4423410" y="2318385"/>
            <a:ext cx="6706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part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6" name="Google Shape;606;p23"/>
          <p:cNvSpPr/>
          <p:nvPr/>
        </p:nvSpPr>
        <p:spPr>
          <a:xfrm>
            <a:off x="6724531" y="231838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7" name="Google Shape;607;p23"/>
          <p:cNvSpPr/>
          <p:nvPr/>
        </p:nvSpPr>
        <p:spPr>
          <a:xfrm>
            <a:off x="4423410" y="2867025"/>
            <a:ext cx="2875026" cy="126111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part_id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description year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8" name="Google Shape;608;p23"/>
          <p:cNvSpPr/>
          <p:nvPr/>
        </p:nvSpPr>
        <p:spPr>
          <a:xfrm>
            <a:off x="7574280" y="2196465"/>
            <a:ext cx="3139440" cy="253746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09" name="Google Shape;609;p23"/>
          <p:cNvSpPr/>
          <p:nvPr/>
        </p:nvSpPr>
        <p:spPr>
          <a:xfrm>
            <a:off x="7581900" y="2204085"/>
            <a:ext cx="312420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0" name="Google Shape;610;p23"/>
          <p:cNvSpPr/>
          <p:nvPr/>
        </p:nvSpPr>
        <p:spPr>
          <a:xfrm>
            <a:off x="7753350" y="2318385"/>
            <a:ext cx="111656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factory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1" name="Google Shape;611;p23"/>
          <p:cNvSpPr/>
          <p:nvPr/>
        </p:nvSpPr>
        <p:spPr>
          <a:xfrm>
            <a:off x="10054471" y="231838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2" name="Google Shape;612;p23"/>
          <p:cNvSpPr/>
          <p:nvPr/>
        </p:nvSpPr>
        <p:spPr>
          <a:xfrm>
            <a:off x="7753350" y="2867025"/>
            <a:ext cx="2875026" cy="16611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city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machines, capacity os, dbms, internet </a:t>
            </a: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← composite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3" name="Google Shape;613;p23"/>
          <p:cNvSpPr/>
          <p:nvPr/>
        </p:nvSpPr>
        <p:spPr>
          <a:xfrm>
            <a:off x="10904220" y="2196465"/>
            <a:ext cx="3139440" cy="253746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4" name="Google Shape;614;p23"/>
          <p:cNvSpPr/>
          <p:nvPr/>
        </p:nvSpPr>
        <p:spPr>
          <a:xfrm>
            <a:off x="10919460" y="2211705"/>
            <a:ext cx="310896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5" name="Google Shape;615;p23"/>
          <p:cNvSpPr/>
          <p:nvPr/>
        </p:nvSpPr>
        <p:spPr>
          <a:xfrm>
            <a:off x="11090910" y="2326005"/>
            <a:ext cx="1634883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part_image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6" name="Google Shape;616;p23"/>
          <p:cNvSpPr/>
          <p:nvPr/>
        </p:nvSpPr>
        <p:spPr>
          <a:xfrm>
            <a:off x="13376792" y="232600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6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7" name="Google Shape;617;p23"/>
          <p:cNvSpPr/>
          <p:nvPr/>
        </p:nvSpPr>
        <p:spPr>
          <a:xfrm>
            <a:off x="11090910" y="2874645"/>
            <a:ext cx="2859329" cy="8839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part_id (PK, FK) </a:t>
            </a: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image_url (PK)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8" name="Google Shape;618;p23"/>
          <p:cNvSpPr/>
          <p:nvPr/>
        </p:nvSpPr>
        <p:spPr>
          <a:xfrm>
            <a:off x="14234160" y="2196465"/>
            <a:ext cx="3139440" cy="253746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9" name="Google Shape;619;p23"/>
          <p:cNvSpPr/>
          <p:nvPr/>
        </p:nvSpPr>
        <p:spPr>
          <a:xfrm>
            <a:off x="14249400" y="2211705"/>
            <a:ext cx="310896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0" name="Google Shape;620;p23"/>
          <p:cNvSpPr/>
          <p:nvPr/>
        </p:nvSpPr>
        <p:spPr>
          <a:xfrm>
            <a:off x="14420850" y="2326005"/>
            <a:ext cx="126515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produces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1" name="Google Shape;621;p23"/>
          <p:cNvSpPr/>
          <p:nvPr/>
        </p:nvSpPr>
        <p:spPr>
          <a:xfrm>
            <a:off x="16706731" y="2326005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7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2" name="Google Shape;622;p23"/>
          <p:cNvSpPr/>
          <p:nvPr/>
        </p:nvSpPr>
        <p:spPr>
          <a:xfrm>
            <a:off x="14420850" y="2874645"/>
            <a:ext cx="2859329" cy="17297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model_name (PK, FK) part_id (PK, FK) factory_city (FK, NN)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23" name="Google Shape;623;p23"/>
          <p:cNvSpPr/>
          <p:nvPr/>
        </p:nvSpPr>
        <p:spPr>
          <a:xfrm>
            <a:off x="914400" y="5000625"/>
            <a:ext cx="16459200" cy="1162050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4" name="Google Shape;624;p23"/>
          <p:cNvSpPr/>
          <p:nvPr/>
        </p:nvSpPr>
        <p:spPr>
          <a:xfrm>
            <a:off x="914400" y="5000625"/>
            <a:ext cx="45720" cy="116205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5" name="Google Shape;625;p23"/>
          <p:cNvSpPr/>
          <p:nvPr/>
        </p:nvSpPr>
        <p:spPr>
          <a:xfrm>
            <a:off x="1226820" y="5210175"/>
            <a:ext cx="16373856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175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Design note — the ternary: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composite PK of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produces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is (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model_name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part_id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);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factory_city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is a non-key FK because the same (model, part) pair always lands at one factory — the “same factory” constraint from the narrative.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p24"/>
          <p:cNvSpPr/>
          <p:nvPr/>
        </p:nvSpPr>
        <p:spPr>
          <a:xfrm>
            <a:off x="914400" y="838200"/>
            <a:ext cx="6465011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BUS CASE STUDY · 1 OF 3 · NARRATIVE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2" name="Google Shape;632;p24"/>
          <p:cNvSpPr/>
          <p:nvPr/>
        </p:nvSpPr>
        <p:spPr>
          <a:xfrm>
            <a:off x="6944083" y="958215"/>
            <a:ext cx="10429518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3" name="Google Shape;633;p24"/>
          <p:cNvSpPr/>
          <p:nvPr/>
        </p:nvSpPr>
        <p:spPr>
          <a:xfrm>
            <a:off x="914400" y="1383030"/>
            <a:ext cx="18105120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830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500"/>
              <a:buFont typeface="Arial"/>
              <a:buNone/>
            </a:pPr>
            <a:r>
              <a:rPr b="1" i="0" lang="en-US" sz="45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 country bus company</a:t>
            </a:r>
            <a:endParaRPr b="0" i="0" sz="4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4" name="Google Shape;634;p24"/>
          <p:cNvSpPr/>
          <p:nvPr/>
        </p:nvSpPr>
        <p:spPr>
          <a:xfrm>
            <a:off x="914400" y="2297430"/>
            <a:ext cx="9545737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The company owns many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buses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— number, no. of chairs, brand, and one or more </a:t>
            </a:r>
            <a:r>
              <a:rPr b="1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options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(AC, automatic, PS).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5" name="Google Shape;635;p24"/>
          <p:cNvSpPr/>
          <p:nvPr/>
        </p:nvSpPr>
        <p:spPr>
          <a:xfrm>
            <a:off x="914400" y="3326130"/>
            <a:ext cx="9545737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Each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bus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is allocated to one </a:t>
            </a:r>
            <a:r>
              <a:rPr b="1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route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; a route may have many buses. A route has km, start, end, duration.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6" name="Google Shape;636;p24"/>
          <p:cNvSpPr/>
          <p:nvPr/>
        </p:nvSpPr>
        <p:spPr>
          <a:xfrm>
            <a:off x="914400" y="4354830"/>
            <a:ext cx="9545737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334155"/>
              </a:buClr>
              <a:buSzPts val="2250"/>
              <a:buFont typeface="Arial"/>
              <a:buNone/>
            </a:pP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A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route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passes through many </a:t>
            </a:r>
            <a:r>
              <a:rPr b="1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towns </a:t>
            </a:r>
            <a:r>
              <a:rPr b="0" i="0" lang="en-US" sz="2250" u="none" cap="none" strike="noStrike">
                <a:solidFill>
                  <a:srgbClr val="334155"/>
                </a:solidFill>
                <a:latin typeface="Arial"/>
                <a:ea typeface="Arial"/>
                <a:cs typeface="Arial"/>
                <a:sym typeface="Arial"/>
              </a:rPr>
              <a:t>; a town may be on many routes. Each town has a unique name and a station name.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37" name="Google Shape;637;p24"/>
          <p:cNvSpPr/>
          <p:nvPr/>
        </p:nvSpPr>
        <p:spPr>
          <a:xfrm>
            <a:off x="914400" y="5383530"/>
            <a:ext cx="9267706" cy="116205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8" name="Google Shape;638;p24"/>
          <p:cNvSpPr/>
          <p:nvPr/>
        </p:nvSpPr>
        <p:spPr>
          <a:xfrm>
            <a:off x="914400" y="5383530"/>
            <a:ext cx="45720" cy="116205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9" name="Google Shape;639;p24"/>
          <p:cNvSpPr/>
          <p:nvPr/>
        </p:nvSpPr>
        <p:spPr>
          <a:xfrm>
            <a:off x="1150620" y="5535930"/>
            <a:ext cx="9119017" cy="8953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0813"/>
              </a:lnSpc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Time-varying: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one or more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drivers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are allocated to a route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for a period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. The system keeps every change </a:t>
            </a: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and </a:t>
            </a:r>
            <a:r>
              <a:rPr b="0" i="0" lang="en-US" sz="22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each driver's last route.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0" name="Google Shape;640;p24"/>
          <p:cNvSpPr/>
          <p:nvPr/>
        </p:nvSpPr>
        <p:spPr>
          <a:xfrm>
            <a:off x="10753606" y="2297430"/>
            <a:ext cx="6619875" cy="4248150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1" name="Google Shape;641;p24"/>
          <p:cNvSpPr/>
          <p:nvPr/>
        </p:nvSpPr>
        <p:spPr>
          <a:xfrm>
            <a:off x="11104126" y="2647950"/>
            <a:ext cx="6510719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THINK BEFORE THE NEXT SLIDE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2" name="Google Shape;642;p24"/>
          <p:cNvSpPr/>
          <p:nvPr/>
        </p:nvSpPr>
        <p:spPr>
          <a:xfrm>
            <a:off x="11140321" y="309753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Which attribute is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multi-valued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3" name="Google Shape;643;p24"/>
          <p:cNvSpPr/>
          <p:nvPr/>
        </p:nvSpPr>
        <p:spPr>
          <a:xfrm>
            <a:off x="11140321" y="349377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173355" lvl="0" marL="173355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Char char="•"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bus ↔ route — what cardinality?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4" name="Google Shape;644;p24"/>
          <p:cNvSpPr/>
          <p:nvPr/>
        </p:nvSpPr>
        <p:spPr>
          <a:xfrm>
            <a:off x="11140321" y="389001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-173355" lvl="0" marL="173355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Char char="•"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route ↔ town — what cardinality?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5" name="Google Shape;645;p24"/>
          <p:cNvSpPr/>
          <p:nvPr/>
        </p:nvSpPr>
        <p:spPr>
          <a:xfrm>
            <a:off x="11140321" y="428625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How do you record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allocation history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46" name="Google Shape;646;p24"/>
          <p:cNvSpPr/>
          <p:nvPr/>
        </p:nvSpPr>
        <p:spPr>
          <a:xfrm>
            <a:off x="11140321" y="4682490"/>
            <a:ext cx="6053919" cy="4343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40541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Where does the </a:t>
            </a: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last route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per driver live?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51" name="Shape 6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Google Shape;652;p25"/>
          <p:cNvSpPr/>
          <p:nvPr/>
        </p:nvSpPr>
        <p:spPr>
          <a:xfrm>
            <a:off x="914400" y="838200"/>
            <a:ext cx="5276076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BUS CASE STUDY · 2 OF 3 · ERD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3" name="Google Shape;653;p25"/>
          <p:cNvSpPr/>
          <p:nvPr/>
        </p:nvSpPr>
        <p:spPr>
          <a:xfrm>
            <a:off x="5863233" y="958215"/>
            <a:ext cx="11510367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4" name="Google Shape;654;p25"/>
          <p:cNvSpPr/>
          <p:nvPr/>
        </p:nvSpPr>
        <p:spPr>
          <a:xfrm>
            <a:off x="914400" y="1325880"/>
            <a:ext cx="18105120" cy="60388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8158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4050"/>
              <a:buFont typeface="Arial"/>
              <a:buNone/>
            </a:pPr>
            <a:r>
              <a:rPr b="1" i="0" lang="en-US" sz="40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Bus · route · town · driver</a:t>
            </a:r>
            <a:endParaRPr b="0" i="0" sz="4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5" name="Google Shape;655;p25"/>
          <p:cNvSpPr/>
          <p:nvPr/>
        </p:nvSpPr>
        <p:spPr>
          <a:xfrm>
            <a:off x="914400" y="2120265"/>
            <a:ext cx="16459200" cy="6052185"/>
          </a:xfrm>
          <a:prstGeom prst="rect">
            <a:avLst/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56" name="Google Shape;65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150620" y="2356485"/>
            <a:ext cx="15986760" cy="5579745"/>
          </a:xfrm>
          <a:prstGeom prst="rect">
            <a:avLst/>
          </a:prstGeom>
          <a:noFill/>
          <a:ln>
            <a:noFill/>
          </a:ln>
        </p:spPr>
      </p:pic>
      <p:sp>
        <p:nvSpPr>
          <p:cNvPr id="657" name="Google Shape;657;p25"/>
          <p:cNvSpPr/>
          <p:nvPr/>
        </p:nvSpPr>
        <p:spPr>
          <a:xfrm>
            <a:off x="914400" y="8401050"/>
            <a:ext cx="16459200" cy="112395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8" name="Google Shape;658;p25"/>
          <p:cNvSpPr/>
          <p:nvPr/>
        </p:nvSpPr>
        <p:spPr>
          <a:xfrm>
            <a:off x="914400" y="8401050"/>
            <a:ext cx="45720" cy="112395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9" name="Google Shape;659;p25"/>
          <p:cNvSpPr/>
          <p:nvPr/>
        </p:nvSpPr>
        <p:spPr>
          <a:xfrm>
            <a:off x="1226820" y="8591550"/>
            <a:ext cx="16373856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1757"/>
              </a:lnSpc>
              <a:spcBef>
                <a:spcPts val="0"/>
              </a:spcBef>
              <a:spcAft>
                <a:spcPts val="0"/>
              </a:spcAft>
              <a:buClr>
                <a:srgbClr val="B45309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B45309"/>
                </a:solidFill>
                <a:latin typeface="Arial"/>
                <a:ea typeface="Arial"/>
                <a:cs typeface="Arial"/>
                <a:sym typeface="Arial"/>
              </a:rPr>
              <a:t>Allocation history: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drives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is M:N with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start_date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and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end_date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— every reassignment is a new row.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last route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FEF3C7"/>
                </a:highlight>
                <a:latin typeface="Arial"/>
                <a:ea typeface="Arial"/>
                <a:cs typeface="Arial"/>
                <a:sym typeface="Arial"/>
              </a:rPr>
              <a:t>is a separate 1:N so each driver points to exactly one current route.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64" name="Shape 6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" name="Google Shape;665;p26"/>
          <p:cNvSpPr/>
          <p:nvPr/>
        </p:nvSpPr>
        <p:spPr>
          <a:xfrm>
            <a:off x="914400" y="838200"/>
            <a:ext cx="5868186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BUS CASE STUDY · 3 OF 3 · TABLES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6" name="Google Shape;666;p26"/>
          <p:cNvSpPr/>
          <p:nvPr/>
        </p:nvSpPr>
        <p:spPr>
          <a:xfrm>
            <a:off x="6401514" y="958215"/>
            <a:ext cx="10972086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7" name="Google Shape;667;p26"/>
          <p:cNvSpPr/>
          <p:nvPr/>
        </p:nvSpPr>
        <p:spPr>
          <a:xfrm>
            <a:off x="914400" y="1325880"/>
            <a:ext cx="18105120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64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The bus schema, mapped step by step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8" name="Google Shape;668;p26"/>
          <p:cNvSpPr/>
          <p:nvPr/>
        </p:nvSpPr>
        <p:spPr>
          <a:xfrm>
            <a:off x="914400" y="2057400"/>
            <a:ext cx="5372100" cy="209169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69" name="Google Shape;669;p26"/>
          <p:cNvSpPr/>
          <p:nvPr/>
        </p:nvSpPr>
        <p:spPr>
          <a:xfrm>
            <a:off x="929640" y="2072640"/>
            <a:ext cx="534162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0" name="Google Shape;670;p26"/>
          <p:cNvSpPr/>
          <p:nvPr/>
        </p:nvSpPr>
        <p:spPr>
          <a:xfrm>
            <a:off x="1101090" y="2186940"/>
            <a:ext cx="52208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bus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1" name="Google Shape;671;p26"/>
          <p:cNvSpPr/>
          <p:nvPr/>
        </p:nvSpPr>
        <p:spPr>
          <a:xfrm>
            <a:off x="5299472" y="2186940"/>
            <a:ext cx="87653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 + 4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2" name="Google Shape;672;p26"/>
          <p:cNvSpPr/>
          <p:nvPr/>
        </p:nvSpPr>
        <p:spPr>
          <a:xfrm>
            <a:off x="1101090" y="2735580"/>
            <a:ext cx="5158968" cy="12839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number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chairs, brand </a:t>
            </a: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route_id (FK, NN)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3" name="Google Shape;673;p26"/>
          <p:cNvSpPr/>
          <p:nvPr/>
        </p:nvSpPr>
        <p:spPr>
          <a:xfrm>
            <a:off x="6457950" y="2057400"/>
            <a:ext cx="5372100" cy="209169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4" name="Google Shape;674;p26"/>
          <p:cNvSpPr/>
          <p:nvPr/>
        </p:nvSpPr>
        <p:spPr>
          <a:xfrm>
            <a:off x="6465570" y="2065020"/>
            <a:ext cx="535686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5" name="Google Shape;675;p26"/>
          <p:cNvSpPr/>
          <p:nvPr/>
        </p:nvSpPr>
        <p:spPr>
          <a:xfrm>
            <a:off x="6637020" y="2179320"/>
            <a:ext cx="81938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route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6" name="Google Shape;676;p26"/>
          <p:cNvSpPr/>
          <p:nvPr/>
        </p:nvSpPr>
        <p:spPr>
          <a:xfrm>
            <a:off x="11170801" y="2179320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7" name="Google Shape;677;p26"/>
          <p:cNvSpPr/>
          <p:nvPr/>
        </p:nvSpPr>
        <p:spPr>
          <a:xfrm>
            <a:off x="6637020" y="2727960"/>
            <a:ext cx="5174666" cy="126111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route_id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km, start, end duration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78" name="Google Shape;678;p26"/>
          <p:cNvSpPr/>
          <p:nvPr/>
        </p:nvSpPr>
        <p:spPr>
          <a:xfrm>
            <a:off x="12001500" y="2057400"/>
            <a:ext cx="5372100" cy="2091690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9" name="Google Shape;679;p26"/>
          <p:cNvSpPr/>
          <p:nvPr/>
        </p:nvSpPr>
        <p:spPr>
          <a:xfrm>
            <a:off x="12009120" y="2065020"/>
            <a:ext cx="5356860" cy="510540"/>
          </a:xfrm>
          <a:prstGeom prst="rect">
            <a:avLst/>
          </a:prstGeom>
          <a:solidFill>
            <a:srgbClr val="C8102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0" name="Google Shape;680;p26"/>
          <p:cNvSpPr/>
          <p:nvPr/>
        </p:nvSpPr>
        <p:spPr>
          <a:xfrm>
            <a:off x="12180570" y="2179320"/>
            <a:ext cx="6706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town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1" name="Google Shape;681;p26"/>
          <p:cNvSpPr/>
          <p:nvPr/>
        </p:nvSpPr>
        <p:spPr>
          <a:xfrm>
            <a:off x="16714351" y="2179320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2" name="Google Shape;682;p26"/>
          <p:cNvSpPr/>
          <p:nvPr/>
        </p:nvSpPr>
        <p:spPr>
          <a:xfrm>
            <a:off x="12180570" y="2727960"/>
            <a:ext cx="5174666" cy="86106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name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station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3" name="Google Shape;683;p26"/>
          <p:cNvSpPr/>
          <p:nvPr/>
        </p:nvSpPr>
        <p:spPr>
          <a:xfrm>
            <a:off x="914400" y="4320540"/>
            <a:ext cx="5372100" cy="249174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4" name="Google Shape;684;p26"/>
          <p:cNvSpPr/>
          <p:nvPr/>
        </p:nvSpPr>
        <p:spPr>
          <a:xfrm>
            <a:off x="929640" y="4335780"/>
            <a:ext cx="534162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5" name="Google Shape;685;p26"/>
          <p:cNvSpPr/>
          <p:nvPr/>
        </p:nvSpPr>
        <p:spPr>
          <a:xfrm>
            <a:off x="1101090" y="4450080"/>
            <a:ext cx="1634883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bus_option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6" name="Google Shape;686;p26"/>
          <p:cNvSpPr/>
          <p:nvPr/>
        </p:nvSpPr>
        <p:spPr>
          <a:xfrm>
            <a:off x="5619631" y="4450080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6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7" name="Google Shape;687;p26"/>
          <p:cNvSpPr/>
          <p:nvPr/>
        </p:nvSpPr>
        <p:spPr>
          <a:xfrm>
            <a:off x="1101090" y="4998720"/>
            <a:ext cx="5158968" cy="8839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bus_number (PK, FK) </a:t>
            </a: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option (PK) </a:t>
            </a:r>
            <a:r>
              <a:rPr b="0" i="0" lang="en-US" sz="180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CHK AC·Auto·PS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8" name="Google Shape;688;p26"/>
          <p:cNvSpPr/>
          <p:nvPr/>
        </p:nvSpPr>
        <p:spPr>
          <a:xfrm>
            <a:off x="6457950" y="4320540"/>
            <a:ext cx="5372100" cy="249174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89" name="Google Shape;689;p26"/>
          <p:cNvSpPr/>
          <p:nvPr/>
        </p:nvSpPr>
        <p:spPr>
          <a:xfrm>
            <a:off x="6473190" y="4335780"/>
            <a:ext cx="534162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0" name="Google Shape;690;p26"/>
          <p:cNvSpPr/>
          <p:nvPr/>
        </p:nvSpPr>
        <p:spPr>
          <a:xfrm>
            <a:off x="6644640" y="4450080"/>
            <a:ext cx="1634883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route_town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1" name="Google Shape;691;p26"/>
          <p:cNvSpPr/>
          <p:nvPr/>
        </p:nvSpPr>
        <p:spPr>
          <a:xfrm>
            <a:off x="11163181" y="4450080"/>
            <a:ext cx="55637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5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2" name="Google Shape;692;p26"/>
          <p:cNvSpPr/>
          <p:nvPr/>
        </p:nvSpPr>
        <p:spPr>
          <a:xfrm>
            <a:off x="6644640" y="4998720"/>
            <a:ext cx="5158968" cy="8839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route_id (PK, FK) town_name (PK, FK)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3" name="Google Shape;693;p26"/>
          <p:cNvSpPr/>
          <p:nvPr/>
        </p:nvSpPr>
        <p:spPr>
          <a:xfrm>
            <a:off x="12001500" y="4320540"/>
            <a:ext cx="5372100" cy="249174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4" name="Google Shape;694;p26"/>
          <p:cNvSpPr/>
          <p:nvPr/>
        </p:nvSpPr>
        <p:spPr>
          <a:xfrm>
            <a:off x="12016740" y="4335780"/>
            <a:ext cx="534162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5" name="Google Shape;695;p26"/>
          <p:cNvSpPr/>
          <p:nvPr/>
        </p:nvSpPr>
        <p:spPr>
          <a:xfrm>
            <a:off x="12188190" y="4450080"/>
            <a:ext cx="96797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driver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6" name="Google Shape;696;p26"/>
          <p:cNvSpPr/>
          <p:nvPr/>
        </p:nvSpPr>
        <p:spPr>
          <a:xfrm>
            <a:off x="16386572" y="4450080"/>
            <a:ext cx="876538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1 + 4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7" name="Google Shape;697;p26"/>
          <p:cNvSpPr/>
          <p:nvPr/>
        </p:nvSpPr>
        <p:spPr>
          <a:xfrm>
            <a:off x="12188190" y="4998720"/>
            <a:ext cx="5158968" cy="1684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driver_id (PK) 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name, mobile, hire_date salary, grade </a:t>
            </a: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last_route_id (FK)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8" name="Google Shape;698;p26"/>
          <p:cNvSpPr/>
          <p:nvPr/>
        </p:nvSpPr>
        <p:spPr>
          <a:xfrm>
            <a:off x="914400" y="7040880"/>
            <a:ext cx="16459200" cy="1268730"/>
          </a:xfrm>
          <a:prstGeom prst="rect">
            <a:avLst/>
          </a:prstGeom>
          <a:noFill/>
          <a:ln cap="flat" cmpd="sng" w="15225">
            <a:solidFill>
              <a:srgbClr val="0E8A8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99" name="Google Shape;699;p26"/>
          <p:cNvSpPr/>
          <p:nvPr/>
        </p:nvSpPr>
        <p:spPr>
          <a:xfrm>
            <a:off x="929640" y="7056120"/>
            <a:ext cx="16428720" cy="51054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0" name="Google Shape;700;p26"/>
          <p:cNvSpPr/>
          <p:nvPr/>
        </p:nvSpPr>
        <p:spPr>
          <a:xfrm>
            <a:off x="1101090" y="7170420"/>
            <a:ext cx="653913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drives · time-stamped allocation history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1" name="Google Shape;701;p26"/>
          <p:cNvSpPr/>
          <p:nvPr/>
        </p:nvSpPr>
        <p:spPr>
          <a:xfrm>
            <a:off x="14706124" y="7170420"/>
            <a:ext cx="255698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50"/>
              <a:buFont typeface="Courier New"/>
              <a:buNone/>
            </a:pPr>
            <a:r>
              <a:rPr b="1" i="0" lang="en-US" sz="1050" u="none" cap="none" strike="noStrike">
                <a:solidFill>
                  <a:srgbClr val="FFFFFF"/>
                </a:solidFill>
                <a:latin typeface="Courier New"/>
                <a:ea typeface="Courier New"/>
                <a:cs typeface="Courier New"/>
                <a:sym typeface="Courier New"/>
              </a:rPr>
              <a:t>step 5 + relationship attribute</a:t>
            </a:r>
            <a:endParaRPr b="0" i="0" sz="10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2" name="Google Shape;702;p26"/>
          <p:cNvSpPr/>
          <p:nvPr/>
        </p:nvSpPr>
        <p:spPr>
          <a:xfrm>
            <a:off x="1101090" y="7719060"/>
            <a:ext cx="16578682" cy="46101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54412"/>
              </a:lnSpc>
              <a:spcBef>
                <a:spcPts val="0"/>
              </a:spcBef>
              <a:spcAft>
                <a:spcPts val="0"/>
              </a:spcAft>
              <a:buClr>
                <a:srgbClr val="0E8A8A"/>
              </a:buClr>
              <a:buSzPts val="1800"/>
              <a:buFont typeface="Courier New"/>
              <a:buNone/>
            </a:pP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driver_id (PK, FK)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i="0" lang="en-US" sz="1800" u="none" cap="none" strike="noStrike">
                <a:solidFill>
                  <a:srgbClr val="0E8A8A"/>
                </a:solidFill>
                <a:latin typeface="Courier New"/>
                <a:ea typeface="Courier New"/>
                <a:cs typeface="Courier New"/>
                <a:sym typeface="Courier New"/>
              </a:rPr>
              <a:t>route_id (PK, FK)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</a:t>
            </a:r>
            <a:r>
              <a:rPr b="1" i="0" lang="en-US" sz="18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start_date (PK)</a:t>
            </a:r>
            <a:r>
              <a:rPr b="0" i="0" lang="en-US" sz="180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, end_date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3" name="Google Shape;703;p26"/>
          <p:cNvSpPr/>
          <p:nvPr/>
        </p:nvSpPr>
        <p:spPr>
          <a:xfrm>
            <a:off x="914400" y="8538210"/>
            <a:ext cx="16459200" cy="1085850"/>
          </a:xfrm>
          <a:prstGeom prst="rect">
            <a:avLst/>
          </a:prstGeom>
          <a:solidFill>
            <a:srgbClr val="E6F4F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26"/>
          <p:cNvSpPr/>
          <p:nvPr/>
        </p:nvSpPr>
        <p:spPr>
          <a:xfrm>
            <a:off x="914400" y="8538210"/>
            <a:ext cx="45720" cy="1085850"/>
          </a:xfrm>
          <a:prstGeom prst="rect">
            <a:avLst/>
          </a:prstGeom>
          <a:solidFill>
            <a:srgbClr val="0E8A8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5" name="Google Shape;705;p26"/>
          <p:cNvSpPr/>
          <p:nvPr/>
        </p:nvSpPr>
        <p:spPr>
          <a:xfrm>
            <a:off x="1226820" y="8709660"/>
            <a:ext cx="16373856" cy="78105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3175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History + last route: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every reassignment inserts a new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drives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row;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Courier New"/>
                <a:ea typeface="Courier New"/>
                <a:cs typeface="Courier New"/>
                <a:sym typeface="Courier New"/>
              </a:rPr>
              <a:t>driver.last_route_id </a:t>
            </a:r>
            <a:r>
              <a:rPr b="0" i="0" lang="en-US" sz="1950" u="none" cap="none" strike="noStrike">
                <a:solidFill>
                  <a:srgbClr val="0F172A"/>
                </a:solidFill>
                <a:highlight>
                  <a:srgbClr val="E6F4F4"/>
                </a:highlight>
                <a:latin typeface="Arial"/>
                <a:ea typeface="Arial"/>
                <a:cs typeface="Arial"/>
                <a:sym typeface="Arial"/>
              </a:rPr>
              <a:t>is a convenience FK updated on each change (otherwise derivable as the most recent row).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27"/>
          <p:cNvSpPr/>
          <p:nvPr/>
        </p:nvSpPr>
        <p:spPr>
          <a:xfrm>
            <a:off x="914400" y="838200"/>
            <a:ext cx="1836051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25 · RECAP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2" name="Google Shape;712;p27"/>
          <p:cNvSpPr/>
          <p:nvPr/>
        </p:nvSpPr>
        <p:spPr>
          <a:xfrm>
            <a:off x="2735937" y="958215"/>
            <a:ext cx="14637664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3" name="Google Shape;713;p27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What to walk out remembering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4" name="Google Shape;714;p27"/>
          <p:cNvSpPr/>
          <p:nvPr/>
        </p:nvSpPr>
        <p:spPr>
          <a:xfrm>
            <a:off x="914400" y="360807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5" name="Google Shape;715;p27"/>
          <p:cNvSpPr/>
          <p:nvPr/>
        </p:nvSpPr>
        <p:spPr>
          <a:xfrm>
            <a:off x="914400" y="3009900"/>
            <a:ext cx="647700" cy="4267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700"/>
              <a:buFont typeface="Courier New"/>
              <a:buNone/>
            </a:pPr>
            <a:r>
              <a:rPr b="1" i="0" lang="en-US" sz="27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01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6" name="Google Shape;716;p27"/>
          <p:cNvSpPr/>
          <p:nvPr/>
        </p:nvSpPr>
        <p:spPr>
          <a:xfrm>
            <a:off x="1752600" y="2971800"/>
            <a:ext cx="12906578" cy="45910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104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Every entity → one table. Weak entities carry the owner's FK inside their PK.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7" name="Google Shape;717;p27"/>
          <p:cNvSpPr/>
          <p:nvPr/>
        </p:nvSpPr>
        <p:spPr>
          <a:xfrm>
            <a:off x="914400" y="465201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27"/>
          <p:cNvSpPr/>
          <p:nvPr/>
        </p:nvSpPr>
        <p:spPr>
          <a:xfrm>
            <a:off x="914400" y="4053840"/>
            <a:ext cx="647700" cy="4267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700"/>
              <a:buFont typeface="Courier New"/>
              <a:buNone/>
            </a:pPr>
            <a:r>
              <a:rPr b="1" i="0" lang="en-US" sz="27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02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9" name="Google Shape;719;p27"/>
          <p:cNvSpPr/>
          <p:nvPr/>
        </p:nvSpPr>
        <p:spPr>
          <a:xfrm>
            <a:off x="1752600" y="4015740"/>
            <a:ext cx="9303889" cy="45910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104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1:1 — merge, FK on the mandatory side, or a link table.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0" name="Google Shape;720;p27"/>
          <p:cNvSpPr/>
          <p:nvPr/>
        </p:nvSpPr>
        <p:spPr>
          <a:xfrm>
            <a:off x="914400" y="569595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1" name="Google Shape;721;p27"/>
          <p:cNvSpPr/>
          <p:nvPr/>
        </p:nvSpPr>
        <p:spPr>
          <a:xfrm>
            <a:off x="914400" y="5097780"/>
            <a:ext cx="647700" cy="4267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700"/>
              <a:buFont typeface="Courier New"/>
              <a:buNone/>
            </a:pPr>
            <a:r>
              <a:rPr b="1" i="0" lang="en-US" sz="27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03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2" name="Google Shape;722;p27"/>
          <p:cNvSpPr/>
          <p:nvPr/>
        </p:nvSpPr>
        <p:spPr>
          <a:xfrm>
            <a:off x="1752600" y="5059680"/>
            <a:ext cx="5450003" cy="45910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104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1:N — FK on the N side. Always.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3" name="Google Shape;723;p27"/>
          <p:cNvSpPr/>
          <p:nvPr/>
        </p:nvSpPr>
        <p:spPr>
          <a:xfrm>
            <a:off x="914400" y="6739890"/>
            <a:ext cx="16459200" cy="9525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4" name="Google Shape;724;p27"/>
          <p:cNvSpPr/>
          <p:nvPr/>
        </p:nvSpPr>
        <p:spPr>
          <a:xfrm>
            <a:off x="914400" y="6141720"/>
            <a:ext cx="647700" cy="4267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700"/>
              <a:buFont typeface="Courier New"/>
              <a:buNone/>
            </a:pPr>
            <a:r>
              <a:rPr b="1" i="0" lang="en-US" sz="27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04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5" name="Google Shape;725;p27"/>
          <p:cNvSpPr/>
          <p:nvPr/>
        </p:nvSpPr>
        <p:spPr>
          <a:xfrm>
            <a:off x="1752600" y="6103620"/>
            <a:ext cx="11856339" cy="45910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104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M:N and N-ary — a new junction table whose PK is the combined FKs.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6" name="Google Shape;726;p27"/>
          <p:cNvSpPr/>
          <p:nvPr/>
        </p:nvSpPr>
        <p:spPr>
          <a:xfrm>
            <a:off x="914400" y="7185660"/>
            <a:ext cx="647700" cy="4267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2700"/>
              <a:buFont typeface="Courier New"/>
              <a:buNone/>
            </a:pPr>
            <a:r>
              <a:rPr b="1" i="0" lang="en-US" sz="270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05</a:t>
            </a:r>
            <a:endParaRPr b="0" i="0" sz="27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27" name="Google Shape;727;p27"/>
          <p:cNvSpPr/>
          <p:nvPr/>
        </p:nvSpPr>
        <p:spPr>
          <a:xfrm>
            <a:off x="1752600" y="7147560"/>
            <a:ext cx="12788181" cy="45910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5104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550"/>
              <a:buFont typeface="Arial"/>
              <a:buNone/>
            </a:pPr>
            <a:r>
              <a:rPr b="1" i="0" lang="en-US" sz="25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Multi-valued attributes get their own table — never a comma-separated cell.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732" name="Shape 7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Google Shape;733;p28"/>
          <p:cNvSpPr/>
          <p:nvPr/>
        </p:nvSpPr>
        <p:spPr>
          <a:xfrm>
            <a:off x="914400" y="838200"/>
            <a:ext cx="3691747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8102E"/>
                </a:solidFill>
                <a:latin typeface="Arial"/>
                <a:ea typeface="Arial"/>
                <a:cs typeface="Arial"/>
                <a:sym typeface="Arial"/>
              </a:rPr>
              <a:t>26 · CHECK YOURSELF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4" name="Google Shape;734;p28"/>
          <p:cNvSpPr/>
          <p:nvPr/>
        </p:nvSpPr>
        <p:spPr>
          <a:xfrm>
            <a:off x="4422934" y="958215"/>
            <a:ext cx="12950666" cy="1905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5" name="Google Shape;735;p28"/>
          <p:cNvSpPr/>
          <p:nvPr/>
        </p:nvSpPr>
        <p:spPr>
          <a:xfrm>
            <a:off x="914400" y="1478280"/>
            <a:ext cx="18105120" cy="7505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77917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5100"/>
              <a:buFont typeface="Arial"/>
              <a:buNone/>
            </a:pPr>
            <a:r>
              <a:rPr b="1" i="0" lang="en-US" sz="510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Three questions · answers in notes</a:t>
            </a:r>
            <a:endParaRPr b="0" i="0" sz="5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6" name="Google Shape;736;p28"/>
          <p:cNvSpPr/>
          <p:nvPr/>
        </p:nvSpPr>
        <p:spPr>
          <a:xfrm>
            <a:off x="914400" y="2686050"/>
            <a:ext cx="5308521" cy="4204335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37" name="Google Shape;737;p28"/>
          <p:cNvSpPr/>
          <p:nvPr/>
        </p:nvSpPr>
        <p:spPr>
          <a:xfrm>
            <a:off x="1264920" y="3036570"/>
            <a:ext cx="5068229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Q1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8" name="Google Shape;738;p28"/>
          <p:cNvSpPr/>
          <p:nvPr/>
        </p:nvSpPr>
        <p:spPr>
          <a:xfrm>
            <a:off x="1264920" y="3451860"/>
            <a:ext cx="4745705" cy="116014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3372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 student enrols in many courses; a course has many students. How many tables?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9" name="Google Shape;739;p28"/>
          <p:cNvSpPr/>
          <p:nvPr/>
        </p:nvSpPr>
        <p:spPr>
          <a:xfrm>
            <a:off x="1264920" y="4783455"/>
            <a:ext cx="4745705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A.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0" name="Google Shape;740;p28"/>
          <p:cNvSpPr/>
          <p:nvPr/>
        </p:nvSpPr>
        <p:spPr>
          <a:xfrm>
            <a:off x="1264920" y="5286375"/>
            <a:ext cx="4745705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B.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1" name="Google Shape;741;p28"/>
          <p:cNvSpPr/>
          <p:nvPr/>
        </p:nvSpPr>
        <p:spPr>
          <a:xfrm>
            <a:off x="1264920" y="5789295"/>
            <a:ext cx="4745705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C.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2" name="Google Shape;742;p28"/>
          <p:cNvSpPr/>
          <p:nvPr/>
        </p:nvSpPr>
        <p:spPr>
          <a:xfrm>
            <a:off x="6489621" y="2686050"/>
            <a:ext cx="5308640" cy="4204335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3" name="Google Shape;743;p28"/>
          <p:cNvSpPr/>
          <p:nvPr/>
        </p:nvSpPr>
        <p:spPr>
          <a:xfrm>
            <a:off x="6840141" y="3036570"/>
            <a:ext cx="5068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Q2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4" name="Google Shape;744;p28"/>
          <p:cNvSpPr/>
          <p:nvPr/>
        </p:nvSpPr>
        <p:spPr>
          <a:xfrm>
            <a:off x="6840141" y="3451860"/>
            <a:ext cx="4745828" cy="79629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3372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One instructor teaches many courses. Where does the FK go?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5" name="Google Shape;745;p28"/>
          <p:cNvSpPr/>
          <p:nvPr/>
        </p:nvSpPr>
        <p:spPr>
          <a:xfrm>
            <a:off x="6840141" y="4419600"/>
            <a:ext cx="4745828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A.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instructor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6" name="Google Shape;746;p28"/>
          <p:cNvSpPr/>
          <p:nvPr/>
        </p:nvSpPr>
        <p:spPr>
          <a:xfrm>
            <a:off x="6840141" y="4922520"/>
            <a:ext cx="4745828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B.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a new junction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7" name="Google Shape;747;p28"/>
          <p:cNvSpPr/>
          <p:nvPr/>
        </p:nvSpPr>
        <p:spPr>
          <a:xfrm>
            <a:off x="6840141" y="5425440"/>
            <a:ext cx="4745828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C.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course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48" name="Google Shape;748;p28"/>
          <p:cNvSpPr/>
          <p:nvPr/>
        </p:nvSpPr>
        <p:spPr>
          <a:xfrm>
            <a:off x="12064960" y="2686050"/>
            <a:ext cx="5308640" cy="4204335"/>
          </a:xfrm>
          <a:prstGeom prst="rect">
            <a:avLst/>
          </a:prstGeom>
          <a:noFill/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9" name="Google Shape;749;p28"/>
          <p:cNvSpPr/>
          <p:nvPr/>
        </p:nvSpPr>
        <p:spPr>
          <a:xfrm>
            <a:off x="12415481" y="3036570"/>
            <a:ext cx="50683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C8102E"/>
              </a:buClr>
              <a:buSzPts val="1950"/>
              <a:buFont typeface="Courier New"/>
              <a:buNone/>
            </a:pPr>
            <a:r>
              <a:rPr b="1" i="0" lang="en-US" sz="1950" u="none" cap="none" strike="noStrike">
                <a:solidFill>
                  <a:srgbClr val="C8102E"/>
                </a:solidFill>
                <a:latin typeface="Courier New"/>
                <a:ea typeface="Courier New"/>
                <a:cs typeface="Courier New"/>
                <a:sym typeface="Courier New"/>
              </a:rPr>
              <a:t>Q3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0" name="Google Shape;750;p28"/>
          <p:cNvSpPr/>
          <p:nvPr/>
        </p:nvSpPr>
        <p:spPr>
          <a:xfrm>
            <a:off x="12415481" y="3451860"/>
            <a:ext cx="4745828" cy="78867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3372"/>
              </a:lnSpc>
              <a:spcBef>
                <a:spcPts val="0"/>
              </a:spcBef>
              <a:spcAft>
                <a:spcPts val="0"/>
              </a:spcAft>
              <a:buClr>
                <a:srgbClr val="0F172A"/>
              </a:buClr>
              <a:buSzPts val="2250"/>
              <a:buFont typeface="Arial"/>
              <a:buNone/>
            </a:pPr>
            <a:r>
              <a:rPr b="1" i="0" lang="en-US" sz="22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1:1 relationship, both sides mandatory. Best mapping?</a:t>
            </a:r>
            <a:endParaRPr b="0" i="0" sz="2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1" name="Google Shape;751;p28"/>
          <p:cNvSpPr/>
          <p:nvPr/>
        </p:nvSpPr>
        <p:spPr>
          <a:xfrm>
            <a:off x="12415481" y="4411980"/>
            <a:ext cx="4745828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A.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Link table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2" name="Google Shape;752;p28"/>
          <p:cNvSpPr/>
          <p:nvPr/>
        </p:nvSpPr>
        <p:spPr>
          <a:xfrm>
            <a:off x="12415481" y="4914900"/>
            <a:ext cx="4745828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B.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Merge the two tables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53" name="Google Shape;753;p28"/>
          <p:cNvSpPr/>
          <p:nvPr/>
        </p:nvSpPr>
        <p:spPr>
          <a:xfrm>
            <a:off x="12415481" y="5417820"/>
            <a:ext cx="4745828" cy="54102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75676"/>
              </a:lnSpc>
              <a:spcBef>
                <a:spcPts val="0"/>
              </a:spcBef>
              <a:spcAft>
                <a:spcPts val="0"/>
              </a:spcAft>
              <a:buClr>
                <a:srgbClr val="64748B"/>
              </a:buClr>
              <a:buSzPts val="1950"/>
              <a:buFont typeface="Courier New"/>
              <a:buNone/>
            </a:pPr>
            <a:r>
              <a:rPr b="0" i="0" lang="en-US" sz="1950" u="none" cap="none" strike="noStrike">
                <a:solidFill>
                  <a:srgbClr val="64748B"/>
                </a:solidFill>
                <a:latin typeface="Courier New"/>
                <a:ea typeface="Courier New"/>
                <a:cs typeface="Courier New"/>
                <a:sym typeface="Courier New"/>
              </a:rPr>
              <a:t>C. </a:t>
            </a:r>
            <a:r>
              <a:rPr b="0" i="0" lang="en-US" sz="1950" u="none" cap="none" strike="noStrike">
                <a:solidFill>
                  <a:srgbClr val="0F172A"/>
                </a:solidFill>
                <a:latin typeface="Arial"/>
                <a:ea typeface="Arial"/>
                <a:cs typeface="Arial"/>
                <a:sym typeface="Arial"/>
              </a:rPr>
              <a:t>FK on either side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72A"/>
        </a:solidFill>
      </p:bgPr>
    </p:bg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p29"/>
          <p:cNvSpPr/>
          <p:nvPr/>
        </p:nvSpPr>
        <p:spPr>
          <a:xfrm>
            <a:off x="914400" y="838200"/>
            <a:ext cx="3367207" cy="2971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87171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F87171"/>
                </a:solidFill>
                <a:latin typeface="Arial"/>
                <a:ea typeface="Arial"/>
                <a:cs typeface="Arial"/>
                <a:sym typeface="Arial"/>
              </a:rPr>
              <a:t>UP NEXT · LESSON 4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0" name="Google Shape;760;p29"/>
          <p:cNvSpPr/>
          <p:nvPr/>
        </p:nvSpPr>
        <p:spPr>
          <a:xfrm>
            <a:off x="4127897" y="958215"/>
            <a:ext cx="13245703" cy="1905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61" name="Google Shape;761;p29"/>
          <p:cNvSpPr/>
          <p:nvPr/>
        </p:nvSpPr>
        <p:spPr>
          <a:xfrm>
            <a:off x="914400" y="3186113"/>
            <a:ext cx="1810512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950"/>
              <a:buFont typeface="Arial"/>
              <a:buNone/>
            </a:pPr>
            <a:r>
              <a:rPr b="1" i="0" lang="en-US" sz="195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LESSON 4 · SQL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2" name="Google Shape;762;p29"/>
          <p:cNvSpPr/>
          <p:nvPr/>
        </p:nvSpPr>
        <p:spPr>
          <a:xfrm>
            <a:off x="914400" y="3696653"/>
            <a:ext cx="16952976" cy="227838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69668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0"/>
              <a:buFont typeface="Arial"/>
              <a:buNone/>
            </a:pPr>
            <a:r>
              <a:rPr b="1" i="0" lang="en-US" sz="9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We'll write </a:t>
            </a:r>
            <a:r>
              <a:rPr b="1" i="0" lang="en-US" sz="9000" u="none" cap="none" strike="noStrike">
                <a:solidFill>
                  <a:srgbClr val="F87171"/>
                </a:solidFill>
                <a:latin typeface="Arial"/>
                <a:ea typeface="Arial"/>
                <a:cs typeface="Arial"/>
                <a:sym typeface="Arial"/>
              </a:rPr>
              <a:t>SQL </a:t>
            </a:r>
            <a:r>
              <a:rPr b="1" i="0" lang="en-US" sz="90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on these tables.</a:t>
            </a:r>
            <a:endParaRPr b="0" i="0" sz="9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3" name="Google Shape;763;p29"/>
          <p:cNvSpPr/>
          <p:nvPr/>
        </p:nvSpPr>
        <p:spPr>
          <a:xfrm>
            <a:off x="914400" y="6279832"/>
            <a:ext cx="11772900" cy="912495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lnSpc>
                <a:spcPct val="119531"/>
              </a:lnSpc>
              <a:spcBef>
                <a:spcPts val="0"/>
              </a:spcBef>
              <a:spcAft>
                <a:spcPts val="0"/>
              </a:spcAft>
              <a:buClr>
                <a:srgbClr val="CBD5E1"/>
              </a:buClr>
              <a:buSzPts val="2550"/>
              <a:buFont typeface="Arial"/>
              <a:buNone/>
            </a:pPr>
            <a:r>
              <a:rPr b="0" i="0" lang="en-US" sz="255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Same ideas on the COMPANY database — </a:t>
            </a:r>
            <a:r>
              <a:rPr b="0" i="0" lang="en-US" sz="2550" u="none" cap="none" strike="noStrike">
                <a:solidFill>
                  <a:srgbClr val="5EEAD4"/>
                </a:solidFill>
                <a:latin typeface="Courier New"/>
                <a:ea typeface="Courier New"/>
                <a:cs typeface="Courier New"/>
                <a:sym typeface="Courier New"/>
              </a:rPr>
              <a:t>CREATE TABLE</a:t>
            </a:r>
            <a:r>
              <a:rPr b="0" i="0" lang="en-US" sz="255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, every constraint, </a:t>
            </a:r>
            <a:r>
              <a:rPr b="0" i="0" lang="en-US" sz="2550" u="none" cap="none" strike="noStrike">
                <a:solidFill>
                  <a:srgbClr val="5EEAD4"/>
                </a:solidFill>
                <a:latin typeface="Courier New"/>
                <a:ea typeface="Courier New"/>
                <a:cs typeface="Courier New"/>
                <a:sym typeface="Courier New"/>
              </a:rPr>
              <a:t>INSERT</a:t>
            </a:r>
            <a:r>
              <a:rPr b="0" i="0" lang="en-US" sz="255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b="0" i="0" lang="en-US" sz="2550" u="none" cap="none" strike="noStrike">
                <a:solidFill>
                  <a:srgbClr val="5EEAD4"/>
                </a:solidFill>
                <a:latin typeface="Courier New"/>
                <a:ea typeface="Courier New"/>
                <a:cs typeface="Courier New"/>
                <a:sym typeface="Courier New"/>
              </a:rPr>
              <a:t>SELECT </a:t>
            </a:r>
            <a:r>
              <a:rPr b="0" i="0" lang="en-US" sz="2550" u="none" cap="none" strike="noStrike">
                <a:solidFill>
                  <a:srgbClr val="CBD5E1"/>
                </a:solidFill>
                <a:latin typeface="Arial"/>
                <a:ea typeface="Arial"/>
                <a:cs typeface="Arial"/>
                <a:sym typeface="Arial"/>
              </a:rPr>
              <a:t>, joins and the rest, with notes for Oracle, SQL Server and PostgreSQL.</a:t>
            </a:r>
            <a:endParaRPr b="0" i="0" sz="25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4" name="Google Shape;764;p29"/>
          <p:cNvSpPr/>
          <p:nvPr/>
        </p:nvSpPr>
        <p:spPr>
          <a:xfrm>
            <a:off x="914400" y="9243060"/>
            <a:ext cx="3528036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ITI · Database Fundamentals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5" name="Google Shape;765;p29"/>
          <p:cNvSpPr/>
          <p:nvPr/>
        </p:nvSpPr>
        <p:spPr>
          <a:xfrm>
            <a:off x="14634092" y="9243060"/>
            <a:ext cx="301346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25400" lIns="25400" spcFirstLastPara="1" rIns="25400" wrap="square" tIns="25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950"/>
              <a:buFont typeface="Arial"/>
              <a:buNone/>
            </a:pPr>
            <a:r>
              <a:rPr b="0" i="0" lang="en-US" sz="1950" u="none" cap="none" strike="noStrike">
                <a:solidFill>
                  <a:srgbClr val="94A3B8"/>
                </a:solidFill>
                <a:latin typeface="Arial"/>
                <a:ea typeface="Arial"/>
                <a:cs typeface="Arial"/>
                <a:sym typeface="Arial"/>
              </a:rPr>
              <a:t>Thank you — questions?</a:t>
            </a:r>
            <a:endParaRPr b="0" i="0" sz="19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