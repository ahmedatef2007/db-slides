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Welcome. This is Lesson 3 of the Database Fundamentals course. Today we turn ERDs into real tables using a 7-step algorithm. By the end, you'll never again stare at an ERD wondering where the foreign key goes.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concrete outcomes. By the end of this lesson students should be able to apply the 7 rules on any ERD, place every foreign key correctly, and justify where it goes.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Here is the whole lesson on one slide. Seven rules, then one worked case study, then practice. Each rule gets exactly one slide in the same format: a tiny ERD on the left, the resulting tables on the right, and the FK highlighted.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Before we map anything, agree on vocabulary. A relation is a table. A tuple is a row. An attribute is a column. A domain is the set of allowed values for that column. These are the four nouns we use for the next 20 minutes.</a:t>
            </a:r>
            <a:endParaRPr/>
          </a:p>
        </p:txBody>
      </p:sp>
      <p:sp>
        <p:nvSpPr>
          <p:cNvPr id="85" name="Google Shape;8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five constraints are the tools we spend on every mapping rule. PK uniquely identifies a row. FK points from one table to another. UK is also unique but not necessarily the PK. NOT NULL means a value is required. CHECK enforces a condition.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pattern every one of the next seven slides follows. Left: a tiny ERD fragment. Right: the tables it becomes. The arrow is a foreign-key reference. If you can read this one slide, you can read all seven.</a:t>
            </a:r>
            <a:endParaRPr/>
          </a:p>
        </p:txBody>
      </p:sp>
      <p:sp>
        <p:nvSpPr>
          <p:cNvPr id="175" name="Google Shape;17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simplest rule. Every regular (strong) entity type becomes its own table. Pick one key attribute as the primary key. Nothing to do with other entities yet.</a:t>
            </a:r>
            <a:endParaRPr/>
          </a:p>
        </p:txBody>
      </p:sp>
      <p:sp>
        <p:nvSpPr>
          <p:cNvPr id="198" name="Google Shape;1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 weak entity has no key of its own — it depends on an owner. Create a table for it, add the owner's PK as a FK, and the composite PK is (owner FK + the weak entity's partial key). Here the partial key is (weekday, start_time): an instructor can hold two office hours on the same day, so weekday alone would not be unique. Both attributes are drawn with a dashed underline. Example from Lesson 2: a dependent needs their employee's Ssn plus their own name to be unique.</a:t>
            </a:r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This is the slide the old deck got wrong. Three cases. Both sides mandatory: merge into one table — no row of either side exists without the other. One mandatory: put the FK on the mandatory side pointing to the optional side — the mandatory row then always has a value, and optional rows have none to orphan. Both optional: a separate link table so neither side carries NULLs.</a:t>
            </a:r>
          </a:p>
          <a:p/>
          <a:p>
            <a:r>
              <a:t>Reviewer note: case C now shows a primary key for the link table. With a 1:1 relationship either FK can be the PK; the other gets UNIQUE. Another valid option for case C is an FK on either side that allows NULLs (plus UNIQUE).</a:t>
            </a:r>
          </a:p>
        </p:txBody>
      </p:sp>
      <p:sp>
        <p:nvSpPr>
          <p:cNvPr id="260" name="Google Shape;2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instructor teaches many courses, but a course has exactly one lead instructor. The FK sits on the many side — course.instructor_id. Any attributes of the relationship itself go on the many-side table too.</a:t>
            </a:r>
            <a:endParaRPr/>
          </a:p>
        </p:txBody>
      </p:sp>
      <p:sp>
        <p:nvSpPr>
          <p:cNvPr id="308" name="Google Shape;30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enrol in many courses, and a course has many students. You cannot stuff that into either entity's table without duplicating rows. Make a third table — the junction — with both FKs. Relationship attributes like grade go here.</a:t>
            </a:r>
            <a:endParaRPr/>
          </a:p>
        </p:txBody>
      </p:sp>
      <p:sp>
        <p:nvSpPr>
          <p:cNvPr id="333" name="Google Shape;33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have several phone numbers. Never cram them into one column separated by commas — you cannot query that. Make a tiny table with two columns: the owner's FK, and the value. Together they form the PK.</a:t>
            </a:r>
            <a:endParaRPr/>
          </a:p>
        </p:txBody>
      </p:sp>
      <p:sp>
        <p:nvSpPr>
          <p:cNvPr id="362" name="Google Shape;36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ternary (or higher-arity) relationship cannot be broken into pairs of binary relationships without losing meaning. Example: a supplier delivers a part to a project — the three together are the fact. Make one junction table with three FKs; the PK is all three together.</a:t>
            </a:r>
            <a:endParaRPr/>
          </a:p>
        </p:txBody>
      </p:sp>
      <p:sp>
        <p:nvSpPr>
          <p:cNvPr id="387" name="Google Shape;38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slide, all seven rules. Print this if you print one slide from the lesson. It is the lookup table you reach for during any mapping exercise.</a:t>
            </a:r>
            <a:endParaRPr/>
          </a:p>
        </p:txBody>
      </p:sp>
      <p:sp>
        <p:nvSpPr>
          <p:cNvPr id="407" name="Google Shape;40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6" name="Google Shape;45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three mistakes I see on nearly every first draft. For each: show the wrong version, show the right version, and say in one line why the wrong version breaks.</a:t>
            </a:r>
            <a:endParaRPr/>
          </a:p>
        </p:txBody>
      </p:sp>
      <p:sp>
        <p:nvSpPr>
          <p:cNvPr id="457" name="Google Shape;457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Read the narrative aloud. Then ask: how many entities do you see? How many relationships? Which are 1:1, 1:N, M:N? Students should list them before you move to the ERD slide.</a:t>
            </a:r>
            <a:endParaRPr/>
          </a:p>
        </p:txBody>
      </p:sp>
      <p:sp>
        <p:nvSpPr>
          <p:cNvPr id="489" name="Google Shape;48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three relationships. Customer–Account 1:1, both sides total (double lines). Customer–Transaction 1:N and Branch–Transaction 1:N, transaction side total — every transaction has a customer and a branch. Branch has two candidate keys (name, address). Customer phone is multi-valued. Ask: is last_tx_date derivable from TRANSACTION? Yes — we store it for speed; mention that.</a:t>
            </a:r>
            <a:endParaRPr/>
          </a:p>
        </p:txBody>
      </p:sp>
      <p:sp>
        <p:nvSpPr>
          <p:cNvPr id="508" name="Google Shape;50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Branch and customer: step 1 (branch PK = name, address UNIQUE). Account: step 3 — 1:1 both total, so we may merge; we keep it split with customer_id UNIQUE + NOT NULL in account. Customer_phone: step 6. Transaction: step 1 plus two step-4 FKs (customer_id, branch_name), both NOT NULL because of total participation. Every FK is teal.</a:t>
            </a:r>
            <a:endParaRPr/>
          </a:p>
        </p:txBody>
      </p:sp>
      <p:sp>
        <p:nvSpPr>
          <p:cNvPr id="523" name="Google Shape;52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Second worked case study. Three entities — model, part, factory. Ask the class whether 'parts and model in the same factory' needs a ternary. It does not: each model has exactly one factory (model -&gt; factory), so the factory of every (model, part) pair is already determined by the model. Contrast with the supplier-part-project example in step 7, where no such dependency exists and a ternary is required.</a:t>
            </a:r>
          </a:p>
        </p:txBody>
      </p:sp>
      <p:sp>
        <p:nvSpPr>
          <p:cNvPr id="559" name="Google Shape;55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9" name="Google Shape;57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MODEL uses PART is M:N (a model is made of many parts; a part may be used in many models); MODEL is total. MODEL produced_at FACTORY is N:1 and total on MODEL (each model is produced at exactly one factory). The 'same factory' rule is satisfied automatically: a part used in a model is made in that model's factory. A ternary would only be needed if the factory could differ per (model, part) pair, as in the supplier-part-project example.</a:t>
            </a:r>
          </a:p>
        </p:txBody>
      </p:sp>
      <p:sp>
        <p:nvSpPr>
          <p:cNvPr id="580" name="Google Shape;58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Five tables: model, part, factory (step 1), part_image (step 6, multi-valued images), model_part (step 5, M:N). model gets factory_city as a NOT NULL FK (step 4: N:1, total on the model side). Factory computer system is composite, so only its parts (os, dbms, internet) become columns. Query for 'which factory makes part P': SELECT DISTINCT m.factory_city FROM model_part mp JOIN model m ON m.name = mp.model_name WHERE mp.part_id = 'P'.</a:t>
            </a:r>
          </a:p>
        </p:txBody>
      </p:sp>
      <p:sp>
        <p:nvSpPr>
          <p:cNvPr id="593" name="Google Shape;593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Third worked case study. Four entities — bus, route, town, driver. Highlight two patterns: options is multi-valued, and driver-to-route allocation is time-varying (we must keep the history of changes AND know each driver's last route).</a:t>
            </a:r>
            <a:endParaRPr/>
          </a:p>
        </p:txBody>
      </p:sp>
      <p:sp>
        <p:nvSpPr>
          <p:cNvPr id="629" name="Google Shape;62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four relationships. runs: bus N to route 1, bus side total. passes: route M:N town. drives: route M:N driver with start_date and end_date, keeps the allocation history. last route: route 1 to driver N, the current assignment. Route and driver have no natural key, so we propose route_id and driver_id.</a:t>
            </a:r>
            <a:endParaRPr/>
          </a:p>
        </p:txBody>
      </p:sp>
      <p:sp>
        <p:nvSpPr>
          <p:cNvPr id="650" name="Google Shape;65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2" name="Google Shape;66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Seven tables. bus: step 1 plus step-4 FK route_id (NOT NULL, total). route, town, driver: step 1. bus_option: step 6. route_town: step 5. drives: step 5 with relationship attributes, PK (driver_id, route_id, start_date). driver.last_route_id: step 4 FK from the last-route relationship.</a:t>
            </a:r>
          </a:p>
          <a:p/>
          <a:p>
            <a:r>
              <a:t>Column names: the ERD attributes start and end become start_point and end_point, because END is a reserved word in SQL. If a town can have several stations (the Lesson 2 narrative says 'station names'), station becomes a multi-valued attribute: town_station(town_name, station), step 6.</a:t>
            </a:r>
          </a:p>
        </p:txBody>
      </p:sp>
      <p:sp>
        <p:nvSpPr>
          <p:cNvPr id="663" name="Google Shape;66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8" name="Google Shape;70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 lines. If a student remembers nothing else, remember these.</a:t>
            </a:r>
            <a:endParaRPr/>
          </a:p>
        </p:txBody>
      </p:sp>
      <p:sp>
        <p:nvSpPr>
          <p:cNvPr id="709" name="Google Shape;70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Answers — Q1: B (M:N needs a junction, so a new table). Q2: C (FK on the N-side, so the course table). Q3: B (both mandatory means merge; or if you keep them split, FK goes on the mandatory side — not a link table).</a:t>
            </a:r>
            <a:endParaRPr/>
          </a:p>
        </p:txBody>
      </p:sp>
      <p:sp>
        <p:nvSpPr>
          <p:cNvPr id="731" name="Google Shape;731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6" name="Google Shape;75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Lesson 4 picks up these exact tables and writes SQL on them — CREATE TABLE with every constraint, INSERT, SELECT, JOIN. The examples switch to the COMPANY database; ask students to map its ERD from Lesson 2 with the same 7 steps.</a:t>
            </a:r>
            <a:endParaRPr/>
          </a:p>
        </p:txBody>
      </p:sp>
      <p:sp>
        <p:nvSpPr>
          <p:cNvPr id="757" name="Google Shape;757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219200" y="944880"/>
            <a:ext cx="781097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ITI · DATABASE FUNDAMENTALS · LESSON 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914400" y="3628668"/>
            <a:ext cx="16952976" cy="221432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48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8400"/>
              <a:buFont typeface="Arial"/>
              <a:buNone/>
            </a:pPr>
            <a:r>
              <a:rPr b="1" i="0" lang="en-US" sz="84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ERD Mapping </a:t>
            </a:r>
            <a:r>
              <a:rPr b="1" i="0" lang="en-US" sz="8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to Tables</a:t>
            </a:r>
            <a:endParaRPr b="0" i="0" sz="8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914400" y="6071592"/>
            <a:ext cx="1362075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7-step algorithm from entities and relationships to relations, keys, and foreign keys.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914400" y="873252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Lecturer: Rana Salah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14400" y="912876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rsalah@mcit.gov.eg · Room 3005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588078" y="879348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Based on original slides by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588078" y="915924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Shahinaz S. Azab · edited by Mona Saleh · Rana Salah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914400" y="838200"/>
            <a:ext cx="277509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02 · OBJECTIVES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589615" y="958215"/>
            <a:ext cx="1378398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You will be able to…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9144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9144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9144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61645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3030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3030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Read any ERD and name the 7 mapping rules that apply.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5151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5151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65151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17652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9037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9037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Decide where every foreign key goes — and why.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21158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21158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121158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173659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125044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25044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Map a full narrative — ERD → tables — end to end.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914400" y="838200"/>
            <a:ext cx="20814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03 · AGENDA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2959060" y="958215"/>
            <a:ext cx="1441454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7-step Mapping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91440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91440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1714500" y="2857500"/>
            <a:ext cx="2672548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Regular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942975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942975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0229850" y="2857500"/>
            <a:ext cx="298870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91440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1440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1714500" y="3787140"/>
            <a:ext cx="2270343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942975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942975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0229850" y="3787140"/>
            <a:ext cx="380018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91440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91440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1714500" y="4716780"/>
            <a:ext cx="2831021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942975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942975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07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10229850" y="4716780"/>
            <a:ext cx="322693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91440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1440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714500" y="5646420"/>
            <a:ext cx="289008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942975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942975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10229850" y="5646420"/>
            <a:ext cx="70485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Summary · pitfalls · 3 case studies · recap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04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relational model in one picture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914400" y="2571750"/>
            <a:ext cx="9267706" cy="39319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922020" y="2579370"/>
            <a:ext cx="925246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1188720" y="2712720"/>
            <a:ext cx="299604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← 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881825" y="2712720"/>
            <a:ext cx="110216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tuples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922020" y="3128010"/>
            <a:ext cx="9252466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922020" y="367284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1112520" y="3261360"/>
            <a:ext cx="31730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372570" y="367284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4563070" y="3261360"/>
            <a:ext cx="402096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8646319" y="367284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8836819" y="3261360"/>
            <a:ext cx="12233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922020" y="423672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1112520" y="379476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372570" y="423672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563070" y="379476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646319" y="423672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8836819" y="379476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922020" y="480060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1112520" y="435864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372570" y="480060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563070" y="435864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8646319" y="480060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8836819" y="435864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922020" y="536448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1112520" y="492252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372570" y="536448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563070" y="492252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Nour Adel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8646319" y="536448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8836819" y="492252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3.9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112520" y="5486400"/>
            <a:ext cx="31730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63070" y="5486400"/>
            <a:ext cx="402096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Youssef Tarek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8836819" y="5486400"/>
            <a:ext cx="12233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2.8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922020" y="5932170"/>
            <a:ext cx="9252466" cy="563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1188720" y="6084570"/>
            <a:ext cx="229863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column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440579" y="6084570"/>
            <a:ext cx="161392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← row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10753606" y="2571750"/>
            <a:ext cx="6619800" cy="11241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10753606" y="2571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1066026" y="2800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1066026" y="3139440"/>
            <a:ext cx="6644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50">
                <a:solidFill>
                  <a:srgbClr val="0F172A"/>
                </a:solidFill>
              </a:rPr>
              <a:t>A relation is a set of tuples/rows.</a:t>
            </a:r>
            <a:endParaRPr sz="2250">
              <a:solidFill>
                <a:srgbClr val="0F172A"/>
              </a:solidFill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0753606" y="3905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10753606" y="3905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11066026" y="4133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1066026" y="4472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row — one fact.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0753606" y="52387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10753606" y="5238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11066026" y="5467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1066026" y="58064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column — one property.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753606" y="6572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0753606" y="6572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11066026" y="6800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DOMAIN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11066026" y="7139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set of values that column may hold.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05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Keys &amp; constraints you will use today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91440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120777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20777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Primary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20777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Unique, not null — identifies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4251960" y="2686050"/>
            <a:ext cx="3108960" cy="202311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454533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54533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Foreign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4533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Points to the PK of another table.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758952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788289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788289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88289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 values, but not the chosen PK.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10927081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1122045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122045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NOT NULL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1122045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Value is required for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426464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1455801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CHK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1455801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CHECK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455801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boolean rule the row must satisfy.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914400" y="5318760"/>
            <a:ext cx="16459200" cy="8610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914400" y="5318760"/>
            <a:ext cx="45720" cy="8610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1264920" y="5585460"/>
            <a:ext cx="162976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22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is coloured teal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every </a:t>
            </a:r>
            <a:r>
              <a:rPr b="1" i="0" lang="en-US" sz="22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PK is coloured red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in the diagrams and in the tables.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"/>
          <p:cNvSpPr/>
          <p:nvPr/>
        </p:nvSpPr>
        <p:spPr>
          <a:xfrm>
            <a:off x="914400" y="838200"/>
            <a:ext cx="327487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06 · MENTAL MODEL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4043958" y="958215"/>
            <a:ext cx="1332964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to read every mapping slide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914400" y="268605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 FRAGMENT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914400" y="3158490"/>
            <a:ext cx="7505700" cy="420624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8387" y="3463300"/>
            <a:ext cx="4697723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8801100" y="4632960"/>
            <a:ext cx="762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9867900" y="355092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 (WITH FK)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9867900" y="4023360"/>
            <a:ext cx="7505700" cy="1127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9875520" y="403098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10066020" y="414528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875520" y="5135880"/>
            <a:ext cx="74904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10066020" y="467487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3346311" y="5135880"/>
            <a:ext cx="624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9867900" y="5379720"/>
            <a:ext cx="7505700" cy="11201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9875520" y="538734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10066020" y="550164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entity_b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10066020" y="603123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b_id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a_id (FK → entity_a)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/>
          <p:nvPr/>
        </p:nvSpPr>
        <p:spPr>
          <a:xfrm>
            <a:off x="914400" y="861060"/>
            <a:ext cx="55169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1 OF 7 · REGULAR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082189" y="981075"/>
            <a:ext cx="1045321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01/07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strong entity becomes a table.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4400" y="2343150"/>
            <a:ext cx="7991475" cy="46177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6" name="Google Shape;20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9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382125" y="2792730"/>
            <a:ext cx="7991475" cy="2270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9389745" y="3387090"/>
            <a:ext cx="7976235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9389745" y="3931920"/>
            <a:ext cx="2389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9618345" y="3520440"/>
            <a:ext cx="2008703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11779448" y="3931920"/>
            <a:ext cx="196203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12008048" y="3520440"/>
            <a:ext cx="158103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3741480" y="3931920"/>
            <a:ext cx="271236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13970080" y="3520440"/>
            <a:ext cx="2336534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email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16453842" y="3931920"/>
            <a:ext cx="9121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6682442" y="3520440"/>
            <a:ext cx="531138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9618345" y="4053840"/>
            <a:ext cx="2008703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12008048" y="4053840"/>
            <a:ext cx="158103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13970080" y="4053840"/>
            <a:ext cx="233653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16682442" y="4053840"/>
            <a:ext cx="531138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9389745" y="4499610"/>
            <a:ext cx="7976235" cy="5562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9618345" y="4613910"/>
            <a:ext cx="2008703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2008048" y="4613910"/>
            <a:ext cx="15810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13970080" y="4613910"/>
            <a:ext cx="233653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16682442" y="4613910"/>
            <a:ext cx="53113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9382125" y="53301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9382125" y="53301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9694545" y="55587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table per entity, one attribute per column, choose any key attribute as the PK.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"/>
          <p:cNvSpPr/>
          <p:nvPr/>
        </p:nvSpPr>
        <p:spPr>
          <a:xfrm>
            <a:off x="914400" y="861060"/>
            <a:ext cx="490608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2 OF 7 · WEAK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5526881" y="981075"/>
            <a:ext cx="1100851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02/07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914400" y="1428750"/>
            <a:ext cx="16952976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 → table + FK; PK = owner FK + partial key.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914400" y="2971800"/>
            <a:ext cx="7991475" cy="56997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0"/>
          <p:cNvSpPr/>
          <p:nvPr/>
        </p:nvSpPr>
        <p:spPr>
          <a:xfrm>
            <a:off x="1303020" y="336042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3" name="Google Shape;24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77190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0"/>
          <p:cNvSpPr/>
          <p:nvPr/>
        </p:nvSpPr>
        <p:spPr>
          <a:xfrm>
            <a:off x="1303020" y="7505700"/>
            <a:ext cx="7430662" cy="815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rectangle = weak entity. double diamond = identifying relationship. dashed underline = partial key · double line = total participation.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9382125" y="297180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382125" y="342138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9389745" y="342900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9618345" y="356235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9618345" y="416814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9382125" y="4865370"/>
            <a:ext cx="7991475" cy="21412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9389745" y="487299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9618345" y="500634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office_hour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9618345" y="5612130"/>
            <a:ext cx="7758322" cy="12725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 → instructor)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weekday (PK), start_time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room</a:t>
            </a:r>
          </a:p>
        </p:txBody>
      </p:sp>
      <p:sp>
        <p:nvSpPr>
          <p:cNvPr id="254" name="Google Shape;254;p10"/>
          <p:cNvSpPr/>
          <p:nvPr/>
        </p:nvSpPr>
        <p:spPr>
          <a:xfrm>
            <a:off x="9382125" y="72732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9382125" y="72732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9694545" y="75018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= owner's PK (as FK) + the weak entity's partial key.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"/>
          <p:cNvSpPr/>
          <p:nvPr/>
        </p:nvSpPr>
        <p:spPr>
          <a:xfrm>
            <a:off x="914400" y="861060"/>
            <a:ext cx="557180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3 OF 7 · 1:1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6132076" y="981075"/>
            <a:ext cx="1040332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03/07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914400" y="1409700"/>
            <a:ext cx="16952976" cy="1169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1:1 Relation depends on participation — pick one of three.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914400" y="2807970"/>
            <a:ext cx="5308521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922020" y="2815590"/>
            <a:ext cx="5293281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1150620" y="296799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· Both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188720" y="3669030"/>
            <a:ext cx="49026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,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188720" y="4514850"/>
            <a:ext cx="4759881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1348740" y="4674870"/>
            <a:ext cx="4573036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employee_office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1348740" y="5071110"/>
            <a:ext cx="16596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2857500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1348740" y="5436870"/>
            <a:ext cx="22707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office_no, floor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1188720" y="6107430"/>
            <a:ext cx="4759881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1188720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1379220" y="6240780"/>
            <a:ext cx="455977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Merge into one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489621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649724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672584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· One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676394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department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not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manages 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6763941" y="4514850"/>
            <a:ext cx="4760000" cy="14401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692396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department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923961" y="5071110"/>
            <a:ext cx="18105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dept_id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8569881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6923961" y="5482590"/>
            <a:ext cx="3772555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manager_id (FK, NOT NULL)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676394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676394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695444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FK on the mandatory side.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12064960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1207258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1230118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 · Both optional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1233928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instructor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may mentor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both sides can exist alone.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12339281" y="4514850"/>
            <a:ext cx="4760000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1249930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mentorship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12499301" y="5071110"/>
            <a:ext cx="331927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5516820" y="5071110"/>
            <a:ext cx="2133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2499301" y="5436870"/>
            <a:ext cx="286664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(FK, UK)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1233928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1233928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1252978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Third link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914400" y="719709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914400" y="719709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1226820" y="738759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FK on the mandatory side (case B):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that row is required to have a partner — the FK can be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Putting it on the optional side would force NULLs for every unpaired row.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2"/>
          <p:cNvSpPr/>
          <p:nvPr/>
        </p:nvSpPr>
        <p:spPr>
          <a:xfrm>
            <a:off x="914400" y="861060"/>
            <a:ext cx="561358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4 OF 7 · 1:N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170057" y="981075"/>
            <a:ext cx="1036534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2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04/07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1:N — </a:t>
            </a: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put the FK on the N (many) side.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914400" y="2343150"/>
            <a:ext cx="7991475" cy="54406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2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6" name="Google Shape;31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2"/>
          <p:cNvSpPr/>
          <p:nvPr/>
        </p:nvSpPr>
        <p:spPr>
          <a:xfrm>
            <a:off x="1303020" y="6877050"/>
            <a:ext cx="7430662" cy="5562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line = total participation: every course has an instructor → FK is NOT NULL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2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 · the N side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credits, </a:t>
            </a:r>
            <a:r>
              <a:rPr b="1" i="0" lang="en-US" sz="1950" u="none" cap="none" strike="noStrike">
                <a:solidFill>
                  <a:srgbClr val="0E8A8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instructor_id (FK → instructor)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9382125" y="626364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/>
          <p:nvPr/>
        </p:nvSpPr>
        <p:spPr>
          <a:xfrm>
            <a:off x="9382125" y="626364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/>
          <p:nvPr/>
        </p:nvSpPr>
        <p:spPr>
          <a:xfrm>
            <a:off x="9694545" y="649224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FK on the N-side; add any simple relationship attributes there too.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3"/>
          <p:cNvSpPr/>
          <p:nvPr/>
        </p:nvSpPr>
        <p:spPr>
          <a:xfrm>
            <a:off x="914400" y="861060"/>
            <a:ext cx="56831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5 OF 7 · M:N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6233279" y="981075"/>
            <a:ext cx="1030212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05/07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M:N → a new junction table with both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914400" y="2242185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1" name="Google Shape;34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3"/>
          <p:cNvSpPr/>
          <p:nvPr/>
        </p:nvSpPr>
        <p:spPr>
          <a:xfrm>
            <a:off x="1303020" y="677608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grade and enrolled_at belong to the relationship, not to either entity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9382125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3"/>
          <p:cNvSpPr/>
          <p:nvPr/>
        </p:nvSpPr>
        <p:spPr>
          <a:xfrm>
            <a:off x="9389745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9580245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9580245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13454063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13461683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13652183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13652183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9382125" y="3941445"/>
            <a:ext cx="7991475" cy="2230755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9397365" y="395668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9625965" y="409003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enrolment · junction table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9625965" y="4695825"/>
            <a:ext cx="7742625" cy="134683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9324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course)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grade, enrolled_at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9382125" y="6381750"/>
            <a:ext cx="7991475" cy="76581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9382125" y="6381750"/>
            <a:ext cx="45720" cy="76581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9694545" y="6591300"/>
            <a:ext cx="7652099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of both FKs; relationship attributes live here.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4"/>
          <p:cNvSpPr/>
          <p:nvPr/>
        </p:nvSpPr>
        <p:spPr>
          <a:xfrm>
            <a:off x="914400" y="861060"/>
            <a:ext cx="68716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6 OF 7 · MULTI-VALUED ATTRIBUTES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7313772" y="981075"/>
            <a:ext cx="922162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4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06/07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extra table — FK + value.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4"/>
          <p:cNvSpPr/>
          <p:nvPr/>
        </p:nvSpPr>
        <p:spPr>
          <a:xfrm>
            <a:off x="914400" y="2343150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4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0" name="Google Shape;37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14"/>
          <p:cNvSpPr/>
          <p:nvPr/>
        </p:nvSpPr>
        <p:spPr>
          <a:xfrm>
            <a:off x="1303020" y="687705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ellipse = multi-valued 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4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4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student_phone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9382125" y="6263640"/>
            <a:ext cx="7991475" cy="842963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9382125" y="6263640"/>
            <a:ext cx="45720" cy="84296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4"/>
          <p:cNvSpPr/>
          <p:nvPr/>
        </p:nvSpPr>
        <p:spPr>
          <a:xfrm>
            <a:off x="9694545" y="6492240"/>
            <a:ext cx="7652099" cy="4238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row per value; composite PK of (FK, value).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5"/>
          <p:cNvSpPr/>
          <p:nvPr/>
        </p:nvSpPr>
        <p:spPr>
          <a:xfrm>
            <a:off x="914400" y="861060"/>
            <a:ext cx="608127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7 OF 7 · N-ARY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6595229" y="981075"/>
            <a:ext cx="994017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07/07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or more? One junction table, n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/>
          <p:nvPr/>
        </p:nvSpPr>
        <p:spPr>
          <a:xfrm>
            <a:off x="914400" y="2242185"/>
            <a:ext cx="7991475" cy="5238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5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TERNARY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5" name="Google Shape;3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5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ONE JUNCTION 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9382125" y="2691765"/>
            <a:ext cx="7991475" cy="272415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9397365" y="270700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"/>
          <p:cNvSpPr/>
          <p:nvPr/>
        </p:nvSpPr>
        <p:spPr>
          <a:xfrm>
            <a:off x="9625965" y="284035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supplies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9625965" y="3446145"/>
            <a:ext cx="7742625" cy="1840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371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supplier_id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project_id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quantity, delivered_on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9382125" y="5625465"/>
            <a:ext cx="7991475" cy="185547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9382125" y="5625465"/>
            <a:ext cx="45720" cy="185547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5"/>
          <p:cNvSpPr/>
          <p:nvPr/>
        </p:nvSpPr>
        <p:spPr>
          <a:xfrm>
            <a:off x="9694545" y="5835015"/>
            <a:ext cx="7652099" cy="14744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365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Not the same as three M:N tables.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Three binary junctions would let you say "supplier A supplies part P" and "project J uses part P" — without knowing supplier A actually delivered P to project J. The ternary row captures all three at once.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6"/>
          <p:cNvSpPr/>
          <p:nvPr/>
        </p:nvSpPr>
        <p:spPr>
          <a:xfrm>
            <a:off x="914400" y="838200"/>
            <a:ext cx="233622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14 · SUMMARY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6"/>
          <p:cNvSpPr/>
          <p:nvPr/>
        </p:nvSpPr>
        <p:spPr>
          <a:xfrm>
            <a:off x="3190637" y="958215"/>
            <a:ext cx="1418296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rule, where the FK goes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914400" y="2686050"/>
            <a:ext cx="16459200" cy="624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6"/>
          <p:cNvSpPr/>
          <p:nvPr/>
        </p:nvSpPr>
        <p:spPr>
          <a:xfrm>
            <a:off x="1123950" y="2857500"/>
            <a:ext cx="74295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#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6"/>
          <p:cNvSpPr/>
          <p:nvPr/>
        </p:nvSpPr>
        <p:spPr>
          <a:xfrm>
            <a:off x="2209800" y="2857500"/>
            <a:ext cx="35709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ERD construct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6"/>
          <p:cNvSpPr/>
          <p:nvPr/>
        </p:nvSpPr>
        <p:spPr>
          <a:xfrm>
            <a:off x="6083618" y="2857500"/>
            <a:ext cx="42911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to create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6"/>
          <p:cNvSpPr/>
          <p:nvPr/>
        </p:nvSpPr>
        <p:spPr>
          <a:xfrm>
            <a:off x="10656689" y="2857500"/>
            <a:ext cx="671515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the FK goes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914400" y="3909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6"/>
          <p:cNvSpPr/>
          <p:nvPr/>
        </p:nvSpPr>
        <p:spPr>
          <a:xfrm>
            <a:off x="1123950" y="3463290"/>
            <a:ext cx="742950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6"/>
          <p:cNvSpPr/>
          <p:nvPr/>
        </p:nvSpPr>
        <p:spPr>
          <a:xfrm>
            <a:off x="2209800" y="3463290"/>
            <a:ext cx="3570932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Strong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6"/>
          <p:cNvSpPr/>
          <p:nvPr/>
        </p:nvSpPr>
        <p:spPr>
          <a:xfrm>
            <a:off x="6083618" y="3463290"/>
            <a:ext cx="4291164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6"/>
          <p:cNvSpPr/>
          <p:nvPr/>
        </p:nvSpPr>
        <p:spPr>
          <a:xfrm>
            <a:off x="10656689" y="3463290"/>
            <a:ext cx="6715155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— none —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914400" y="39166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6"/>
          <p:cNvSpPr/>
          <p:nvPr/>
        </p:nvSpPr>
        <p:spPr>
          <a:xfrm>
            <a:off x="914400" y="45186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1123950" y="40690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6"/>
          <p:cNvSpPr/>
          <p:nvPr/>
        </p:nvSpPr>
        <p:spPr>
          <a:xfrm>
            <a:off x="2209800" y="40690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6"/>
          <p:cNvSpPr/>
          <p:nvPr/>
        </p:nvSpPr>
        <p:spPr>
          <a:xfrm>
            <a:off x="6083618" y="40690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6"/>
          <p:cNvSpPr/>
          <p:nvPr/>
        </p:nvSpPr>
        <p:spPr>
          <a:xfrm>
            <a:off x="10656689" y="40690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weak table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, part of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6"/>
          <p:cNvSpPr/>
          <p:nvPr/>
        </p:nvSpPr>
        <p:spPr>
          <a:xfrm>
            <a:off x="914400" y="51282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6"/>
          <p:cNvSpPr/>
          <p:nvPr/>
        </p:nvSpPr>
        <p:spPr>
          <a:xfrm>
            <a:off x="1123950" y="46786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6"/>
          <p:cNvSpPr/>
          <p:nvPr/>
        </p:nvSpPr>
        <p:spPr>
          <a:xfrm>
            <a:off x="2209800" y="46786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6083618" y="46786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· one FK · 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10656689" y="46786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mandatory side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(or in the link table)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914400" y="51358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914400" y="57378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1123950" y="52882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2209800" y="52882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6083618" y="52882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 new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10656689" y="52882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N (many)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914400" y="63474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6"/>
          <p:cNvSpPr/>
          <p:nvPr/>
        </p:nvSpPr>
        <p:spPr>
          <a:xfrm>
            <a:off x="1123950" y="58978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2209800" y="58978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6083618" y="58978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10656689" y="58978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Both FKs in the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914400" y="63550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914400" y="6957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6"/>
          <p:cNvSpPr/>
          <p:nvPr/>
        </p:nvSpPr>
        <p:spPr>
          <a:xfrm>
            <a:off x="1123950" y="65074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2209800" y="65074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/>
          <p:nvPr/>
        </p:nvSpPr>
        <p:spPr>
          <a:xfrm>
            <a:off x="6083618" y="65074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small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10656689" y="65074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+ value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1123950" y="7117080"/>
            <a:ext cx="742950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7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2209800" y="7117080"/>
            <a:ext cx="3570932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(n ≥ 3)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/>
          <p:nvPr/>
        </p:nvSpPr>
        <p:spPr>
          <a:xfrm>
            <a:off x="6083618" y="7117080"/>
            <a:ext cx="429116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10656689" y="7117080"/>
            <a:ext cx="6715155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All n FKs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7"/>
          <p:cNvSpPr/>
          <p:nvPr/>
        </p:nvSpPr>
        <p:spPr>
          <a:xfrm>
            <a:off x="914400" y="838200"/>
            <a:ext cx="227911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15 · PITFALLS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7"/>
          <p:cNvSpPr/>
          <p:nvPr/>
        </p:nvSpPr>
        <p:spPr>
          <a:xfrm>
            <a:off x="3138726" y="958215"/>
            <a:ext cx="1423487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mistakes we see every term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7"/>
          <p:cNvSpPr/>
          <p:nvPr/>
        </p:nvSpPr>
        <p:spPr>
          <a:xfrm>
            <a:off x="914400" y="2686050"/>
            <a:ext cx="5308521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7"/>
          <p:cNvSpPr/>
          <p:nvPr/>
        </p:nvSpPr>
        <p:spPr>
          <a:xfrm>
            <a:off x="922020" y="2693670"/>
            <a:ext cx="5293281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1150620" y="284607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#1 · 1:N on the wrong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1188720" y="3547110"/>
            <a:ext cx="4759881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7"/>
          <p:cNvSpPr/>
          <p:nvPr/>
        </p:nvSpPr>
        <p:spPr>
          <a:xfrm>
            <a:off x="1348740" y="3707130"/>
            <a:ext cx="4582637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instructor: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/>
          <p:nvPr/>
        </p:nvSpPr>
        <p:spPr>
          <a:xfrm>
            <a:off x="1188720" y="5071110"/>
            <a:ext cx="4759881" cy="139446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1348740" y="5231130"/>
            <a:ext cx="4582637" cy="1112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course: code, title,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1188720" y="6617970"/>
            <a:ext cx="4902677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instructor would need as many rows as courses they teach.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6489621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649724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672584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#2 · M:N without a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676394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7"/>
          <p:cNvSpPr/>
          <p:nvPr/>
        </p:nvSpPr>
        <p:spPr>
          <a:xfrm>
            <a:off x="692396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7"/>
          <p:cNvSpPr/>
          <p:nvPr/>
        </p:nvSpPr>
        <p:spPr>
          <a:xfrm>
            <a:off x="6763941" y="5071110"/>
            <a:ext cx="4760000" cy="13716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6923961" y="5231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enrolment(student_id, course_code, grade)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7"/>
          <p:cNvSpPr/>
          <p:nvPr/>
        </p:nvSpPr>
        <p:spPr>
          <a:xfrm>
            <a:off x="6763941" y="65951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Can't record multiple courses per student without duplication.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12064960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7"/>
          <p:cNvSpPr/>
          <p:nvPr/>
        </p:nvSpPr>
        <p:spPr>
          <a:xfrm>
            <a:off x="1207258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1230118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#3 · Multi-value in one cell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1233928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7"/>
          <p:cNvSpPr/>
          <p:nvPr/>
        </p:nvSpPr>
        <p:spPr>
          <a:xfrm>
            <a:off x="1249930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student.phones =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'010…, 011…, 012…'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12339281" y="5071110"/>
            <a:ext cx="4760000" cy="10287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7"/>
          <p:cNvSpPr/>
          <p:nvPr/>
        </p:nvSpPr>
        <p:spPr>
          <a:xfrm>
            <a:off x="12499301" y="5231130"/>
            <a:ext cx="4582760" cy="746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student_phone(student_id, phone)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12339281" y="62522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comma-separated column can't be indexed, joined, or constrained.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8"/>
          <p:cNvSpPr/>
          <p:nvPr/>
        </p:nvSpPr>
        <p:spPr>
          <a:xfrm>
            <a:off x="914400" y="838200"/>
            <a:ext cx="66675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BANK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/>
          <p:nvPr/>
        </p:nvSpPr>
        <p:spPr>
          <a:xfrm>
            <a:off x="7143750" y="958215"/>
            <a:ext cx="102298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banking system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8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bank operates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many branches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branch has a unique name, a unique address and a phone.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8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bank stores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customer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information: ID, name, address, and one or more phone numbers.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customer owns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account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account belongs to exactly one customer and has a number, balance, and the date of its last transaction.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8"/>
          <p:cNvSpPr/>
          <p:nvPr/>
        </p:nvSpPr>
        <p:spPr>
          <a:xfrm>
            <a:off x="914400" y="5869305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customer may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make any number of transactions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withdrawal or deposit — at any branch. Each transaction records a number, type, date, time, amount, and the branch where it occurred.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10753606" y="2297430"/>
            <a:ext cx="6619875" cy="4857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8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8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relationship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 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8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9"/>
          <p:cNvSpPr/>
          <p:nvPr/>
        </p:nvSpPr>
        <p:spPr>
          <a:xfrm>
            <a:off x="914400" y="838200"/>
            <a:ext cx="5476875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BANK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9"/>
          <p:cNvSpPr/>
          <p:nvPr/>
        </p:nvSpPr>
        <p:spPr>
          <a:xfrm>
            <a:off x="6057900" y="958215"/>
            <a:ext cx="1131570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9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ERD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9"/>
          <p:cNvSpPr/>
          <p:nvPr/>
        </p:nvSpPr>
        <p:spPr>
          <a:xfrm>
            <a:off x="914400" y="2297430"/>
            <a:ext cx="16459200" cy="66141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4" name="Google Shape;5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533650"/>
            <a:ext cx="15986760" cy="6141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9"/>
          <p:cNvSpPr/>
          <p:nvPr/>
        </p:nvSpPr>
        <p:spPr>
          <a:xfrm>
            <a:off x="914400" y="9197340"/>
            <a:ext cx="948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▣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9"/>
          <p:cNvSpPr/>
          <p:nvPr/>
        </p:nvSpPr>
        <p:spPr>
          <a:xfrm>
            <a:off x="2072878" y="9197340"/>
            <a:ext cx="17020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relationship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9"/>
          <p:cNvSpPr/>
          <p:nvPr/>
        </p:nvSpPr>
        <p:spPr>
          <a:xfrm>
            <a:off x="3905964" y="9197340"/>
            <a:ext cx="28266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⬭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9"/>
          <p:cNvSpPr/>
          <p:nvPr/>
        </p:nvSpPr>
        <p:spPr>
          <a:xfrm>
            <a:off x="6761440" y="9197340"/>
            <a:ext cx="27858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 / N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cardinality (Chen)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9"/>
          <p:cNvSpPr/>
          <p:nvPr/>
        </p:nvSpPr>
        <p:spPr>
          <a:xfrm>
            <a:off x="9579769" y="9197340"/>
            <a:ext cx="23282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═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participation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0"/>
          <p:cNvSpPr/>
          <p:nvPr/>
        </p:nvSpPr>
        <p:spPr>
          <a:xfrm>
            <a:off x="914400" y="838200"/>
            <a:ext cx="6067425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BANK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0"/>
          <p:cNvSpPr/>
          <p:nvPr/>
        </p:nvSpPr>
        <p:spPr>
          <a:xfrm>
            <a:off x="6600825" y="958215"/>
            <a:ext cx="1077277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0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/>
          <p:nvPr/>
        </p:nvSpPr>
        <p:spPr>
          <a:xfrm>
            <a:off x="91440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0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0"/>
          <p:cNvSpPr/>
          <p:nvPr/>
        </p:nvSpPr>
        <p:spPr>
          <a:xfrm>
            <a:off x="1093470" y="2318385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branch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0"/>
          <p:cNvSpPr/>
          <p:nvPr/>
        </p:nvSpPr>
        <p:spPr>
          <a:xfrm>
            <a:off x="339459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0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address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phone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0"/>
          <p:cNvSpPr/>
          <p:nvPr/>
        </p:nvSpPr>
        <p:spPr>
          <a:xfrm>
            <a:off x="424434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20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20"/>
          <p:cNvSpPr/>
          <p:nvPr/>
        </p:nvSpPr>
        <p:spPr>
          <a:xfrm>
            <a:off x="4423410" y="2318385"/>
            <a:ext cx="126515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0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0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 address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0"/>
          <p:cNvSpPr/>
          <p:nvPr/>
        </p:nvSpPr>
        <p:spPr>
          <a:xfrm>
            <a:off x="757428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0"/>
          <p:cNvSpPr/>
          <p:nvPr/>
        </p:nvSpPr>
        <p:spPr>
          <a:xfrm>
            <a:off x="758952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20"/>
          <p:cNvSpPr/>
          <p:nvPr/>
        </p:nvSpPr>
        <p:spPr>
          <a:xfrm>
            <a:off x="7760970" y="232600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account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0"/>
          <p:cNvSpPr/>
          <p:nvPr/>
        </p:nvSpPr>
        <p:spPr>
          <a:xfrm>
            <a:off x="1004685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0"/>
          <p:cNvSpPr/>
          <p:nvPr/>
        </p:nvSpPr>
        <p:spPr>
          <a:xfrm>
            <a:off x="7760970" y="2874645"/>
            <a:ext cx="2859329" cy="2106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account_no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balance last_tx_date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UK,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0"/>
          <p:cNvSpPr/>
          <p:nvPr/>
        </p:nvSpPr>
        <p:spPr>
          <a:xfrm>
            <a:off x="1090422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0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0"/>
          <p:cNvSpPr/>
          <p:nvPr/>
        </p:nvSpPr>
        <p:spPr>
          <a:xfrm>
            <a:off x="11090910" y="2326005"/>
            <a:ext cx="2288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customer_phone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0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0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0"/>
          <p:cNvSpPr/>
          <p:nvPr/>
        </p:nvSpPr>
        <p:spPr>
          <a:xfrm>
            <a:off x="1423416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0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0"/>
          <p:cNvSpPr/>
          <p:nvPr/>
        </p:nvSpPr>
        <p:spPr>
          <a:xfrm>
            <a:off x="14420850" y="2326005"/>
            <a:ext cx="17983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0"/>
          <p:cNvSpPr/>
          <p:nvPr/>
        </p:nvSpPr>
        <p:spPr>
          <a:xfrm>
            <a:off x="16546711" y="2326005"/>
            <a:ext cx="71639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1+4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0"/>
          <p:cNvSpPr/>
          <p:nvPr/>
        </p:nvSpPr>
        <p:spPr>
          <a:xfrm>
            <a:off x="14420850" y="2874645"/>
            <a:ext cx="2859329" cy="2506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tx_no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type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tx_date, tx_time amount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NN) branch_name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20"/>
          <p:cNvSpPr/>
          <p:nvPr/>
        </p:nvSpPr>
        <p:spPr>
          <a:xfrm>
            <a:off x="914400" y="5777865"/>
            <a:ext cx="16459200" cy="1533525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0"/>
          <p:cNvSpPr/>
          <p:nvPr/>
        </p:nvSpPr>
        <p:spPr>
          <a:xfrm>
            <a:off x="914400" y="5777865"/>
            <a:ext cx="45720" cy="1533525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0"/>
          <p:cNvSpPr/>
          <p:nvPr/>
        </p:nvSpPr>
        <p:spPr>
          <a:xfrm>
            <a:off x="1226820" y="5987415"/>
            <a:ext cx="16373856" cy="1152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customer–account is 1:1 with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both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sides total, so step 3 allows a </a:t>
            </a:r>
            <a:r>
              <a:rPr b="0" i="1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. We keep two tables and put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account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as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+ 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— that keeps it exactly 1:1. Branch has two candidate keys (name, address): name is the PK, address becomes UNIQUE.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1"/>
          <p:cNvSpPr/>
          <p:nvPr/>
        </p:nvSpPr>
        <p:spPr>
          <a:xfrm>
            <a:off x="914400" y="838200"/>
            <a:ext cx="647889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1"/>
          <p:cNvSpPr/>
          <p:nvPr/>
        </p:nvSpPr>
        <p:spPr>
          <a:xfrm>
            <a:off x="6956703" y="958215"/>
            <a:ext cx="1041689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1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car manufacturer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1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organisation makes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 cars — each with a unique name, a suffix (GL, XL…) and an engine size.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1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made of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(id, description, production year, and many images). A part may appear in many models.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1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produced at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factory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 Five factories exist — London, Birmingham, Bristol, Wolverhampton, Manchester — each with a machine count, capacity, OS, DBMS, Internet.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1"/>
          <p:cNvSpPr/>
          <p:nvPr/>
        </p:nvSpPr>
        <p:spPr>
          <a:xfrm>
            <a:off x="914400" y="5869305"/>
            <a:ext cx="9267706" cy="1590675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21"/>
          <p:cNvSpPr/>
          <p:nvPr/>
        </p:nvSpPr>
        <p:spPr>
          <a:xfrm>
            <a:off x="914400" y="5869305"/>
            <a:ext cx="45720" cy="159067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1"/>
          <p:cNvSpPr/>
          <p:nvPr/>
        </p:nvSpPr>
        <p:spPr>
          <a:xfrm>
            <a:off x="1150620" y="6021705"/>
            <a:ext cx="911901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Key constraint: </a:t>
            </a: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model's parts are made in the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same factory</a:t>
            </a: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as the model. Each model has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</a:t>
            </a: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factory, so the model already tells us the factory: two binary relationships are enough.</a:t>
            </a:r>
          </a:p>
        </p:txBody>
      </p:sp>
      <p:sp>
        <p:nvSpPr>
          <p:cNvPr id="570" name="Google Shape;570;p21"/>
          <p:cNvSpPr/>
          <p:nvPr/>
        </p:nvSpPr>
        <p:spPr>
          <a:xfrm>
            <a:off x="10753606" y="2297430"/>
            <a:ext cx="6619875" cy="51625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1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1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many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1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1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part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1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factory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1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Ternary, or two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 Check the FDs.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22"/>
          <p:cNvSpPr/>
          <p:nvPr/>
        </p:nvSpPr>
        <p:spPr>
          <a:xfrm>
            <a:off x="914400" y="838200"/>
            <a:ext cx="5289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2"/>
          <p:cNvSpPr/>
          <p:nvPr/>
        </p:nvSpPr>
        <p:spPr>
          <a:xfrm>
            <a:off x="5875854" y="958215"/>
            <a:ext cx="1149774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2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Two binaries: model uses parts, model produced at one factory</a:t>
            </a:r>
          </a:p>
        </p:txBody>
      </p:sp>
      <p:sp>
        <p:nvSpPr>
          <p:cNvPr id="585" name="Google Shape;585;p22"/>
          <p:cNvSpPr/>
          <p:nvPr/>
        </p:nvSpPr>
        <p:spPr>
          <a:xfrm>
            <a:off x="914400" y="2196465"/>
            <a:ext cx="16459200" cy="58997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6" name="Google Shape;58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432685"/>
            <a:ext cx="15986760" cy="5427345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22"/>
          <p:cNvSpPr/>
          <p:nvPr/>
        </p:nvSpPr>
        <p:spPr>
          <a:xfrm>
            <a:off x="914400" y="8362950"/>
            <a:ext cx="16459200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2"/>
          <p:cNvSpPr/>
          <p:nvPr/>
        </p:nvSpPr>
        <p:spPr>
          <a:xfrm>
            <a:off x="914400" y="836295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22"/>
          <p:cNvSpPr/>
          <p:nvPr/>
        </p:nvSpPr>
        <p:spPr>
          <a:xfrm>
            <a:off x="1226820" y="857250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not a ternary?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→ factory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: a ternary produces(model, part, factory) would repeat the model's factory for every part — a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2NF violation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(Lesson 5). The factory that makes a part is found through its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3"/>
          <p:cNvSpPr/>
          <p:nvPr/>
        </p:nvSpPr>
        <p:spPr>
          <a:xfrm>
            <a:off x="914400" y="838200"/>
            <a:ext cx="58820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3"/>
          <p:cNvSpPr/>
          <p:nvPr/>
        </p:nvSpPr>
        <p:spPr>
          <a:xfrm>
            <a:off x="6414135" y="958215"/>
            <a:ext cx="1095946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23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car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3"/>
          <p:cNvSpPr/>
          <p:nvPr/>
        </p:nvSpPr>
        <p:spPr>
          <a:xfrm>
            <a:off x="91440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3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23"/>
          <p:cNvSpPr/>
          <p:nvPr/>
        </p:nvSpPr>
        <p:spPr>
          <a:xfrm>
            <a:off x="1093470" y="2318385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model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3"/>
          <p:cNvSpPr/>
          <p:nvPr/>
        </p:nvSpPr>
        <p:spPr>
          <a:xfrm>
            <a:off x="3228975" y="2318385"/>
            <a:ext cx="71437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1+4</a:t>
            </a:r>
          </a:p>
        </p:txBody>
      </p:sp>
      <p:sp>
        <p:nvSpPr>
          <p:cNvPr id="602" name="Google Shape;602;p23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suffix engine_size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factory_city (FK, NN)</a:t>
            </a:r>
          </a:p>
        </p:txBody>
      </p:sp>
      <p:sp>
        <p:nvSpPr>
          <p:cNvPr id="603" name="Google Shape;603;p23"/>
          <p:cNvSpPr/>
          <p:nvPr/>
        </p:nvSpPr>
        <p:spPr>
          <a:xfrm>
            <a:off x="424434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23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23"/>
          <p:cNvSpPr/>
          <p:nvPr/>
        </p:nvSpPr>
        <p:spPr>
          <a:xfrm>
            <a:off x="4423410" y="2318385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3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3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description year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3"/>
          <p:cNvSpPr/>
          <p:nvPr/>
        </p:nvSpPr>
        <p:spPr>
          <a:xfrm>
            <a:off x="757428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3"/>
          <p:cNvSpPr/>
          <p:nvPr/>
        </p:nvSpPr>
        <p:spPr>
          <a:xfrm>
            <a:off x="758190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3"/>
          <p:cNvSpPr/>
          <p:nvPr/>
        </p:nvSpPr>
        <p:spPr>
          <a:xfrm>
            <a:off x="7753350" y="231838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factory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3"/>
          <p:cNvSpPr/>
          <p:nvPr/>
        </p:nvSpPr>
        <p:spPr>
          <a:xfrm>
            <a:off x="1005447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3"/>
          <p:cNvSpPr/>
          <p:nvPr/>
        </p:nvSpPr>
        <p:spPr>
          <a:xfrm>
            <a:off x="7753350" y="2867025"/>
            <a:ext cx="2875026" cy="16611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city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machines, capacity os, dbms, internet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← composite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3"/>
          <p:cNvSpPr/>
          <p:nvPr/>
        </p:nvSpPr>
        <p:spPr>
          <a:xfrm>
            <a:off x="1090422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23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23"/>
          <p:cNvSpPr/>
          <p:nvPr/>
        </p:nvSpPr>
        <p:spPr>
          <a:xfrm>
            <a:off x="11090910" y="2326005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part_image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3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3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image_url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3"/>
          <p:cNvSpPr/>
          <p:nvPr/>
        </p:nvSpPr>
        <p:spPr>
          <a:xfrm>
            <a:off x="1423416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23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23"/>
          <p:cNvSpPr/>
          <p:nvPr/>
        </p:nvSpPr>
        <p:spPr>
          <a:xfrm>
            <a:off x="14420850" y="2326005"/>
            <a:ext cx="20955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model_part</a:t>
            </a:r>
          </a:p>
        </p:txBody>
      </p:sp>
      <p:sp>
        <p:nvSpPr>
          <p:cNvPr id="621" name="Google Shape;621;p23"/>
          <p:cNvSpPr/>
          <p:nvPr/>
        </p:nvSpPr>
        <p:spPr>
          <a:xfrm>
            <a:off x="1670673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</a:t>
            </a:r>
          </a:p>
        </p:txBody>
      </p:sp>
      <p:sp>
        <p:nvSpPr>
          <p:cNvPr id="622" name="Google Shape;622;p23"/>
          <p:cNvSpPr/>
          <p:nvPr/>
        </p:nvSpPr>
        <p:spPr>
          <a:xfrm>
            <a:off x="14420850" y="2874645"/>
            <a:ext cx="2859329" cy="17297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model_name (PK, FK) part_id (PK, FK)</a:t>
            </a:r>
          </a:p>
        </p:txBody>
      </p:sp>
      <p:sp>
        <p:nvSpPr>
          <p:cNvPr id="623" name="Google Shape;623;p23"/>
          <p:cNvSpPr/>
          <p:nvPr/>
        </p:nvSpPr>
        <p:spPr>
          <a:xfrm>
            <a:off x="914400" y="5000625"/>
            <a:ext cx="16459200" cy="11620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23"/>
          <p:cNvSpPr/>
          <p:nvPr/>
        </p:nvSpPr>
        <p:spPr>
          <a:xfrm>
            <a:off x="914400" y="5000625"/>
            <a:ext cx="45720" cy="11620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23"/>
          <p:cNvSpPr/>
          <p:nvPr/>
        </p:nvSpPr>
        <p:spPr>
          <a:xfrm>
            <a:off x="1226820" y="5210175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 — no ternary: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factory_city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lives in model (N:1, step 4) and model_part is a plain M:N junction (step 5). Every table is in 3NF; the factories that make a part come from joining model_part with model.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24"/>
          <p:cNvSpPr/>
          <p:nvPr/>
        </p:nvSpPr>
        <p:spPr>
          <a:xfrm>
            <a:off x="914400" y="838200"/>
            <a:ext cx="646501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4"/>
          <p:cNvSpPr/>
          <p:nvPr/>
        </p:nvSpPr>
        <p:spPr>
          <a:xfrm>
            <a:off x="6944083" y="958215"/>
            <a:ext cx="1042951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24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country bus company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4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company owns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number, no. of chairs, brand, and one or more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options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(AC, automatic, PS).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4"/>
          <p:cNvSpPr/>
          <p:nvPr/>
        </p:nvSpPr>
        <p:spPr>
          <a:xfrm>
            <a:off x="914400" y="33261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is allocated to one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route may have many buses. A route has km, start, end, duration.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4"/>
          <p:cNvSpPr/>
          <p:nvPr/>
        </p:nvSpPr>
        <p:spPr>
          <a:xfrm>
            <a:off x="914400" y="43548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passes through many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towns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town may be on many routes. Each town has a unique name and a station name.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4"/>
          <p:cNvSpPr/>
          <p:nvPr/>
        </p:nvSpPr>
        <p:spPr>
          <a:xfrm>
            <a:off x="914400" y="5383530"/>
            <a:ext cx="9267706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24"/>
          <p:cNvSpPr/>
          <p:nvPr/>
        </p:nvSpPr>
        <p:spPr>
          <a:xfrm>
            <a:off x="914400" y="538353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24"/>
          <p:cNvSpPr/>
          <p:nvPr/>
        </p:nvSpPr>
        <p:spPr>
          <a:xfrm>
            <a:off x="1150620" y="5535930"/>
            <a:ext cx="911901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Time-varying: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one or more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drivers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are allocated to a route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 a period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The system keeps every change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each driver's last route.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4"/>
          <p:cNvSpPr/>
          <p:nvPr/>
        </p:nvSpPr>
        <p:spPr>
          <a:xfrm>
            <a:off x="10753606" y="2297430"/>
            <a:ext cx="6619875" cy="42481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4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4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4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↔ route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4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↔ town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4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do you record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allocation history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Where does the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per driver live?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5"/>
          <p:cNvSpPr/>
          <p:nvPr/>
        </p:nvSpPr>
        <p:spPr>
          <a:xfrm>
            <a:off x="914400" y="838200"/>
            <a:ext cx="527607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5"/>
          <p:cNvSpPr/>
          <p:nvPr/>
        </p:nvSpPr>
        <p:spPr>
          <a:xfrm>
            <a:off x="5863233" y="958215"/>
            <a:ext cx="1151036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5"/>
          <p:cNvSpPr/>
          <p:nvPr/>
        </p:nvSpPr>
        <p:spPr>
          <a:xfrm>
            <a:off x="914400" y="13258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· route · town · driver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5"/>
          <p:cNvSpPr/>
          <p:nvPr/>
        </p:nvSpPr>
        <p:spPr>
          <a:xfrm>
            <a:off x="914400" y="2120265"/>
            <a:ext cx="16459200" cy="60521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6" name="Google Shape;65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356485"/>
            <a:ext cx="15986760" cy="5579745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Google Shape;657;p25"/>
          <p:cNvSpPr/>
          <p:nvPr/>
        </p:nvSpPr>
        <p:spPr>
          <a:xfrm>
            <a:off x="914400" y="840105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5"/>
          <p:cNvSpPr/>
          <p:nvPr/>
        </p:nvSpPr>
        <p:spPr>
          <a:xfrm>
            <a:off x="914400" y="840105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5"/>
          <p:cNvSpPr/>
          <p:nvPr/>
        </p:nvSpPr>
        <p:spPr>
          <a:xfrm>
            <a:off x="1226820" y="859155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Allocation history: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M:N with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end_date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every reassignment is a new row.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a separate 1:N so each driver points to exactly one current route.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26"/>
          <p:cNvSpPr/>
          <p:nvPr/>
        </p:nvSpPr>
        <p:spPr>
          <a:xfrm>
            <a:off x="914400" y="838200"/>
            <a:ext cx="58681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6"/>
          <p:cNvSpPr/>
          <p:nvPr/>
        </p:nvSpPr>
        <p:spPr>
          <a:xfrm>
            <a:off x="6401514" y="958215"/>
            <a:ext cx="1097208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6"/>
          <p:cNvSpPr/>
          <p:nvPr/>
        </p:nvSpPr>
        <p:spPr>
          <a:xfrm>
            <a:off x="914400" y="1325880"/>
            <a:ext cx="1810512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64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bus schema, mapped step by step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6"/>
          <p:cNvSpPr/>
          <p:nvPr/>
        </p:nvSpPr>
        <p:spPr>
          <a:xfrm>
            <a:off x="914400" y="2057400"/>
            <a:ext cx="5372100" cy="209169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26"/>
          <p:cNvSpPr/>
          <p:nvPr/>
        </p:nvSpPr>
        <p:spPr>
          <a:xfrm>
            <a:off x="929640" y="207264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6"/>
          <p:cNvSpPr/>
          <p:nvPr/>
        </p:nvSpPr>
        <p:spPr>
          <a:xfrm>
            <a:off x="1101090" y="2186940"/>
            <a:ext cx="5220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6"/>
          <p:cNvSpPr/>
          <p:nvPr/>
        </p:nvSpPr>
        <p:spPr>
          <a:xfrm>
            <a:off x="5299472" y="218694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6"/>
          <p:cNvSpPr/>
          <p:nvPr/>
        </p:nvSpPr>
        <p:spPr>
          <a:xfrm>
            <a:off x="1101090" y="2735580"/>
            <a:ext cx="5158968" cy="12839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number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chairs, brand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6"/>
          <p:cNvSpPr/>
          <p:nvPr/>
        </p:nvSpPr>
        <p:spPr>
          <a:xfrm>
            <a:off x="645795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6"/>
          <p:cNvSpPr/>
          <p:nvPr/>
        </p:nvSpPr>
        <p:spPr>
          <a:xfrm>
            <a:off x="646557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6"/>
          <p:cNvSpPr/>
          <p:nvPr/>
        </p:nvSpPr>
        <p:spPr>
          <a:xfrm>
            <a:off x="6637020" y="2179320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26"/>
          <p:cNvSpPr/>
          <p:nvPr/>
        </p:nvSpPr>
        <p:spPr>
          <a:xfrm>
            <a:off x="1117080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6"/>
          <p:cNvSpPr/>
          <p:nvPr/>
        </p:nvSpPr>
        <p:spPr>
          <a:xfrm>
            <a:off x="6637020" y="2727960"/>
            <a:ext cx="517466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km, start_point, end_point, duration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6"/>
          <p:cNvSpPr/>
          <p:nvPr/>
        </p:nvSpPr>
        <p:spPr>
          <a:xfrm>
            <a:off x="1200150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26"/>
          <p:cNvSpPr/>
          <p:nvPr/>
        </p:nvSpPr>
        <p:spPr>
          <a:xfrm>
            <a:off x="1200912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6"/>
          <p:cNvSpPr/>
          <p:nvPr/>
        </p:nvSpPr>
        <p:spPr>
          <a:xfrm>
            <a:off x="12180570" y="2179320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26"/>
          <p:cNvSpPr/>
          <p:nvPr/>
        </p:nvSpPr>
        <p:spPr>
          <a:xfrm>
            <a:off x="1671435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6"/>
          <p:cNvSpPr/>
          <p:nvPr/>
        </p:nvSpPr>
        <p:spPr>
          <a:xfrm>
            <a:off x="12180570" y="2727960"/>
            <a:ext cx="5174666" cy="8610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6"/>
          <p:cNvSpPr/>
          <p:nvPr/>
        </p:nvSpPr>
        <p:spPr>
          <a:xfrm>
            <a:off x="9144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6"/>
          <p:cNvSpPr/>
          <p:nvPr/>
        </p:nvSpPr>
        <p:spPr>
          <a:xfrm>
            <a:off x="9296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26"/>
          <p:cNvSpPr/>
          <p:nvPr/>
        </p:nvSpPr>
        <p:spPr>
          <a:xfrm>
            <a:off x="110109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bus_option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6"/>
          <p:cNvSpPr/>
          <p:nvPr/>
        </p:nvSpPr>
        <p:spPr>
          <a:xfrm>
            <a:off x="561963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26"/>
          <p:cNvSpPr/>
          <p:nvPr/>
        </p:nvSpPr>
        <p:spPr>
          <a:xfrm>
            <a:off x="110109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bus_number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option (PK)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AC·Auto·PS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6"/>
          <p:cNvSpPr/>
          <p:nvPr/>
        </p:nvSpPr>
        <p:spPr>
          <a:xfrm>
            <a:off x="645795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26"/>
          <p:cNvSpPr/>
          <p:nvPr/>
        </p:nvSpPr>
        <p:spPr>
          <a:xfrm>
            <a:off x="647319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26"/>
          <p:cNvSpPr/>
          <p:nvPr/>
        </p:nvSpPr>
        <p:spPr>
          <a:xfrm>
            <a:off x="664464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route_town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6"/>
          <p:cNvSpPr/>
          <p:nvPr/>
        </p:nvSpPr>
        <p:spPr>
          <a:xfrm>
            <a:off x="1116318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6"/>
          <p:cNvSpPr/>
          <p:nvPr/>
        </p:nvSpPr>
        <p:spPr>
          <a:xfrm>
            <a:off x="664464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 town_name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26"/>
          <p:cNvSpPr/>
          <p:nvPr/>
        </p:nvSpPr>
        <p:spPr>
          <a:xfrm>
            <a:off x="120015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26"/>
          <p:cNvSpPr/>
          <p:nvPr/>
        </p:nvSpPr>
        <p:spPr>
          <a:xfrm>
            <a:off x="120167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26"/>
          <p:cNvSpPr/>
          <p:nvPr/>
        </p:nvSpPr>
        <p:spPr>
          <a:xfrm>
            <a:off x="12188190" y="4450080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26"/>
          <p:cNvSpPr/>
          <p:nvPr/>
        </p:nvSpPr>
        <p:spPr>
          <a:xfrm>
            <a:off x="16386572" y="445008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6"/>
          <p:cNvSpPr/>
          <p:nvPr/>
        </p:nvSpPr>
        <p:spPr>
          <a:xfrm>
            <a:off x="12188190" y="4998720"/>
            <a:ext cx="5158968" cy="1684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name, mobile, hire_date salary, grade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last_route_id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6"/>
          <p:cNvSpPr/>
          <p:nvPr/>
        </p:nvSpPr>
        <p:spPr>
          <a:xfrm>
            <a:off x="914400" y="7040880"/>
            <a:ext cx="16459200" cy="126873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6"/>
          <p:cNvSpPr/>
          <p:nvPr/>
        </p:nvSpPr>
        <p:spPr>
          <a:xfrm>
            <a:off x="929640" y="7056120"/>
            <a:ext cx="164287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" name="Google Shape;700;p26"/>
          <p:cNvSpPr/>
          <p:nvPr/>
        </p:nvSpPr>
        <p:spPr>
          <a:xfrm>
            <a:off x="1101090" y="7170420"/>
            <a:ext cx="65391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drives · time-stamped allocation history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6"/>
          <p:cNvSpPr/>
          <p:nvPr/>
        </p:nvSpPr>
        <p:spPr>
          <a:xfrm>
            <a:off x="14706124" y="7170420"/>
            <a:ext cx="255698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 + relationship attribute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6"/>
          <p:cNvSpPr/>
          <p:nvPr/>
        </p:nvSpPr>
        <p:spPr>
          <a:xfrm>
            <a:off x="1101090" y="7719060"/>
            <a:ext cx="16578682" cy="4610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end_date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6"/>
          <p:cNvSpPr/>
          <p:nvPr/>
        </p:nvSpPr>
        <p:spPr>
          <a:xfrm>
            <a:off x="914400" y="8538210"/>
            <a:ext cx="16459200" cy="10858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26"/>
          <p:cNvSpPr/>
          <p:nvPr/>
        </p:nvSpPr>
        <p:spPr>
          <a:xfrm>
            <a:off x="914400" y="8538210"/>
            <a:ext cx="45720" cy="10858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26"/>
          <p:cNvSpPr/>
          <p:nvPr/>
        </p:nvSpPr>
        <p:spPr>
          <a:xfrm>
            <a:off x="1226820" y="870966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History + last route: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every reassignment inserts a new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row;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driver.last_route_id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a convenience FK updated on each change (otherwise derivable as the most recent row).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27"/>
          <p:cNvSpPr/>
          <p:nvPr/>
        </p:nvSpPr>
        <p:spPr>
          <a:xfrm>
            <a:off x="914400" y="838200"/>
            <a:ext cx="183605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25 · RECAP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7"/>
          <p:cNvSpPr/>
          <p:nvPr/>
        </p:nvSpPr>
        <p:spPr>
          <a:xfrm>
            <a:off x="2735937" y="958215"/>
            <a:ext cx="1463766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2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What to walk out remembering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7"/>
          <p:cNvSpPr/>
          <p:nvPr/>
        </p:nvSpPr>
        <p:spPr>
          <a:xfrm>
            <a:off x="914400" y="360807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27"/>
          <p:cNvSpPr/>
          <p:nvPr/>
        </p:nvSpPr>
        <p:spPr>
          <a:xfrm>
            <a:off x="914400" y="300990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7"/>
          <p:cNvSpPr/>
          <p:nvPr/>
        </p:nvSpPr>
        <p:spPr>
          <a:xfrm>
            <a:off x="1752600" y="2971800"/>
            <a:ext cx="12906578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entity → one table. Weak entities carry the owner's FK inside their PK.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7"/>
          <p:cNvSpPr/>
          <p:nvPr/>
        </p:nvSpPr>
        <p:spPr>
          <a:xfrm>
            <a:off x="914400" y="465201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27"/>
          <p:cNvSpPr/>
          <p:nvPr/>
        </p:nvSpPr>
        <p:spPr>
          <a:xfrm>
            <a:off x="914400" y="405384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7"/>
          <p:cNvSpPr/>
          <p:nvPr/>
        </p:nvSpPr>
        <p:spPr>
          <a:xfrm>
            <a:off x="1752600" y="4015740"/>
            <a:ext cx="930388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— merge, FK on the mandatory side, or a link table.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7"/>
          <p:cNvSpPr/>
          <p:nvPr/>
        </p:nvSpPr>
        <p:spPr>
          <a:xfrm>
            <a:off x="914400" y="56959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27"/>
          <p:cNvSpPr/>
          <p:nvPr/>
        </p:nvSpPr>
        <p:spPr>
          <a:xfrm>
            <a:off x="914400" y="509778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7"/>
          <p:cNvSpPr/>
          <p:nvPr/>
        </p:nvSpPr>
        <p:spPr>
          <a:xfrm>
            <a:off x="1752600" y="5059680"/>
            <a:ext cx="5450003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— FK on the N side. Always.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7"/>
          <p:cNvSpPr/>
          <p:nvPr/>
        </p:nvSpPr>
        <p:spPr>
          <a:xfrm>
            <a:off x="914400" y="673989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7"/>
          <p:cNvSpPr/>
          <p:nvPr/>
        </p:nvSpPr>
        <p:spPr>
          <a:xfrm>
            <a:off x="914400" y="614172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7"/>
          <p:cNvSpPr/>
          <p:nvPr/>
        </p:nvSpPr>
        <p:spPr>
          <a:xfrm>
            <a:off x="1752600" y="6103620"/>
            <a:ext cx="1185633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and N-ary — a new junction table whose PK is the combined FKs.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7"/>
          <p:cNvSpPr/>
          <p:nvPr/>
        </p:nvSpPr>
        <p:spPr>
          <a:xfrm>
            <a:off x="914400" y="718566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7"/>
          <p:cNvSpPr/>
          <p:nvPr/>
        </p:nvSpPr>
        <p:spPr>
          <a:xfrm>
            <a:off x="1752600" y="7147560"/>
            <a:ext cx="12788181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 get their own table — never a comma-separated cell.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8"/>
          <p:cNvSpPr/>
          <p:nvPr/>
        </p:nvSpPr>
        <p:spPr>
          <a:xfrm>
            <a:off x="914400" y="838200"/>
            <a:ext cx="369174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26 · CHECK YOURSELF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8"/>
          <p:cNvSpPr/>
          <p:nvPr/>
        </p:nvSpPr>
        <p:spPr>
          <a:xfrm>
            <a:off x="4422934" y="958215"/>
            <a:ext cx="1295066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questions · answers in notes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8"/>
          <p:cNvSpPr/>
          <p:nvPr/>
        </p:nvSpPr>
        <p:spPr>
          <a:xfrm>
            <a:off x="914400" y="2686050"/>
            <a:ext cx="5308521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28"/>
          <p:cNvSpPr/>
          <p:nvPr/>
        </p:nvSpPr>
        <p:spPr>
          <a:xfrm>
            <a:off x="1264920" y="3036570"/>
            <a:ext cx="506822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8"/>
          <p:cNvSpPr/>
          <p:nvPr/>
        </p:nvSpPr>
        <p:spPr>
          <a:xfrm>
            <a:off x="1264920" y="3451860"/>
            <a:ext cx="4745705" cy="1160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student enrols in many courses; a course has many students. How many tables?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8"/>
          <p:cNvSpPr/>
          <p:nvPr/>
        </p:nvSpPr>
        <p:spPr>
          <a:xfrm>
            <a:off x="1264920" y="478345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8"/>
          <p:cNvSpPr/>
          <p:nvPr/>
        </p:nvSpPr>
        <p:spPr>
          <a:xfrm>
            <a:off x="1264920" y="528637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8"/>
          <p:cNvSpPr/>
          <p:nvPr/>
        </p:nvSpPr>
        <p:spPr>
          <a:xfrm>
            <a:off x="1264920" y="578929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8"/>
          <p:cNvSpPr/>
          <p:nvPr/>
        </p:nvSpPr>
        <p:spPr>
          <a:xfrm>
            <a:off x="6489621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8"/>
          <p:cNvSpPr/>
          <p:nvPr/>
        </p:nvSpPr>
        <p:spPr>
          <a:xfrm>
            <a:off x="684014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28"/>
          <p:cNvSpPr/>
          <p:nvPr/>
        </p:nvSpPr>
        <p:spPr>
          <a:xfrm>
            <a:off x="6840141" y="3451860"/>
            <a:ext cx="4745828" cy="7962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instructor teaches many courses. Where does the FK go?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8"/>
          <p:cNvSpPr/>
          <p:nvPr/>
        </p:nvSpPr>
        <p:spPr>
          <a:xfrm>
            <a:off x="6840141" y="44196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instructor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8"/>
          <p:cNvSpPr/>
          <p:nvPr/>
        </p:nvSpPr>
        <p:spPr>
          <a:xfrm>
            <a:off x="6840141" y="49225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8"/>
          <p:cNvSpPr/>
          <p:nvPr/>
        </p:nvSpPr>
        <p:spPr>
          <a:xfrm>
            <a:off x="6840141" y="542544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course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8"/>
          <p:cNvSpPr/>
          <p:nvPr/>
        </p:nvSpPr>
        <p:spPr>
          <a:xfrm>
            <a:off x="12064960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28"/>
          <p:cNvSpPr/>
          <p:nvPr/>
        </p:nvSpPr>
        <p:spPr>
          <a:xfrm>
            <a:off x="1241548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28"/>
          <p:cNvSpPr/>
          <p:nvPr/>
        </p:nvSpPr>
        <p:spPr>
          <a:xfrm>
            <a:off x="12415481" y="3451860"/>
            <a:ext cx="4745828" cy="788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relationship, both sides mandatory. Best mapping?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28"/>
          <p:cNvSpPr/>
          <p:nvPr/>
        </p:nvSpPr>
        <p:spPr>
          <a:xfrm>
            <a:off x="12415481" y="441198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28"/>
          <p:cNvSpPr/>
          <p:nvPr/>
        </p:nvSpPr>
        <p:spPr>
          <a:xfrm>
            <a:off x="12415481" y="49149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the two tables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8"/>
          <p:cNvSpPr/>
          <p:nvPr/>
        </p:nvSpPr>
        <p:spPr>
          <a:xfrm>
            <a:off x="12415481" y="54178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FK on either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29"/>
          <p:cNvSpPr/>
          <p:nvPr/>
        </p:nvSpPr>
        <p:spPr>
          <a:xfrm>
            <a:off x="914400" y="838200"/>
            <a:ext cx="336720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UP NEXT · LESSON 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29"/>
          <p:cNvSpPr/>
          <p:nvPr/>
        </p:nvSpPr>
        <p:spPr>
          <a:xfrm>
            <a:off x="4127897" y="958215"/>
            <a:ext cx="13245703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29"/>
          <p:cNvSpPr/>
          <p:nvPr/>
        </p:nvSpPr>
        <p:spPr>
          <a:xfrm>
            <a:off x="914400" y="3186113"/>
            <a:ext cx="18105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LESSON 4 · SQL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9"/>
          <p:cNvSpPr/>
          <p:nvPr/>
        </p:nvSpPr>
        <p:spPr>
          <a:xfrm>
            <a:off x="914400" y="3696653"/>
            <a:ext cx="16952976" cy="22783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96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Arial"/>
              <a:buNone/>
            </a:pP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We'll write </a:t>
            </a:r>
            <a:r>
              <a:rPr b="1" i="0" lang="en-US" sz="90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SQL </a:t>
            </a: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 these tables.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9"/>
          <p:cNvSpPr/>
          <p:nvPr/>
        </p:nvSpPr>
        <p:spPr>
          <a:xfrm>
            <a:off x="914400" y="6279832"/>
            <a:ext cx="11772900" cy="912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531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Same ideas on the COMPANY database —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CREATE TABLE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every constraint,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INSERT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SELECT 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joins and the rest, with notes for Oracle, SQL Server and PostgreSQL.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9"/>
          <p:cNvSpPr/>
          <p:nvPr/>
        </p:nvSpPr>
        <p:spPr>
          <a:xfrm>
            <a:off x="914400" y="9243060"/>
            <a:ext cx="35280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ITI · Database Fundamentals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9"/>
          <p:cNvSpPr/>
          <p:nvPr/>
        </p:nvSpPr>
        <p:spPr>
          <a:xfrm>
            <a:off x="14634092" y="9243060"/>
            <a:ext cx="30134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Thank you — questions?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